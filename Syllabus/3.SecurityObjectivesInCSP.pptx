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4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6" r:id="rId33"/>
    <p:sldId id="297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8" r:id="rId43"/>
    <p:sldId id="299" r:id="rId44"/>
    <p:sldId id="300" r:id="rId45"/>
    <p:sldId id="353" r:id="rId46"/>
    <p:sldId id="301" r:id="rId47"/>
    <p:sldId id="355" r:id="rId48"/>
    <p:sldId id="356" r:id="rId49"/>
    <p:sldId id="302" r:id="rId50"/>
    <p:sldId id="304" r:id="rId51"/>
    <p:sldId id="303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57" r:id="rId61"/>
    <p:sldId id="313" r:id="rId62"/>
    <p:sldId id="314" r:id="rId63"/>
    <p:sldId id="316" r:id="rId64"/>
    <p:sldId id="315" r:id="rId65"/>
    <p:sldId id="317" r:id="rId66"/>
    <p:sldId id="323" r:id="rId67"/>
    <p:sldId id="325" r:id="rId68"/>
    <p:sldId id="350" r:id="rId69"/>
    <p:sldId id="326" r:id="rId70"/>
    <p:sldId id="318" r:id="rId71"/>
    <p:sldId id="351" r:id="rId72"/>
    <p:sldId id="327" r:id="rId73"/>
    <p:sldId id="352" r:id="rId74"/>
    <p:sldId id="319" r:id="rId75"/>
    <p:sldId id="321" r:id="rId76"/>
    <p:sldId id="320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9" r:id="rId88"/>
    <p:sldId id="338" r:id="rId89"/>
    <p:sldId id="340" r:id="rId90"/>
    <p:sldId id="341" r:id="rId91"/>
    <p:sldId id="342" r:id="rId92"/>
    <p:sldId id="344" r:id="rId93"/>
    <p:sldId id="349" r:id="rId94"/>
    <p:sldId id="345" r:id="rId95"/>
    <p:sldId id="346" r:id="rId96"/>
    <p:sldId id="347" r:id="rId97"/>
    <p:sldId id="343" r:id="rId98"/>
    <p:sldId id="348" r:id="rId9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2"/>
    <p:restoredTop sz="94444"/>
  </p:normalViewPr>
  <p:slideViewPr>
    <p:cSldViewPr>
      <p:cViewPr varScale="1">
        <p:scale>
          <a:sx n="73" d="100"/>
          <a:sy n="73" d="100"/>
        </p:scale>
        <p:origin x="71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6"/>
    </p:cViewPr>
  </p:sorterViewPr>
  <p:notesViewPr>
    <p:cSldViewPr>
      <p:cViewPr varScale="1">
        <p:scale>
          <a:sx n="33" d="100"/>
          <a:sy n="33" d="100"/>
        </p:scale>
        <p:origin x="-1162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8.xml"/><Relationship Id="rId13" Type="http://schemas.openxmlformats.org/officeDocument/2006/relationships/slide" Target="slides/slide68.xml"/><Relationship Id="rId18" Type="http://schemas.openxmlformats.org/officeDocument/2006/relationships/slide" Target="slides/slide74.xml"/><Relationship Id="rId3" Type="http://schemas.openxmlformats.org/officeDocument/2006/relationships/slide" Target="slides/slide21.xml"/><Relationship Id="rId7" Type="http://schemas.openxmlformats.org/officeDocument/2006/relationships/slide" Target="slides/slide36.xml"/><Relationship Id="rId12" Type="http://schemas.openxmlformats.org/officeDocument/2006/relationships/slide" Target="slides/slide67.xml"/><Relationship Id="rId17" Type="http://schemas.openxmlformats.org/officeDocument/2006/relationships/slide" Target="slides/slide73.xml"/><Relationship Id="rId2" Type="http://schemas.openxmlformats.org/officeDocument/2006/relationships/slide" Target="slides/slide15.xml"/><Relationship Id="rId16" Type="http://schemas.openxmlformats.org/officeDocument/2006/relationships/slide" Target="slides/slide72.xml"/><Relationship Id="rId1" Type="http://schemas.openxmlformats.org/officeDocument/2006/relationships/slide" Target="slides/slide2.xml"/><Relationship Id="rId6" Type="http://schemas.openxmlformats.org/officeDocument/2006/relationships/slide" Target="slides/slide35.xml"/><Relationship Id="rId11" Type="http://schemas.openxmlformats.org/officeDocument/2006/relationships/slide" Target="slides/slide66.xml"/><Relationship Id="rId5" Type="http://schemas.openxmlformats.org/officeDocument/2006/relationships/slide" Target="slides/slide34.xml"/><Relationship Id="rId15" Type="http://schemas.openxmlformats.org/officeDocument/2006/relationships/slide" Target="slides/slide71.xml"/><Relationship Id="rId10" Type="http://schemas.openxmlformats.org/officeDocument/2006/relationships/slide" Target="slides/slide41.xml"/><Relationship Id="rId19" Type="http://schemas.openxmlformats.org/officeDocument/2006/relationships/slide" Target="slides/slide76.xml"/><Relationship Id="rId4" Type="http://schemas.openxmlformats.org/officeDocument/2006/relationships/slide" Target="slides/slide32.xml"/><Relationship Id="rId9" Type="http://schemas.openxmlformats.org/officeDocument/2006/relationships/slide" Target="slides/slide39.xml"/><Relationship Id="rId14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1057C51-57B9-945A-1B0C-8F01C6F415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7649C1E-614B-0572-D409-459CB61BDF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4014BF4-5326-5811-196F-905281077AD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295B5C1-CC6F-EC1D-18C5-B5FEAF0ED91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en-US"/>
              <a:t>Mintaszöveg szerkesztése </a:t>
            </a:r>
          </a:p>
          <a:p>
            <a:pPr lvl="1"/>
            <a:r>
              <a:rPr lang="hu-HU" altLang="en-US"/>
              <a:t>Második szint</a:t>
            </a:r>
          </a:p>
          <a:p>
            <a:pPr lvl="2"/>
            <a:r>
              <a:rPr lang="hu-HU" altLang="en-US"/>
              <a:t>Harmadik szint</a:t>
            </a:r>
          </a:p>
          <a:p>
            <a:pPr lvl="3"/>
            <a:r>
              <a:rPr lang="hu-HU" altLang="en-US"/>
              <a:t>Negyedik szint</a:t>
            </a:r>
          </a:p>
          <a:p>
            <a:pPr lvl="4"/>
            <a:r>
              <a:rPr lang="hu-HU" altLang="en-US"/>
              <a:t>Ötödik szint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25EACD8-2162-CD4E-5B25-948E287BBE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-112" charset="0"/>
                <a:ea typeface="ＭＳ Ｐゴシック" pitchFamily="-112" charset="-128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E5B283A2-5C44-D563-4DFD-8F4D3B4DB1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B2CB3172-2D8F-704E-916D-CF1FFCD5DAA3}" type="slidenum">
              <a:rPr lang="hu-HU" altLang="en-US"/>
              <a:pPr/>
              <a:t>‹#›</a:t>
            </a:fld>
            <a:endParaRPr lang="hu-H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>
            <a:extLst>
              <a:ext uri="{FF2B5EF4-FFF2-40B4-BE49-F238E27FC236}">
                <a16:creationId xmlns:a16="http://schemas.microsoft.com/office/drawing/2014/main" id="{48E73CC1-D88B-3F28-31BF-5065705E4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7A59ED8-B080-304C-885F-298CD731B012}" type="slidenum">
              <a:rPr lang="hu-HU" altLang="en-US" sz="1200">
                <a:latin typeface="Times New Roman" panose="02020603050405020304" pitchFamily="18" charset="0"/>
              </a:rPr>
              <a:pPr/>
              <a:t>1</a:t>
            </a:fld>
            <a:endParaRPr lang="hu-HU" altLang="en-US" sz="1200">
              <a:latin typeface="Times New Roman" panose="02020603050405020304" pitchFamily="18" charset="0"/>
            </a:endParaRPr>
          </a:p>
        </p:txBody>
      </p:sp>
      <p:sp>
        <p:nvSpPr>
          <p:cNvPr id="5122" name="Rectangle 2">
            <a:extLst>
              <a:ext uri="{FF2B5EF4-FFF2-40B4-BE49-F238E27FC236}">
                <a16:creationId xmlns:a16="http://schemas.microsoft.com/office/drawing/2014/main" id="{903A173E-8252-3FED-E938-6C9BFED3FB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D740E52-137A-C938-76B2-4B5CE0E33F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643BC7B1-2DCD-5068-63B1-3FBB9E55D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2B891551-1603-C0A4-2568-A44A5A4A5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8A3B279E-624D-9C54-571D-5A991A3637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C0C4D071-F0C8-3CDB-BA33-911C4675C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8C1F9419-23B2-E1AF-C8A1-B86C8AD35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65B7445C-AB3D-954C-B432-45249012A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6EFCD6DF-320A-B715-B5EC-8D6A8BAFD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2A166BFF-3F71-60E1-7887-49D2249A3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59ECFEC4-BEEA-5492-A463-4784AE71CC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8E37BC8F-F1BB-27DF-489B-9EB733725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62FE0F8-CDC8-5D26-3398-7DA9CE455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648BCDE4-4999-CD65-90A2-174607DD0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C44055B-0447-C69D-5697-6FD64C1A06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908367C6-9F79-865D-458B-1A862DC70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DB5971B9-D220-D793-F582-C36E4D414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AEAACB0-FB9D-B172-8FF8-B2DFE613F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6F4AEC3-D775-A645-E570-BC17FB3044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F55A846D-6767-A57A-F10D-8E91B9CA6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4221DA10-F854-1080-05BD-CE78AEB70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1C5758C5-BC03-500A-F482-A6797E842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0129BE17-068E-1868-CEF7-D37864F8AE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267B586C-7768-1C1F-9A8C-054B6BE32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A63625E9-4BDC-83D5-63F8-0B9AF7229C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85F834A0-4BA8-C360-2CDB-353B5C352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77A1B00A-E83E-0B24-A5B8-9CB62DBFD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B05DFC56-0A2B-71D6-7A3C-1EF92C07C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39E227DB-2909-797D-FAEF-A2932E198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7F4DAB2A-684B-543B-3CED-875078573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56F1020C-B520-2B3F-5246-F42D4356C2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FC6736FF-5827-AF2E-02ED-5A04D01462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AFB52104-3F3B-2ACD-799F-90DD3CCF55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78D30A76-7D05-8DC2-4015-BCE2C70C6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DCDA4B8D-C68B-AC76-EB50-7D3E674BD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DAB98B11-D827-5939-DA66-D2E827638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AB7C6E93-772C-7126-3E33-DEA2DEEEDE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D9B5BF53-EE93-F6FE-90DB-B24E2FA8C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EA4B1A8F-5432-F1B0-F540-A2A73CF06B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C73DCDF-4CDF-CC8D-7D58-8520BF604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479F126F-1B47-5E07-EE38-48399B6C8C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7314174A-6540-068B-0762-E7C82F4BA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9A99160C-8243-B39C-C62C-6959423BF7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88E6C007-4472-44DB-2ABB-56DE2FF23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213DCBCA-A288-B1B3-3373-46BC3C8A5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0FB5B71C-7538-6B50-8C96-D956488B2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A8E66071-8604-DB4B-DBA0-1C47CACF0A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7E2DE0EC-F14D-D4D7-A1A0-68BA3032D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B54C6691-7317-2BBA-B71E-D90C360E4E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6EF3F3B9-8328-ACD1-8637-05F1CE4D0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1DDA0237-9A2B-33F8-F902-997680C4A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719C2DB-EC01-24AA-CBF0-FE26FEC46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C95FD454-4A8E-0795-743C-F4F37DD12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027A77F2-8A32-4C91-DAED-345A10C00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B998B5F0-F8CE-E4FD-7391-1025DCB27E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3FC88CE7-7793-D217-0DBD-31595F0DE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39DB61DD-4259-FC16-74E7-F55083F718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94E5316A-C420-CA92-3755-B15622248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CFCEB1F6-7F1F-815F-E94E-795ACBA818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F009DCB-6A57-A2B5-F9A5-D16437292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62150E0C-9439-0B0E-3C4C-F46E07EE48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3A70F409-0BDE-1248-7917-A0063304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4E3CA321-FF4C-EC85-2330-EE5A1A02A5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5FE3DBC1-6459-4223-BA16-86FE3F1AF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09CD94EC-926F-EE4F-6831-D1F0AF2954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BE4A9418-DE91-B047-5392-3D3A60B8B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889373B6-9CA2-E619-ADE3-F94D637056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F0F44380-75A9-6579-9E43-0B5FF2B113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593A9C41-A771-5132-DC02-0AF957D07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E4649459-C072-80AC-1AFC-7A3C183EF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68C34D5C-0BF8-7EB3-CCC0-EEE38DFC23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778C708A-7C51-DEE3-7AE8-20C57729E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4586B998-E829-3FD0-687A-C9EFF0A4BF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67BC903-E08B-BE1D-8DD0-10D51C535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599DD4E-5FFD-19C7-20B6-8D14760F03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4C102967-E97A-5984-E4AC-E44982CC9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54E35EC7-F0FE-C32B-2758-5E3E0AA5D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E0FD8C41-EC8D-499E-6717-FC2B7B888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51A0770D-7EDC-0E8C-6C8E-C42F82456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1D3A4EBF-4644-576B-99CF-E66C6E6F2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3FF68A87-EF10-528C-28D9-6215DA0A65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0DA32572-EEDA-0159-4D3B-43853754D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E08B456B-2D41-BB36-3AD2-10E66048B8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81A55DD6-6ABE-7883-8373-360449BB8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06B31E46-9363-AB49-A595-1DD574E2F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AC4A92D4-FB99-540E-3A72-5DB5B716E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DA92C055-4434-D054-D2C2-BE8436E4CB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DEC8B6F8-5012-15C1-6592-3B9328141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7972F973-CC59-382C-0129-3263FC68D2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5D68CF0D-39D7-CEA4-50D3-1AA7120599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>
            <a:extLst>
              <a:ext uri="{FF2B5EF4-FFF2-40B4-BE49-F238E27FC236}">
                <a16:creationId xmlns:a16="http://schemas.microsoft.com/office/drawing/2014/main" id="{51948504-28F0-8CD9-3437-6BF74062C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2" name="Rectangle 3">
            <a:extLst>
              <a:ext uri="{FF2B5EF4-FFF2-40B4-BE49-F238E27FC236}">
                <a16:creationId xmlns:a16="http://schemas.microsoft.com/office/drawing/2014/main" id="{EBF24156-DA19-18B9-098A-D8E2442CA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>
            <a:extLst>
              <a:ext uri="{FF2B5EF4-FFF2-40B4-BE49-F238E27FC236}">
                <a16:creationId xmlns:a16="http://schemas.microsoft.com/office/drawing/2014/main" id="{D131F9FE-C7F4-3861-2A6C-DFFFF209AD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0" name="Rectangle 3">
            <a:extLst>
              <a:ext uri="{FF2B5EF4-FFF2-40B4-BE49-F238E27FC236}">
                <a16:creationId xmlns:a16="http://schemas.microsoft.com/office/drawing/2014/main" id="{5D1C3622-0A49-A1C2-EC07-75FFDD299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B268259F-9CA3-D105-7329-CA2F2B354B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C4E12E9E-5A29-49AC-8F4F-3B3F21A2D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0F8E40D2-B80D-7891-5214-61C613A26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8DB6E03C-5547-388C-ED6C-7C92D825E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>
            <a:extLst>
              <a:ext uri="{FF2B5EF4-FFF2-40B4-BE49-F238E27FC236}">
                <a16:creationId xmlns:a16="http://schemas.microsoft.com/office/drawing/2014/main" id="{3B489985-F8E0-C72D-AE3C-BBC233393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Rectangle 3">
            <a:extLst>
              <a:ext uri="{FF2B5EF4-FFF2-40B4-BE49-F238E27FC236}">
                <a16:creationId xmlns:a16="http://schemas.microsoft.com/office/drawing/2014/main" id="{0C824B25-CA83-C81F-E982-77DD634EF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>
            <a:extLst>
              <a:ext uri="{FF2B5EF4-FFF2-40B4-BE49-F238E27FC236}">
                <a16:creationId xmlns:a16="http://schemas.microsoft.com/office/drawing/2014/main" id="{B083D37D-E0AF-7DC5-1B2C-7252E532B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2" name="Rectangle 3">
            <a:extLst>
              <a:ext uri="{FF2B5EF4-FFF2-40B4-BE49-F238E27FC236}">
                <a16:creationId xmlns:a16="http://schemas.microsoft.com/office/drawing/2014/main" id="{CC3F9551-4F7B-7248-6C75-8A1BD57B6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>
            <a:extLst>
              <a:ext uri="{FF2B5EF4-FFF2-40B4-BE49-F238E27FC236}">
                <a16:creationId xmlns:a16="http://schemas.microsoft.com/office/drawing/2014/main" id="{C3AEEED1-2BB0-F0F4-804C-C550E59527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0" name="Rectangle 3">
            <a:extLst>
              <a:ext uri="{FF2B5EF4-FFF2-40B4-BE49-F238E27FC236}">
                <a16:creationId xmlns:a16="http://schemas.microsoft.com/office/drawing/2014/main" id="{704D4262-E4B6-8305-CC0D-119E82B4C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>
            <a:extLst>
              <a:ext uri="{FF2B5EF4-FFF2-40B4-BE49-F238E27FC236}">
                <a16:creationId xmlns:a16="http://schemas.microsoft.com/office/drawing/2014/main" id="{628C2200-EB12-CD54-F545-286849FBD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8229B086-6AF5-EA44-63EB-2629827D71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>
            <a:extLst>
              <a:ext uri="{FF2B5EF4-FFF2-40B4-BE49-F238E27FC236}">
                <a16:creationId xmlns:a16="http://schemas.microsoft.com/office/drawing/2014/main" id="{9D957E61-D74A-5133-6AE4-13CD01C45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DD6D7BE0-ED36-218C-6732-09531F094F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>
            <a:extLst>
              <a:ext uri="{FF2B5EF4-FFF2-40B4-BE49-F238E27FC236}">
                <a16:creationId xmlns:a16="http://schemas.microsoft.com/office/drawing/2014/main" id="{C7DFBEB3-5E80-08E7-0765-235C1FFDF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4" name="Rectangle 3">
            <a:extLst>
              <a:ext uri="{FF2B5EF4-FFF2-40B4-BE49-F238E27FC236}">
                <a16:creationId xmlns:a16="http://schemas.microsoft.com/office/drawing/2014/main" id="{4FAF6B04-ABE6-A93F-6636-5C9677D1C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>
            <a:extLst>
              <a:ext uri="{FF2B5EF4-FFF2-40B4-BE49-F238E27FC236}">
                <a16:creationId xmlns:a16="http://schemas.microsoft.com/office/drawing/2014/main" id="{8E4250D1-2671-8FBC-D320-8DAF0A410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2" name="Rectangle 3">
            <a:extLst>
              <a:ext uri="{FF2B5EF4-FFF2-40B4-BE49-F238E27FC236}">
                <a16:creationId xmlns:a16="http://schemas.microsoft.com/office/drawing/2014/main" id="{D879E103-B24E-1962-4A8B-0FA3DDFB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>
            <a:extLst>
              <a:ext uri="{FF2B5EF4-FFF2-40B4-BE49-F238E27FC236}">
                <a16:creationId xmlns:a16="http://schemas.microsoft.com/office/drawing/2014/main" id="{F690A7B1-7E0F-7D16-05C3-DB8FC976E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0" name="Rectangle 3">
            <a:extLst>
              <a:ext uri="{FF2B5EF4-FFF2-40B4-BE49-F238E27FC236}">
                <a16:creationId xmlns:a16="http://schemas.microsoft.com/office/drawing/2014/main" id="{E2BA6B16-90FD-2DB7-C330-F62753D76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>
            <a:extLst>
              <a:ext uri="{FF2B5EF4-FFF2-40B4-BE49-F238E27FC236}">
                <a16:creationId xmlns:a16="http://schemas.microsoft.com/office/drawing/2014/main" id="{7BD2583B-F6D8-A059-4EA2-079B68711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>
            <a:extLst>
              <a:ext uri="{FF2B5EF4-FFF2-40B4-BE49-F238E27FC236}">
                <a16:creationId xmlns:a16="http://schemas.microsoft.com/office/drawing/2014/main" id="{1EC27B17-F3C7-601D-8C9B-61A6A389DF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>
            <a:extLst>
              <a:ext uri="{FF2B5EF4-FFF2-40B4-BE49-F238E27FC236}">
                <a16:creationId xmlns:a16="http://schemas.microsoft.com/office/drawing/2014/main" id="{ACFE5CCE-679A-6B72-D98C-597E10FC16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6" name="Rectangle 3">
            <a:extLst>
              <a:ext uri="{FF2B5EF4-FFF2-40B4-BE49-F238E27FC236}">
                <a16:creationId xmlns:a16="http://schemas.microsoft.com/office/drawing/2014/main" id="{D4611A94-FE44-0BA1-36A4-D0B64F9B1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>
            <a:extLst>
              <a:ext uri="{FF2B5EF4-FFF2-40B4-BE49-F238E27FC236}">
                <a16:creationId xmlns:a16="http://schemas.microsoft.com/office/drawing/2014/main" id="{58156BC7-D3BB-5224-9E19-1C7FE004DB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4" name="Rectangle 3">
            <a:extLst>
              <a:ext uri="{FF2B5EF4-FFF2-40B4-BE49-F238E27FC236}">
                <a16:creationId xmlns:a16="http://schemas.microsoft.com/office/drawing/2014/main" id="{10A883C5-78E8-15DF-BA8A-458E02CE8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>
            <a:extLst>
              <a:ext uri="{FF2B5EF4-FFF2-40B4-BE49-F238E27FC236}">
                <a16:creationId xmlns:a16="http://schemas.microsoft.com/office/drawing/2014/main" id="{022A1807-6B6A-F322-3262-872CE94801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2" name="Rectangle 3">
            <a:extLst>
              <a:ext uri="{FF2B5EF4-FFF2-40B4-BE49-F238E27FC236}">
                <a16:creationId xmlns:a16="http://schemas.microsoft.com/office/drawing/2014/main" id="{DC8F9A90-E5C3-CB94-F74B-4B3443650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>
            <a:extLst>
              <a:ext uri="{FF2B5EF4-FFF2-40B4-BE49-F238E27FC236}">
                <a16:creationId xmlns:a16="http://schemas.microsoft.com/office/drawing/2014/main" id="{F056E93A-E858-89B5-A17E-A2134D2F9A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0" name="Rectangle 3">
            <a:extLst>
              <a:ext uri="{FF2B5EF4-FFF2-40B4-BE49-F238E27FC236}">
                <a16:creationId xmlns:a16="http://schemas.microsoft.com/office/drawing/2014/main" id="{063DF7EE-28FA-AD09-FB05-C7CB3F7B8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>
            <a:extLst>
              <a:ext uri="{FF2B5EF4-FFF2-40B4-BE49-F238E27FC236}">
                <a16:creationId xmlns:a16="http://schemas.microsoft.com/office/drawing/2014/main" id="{D21754CB-CFA4-B53F-DA12-649A09DD4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8" name="Rectangle 3">
            <a:extLst>
              <a:ext uri="{FF2B5EF4-FFF2-40B4-BE49-F238E27FC236}">
                <a16:creationId xmlns:a16="http://schemas.microsoft.com/office/drawing/2014/main" id="{01A81AFC-5A1A-31C6-698A-99F2A091FF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>
            <a:extLst>
              <a:ext uri="{FF2B5EF4-FFF2-40B4-BE49-F238E27FC236}">
                <a16:creationId xmlns:a16="http://schemas.microsoft.com/office/drawing/2014/main" id="{39999EC0-9345-9079-E9BA-F90D2D7FDC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6" name="Rectangle 3">
            <a:extLst>
              <a:ext uri="{FF2B5EF4-FFF2-40B4-BE49-F238E27FC236}">
                <a16:creationId xmlns:a16="http://schemas.microsoft.com/office/drawing/2014/main" id="{669399D5-3043-4139-A9DD-13009F7C2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EA98AE6A-AA79-2B45-444A-B7E48EE99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6CCFDE33-5123-5D66-05FC-D1A2575248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5C6D1816-163A-EC40-DC88-134528FB33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9E16E054-D8A4-5F91-E07D-F5A0A9FD2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D6CF385E-00AC-F309-D041-2DA46B90F2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FC93CC4D-28E0-349D-CF86-CB9ED5173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>
            <a:extLst>
              <a:ext uri="{FF2B5EF4-FFF2-40B4-BE49-F238E27FC236}">
                <a16:creationId xmlns:a16="http://schemas.microsoft.com/office/drawing/2014/main" id="{B2AA75F8-735D-08EE-3840-9B51F8C20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016ECB5B-65BD-7B52-50AD-0B697BDA6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>
            <a:extLst>
              <a:ext uri="{FF2B5EF4-FFF2-40B4-BE49-F238E27FC236}">
                <a16:creationId xmlns:a16="http://schemas.microsoft.com/office/drawing/2014/main" id="{D1926437-94CA-DE59-7477-A6CDF4F61E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6" name="Rectangle 3">
            <a:extLst>
              <a:ext uri="{FF2B5EF4-FFF2-40B4-BE49-F238E27FC236}">
                <a16:creationId xmlns:a16="http://schemas.microsoft.com/office/drawing/2014/main" id="{74840E30-7F31-9CBB-637F-CF9AA25BA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>
            <a:extLst>
              <a:ext uri="{FF2B5EF4-FFF2-40B4-BE49-F238E27FC236}">
                <a16:creationId xmlns:a16="http://schemas.microsoft.com/office/drawing/2014/main" id="{0C8BAA98-7B31-EB7D-D0F6-A6E10365F7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4" name="Rectangle 3">
            <a:extLst>
              <a:ext uri="{FF2B5EF4-FFF2-40B4-BE49-F238E27FC236}">
                <a16:creationId xmlns:a16="http://schemas.microsoft.com/office/drawing/2014/main" id="{BEC6F1E4-C21F-C0F6-F6FD-DD2BD08E8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>
            <a:extLst>
              <a:ext uri="{FF2B5EF4-FFF2-40B4-BE49-F238E27FC236}">
                <a16:creationId xmlns:a16="http://schemas.microsoft.com/office/drawing/2014/main" id="{547A2A89-5489-E1F7-7FAF-AAE919BF70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2" name="Rectangle 3">
            <a:extLst>
              <a:ext uri="{FF2B5EF4-FFF2-40B4-BE49-F238E27FC236}">
                <a16:creationId xmlns:a16="http://schemas.microsoft.com/office/drawing/2014/main" id="{C723B834-9D1A-E677-F138-34518B715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2">
            <a:extLst>
              <a:ext uri="{FF2B5EF4-FFF2-40B4-BE49-F238E27FC236}">
                <a16:creationId xmlns:a16="http://schemas.microsoft.com/office/drawing/2014/main" id="{3D4BDE73-3BEF-F100-C1AD-0A55741F5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0" name="Rectangle 3">
            <a:extLst>
              <a:ext uri="{FF2B5EF4-FFF2-40B4-BE49-F238E27FC236}">
                <a16:creationId xmlns:a16="http://schemas.microsoft.com/office/drawing/2014/main" id="{787E0220-66A4-6244-08D9-3663FC808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2">
            <a:extLst>
              <a:ext uri="{FF2B5EF4-FFF2-40B4-BE49-F238E27FC236}">
                <a16:creationId xmlns:a16="http://schemas.microsoft.com/office/drawing/2014/main" id="{F31CFD55-3116-1967-F177-8C11CF580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8" name="Rectangle 3">
            <a:extLst>
              <a:ext uri="{FF2B5EF4-FFF2-40B4-BE49-F238E27FC236}">
                <a16:creationId xmlns:a16="http://schemas.microsoft.com/office/drawing/2014/main" id="{C7A27DEA-9955-7B2E-F066-9995DFC78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>
            <a:extLst>
              <a:ext uri="{FF2B5EF4-FFF2-40B4-BE49-F238E27FC236}">
                <a16:creationId xmlns:a16="http://schemas.microsoft.com/office/drawing/2014/main" id="{60D828A4-09A8-C6ED-AC9A-FAD4A1DEF1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6" name="Rectangle 3">
            <a:extLst>
              <a:ext uri="{FF2B5EF4-FFF2-40B4-BE49-F238E27FC236}">
                <a16:creationId xmlns:a16="http://schemas.microsoft.com/office/drawing/2014/main" id="{B78A8EEF-93AE-F5FE-D8ED-144AFB334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>
            <a:extLst>
              <a:ext uri="{FF2B5EF4-FFF2-40B4-BE49-F238E27FC236}">
                <a16:creationId xmlns:a16="http://schemas.microsoft.com/office/drawing/2014/main" id="{8CFB5E1F-9A14-C83B-941A-C1E453A2FD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4" name="Rectangle 3">
            <a:extLst>
              <a:ext uri="{FF2B5EF4-FFF2-40B4-BE49-F238E27FC236}">
                <a16:creationId xmlns:a16="http://schemas.microsoft.com/office/drawing/2014/main" id="{0FC011F5-1A8A-41CD-2F12-5425B54D9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>
            <a:extLst>
              <a:ext uri="{FF2B5EF4-FFF2-40B4-BE49-F238E27FC236}">
                <a16:creationId xmlns:a16="http://schemas.microsoft.com/office/drawing/2014/main" id="{A8FA854E-E34B-2880-30C3-04C99485B3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2" name="Rectangle 3">
            <a:extLst>
              <a:ext uri="{FF2B5EF4-FFF2-40B4-BE49-F238E27FC236}">
                <a16:creationId xmlns:a16="http://schemas.microsoft.com/office/drawing/2014/main" id="{15B32274-A6F3-082C-E41A-E61D42C549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2">
            <a:extLst>
              <a:ext uri="{FF2B5EF4-FFF2-40B4-BE49-F238E27FC236}">
                <a16:creationId xmlns:a16="http://schemas.microsoft.com/office/drawing/2014/main" id="{FE1AA05A-6EAC-499F-1E39-67976A37CD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0" name="Rectangle 3">
            <a:extLst>
              <a:ext uri="{FF2B5EF4-FFF2-40B4-BE49-F238E27FC236}">
                <a16:creationId xmlns:a16="http://schemas.microsoft.com/office/drawing/2014/main" id="{82DA9D8E-E679-146F-DE49-7DB86CE36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2">
            <a:extLst>
              <a:ext uri="{FF2B5EF4-FFF2-40B4-BE49-F238E27FC236}">
                <a16:creationId xmlns:a16="http://schemas.microsoft.com/office/drawing/2014/main" id="{087ABF0C-2D3C-2D38-C864-6E520EF96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8" name="Rectangle 3">
            <a:extLst>
              <a:ext uri="{FF2B5EF4-FFF2-40B4-BE49-F238E27FC236}">
                <a16:creationId xmlns:a16="http://schemas.microsoft.com/office/drawing/2014/main" id="{8E0A4812-4D21-41FD-4082-3BB66814F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2">
            <a:extLst>
              <a:ext uri="{FF2B5EF4-FFF2-40B4-BE49-F238E27FC236}">
                <a16:creationId xmlns:a16="http://schemas.microsoft.com/office/drawing/2014/main" id="{B5FCF6BD-ED26-597F-D095-620395C2D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6" name="Rectangle 3">
            <a:extLst>
              <a:ext uri="{FF2B5EF4-FFF2-40B4-BE49-F238E27FC236}">
                <a16:creationId xmlns:a16="http://schemas.microsoft.com/office/drawing/2014/main" id="{0493D891-C484-6934-65C7-445C71B95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>
            <a:extLst>
              <a:ext uri="{FF2B5EF4-FFF2-40B4-BE49-F238E27FC236}">
                <a16:creationId xmlns:a16="http://schemas.microsoft.com/office/drawing/2014/main" id="{C04661BE-0120-6417-61A9-1311B3F95B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4" name="Rectangle 3">
            <a:extLst>
              <a:ext uri="{FF2B5EF4-FFF2-40B4-BE49-F238E27FC236}">
                <a16:creationId xmlns:a16="http://schemas.microsoft.com/office/drawing/2014/main" id="{A63599FB-F7F7-B00A-1B7B-356276110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Rectangle 2">
            <a:extLst>
              <a:ext uri="{FF2B5EF4-FFF2-40B4-BE49-F238E27FC236}">
                <a16:creationId xmlns:a16="http://schemas.microsoft.com/office/drawing/2014/main" id="{84D24EFF-397B-42C8-3B6C-1FF3A2063D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2" name="Rectangle 3">
            <a:extLst>
              <a:ext uri="{FF2B5EF4-FFF2-40B4-BE49-F238E27FC236}">
                <a16:creationId xmlns:a16="http://schemas.microsoft.com/office/drawing/2014/main" id="{15D348E1-C3D1-3BA6-752B-88194C6A6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2">
            <a:extLst>
              <a:ext uri="{FF2B5EF4-FFF2-40B4-BE49-F238E27FC236}">
                <a16:creationId xmlns:a16="http://schemas.microsoft.com/office/drawing/2014/main" id="{B5050412-3105-FF17-AA2C-17A8403DAC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0" name="Rectangle 3">
            <a:extLst>
              <a:ext uri="{FF2B5EF4-FFF2-40B4-BE49-F238E27FC236}">
                <a16:creationId xmlns:a16="http://schemas.microsoft.com/office/drawing/2014/main" id="{BB458FB4-D163-C9D7-3204-F8BE3E6A8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2">
            <a:extLst>
              <a:ext uri="{FF2B5EF4-FFF2-40B4-BE49-F238E27FC236}">
                <a16:creationId xmlns:a16="http://schemas.microsoft.com/office/drawing/2014/main" id="{45372EBF-270E-069B-327B-90F9AB05D1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8" name="Rectangle 3">
            <a:extLst>
              <a:ext uri="{FF2B5EF4-FFF2-40B4-BE49-F238E27FC236}">
                <a16:creationId xmlns:a16="http://schemas.microsoft.com/office/drawing/2014/main" id="{CE53F55B-9A53-3304-76C1-FE0090E03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2">
            <a:extLst>
              <a:ext uri="{FF2B5EF4-FFF2-40B4-BE49-F238E27FC236}">
                <a16:creationId xmlns:a16="http://schemas.microsoft.com/office/drawing/2014/main" id="{9CD5E5E5-CEA4-2757-33FE-523F34153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6" name="Rectangle 3">
            <a:extLst>
              <a:ext uri="{FF2B5EF4-FFF2-40B4-BE49-F238E27FC236}">
                <a16:creationId xmlns:a16="http://schemas.microsoft.com/office/drawing/2014/main" id="{404B03CF-611C-8BFF-49EA-FA7687BCD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Rectangle 2">
            <a:extLst>
              <a:ext uri="{FF2B5EF4-FFF2-40B4-BE49-F238E27FC236}">
                <a16:creationId xmlns:a16="http://schemas.microsoft.com/office/drawing/2014/main" id="{45961F6D-0AB9-1B9C-AA1E-72704EE720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4" name="Rectangle 3">
            <a:extLst>
              <a:ext uri="{FF2B5EF4-FFF2-40B4-BE49-F238E27FC236}">
                <a16:creationId xmlns:a16="http://schemas.microsoft.com/office/drawing/2014/main" id="{9AAB592D-129F-5778-5EE4-261ABEC31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2">
            <a:extLst>
              <a:ext uri="{FF2B5EF4-FFF2-40B4-BE49-F238E27FC236}">
                <a16:creationId xmlns:a16="http://schemas.microsoft.com/office/drawing/2014/main" id="{9907C377-7972-232E-2741-7BF0472C7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2" name="Rectangle 3">
            <a:extLst>
              <a:ext uri="{FF2B5EF4-FFF2-40B4-BE49-F238E27FC236}">
                <a16:creationId xmlns:a16="http://schemas.microsoft.com/office/drawing/2014/main" id="{96BEFB0E-0C68-48FC-1296-E6EA096FB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Rectangle 2">
            <a:extLst>
              <a:ext uri="{FF2B5EF4-FFF2-40B4-BE49-F238E27FC236}">
                <a16:creationId xmlns:a16="http://schemas.microsoft.com/office/drawing/2014/main" id="{C2567D82-7906-FD4E-12F2-39A2136D13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0" name="Rectangle 3">
            <a:extLst>
              <a:ext uri="{FF2B5EF4-FFF2-40B4-BE49-F238E27FC236}">
                <a16:creationId xmlns:a16="http://schemas.microsoft.com/office/drawing/2014/main" id="{9203AC35-E971-6B45-231B-30541D549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2">
            <a:extLst>
              <a:ext uri="{FF2B5EF4-FFF2-40B4-BE49-F238E27FC236}">
                <a16:creationId xmlns:a16="http://schemas.microsoft.com/office/drawing/2014/main" id="{06A1E684-492F-4961-32BB-DB6B3BD3A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8" name="Rectangle 3">
            <a:extLst>
              <a:ext uri="{FF2B5EF4-FFF2-40B4-BE49-F238E27FC236}">
                <a16:creationId xmlns:a16="http://schemas.microsoft.com/office/drawing/2014/main" id="{15985614-6D9A-5C7B-C6B4-1D2F2241E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2">
            <a:extLst>
              <a:ext uri="{FF2B5EF4-FFF2-40B4-BE49-F238E27FC236}">
                <a16:creationId xmlns:a16="http://schemas.microsoft.com/office/drawing/2014/main" id="{E52FB834-0B2C-2329-1D83-9BB256AA9B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6" name="Rectangle 3">
            <a:extLst>
              <a:ext uri="{FF2B5EF4-FFF2-40B4-BE49-F238E27FC236}">
                <a16:creationId xmlns:a16="http://schemas.microsoft.com/office/drawing/2014/main" id="{D396CA17-0ECF-BAA5-64C6-6E3898019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2">
            <a:extLst>
              <a:ext uri="{FF2B5EF4-FFF2-40B4-BE49-F238E27FC236}">
                <a16:creationId xmlns:a16="http://schemas.microsoft.com/office/drawing/2014/main" id="{9B3497F4-0423-637D-85D2-B00B6F10A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4" name="Rectangle 3">
            <a:extLst>
              <a:ext uri="{FF2B5EF4-FFF2-40B4-BE49-F238E27FC236}">
                <a16:creationId xmlns:a16="http://schemas.microsoft.com/office/drawing/2014/main" id="{A80C3EB4-DBEF-8EBB-52BF-019AFD75C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Rectangle 2">
            <a:extLst>
              <a:ext uri="{FF2B5EF4-FFF2-40B4-BE49-F238E27FC236}">
                <a16:creationId xmlns:a16="http://schemas.microsoft.com/office/drawing/2014/main" id="{31796DD2-257E-2647-A28D-00364F015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2" name="Rectangle 3">
            <a:extLst>
              <a:ext uri="{FF2B5EF4-FFF2-40B4-BE49-F238E27FC236}">
                <a16:creationId xmlns:a16="http://schemas.microsoft.com/office/drawing/2014/main" id="{9EBAB7E4-A95B-3AE3-2828-42E0C7516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89" name="Rectangle 2">
            <a:extLst>
              <a:ext uri="{FF2B5EF4-FFF2-40B4-BE49-F238E27FC236}">
                <a16:creationId xmlns:a16="http://schemas.microsoft.com/office/drawing/2014/main" id="{8A95DF14-BC02-E08B-164C-E77EB67E36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0" name="Rectangle 3">
            <a:extLst>
              <a:ext uri="{FF2B5EF4-FFF2-40B4-BE49-F238E27FC236}">
                <a16:creationId xmlns:a16="http://schemas.microsoft.com/office/drawing/2014/main" id="{2FBC2CFA-D97A-2A73-84FD-9C96AE746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7" name="Rectangle 2">
            <a:extLst>
              <a:ext uri="{FF2B5EF4-FFF2-40B4-BE49-F238E27FC236}">
                <a16:creationId xmlns:a16="http://schemas.microsoft.com/office/drawing/2014/main" id="{4317C203-D1E9-095A-811B-526A9B2C8B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8" name="Rectangle 3">
            <a:extLst>
              <a:ext uri="{FF2B5EF4-FFF2-40B4-BE49-F238E27FC236}">
                <a16:creationId xmlns:a16="http://schemas.microsoft.com/office/drawing/2014/main" id="{77235453-5E5D-35AA-245D-326E70D53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5" name="Rectangle 2">
            <a:extLst>
              <a:ext uri="{FF2B5EF4-FFF2-40B4-BE49-F238E27FC236}">
                <a16:creationId xmlns:a16="http://schemas.microsoft.com/office/drawing/2014/main" id="{56479164-9ABF-0DEE-EFA4-102F34C4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6" name="Rectangle 3">
            <a:extLst>
              <a:ext uri="{FF2B5EF4-FFF2-40B4-BE49-F238E27FC236}">
                <a16:creationId xmlns:a16="http://schemas.microsoft.com/office/drawing/2014/main" id="{D1994C9A-0B10-516A-20E7-E3C55A23E8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Rectangle 2">
            <a:extLst>
              <a:ext uri="{FF2B5EF4-FFF2-40B4-BE49-F238E27FC236}">
                <a16:creationId xmlns:a16="http://schemas.microsoft.com/office/drawing/2014/main" id="{3A65A7DD-1237-6EC2-5CA2-ED93A205F4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4" name="Rectangle 3">
            <a:extLst>
              <a:ext uri="{FF2B5EF4-FFF2-40B4-BE49-F238E27FC236}">
                <a16:creationId xmlns:a16="http://schemas.microsoft.com/office/drawing/2014/main" id="{3A329C89-C9DF-B83A-E843-6E69F18F1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1" name="Rectangle 2">
            <a:extLst>
              <a:ext uri="{FF2B5EF4-FFF2-40B4-BE49-F238E27FC236}">
                <a16:creationId xmlns:a16="http://schemas.microsoft.com/office/drawing/2014/main" id="{97AB2DD1-B0D5-A9AD-8C9E-B154CD2DA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2" name="Rectangle 3">
            <a:extLst>
              <a:ext uri="{FF2B5EF4-FFF2-40B4-BE49-F238E27FC236}">
                <a16:creationId xmlns:a16="http://schemas.microsoft.com/office/drawing/2014/main" id="{FE0C05C2-56F3-D2CF-63F6-8B2694355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29" name="Rectangle 2">
            <a:extLst>
              <a:ext uri="{FF2B5EF4-FFF2-40B4-BE49-F238E27FC236}">
                <a16:creationId xmlns:a16="http://schemas.microsoft.com/office/drawing/2014/main" id="{DD31BD2F-8011-8287-D655-B4B5D6D892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0" name="Rectangle 3">
            <a:extLst>
              <a:ext uri="{FF2B5EF4-FFF2-40B4-BE49-F238E27FC236}">
                <a16:creationId xmlns:a16="http://schemas.microsoft.com/office/drawing/2014/main" id="{67B89AD2-44EE-3592-4D8D-34F1D2D88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Rectangle 2">
            <a:extLst>
              <a:ext uri="{FF2B5EF4-FFF2-40B4-BE49-F238E27FC236}">
                <a16:creationId xmlns:a16="http://schemas.microsoft.com/office/drawing/2014/main" id="{EBB55FD1-D137-52A7-A083-DD632BF843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8" name="Rectangle 3">
            <a:extLst>
              <a:ext uri="{FF2B5EF4-FFF2-40B4-BE49-F238E27FC236}">
                <a16:creationId xmlns:a16="http://schemas.microsoft.com/office/drawing/2014/main" id="{B3B1AC50-2927-E6EE-37A3-206402309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178806-0C59-9041-1904-9A431A00736C}"/>
              </a:ext>
            </a:extLst>
          </p:cNvPr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44C428-22FF-A4F2-02F1-47ED1725282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212F98-A735-E027-F236-D55BAD6A9A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ADD884-7467-D064-FB41-9A550E0D1D4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10A6A56-86B1-5770-4AEE-4FFAF98E5FA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651D19D2-514F-036F-3A26-4A6B05E3F2F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14B8C547-4909-17DF-1F87-F0FA63BEE91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E6827880-B7E3-313D-F5C8-0E59C4F2ACC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1843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3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1E924B74-A474-9FAC-EE32-0380F27D95E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1C9D323-66DA-E246-8FF8-E38B171FF7F3}" type="datetime1">
              <a:rPr lang="en-US" altLang="en-US"/>
              <a:pPr/>
              <a:t>1/9/26</a:t>
            </a:fld>
            <a:r>
              <a:rPr lang="hu-HU" altLang="en-US"/>
              <a:t>Duminda Wijesekera</a:t>
            </a:r>
            <a:endParaRPr lang="en-US" alt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FB911A1-845E-C55F-44FF-2942E3B426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ISA 763 Fall 2007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FEDB405-3BB5-C49A-87AC-76303BAA6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7CBD7-4AA2-4144-81C1-B4038591CA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21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6" name="Rectangle 10">
            <a:extLst>
              <a:ext uri="{FF2B5EF4-FFF2-40B4-BE49-F238E27FC236}">
                <a16:creationId xmlns:a16="http://schemas.microsoft.com/office/drawing/2014/main" id="{4DED5286-23C1-192E-0E45-6B9A7E47C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306B6464-9C72-EA1C-5DC0-A578DE87AC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FE3321A-566F-DD28-A7DA-F7F6B38A882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BA513085-2D81-8146-B896-701E35B0B16A}" type="datetime1">
              <a:rPr lang="en-US" altLang="en-US"/>
              <a:pPr/>
              <a:t>1/9/26</a:t>
            </a:fld>
            <a:r>
              <a:rPr lang="hu-HU" altLang="en-US"/>
              <a:t>Duminda Wijesekera</a:t>
            </a:r>
            <a:endParaRPr lang="en-US" alt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8F1ECEA4-A5A2-A282-A19F-A259A37D8B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r>
              <a:rPr lang="en-US" altLang="en-US"/>
              <a:t>ISA 763 Fall 2007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140A6845-146D-CA0C-91BB-990A52E19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10199"/>
                  </a:outerShdw>
                </a:effectLst>
              </a:defRPr>
            </a:lvl1pPr>
          </a:lstStyle>
          <a:p>
            <a:fld id="{8EE70CE4-8902-944C-9BCF-F8BD302ED9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5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Arial" charset="0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uni.lu/secan-lab/Anonymity-Papers.html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AE9204A-971A-E95B-7CF4-9D45FCDD2D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295400"/>
            <a:ext cx="7924800" cy="1447800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/>
              <a:t>Modeling Security Protocols </a:t>
            </a:r>
            <a:br>
              <a:rPr lang="en-US" sz="4400"/>
            </a:br>
            <a:r>
              <a:rPr lang="en-US" sz="4400"/>
              <a:t>in CSP</a:t>
            </a:r>
            <a:endParaRPr lang="hu-HU" sz="4400"/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8D0500FA-61BD-0E93-8DA9-AC8D6706B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733800"/>
            <a:ext cx="4953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CYSE 750- Spring 2026</a:t>
            </a:r>
          </a:p>
        </p:txBody>
      </p:sp>
      <p:sp>
        <p:nvSpPr>
          <p:cNvPr id="3078" name="Rectangle 5">
            <a:extLst>
              <a:ext uri="{FF2B5EF4-FFF2-40B4-BE49-F238E27FC236}">
                <a16:creationId xmlns:a16="http://schemas.microsoft.com/office/drawing/2014/main" id="{6A38A7D2-AAE9-B8CB-D2E3-4F3A04B33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5105400"/>
            <a:ext cx="807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Chapter 2 and 3 of Ryan and Schneider</a:t>
            </a:r>
          </a:p>
          <a:p>
            <a:pPr algn="ctr" eaLnBrk="1" hangingPunct="1"/>
            <a:r>
              <a:rPr lang="en-US" altLang="en-US" sz="18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Thanks to Professor </a:t>
            </a:r>
            <a:r>
              <a:rPr lang="en-US" altLang="en-US" sz="18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Catusscia</a:t>
            </a:r>
            <a:r>
              <a:rPr lang="en-US" altLang="en-US" sz="18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en-US" sz="1800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Palamidessi</a:t>
            </a:r>
            <a:r>
              <a:rPr lang="en-US" altLang="en-US" sz="18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her</a:t>
            </a:r>
            <a:r>
              <a:rPr lang="en-US" altLang="ja-JP" sz="1800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notes</a:t>
            </a:r>
            <a:endParaRPr lang="en-US" altLang="en-US" sz="1800" dirty="0">
              <a:solidFill>
                <a:schemeClr val="bg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C8F7C71C-C6CE-67AD-0D68-7432482EE3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Example: The Yahalom Protocol</a:t>
            </a:r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1742F628-DCF8-3D56-DE63-45E6BDA614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371600"/>
            <a:ext cx="8229600" cy="5091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protocol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1: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-&gt; b : 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2: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 -&gt; s : b.{a.n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3: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 -&gt; a : {b.k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 .							           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4: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-&gt; b : 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Objectives: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of the participants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should remain secret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also on 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a,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b,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4">
            <a:extLst>
              <a:ext uri="{FF2B5EF4-FFF2-40B4-BE49-F238E27FC236}">
                <a16:creationId xmlns:a16="http://schemas.microsoft.com/office/drawing/2014/main" id="{D03CF64D-D158-F3FE-BB93-DD8BD5E1B9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Three Participants Views</a:t>
            </a:r>
          </a:p>
        </p:txBody>
      </p:sp>
      <p:sp>
        <p:nvSpPr>
          <p:cNvPr id="8194" name="Rectangle 5">
            <a:extLst>
              <a:ext uri="{FF2B5EF4-FFF2-40B4-BE49-F238E27FC236}">
                <a16:creationId xmlns:a16="http://schemas.microsoft.com/office/drawing/2014/main" id="{54572EB2-FF12-48C6-D8A1-FB2BA3BD009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295400"/>
            <a:ext cx="4038600" cy="3429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Initiator (=A)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A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j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{b.k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ServerKey({a}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 {a.k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endParaRPr lang="en-US" altLang="en-US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	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  <a:endParaRPr lang="en-US" altLang="en-US" sz="20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5" name="Rectangle 6">
            <a:extLst>
              <a:ext uri="{FF2B5EF4-FFF2-40B4-BE49-F238E27FC236}">
                <a16:creationId xmlns:a16="http://schemas.microsoft.com/office/drawing/2014/main" id="{414A8CEE-F5A9-8B48-787A-020E64E0C16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5800" y="1295400"/>
            <a:ext cx="4267200" cy="3429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Responder (=B)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B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j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	  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kab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6" name="Rectangle 8">
            <a:extLst>
              <a:ext uri="{FF2B5EF4-FFF2-40B4-BE49-F238E27FC236}">
                <a16:creationId xmlns:a16="http://schemas.microsoft.com/office/drawing/2014/main" id="{1D7307C5-173C-A2C3-FE4D-45F78DC86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00600"/>
            <a:ext cx="8305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</a:rPr>
              <a:t>The Server Jeeves (= J)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altLang="en-US" sz="2800"/>
              <a:t>J</a:t>
            </a:r>
            <a:r>
              <a:rPr lang="en-US" altLang="en-US" sz="2800">
                <a:sym typeface="Wingdings" pitchFamily="2" charset="2"/>
              </a:rPr>
              <a:t> </a:t>
            </a:r>
            <a:r>
              <a:rPr lang="en-US" altLang="en-US" sz="2800">
                <a:solidFill>
                  <a:srgbClr val="00FF00"/>
                </a:solidFill>
                <a:sym typeface="Wingdings" pitchFamily="2" charset="2"/>
              </a:rPr>
              <a:t>b</a:t>
            </a:r>
            <a:r>
              <a:rPr lang="en-US" altLang="en-US" sz="2800">
                <a:sym typeface="Wingdings" pitchFamily="2" charset="2"/>
              </a:rPr>
              <a:t>: b.</a:t>
            </a:r>
            <a:r>
              <a:rPr lang="en-US" altLang="en-US" sz="2800" baseline="-25000">
                <a:sym typeface="Wingdings" pitchFamily="2" charset="2"/>
              </a:rPr>
              <a:t> </a:t>
            </a:r>
            <a:r>
              <a:rPr lang="en-US" altLang="en-US" sz="2800"/>
              <a:t>{a.n</a:t>
            </a:r>
            <a:r>
              <a:rPr lang="en-US" altLang="en-US" sz="2800" baseline="-25000"/>
              <a:t>a</a:t>
            </a:r>
            <a:r>
              <a:rPr lang="en-US" altLang="en-US" sz="2800"/>
              <a:t>.n</a:t>
            </a:r>
            <a:r>
              <a:rPr lang="en-US" altLang="en-US" sz="2800" baseline="-25000"/>
              <a:t>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ServerKey(b) </a:t>
            </a:r>
            <a:endParaRPr lang="en-US" altLang="en-US" sz="2800">
              <a:sym typeface="Wingdings" pitchFamily="2" charset="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Char char="l"/>
            </a:pPr>
            <a:r>
              <a:rPr lang="en-US" altLang="en-US" sz="2800">
                <a:sym typeface="Wingdings" pitchFamily="2" charset="2"/>
              </a:rPr>
              <a:t>J </a:t>
            </a:r>
            <a:r>
              <a:rPr lang="en-US" altLang="en-US" sz="2800">
                <a:solidFill>
                  <a:srgbClr val="00FF00"/>
                </a:solidFill>
                <a:sym typeface="Wingdings" pitchFamily="2" charset="2"/>
              </a:rPr>
              <a:t>a</a:t>
            </a:r>
            <a:r>
              <a:rPr lang="en-US" altLang="en-US" sz="2800">
                <a:sym typeface="Wingdings" pitchFamily="2" charset="2"/>
              </a:rPr>
              <a:t> :  </a:t>
            </a:r>
            <a:r>
              <a:rPr lang="en-US" altLang="en-US" sz="2800"/>
              <a:t>{b.k</a:t>
            </a:r>
            <a:r>
              <a:rPr lang="en-US" altLang="en-US" sz="2800" baseline="-25000"/>
              <a:t>ab</a:t>
            </a:r>
            <a:r>
              <a:rPr lang="en-US" altLang="en-US" sz="2800"/>
              <a:t>.n</a:t>
            </a:r>
            <a:r>
              <a:rPr lang="en-US" altLang="en-US" sz="2800" baseline="-25000"/>
              <a:t>a</a:t>
            </a:r>
            <a:r>
              <a:rPr lang="en-US" altLang="en-US" sz="2800"/>
              <a:t>.n</a:t>
            </a:r>
            <a:r>
              <a:rPr lang="en-US" altLang="en-US" sz="2800" baseline="-25000"/>
              <a:t>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ServerKey(Ka)</a:t>
            </a:r>
            <a:r>
              <a:rPr lang="en-US" altLang="en-US" sz="2800"/>
              <a:t>. {a.k</a:t>
            </a:r>
            <a:r>
              <a:rPr lang="en-US" altLang="en-US" sz="2800" baseline="-25000"/>
              <a:t>ab</a:t>
            </a:r>
            <a:r>
              <a:rPr lang="en-US" altLang="en-US" sz="2800"/>
              <a:t>}</a:t>
            </a:r>
            <a:r>
              <a:rPr lang="en-US" altLang="en-US" sz="2800" baseline="-25000"/>
              <a:t>ServerKey(b)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7A367EC9-0CD8-D53D-CA38-B319F3F368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CFACBAEE-F455-654D-1ADE-FEA492360E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Develop CSP programs for all three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roles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Take the process through the protocol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each role: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Alternate between sending and receiving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process will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Generate keys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Generate nonces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Perform encryption and decryption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F951AA4E-67F3-2C18-D67A-BF7533DDF0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Encoding - I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76D797FC-EF7F-8EDF-7F1A-854BB30133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Encryption function: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encrypt(k,m)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Decryption function: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dcrypt(k,m)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Keys: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serverKey(b) 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shared between server and </a:t>
            </a:r>
            <a:r>
              <a:rPr lang="en-US" altLang="en-US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1"/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Other actors cannot understand it!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3436833-5EC4-D9B3-40BA-EEB62BAF01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Encoding - II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229BEADC-110A-1C13-783B-C29C7807F6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CSP process that understands only messages of the kind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Key  [ recieve.a.B.({a.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}serverKey(b).{n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}.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P(B,a,n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]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that aborts on an incorrect message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	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∈Key [recieve.a.B.({a.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}serverKey(B).{n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}.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 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P(B,a,n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 ]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AbortRun(B)</a:t>
            </a:r>
          </a:p>
          <a:p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recieve.a.B….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be written in the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a? x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format of CSP.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1BE0FD4-C21B-539C-B097-0FBA912F6E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 – the initial version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97C70DD-60DD-70E4-FBF5-159726DABA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=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receive.J.a{b.k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.{a.k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send.a.b.{a.k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50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</a:p>
        </p:txBody>
      </p:sp>
      <p:sp>
        <p:nvSpPr>
          <p:cNvPr id="16387" name="AutoShape 4">
            <a:extLst>
              <a:ext uri="{FF2B5EF4-FFF2-40B4-BE49-F238E27FC236}">
                <a16:creationId xmlns:a16="http://schemas.microsoft.com/office/drawing/2014/main" id="{CE3BF53A-9703-91D5-7718-B44073E79411}"/>
              </a:ext>
            </a:extLst>
          </p:cNvPr>
          <p:cNvSpPr>
            <a:spLocks/>
          </p:cNvSpPr>
          <p:nvPr/>
        </p:nvSpPr>
        <p:spPr bwMode="auto">
          <a:xfrm>
            <a:off x="2286000" y="3429000"/>
            <a:ext cx="152400" cy="2286000"/>
          </a:xfrm>
          <a:prstGeom prst="lef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D6804736-6175-F12D-D00D-5BBB59FBA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6389" name="AutoShape 6">
            <a:extLst>
              <a:ext uri="{FF2B5EF4-FFF2-40B4-BE49-F238E27FC236}">
                <a16:creationId xmlns:a16="http://schemas.microsoft.com/office/drawing/2014/main" id="{E42FDC54-6BFA-A4A1-788E-97BED3CBA3B0}"/>
              </a:ext>
            </a:extLst>
          </p:cNvPr>
          <p:cNvSpPr>
            <a:spLocks/>
          </p:cNvSpPr>
          <p:nvPr/>
        </p:nvSpPr>
        <p:spPr bwMode="auto">
          <a:xfrm>
            <a:off x="8686800" y="3352800"/>
            <a:ext cx="76200" cy="2514600"/>
          </a:xfrm>
          <a:prstGeom prst="rightBracket">
            <a:avLst>
              <a:gd name="adj" fmla="val 27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5098C8B-8336-C2E7-AA6F-A12037B37D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 – the initial version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56286603-49AF-0283-2160-7B16260877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receive.a.b.a.n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send.b.J.b.{a.n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</a:p>
          <a:p>
            <a:pPr lvl="1"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428CE7C7-12A3-573F-A65E-33C974D64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8436" name="AutoShape 5">
            <a:extLst>
              <a:ext uri="{FF2B5EF4-FFF2-40B4-BE49-F238E27FC236}">
                <a16:creationId xmlns:a16="http://schemas.microsoft.com/office/drawing/2014/main" id="{7A6587A9-BB81-F4C9-5049-30F2E3EF88EB}"/>
              </a:ext>
            </a:extLst>
          </p:cNvPr>
          <p:cNvSpPr>
            <a:spLocks/>
          </p:cNvSpPr>
          <p:nvPr/>
        </p:nvSpPr>
        <p:spPr bwMode="auto">
          <a:xfrm>
            <a:off x="2286000" y="2286000"/>
            <a:ext cx="76200" cy="2819400"/>
          </a:xfrm>
          <a:prstGeom prst="leftBracket">
            <a:avLst>
              <a:gd name="adj" fmla="val 30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18437" name="AutoShape 6">
            <a:extLst>
              <a:ext uri="{FF2B5EF4-FFF2-40B4-BE49-F238E27FC236}">
                <a16:creationId xmlns:a16="http://schemas.microsoft.com/office/drawing/2014/main" id="{16BE2647-461F-7DFB-02EE-ADC72F916140}"/>
              </a:ext>
            </a:extLst>
          </p:cNvPr>
          <p:cNvSpPr>
            <a:spLocks/>
          </p:cNvSpPr>
          <p:nvPr/>
        </p:nvSpPr>
        <p:spPr bwMode="auto">
          <a:xfrm>
            <a:off x="8686800" y="2133600"/>
            <a:ext cx="152400" cy="3048000"/>
          </a:xfrm>
          <a:prstGeom prst="rightBracket">
            <a:avLst>
              <a:gd name="adj" fmla="val 16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F519D71-C6CF-1535-B203-D97F49530A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Server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Jeeves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61894EAD-5950-D1E4-D9AA-3C240D26D1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Server(J,K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receive.b.J.b{a.n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send.J.a.{b.k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 	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endParaRPr lang="en-US" altLang="en-US" sz="2800" baseline="-36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a,b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Server(J) = ||| Server(J,K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2D787DEA-5C6B-FA62-9DC6-EB55E8B6D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B4B46893-56E8-A2F7-6BAA-3F7C980D59CA}"/>
              </a:ext>
            </a:extLst>
          </p:cNvPr>
          <p:cNvSpPr>
            <a:spLocks/>
          </p:cNvSpPr>
          <p:nvPr/>
        </p:nvSpPr>
        <p:spPr bwMode="auto">
          <a:xfrm>
            <a:off x="2590800" y="2286000"/>
            <a:ext cx="76200" cy="2133600"/>
          </a:xfrm>
          <a:prstGeom prst="leftBracket">
            <a:avLst>
              <a:gd name="adj" fmla="val 233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0485" name="AutoShape 6">
            <a:extLst>
              <a:ext uri="{FF2B5EF4-FFF2-40B4-BE49-F238E27FC236}">
                <a16:creationId xmlns:a16="http://schemas.microsoft.com/office/drawing/2014/main" id="{FFEF3BFF-5E98-9D07-5111-2841A3EE4A10}"/>
              </a:ext>
            </a:extLst>
          </p:cNvPr>
          <p:cNvSpPr>
            <a:spLocks/>
          </p:cNvSpPr>
          <p:nvPr/>
        </p:nvSpPr>
        <p:spPr bwMode="auto">
          <a:xfrm>
            <a:off x="8610600" y="2286000"/>
            <a:ext cx="152400" cy="2286000"/>
          </a:xfrm>
          <a:prstGeom prst="righ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D5CC3DDC-E71D-0DD7-EA7B-148B1CA241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Users</a:t>
            </a:r>
            <a:endParaRPr lang="en-US" altLang="en-US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97553AE5-03E7-101C-7463-05917DABFD6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 model disjoint sets of nonces, we define two sets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</a:t>
            </a:r>
            <a:r>
              <a:rPr lang="en-US" altLang="en-US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Define User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Anne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ja-JP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Bob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as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ja-JP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anne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ja-JP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ja-JP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Bob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where:</a:t>
            </a:r>
          </a:p>
          <a:p>
            <a:pPr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||| </a:t>
            </a:r>
            <a:r>
              <a:rPr lang="en-US" altLang="en-US" baseline="-5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50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baseline="-5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Nonce_Ia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     |||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     ||| </a:t>
            </a:r>
            <a:r>
              <a:rPr lang="en-US" altLang="en-US" baseline="-50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50000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baseline="-50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Nonce_Ib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</a:t>
            </a:r>
            <a:endParaRPr lang="en-US" altLang="en-US" baseline="-25000">
              <a:solidFill>
                <a:schemeClr val="accent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0AA1FD0-B8FF-2B85-024F-29F8678870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Data Types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CFB66ED8-2C43-C73D-0B3F-3FABEAF088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229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CSP operates over abstractly specified data types, and not their (bit-pattern) representations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 notations like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Encrypt.k.(Sq.&lt;a,n</a:t>
            </a:r>
            <a:r>
              <a:rPr lang="en-US" altLang="en-US" sz="2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&gt;)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Syntax: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fact := Encrypt.fact.fact |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Hash.fact.fact|Sq.fact* |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Key.k|Nonce.n|Text.t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Abbreviations: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Write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{k}</a:t>
            </a:r>
            <a:r>
              <a:rPr lang="en-US" altLang="en-US" sz="28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Encrypt.k.m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  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g(|m|)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Hash.g.m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Key.k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Nonce.n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text.t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,…m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Sq.&lt;m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,…m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,m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&gt;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Note: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Sq stands for sequence.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12328365-B5C8-9D23-6362-76565FC39F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Process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C20DB75A-4E60-FA0F-D8EA-F01A84D9405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is modeled as a process that communicates over channels with Alice and Bob [non-deterministically= at will]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intruder builds its knowledge-base of facts by learning the facts that come over the channels and logical reasoning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Intruder(X) = intruder that knows X – a collection of predicate instances (knowledge-base)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Intruder process: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Intruder(X)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learn?m:message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Intruder(Close(X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U{m})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                     □ say!m:message∩X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Intruder(X)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Close (X)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deductive closure of 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E6A0C824-2320-4B66-D8FF-6C9C30D5350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Proof Rules for Intruder Deductions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7A135F97-52D9-FF1A-BE81-D2D4D1B6777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{k,m}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⊢ encrypt(k,m)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{encrypt(k,m), k</a:t>
            </a:r>
            <a:r>
              <a:rPr lang="en-US" altLang="en-US" baseline="30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-1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m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Sq.{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 x,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x</a:t>
            </a:r>
          </a:p>
          <a:p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} ⊢ Sq&lt; 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,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…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x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&gt;</a:t>
            </a:r>
          </a:p>
          <a:p>
            <a:pPr>
              <a:buFont typeface="Wingdings" pitchFamily="2" charset="2"/>
              <a:buNone/>
            </a:pPr>
            <a:endParaRPr lang="en-US" altLang="en-US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form the deductive closure with these rules and others from Predicate Logic.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0A8C3FF-53DC-73DC-BC57-BE41530AD9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Constructing the Network</a:t>
            </a: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4301CEBD-5E2F-CD2D-92E7-1A35C45633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Reliable agents:</a:t>
            </a:r>
            <a:r>
              <a:rPr lang="en-US" sz="2800" dirty="0">
                <a:effectLst/>
              </a:rPr>
              <a:t> Alice, Bob, server </a:t>
            </a:r>
            <a:r>
              <a:rPr lang="en-US" sz="2800" dirty="0" err="1">
                <a:effectLst/>
              </a:rPr>
              <a:t>Jeeves</a:t>
            </a:r>
            <a:endParaRPr lang="en-US" sz="2800" dirty="0">
              <a:effectLst/>
            </a:endParaRP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Intruder:</a:t>
            </a:r>
            <a:r>
              <a:rPr lang="en-US" sz="2800" dirty="0">
                <a:effectLst/>
              </a:rPr>
              <a:t> Yves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Network Connections: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Send.a.b.m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: An event inside a reliable agent</a:t>
            </a:r>
          </a:p>
          <a:p>
            <a:pPr lvl="2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000" dirty="0">
                <a:effectLst/>
              </a:rPr>
              <a:t>matched up with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learn.m</a:t>
            </a:r>
            <a:r>
              <a:rPr lang="en-US" sz="2000" dirty="0">
                <a:effectLst/>
              </a:rPr>
              <a:t> [learn = channel name] event of the </a:t>
            </a:r>
            <a:r>
              <a:rPr lang="en-US" sz="2000" dirty="0"/>
              <a:t>intruder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Receive.a.b.m</a:t>
            </a:r>
            <a:r>
              <a:rPr lang="en-US" sz="2400" dirty="0">
                <a:effectLst/>
              </a:rPr>
              <a:t>: An event inside a reliable agent</a:t>
            </a:r>
          </a:p>
          <a:p>
            <a:pPr lvl="2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000" dirty="0">
                <a:effectLst/>
              </a:rPr>
              <a:t>matched up with </a:t>
            </a:r>
            <a:r>
              <a:rPr lang="en-US" sz="2000" dirty="0" err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say.m</a:t>
            </a:r>
            <a:r>
              <a:rPr lang="en-US" sz="2000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000" dirty="0">
                <a:effectLst/>
              </a:rPr>
              <a:t>[say=channel name] event of the intruder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Send</a:t>
            </a:r>
            <a:r>
              <a:rPr lang="en-US" sz="2400" dirty="0">
                <a:effectLst/>
              </a:rPr>
              <a:t> and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learn</a:t>
            </a:r>
            <a:r>
              <a:rPr lang="en-US" sz="2400" dirty="0">
                <a:effectLst/>
              </a:rPr>
              <a:t> channels are connected (by renaming) to the external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take</a:t>
            </a:r>
            <a:r>
              <a:rPr lang="en-US" sz="2400" dirty="0">
                <a:solidFill>
                  <a:srgbClr val="00FF00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channel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Receive</a:t>
            </a:r>
            <a:r>
              <a:rPr lang="en-US" sz="2400" dirty="0">
                <a:effectLst/>
              </a:rPr>
              <a:t> and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say</a:t>
            </a:r>
            <a:r>
              <a:rPr lang="en-US" sz="2400" dirty="0">
                <a:effectLst/>
              </a:rPr>
              <a:t> channels are connected (by renaming) to the </a:t>
            </a:r>
            <a:r>
              <a:rPr lang="en-US" sz="2400" dirty="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fake</a:t>
            </a:r>
            <a:r>
              <a:rPr lang="en-US" sz="2400" dirty="0">
                <a:effectLst/>
              </a:rPr>
              <a:t> channel of the intruder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Oval 2">
            <a:extLst>
              <a:ext uri="{FF2B5EF4-FFF2-40B4-BE49-F238E27FC236}">
                <a16:creationId xmlns:a16="http://schemas.microsoft.com/office/drawing/2014/main" id="{ED44E5E3-508A-FE0A-BAB7-48C689446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1908175" cy="176688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0" name="AutoShape 3">
            <a:extLst>
              <a:ext uri="{FF2B5EF4-FFF2-40B4-BE49-F238E27FC236}">
                <a16:creationId xmlns:a16="http://schemas.microsoft.com/office/drawing/2014/main" id="{55D8079A-56EF-D28F-D442-07C12621A4A1}"/>
              </a:ext>
            </a:extLst>
          </p:cNvPr>
          <p:cNvSpPr>
            <a:spLocks noChangeArrowheads="1"/>
          </p:cNvSpPr>
          <p:nvPr/>
        </p:nvSpPr>
        <p:spPr bwMode="auto">
          <a:xfrm rot="-10788584">
            <a:off x="3324225" y="5024438"/>
            <a:ext cx="2884488" cy="15001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8DFB7B78-B674-A7D7-DE20-17C1C518A8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A8F3EC99-4650-5875-FFC6-D41E37A9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47800"/>
            <a:ext cx="2233613" cy="17414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3" name="Oval 6">
            <a:extLst>
              <a:ext uri="{FF2B5EF4-FFF2-40B4-BE49-F238E27FC236}">
                <a16:creationId xmlns:a16="http://schemas.microsoft.com/office/drawing/2014/main" id="{BBD9C2FA-C680-3553-EA15-30954E4B4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2286000"/>
            <a:ext cx="1847850" cy="17065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4" name="Oval 7">
            <a:extLst>
              <a:ext uri="{FF2B5EF4-FFF2-40B4-BE49-F238E27FC236}">
                <a16:creationId xmlns:a16="http://schemas.microsoft.com/office/drawing/2014/main" id="{4C65D987-D8A2-4950-16F8-CF5BAF71D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Anne</a:t>
            </a:r>
          </a:p>
        </p:txBody>
      </p:sp>
      <p:sp>
        <p:nvSpPr>
          <p:cNvPr id="32775" name="Oval 8">
            <a:extLst>
              <a:ext uri="{FF2B5EF4-FFF2-40B4-BE49-F238E27FC236}">
                <a16:creationId xmlns:a16="http://schemas.microsoft.com/office/drawing/2014/main" id="{1AC21A85-2D6F-FB9B-7827-D6D48E57F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895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Bob</a:t>
            </a:r>
          </a:p>
        </p:txBody>
      </p:sp>
      <p:sp>
        <p:nvSpPr>
          <p:cNvPr id="32776" name="Rectangle 9">
            <a:extLst>
              <a:ext uri="{FF2B5EF4-FFF2-40B4-BE49-F238E27FC236}">
                <a16:creationId xmlns:a16="http://schemas.microsoft.com/office/drawing/2014/main" id="{905668A0-3446-C1CC-0C34-AEA27EDD0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914400" cy="914400"/>
          </a:xfrm>
          <a:prstGeom prst="rect">
            <a:avLst/>
          </a:prstGeom>
          <a:solidFill>
            <a:srgbClr val="6699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Jeeves</a:t>
            </a:r>
          </a:p>
        </p:txBody>
      </p:sp>
      <p:sp>
        <p:nvSpPr>
          <p:cNvPr id="32777" name="AutoShape 10">
            <a:extLst>
              <a:ext uri="{FF2B5EF4-FFF2-40B4-BE49-F238E27FC236}">
                <a16:creationId xmlns:a16="http://schemas.microsoft.com/office/drawing/2014/main" id="{C2AB913B-D878-C6B1-0E54-096A4C967978}"/>
              </a:ext>
            </a:extLst>
          </p:cNvPr>
          <p:cNvSpPr>
            <a:spLocks noChangeArrowheads="1"/>
          </p:cNvSpPr>
          <p:nvPr/>
        </p:nvSpPr>
        <p:spPr bwMode="auto">
          <a:xfrm rot="8091553">
            <a:off x="4319588" y="5713413"/>
            <a:ext cx="914400" cy="914400"/>
          </a:xfrm>
          <a:prstGeom prst="rtTriangle">
            <a:avLst/>
          </a:prstGeom>
          <a:solidFill>
            <a:srgbClr val="FF7C8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2778" name="Text Box 11">
            <a:extLst>
              <a:ext uri="{FF2B5EF4-FFF2-40B4-BE49-F238E27FC236}">
                <a16:creationId xmlns:a16="http://schemas.microsoft.com/office/drawing/2014/main" id="{8B8FB21F-C90E-96F2-48CC-E328AF222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5781675"/>
            <a:ext cx="652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Yves</a:t>
            </a:r>
          </a:p>
        </p:txBody>
      </p:sp>
      <p:sp>
        <p:nvSpPr>
          <p:cNvPr id="32779" name="Text Box 12">
            <a:extLst>
              <a:ext uri="{FF2B5EF4-FFF2-40B4-BE49-F238E27FC236}">
                <a16:creationId xmlns:a16="http://schemas.microsoft.com/office/drawing/2014/main" id="{B69D1A14-22CE-0AEC-0200-365117A07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5375275"/>
            <a:ext cx="984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take.Anne.y</a:t>
            </a:r>
          </a:p>
        </p:txBody>
      </p:sp>
      <p:sp>
        <p:nvSpPr>
          <p:cNvPr id="32780" name="Text Box 13">
            <a:extLst>
              <a:ext uri="{FF2B5EF4-FFF2-40B4-BE49-F238E27FC236}">
                <a16:creationId xmlns:a16="http://schemas.microsoft.com/office/drawing/2014/main" id="{C0D832DD-0179-60A3-2973-5B7071675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199063"/>
            <a:ext cx="895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fake.x.Bob</a:t>
            </a:r>
          </a:p>
        </p:txBody>
      </p:sp>
      <p:sp>
        <p:nvSpPr>
          <p:cNvPr id="32781" name="Text Box 14">
            <a:extLst>
              <a:ext uri="{FF2B5EF4-FFF2-40B4-BE49-F238E27FC236}">
                <a16:creationId xmlns:a16="http://schemas.microsoft.com/office/drawing/2014/main" id="{C7034201-73A3-7593-F996-743DD9696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67000"/>
            <a:ext cx="5032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32782" name="Text Box 15">
            <a:extLst>
              <a:ext uri="{FF2B5EF4-FFF2-40B4-BE49-F238E27FC236}">
                <a16:creationId xmlns:a16="http://schemas.microsoft.com/office/drawing/2014/main" id="{766865CC-80E2-7F59-8C95-C0CD6EEDE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67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3" name="Text Box 16">
            <a:extLst>
              <a:ext uri="{FF2B5EF4-FFF2-40B4-BE49-F238E27FC236}">
                <a16:creationId xmlns:a16="http://schemas.microsoft.com/office/drawing/2014/main" id="{C5C19A28-32F1-97A3-F8C8-F725C057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5449888"/>
            <a:ext cx="520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learn</a:t>
            </a:r>
          </a:p>
        </p:txBody>
      </p:sp>
      <p:sp>
        <p:nvSpPr>
          <p:cNvPr id="32784" name="Text Box 17">
            <a:extLst>
              <a:ext uri="{FF2B5EF4-FFF2-40B4-BE49-F238E27FC236}">
                <a16:creationId xmlns:a16="http://schemas.microsoft.com/office/drawing/2014/main" id="{79C669F8-13F2-CE93-777F-71488AE3A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5476875"/>
            <a:ext cx="407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say</a:t>
            </a:r>
          </a:p>
        </p:txBody>
      </p:sp>
      <p:sp>
        <p:nvSpPr>
          <p:cNvPr id="32785" name="Text Box 18">
            <a:extLst>
              <a:ext uri="{FF2B5EF4-FFF2-40B4-BE49-F238E27FC236}">
                <a16:creationId xmlns:a16="http://schemas.microsoft.com/office/drawing/2014/main" id="{B520A39E-6DCF-837B-6DDE-53CF2BD53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67000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6" name="Text Box 19">
            <a:extLst>
              <a:ext uri="{FF2B5EF4-FFF2-40B4-BE49-F238E27FC236}">
                <a16:creationId xmlns:a16="http://schemas.microsoft.com/office/drawing/2014/main" id="{DF1B6318-D0AA-209C-4A8C-FF04F0497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14813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32787" name="Text Box 20">
            <a:extLst>
              <a:ext uri="{FF2B5EF4-FFF2-40B4-BE49-F238E27FC236}">
                <a16:creationId xmlns:a16="http://schemas.microsoft.com/office/drawing/2014/main" id="{5FC4C74B-FE1A-8E86-E0B0-1571CCD91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388143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32788" name="Text Box 21">
            <a:extLst>
              <a:ext uri="{FF2B5EF4-FFF2-40B4-BE49-F238E27FC236}">
                <a16:creationId xmlns:a16="http://schemas.microsoft.com/office/drawing/2014/main" id="{47FA2637-23E2-8E37-11A9-6A599350A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14178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cxnSp>
        <p:nvCxnSpPr>
          <p:cNvPr id="32789" name="AutoShape 23">
            <a:extLst>
              <a:ext uri="{FF2B5EF4-FFF2-40B4-BE49-F238E27FC236}">
                <a16:creationId xmlns:a16="http://schemas.microsoft.com/office/drawing/2014/main" id="{F51C2409-0E5B-E223-98A2-4F250B7542EC}"/>
              </a:ext>
            </a:extLst>
          </p:cNvPr>
          <p:cNvCxnSpPr>
            <a:cxnSpLocks noChangeShapeType="1"/>
            <a:stCxn id="32777" idx="1"/>
            <a:endCxn id="32770" idx="2"/>
          </p:cNvCxnSpPr>
          <p:nvPr/>
        </p:nvCxnSpPr>
        <p:spPr bwMode="auto">
          <a:xfrm flipV="1">
            <a:off x="5099050" y="5778500"/>
            <a:ext cx="749300" cy="666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0" name="AutoShape 24">
            <a:extLst>
              <a:ext uri="{FF2B5EF4-FFF2-40B4-BE49-F238E27FC236}">
                <a16:creationId xmlns:a16="http://schemas.microsoft.com/office/drawing/2014/main" id="{FEA90C1C-A1EF-7F6F-F48C-2C8AFA108596}"/>
              </a:ext>
            </a:extLst>
          </p:cNvPr>
          <p:cNvCxnSpPr>
            <a:cxnSpLocks noChangeShapeType="1"/>
            <a:stCxn id="32770" idx="0"/>
            <a:endCxn id="32777" idx="3"/>
          </p:cNvCxnSpPr>
          <p:nvPr/>
        </p:nvCxnSpPr>
        <p:spPr bwMode="auto">
          <a:xfrm>
            <a:off x="3686175" y="5772150"/>
            <a:ext cx="765175" cy="7461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1" name="AutoShape 25">
            <a:extLst>
              <a:ext uri="{FF2B5EF4-FFF2-40B4-BE49-F238E27FC236}">
                <a16:creationId xmlns:a16="http://schemas.microsoft.com/office/drawing/2014/main" id="{5001A003-6B65-D0D1-401C-76B87DBA2E61}"/>
              </a:ext>
            </a:extLst>
          </p:cNvPr>
          <p:cNvCxnSpPr>
            <a:cxnSpLocks noChangeShapeType="1"/>
            <a:stCxn id="32776" idx="1"/>
            <a:endCxn id="32772" idx="1"/>
          </p:cNvCxnSpPr>
          <p:nvPr/>
        </p:nvCxnSpPr>
        <p:spPr bwMode="auto">
          <a:xfrm flipH="1">
            <a:off x="3581400" y="2286000"/>
            <a:ext cx="609600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2" name="AutoShape 26">
            <a:extLst>
              <a:ext uri="{FF2B5EF4-FFF2-40B4-BE49-F238E27FC236}">
                <a16:creationId xmlns:a16="http://schemas.microsoft.com/office/drawing/2014/main" id="{88345EF2-D580-B3C7-B800-2B1F08A27A1B}"/>
              </a:ext>
            </a:extLst>
          </p:cNvPr>
          <p:cNvCxnSpPr>
            <a:cxnSpLocks noChangeShapeType="1"/>
            <a:stCxn id="32772" idx="3"/>
            <a:endCxn id="32776" idx="3"/>
          </p:cNvCxnSpPr>
          <p:nvPr/>
        </p:nvCxnSpPr>
        <p:spPr bwMode="auto">
          <a:xfrm flipH="1" flipV="1">
            <a:off x="5105400" y="2286000"/>
            <a:ext cx="709613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3" name="AutoShape 27">
            <a:extLst>
              <a:ext uri="{FF2B5EF4-FFF2-40B4-BE49-F238E27FC236}">
                <a16:creationId xmlns:a16="http://schemas.microsoft.com/office/drawing/2014/main" id="{AD5D1A62-3710-D932-92A3-2875B86DD6E2}"/>
              </a:ext>
            </a:extLst>
          </p:cNvPr>
          <p:cNvCxnSpPr>
            <a:cxnSpLocks noChangeShapeType="1"/>
            <a:stCxn id="32769" idx="5"/>
            <a:endCxn id="32774" idx="5"/>
          </p:cNvCxnSpPr>
          <p:nvPr/>
        </p:nvCxnSpPr>
        <p:spPr bwMode="auto">
          <a:xfrm flipH="1" flipV="1">
            <a:off x="1641475" y="3394075"/>
            <a:ext cx="520700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4" name="AutoShape 28">
            <a:extLst>
              <a:ext uri="{FF2B5EF4-FFF2-40B4-BE49-F238E27FC236}">
                <a16:creationId xmlns:a16="http://schemas.microsoft.com/office/drawing/2014/main" id="{F760D1DB-48B9-0BD3-00F8-F3EF440F3777}"/>
              </a:ext>
            </a:extLst>
          </p:cNvPr>
          <p:cNvCxnSpPr>
            <a:cxnSpLocks noChangeShapeType="1"/>
            <a:stCxn id="32774" idx="4"/>
            <a:endCxn id="32769" idx="4"/>
          </p:cNvCxnSpPr>
          <p:nvPr/>
        </p:nvCxnSpPr>
        <p:spPr bwMode="auto">
          <a:xfrm>
            <a:off x="1371600" y="3505200"/>
            <a:ext cx="115888" cy="5476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5" name="AutoShape 29">
            <a:extLst>
              <a:ext uri="{FF2B5EF4-FFF2-40B4-BE49-F238E27FC236}">
                <a16:creationId xmlns:a16="http://schemas.microsoft.com/office/drawing/2014/main" id="{13947C86-1F65-F9BD-9433-8E165888937B}"/>
              </a:ext>
            </a:extLst>
          </p:cNvPr>
          <p:cNvCxnSpPr>
            <a:cxnSpLocks noChangeShapeType="1"/>
            <a:stCxn id="32775" idx="3"/>
            <a:endCxn id="32773" idx="3"/>
          </p:cNvCxnSpPr>
          <p:nvPr/>
        </p:nvCxnSpPr>
        <p:spPr bwMode="auto">
          <a:xfrm flipH="1">
            <a:off x="7566025" y="3546475"/>
            <a:ext cx="317500" cy="1968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6" name="AutoShape 30">
            <a:extLst>
              <a:ext uri="{FF2B5EF4-FFF2-40B4-BE49-F238E27FC236}">
                <a16:creationId xmlns:a16="http://schemas.microsoft.com/office/drawing/2014/main" id="{13369492-1576-6DD8-7229-025E24C1FF1C}"/>
              </a:ext>
            </a:extLst>
          </p:cNvPr>
          <p:cNvCxnSpPr>
            <a:cxnSpLocks noChangeShapeType="1"/>
            <a:stCxn id="32773" idx="4"/>
            <a:endCxn id="32775" idx="4"/>
          </p:cNvCxnSpPr>
          <p:nvPr/>
        </p:nvCxnSpPr>
        <p:spPr bwMode="auto">
          <a:xfrm flipH="1" flipV="1">
            <a:off x="8153400" y="3657600"/>
            <a:ext cx="66675" cy="33496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7" name="AutoShape 31">
            <a:extLst>
              <a:ext uri="{FF2B5EF4-FFF2-40B4-BE49-F238E27FC236}">
                <a16:creationId xmlns:a16="http://schemas.microsoft.com/office/drawing/2014/main" id="{4A7B05B0-CB66-88C5-B336-EB706387B4C3}"/>
              </a:ext>
            </a:extLst>
          </p:cNvPr>
          <p:cNvCxnSpPr>
            <a:cxnSpLocks noChangeShapeType="1"/>
            <a:stCxn id="32769" idx="4"/>
            <a:endCxn id="32770" idx="0"/>
          </p:cNvCxnSpPr>
          <p:nvPr/>
        </p:nvCxnSpPr>
        <p:spPr bwMode="auto">
          <a:xfrm rot="16200000" flipH="1">
            <a:off x="1727201" y="3813175"/>
            <a:ext cx="1719262" cy="219868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8" name="AutoShape 32">
            <a:extLst>
              <a:ext uri="{FF2B5EF4-FFF2-40B4-BE49-F238E27FC236}">
                <a16:creationId xmlns:a16="http://schemas.microsoft.com/office/drawing/2014/main" id="{FA718A3C-366D-C023-4B9F-6091406F6292}"/>
              </a:ext>
            </a:extLst>
          </p:cNvPr>
          <p:cNvCxnSpPr>
            <a:cxnSpLocks noChangeShapeType="1"/>
            <a:stCxn id="32770" idx="2"/>
            <a:endCxn id="32769" idx="5"/>
          </p:cNvCxnSpPr>
          <p:nvPr/>
        </p:nvCxnSpPr>
        <p:spPr bwMode="auto">
          <a:xfrm flipH="1" flipV="1">
            <a:off x="2162175" y="3794125"/>
            <a:ext cx="3686175" cy="1984375"/>
          </a:xfrm>
          <a:prstGeom prst="curvedConnector4">
            <a:avLst>
              <a:gd name="adj1" fmla="val -16019"/>
              <a:gd name="adj2" fmla="val 6263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9" name="AutoShape 33">
            <a:extLst>
              <a:ext uri="{FF2B5EF4-FFF2-40B4-BE49-F238E27FC236}">
                <a16:creationId xmlns:a16="http://schemas.microsoft.com/office/drawing/2014/main" id="{33AA41E4-22A2-B4AF-3C00-C2AD39647806}"/>
              </a:ext>
            </a:extLst>
          </p:cNvPr>
          <p:cNvCxnSpPr>
            <a:cxnSpLocks noChangeShapeType="1"/>
            <a:stCxn id="32772" idx="1"/>
            <a:endCxn id="32770" idx="0"/>
          </p:cNvCxnSpPr>
          <p:nvPr/>
        </p:nvCxnSpPr>
        <p:spPr bwMode="auto">
          <a:xfrm rot="10800000" flipH="1" flipV="1">
            <a:off x="3581400" y="2319338"/>
            <a:ext cx="104775" cy="3452812"/>
          </a:xfrm>
          <a:prstGeom prst="curvedConnector3">
            <a:avLst>
              <a:gd name="adj1" fmla="val -4666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0" name="AutoShape 34">
            <a:extLst>
              <a:ext uri="{FF2B5EF4-FFF2-40B4-BE49-F238E27FC236}">
                <a16:creationId xmlns:a16="http://schemas.microsoft.com/office/drawing/2014/main" id="{7BC097A2-86E6-4E55-9E33-800742957DAD}"/>
              </a:ext>
            </a:extLst>
          </p:cNvPr>
          <p:cNvCxnSpPr>
            <a:cxnSpLocks noChangeShapeType="1"/>
            <a:stCxn id="32770" idx="2"/>
            <a:endCxn id="32772" idx="3"/>
          </p:cNvCxnSpPr>
          <p:nvPr/>
        </p:nvCxnSpPr>
        <p:spPr bwMode="auto">
          <a:xfrm flipH="1" flipV="1">
            <a:off x="5815013" y="2319338"/>
            <a:ext cx="33337" cy="3459162"/>
          </a:xfrm>
          <a:prstGeom prst="curvedConnector3">
            <a:avLst>
              <a:gd name="adj1" fmla="val -1771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1" name="AutoShape 35">
            <a:extLst>
              <a:ext uri="{FF2B5EF4-FFF2-40B4-BE49-F238E27FC236}">
                <a16:creationId xmlns:a16="http://schemas.microsoft.com/office/drawing/2014/main" id="{8585DFFB-B265-24FF-E24E-94A089B8EF01}"/>
              </a:ext>
            </a:extLst>
          </p:cNvPr>
          <p:cNvCxnSpPr>
            <a:cxnSpLocks noChangeShapeType="1"/>
            <a:stCxn id="32773" idx="3"/>
            <a:endCxn id="32770" idx="0"/>
          </p:cNvCxnSpPr>
          <p:nvPr/>
        </p:nvCxnSpPr>
        <p:spPr bwMode="auto">
          <a:xfrm rot="5400000">
            <a:off x="4611687" y="2817813"/>
            <a:ext cx="2028825" cy="3879850"/>
          </a:xfrm>
          <a:prstGeom prst="curvedConnector4">
            <a:avLst>
              <a:gd name="adj1" fmla="val 37560"/>
              <a:gd name="adj2" fmla="val 11530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2" name="AutoShape 36">
            <a:extLst>
              <a:ext uri="{FF2B5EF4-FFF2-40B4-BE49-F238E27FC236}">
                <a16:creationId xmlns:a16="http://schemas.microsoft.com/office/drawing/2014/main" id="{08A9A17F-A9C6-7471-8B7B-CAFB2802F355}"/>
              </a:ext>
            </a:extLst>
          </p:cNvPr>
          <p:cNvCxnSpPr>
            <a:cxnSpLocks noChangeShapeType="1"/>
            <a:stCxn id="32770" idx="2"/>
            <a:endCxn id="32773" idx="4"/>
          </p:cNvCxnSpPr>
          <p:nvPr/>
        </p:nvCxnSpPr>
        <p:spPr bwMode="auto">
          <a:xfrm flipV="1">
            <a:off x="5848350" y="3992563"/>
            <a:ext cx="2371725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03" name="AutoShape 37">
            <a:extLst>
              <a:ext uri="{FF2B5EF4-FFF2-40B4-BE49-F238E27FC236}">
                <a16:creationId xmlns:a16="http://schemas.microsoft.com/office/drawing/2014/main" id="{71209451-400E-8B6D-B36C-280C4D4935E3}"/>
              </a:ext>
            </a:extLst>
          </p:cNvPr>
          <p:cNvCxnSpPr>
            <a:cxnSpLocks noChangeShapeType="1"/>
            <a:stCxn id="32770" idx="2"/>
          </p:cNvCxnSpPr>
          <p:nvPr/>
        </p:nvCxnSpPr>
        <p:spPr bwMode="auto">
          <a:xfrm>
            <a:off x="5848350" y="5778500"/>
            <a:ext cx="1665288" cy="606425"/>
          </a:xfrm>
          <a:prstGeom prst="curvedConnector3">
            <a:avLst>
              <a:gd name="adj1" fmla="val 608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04" name="Text Box 38">
            <a:extLst>
              <a:ext uri="{FF2B5EF4-FFF2-40B4-BE49-F238E27FC236}">
                <a16:creationId xmlns:a16="http://schemas.microsoft.com/office/drawing/2014/main" id="{411ED140-30BC-796D-89CE-E7396F283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5888038"/>
            <a:ext cx="50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leak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17B77B3-7315-CE02-C1E9-9AB118121EE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231428" name="Text Box 4">
            <a:extLst>
              <a:ext uri="{FF2B5EF4-FFF2-40B4-BE49-F238E27FC236}">
                <a16:creationId xmlns:a16="http://schemas.microsoft.com/office/drawing/2014/main" id="{9C620A65-9D43-6F69-7B6F-DFE4F787C4BA}"/>
              </a:ext>
            </a:extLst>
          </p:cNvPr>
          <p:cNvSpPr txBox="1"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504238" cy="441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Sender and receiver fields of the intruder are missing in the intruder </a:t>
            </a:r>
          </a:p>
          <a:p>
            <a:pPr lvl="1">
              <a:lnSpc>
                <a:spcPct val="80000"/>
              </a:lnSpc>
            </a:pPr>
            <a:r>
              <a:rPr lang="en-US" altLang="en-US" sz="21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because conveys no useful information to the intruder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learn.m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mapped to all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take.a.b.m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all legitimate choices of a and b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say.m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mapped to all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fake.a.b.m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all legitimate choices of a and b – pretending to be from b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Internally, agents and map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send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receive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send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receive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learn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say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are internal names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take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6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fake </a:t>
            </a:r>
            <a:r>
              <a:rPr lang="en-US" altLang="en-US" sz="2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are external channel names.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00300C40-AEC9-EBC0-1E9C-DBDD41522C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 Connections</a:t>
            </a:r>
          </a:p>
        </p:txBody>
      </p:sp>
      <p:sp>
        <p:nvSpPr>
          <p:cNvPr id="36866" name="Text Box 3">
            <a:extLst>
              <a:ext uri="{FF2B5EF4-FFF2-40B4-BE49-F238E27FC236}">
                <a16:creationId xmlns:a16="http://schemas.microsoft.com/office/drawing/2014/main" id="{3B0F8884-E303-A6C8-CCA1-F023DC205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4582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Agent(anne) [[fake,take/receive,send]]</a:t>
            </a:r>
            <a:r>
              <a:rPr lang="en-US" altLang="en-US" sz="3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3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|||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Agent(bob) [[fake,take/receive,send]]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|||</a:t>
            </a:r>
          </a:p>
          <a:p>
            <a:pPr>
              <a:buFont typeface="Wingdings" pitchFamily="2" charset="2"/>
              <a:buNone/>
            </a:pPr>
            <a:r>
              <a:rPr lang="en-US" altLang="en-US" sz="3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Jeeves [[fake,take/receive,send]]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||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CC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Yves[[take.x.y,fake.x.y/learn,say|x,y</a:t>
            </a:r>
            <a:r>
              <a:rPr lang="en-US" altLang="en-US" sz="2400">
                <a:solidFill>
                  <a:srgbClr val="00CC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∈AgentsU{Jeeves}]]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FF0066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{|take,fake|}</a:t>
            </a:r>
          </a:p>
          <a:p>
            <a:pPr>
              <a:buFont typeface="Wingdings" pitchFamily="2" charset="2"/>
              <a:buNone/>
            </a:pPr>
            <a:endParaRPr lang="en-US" altLang="en-US" sz="2000">
              <a:solidFill>
                <a:srgbClr val="FF0066"/>
              </a:solidFill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The dotted lines in the picture represents renaming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05F3D854-9CCE-347F-A112-FAA78214D4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Sample Run - 1</a:t>
            </a:r>
          </a:p>
        </p:txBody>
      </p:sp>
      <p:graphicFrame>
        <p:nvGraphicFramePr>
          <p:cNvPr id="237633" name="Group 65">
            <a:extLst>
              <a:ext uri="{FF2B5EF4-FFF2-40B4-BE49-F238E27FC236}">
                <a16:creationId xmlns:a16="http://schemas.microsoft.com/office/drawing/2014/main" id="{BF9C60D6-A755-FAC1-C1ED-DE81BC98CE10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228600" y="1219200"/>
          <a:ext cx="8763000" cy="42243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3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Externally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Agent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Which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sees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Intruder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Take.A.C.m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Send.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A.C.M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Learn.Sq&lt;A,Na&gt;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{Sq&lt;A,Na&gt;}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 ⊢ Na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{A,Na,Nc} ⊢ Sq&lt;A,Na,Nc&gt;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{Sq&lt;A,Na,Nc&gt;, ServerKey(C)} ⊢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{Sq&lt;A,Na,Nc&gt;} 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charset="0"/>
                        <a:ea typeface="ＭＳ Ｐゴシック" charset="0"/>
                        <a:cs typeface="Arial Unicode MS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{C, {Sq&lt;A,Na,Nc&gt;}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ServerKey(C)}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⊢Sq.&lt;C,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{Sq&lt;A,Na,Nc&gt;}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ServerKey(C)}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charset="0"/>
                          <a:ea typeface="ＭＳ Ｐゴシック" charset="0"/>
                          <a:cs typeface="Arial Unicode MS" charset="0"/>
                        </a:rPr>
                        <a:t>}&gt;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2FA523CF-BB1E-02C3-6D85-E1EE530DC0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Sample Run -2 </a:t>
            </a:r>
          </a:p>
        </p:txBody>
      </p:sp>
      <p:graphicFrame>
        <p:nvGraphicFramePr>
          <p:cNvPr id="240714" name="Group 74">
            <a:extLst>
              <a:ext uri="{FF2B5EF4-FFF2-40B4-BE49-F238E27FC236}">
                <a16:creationId xmlns:a16="http://schemas.microsoft.com/office/drawing/2014/main" id="{88E6BEF5-14A7-4129-0E85-39C5E1434FC1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28800"/>
          <a:ext cx="8763000" cy="43529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56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Externally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Agent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Which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Sees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Intruder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fake.C.J.m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J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receive.C.J.m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Say.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Sq.&lt;C,{Sq&lt;A,Na,Nc&gt;}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5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take.J.A.m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J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send.J.A.m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pitchFamily="-112" charset="-128"/>
                      </a:endParaRP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Say.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Sq.&lt;{Sq&lt;C,K,Na,Nc&gt;}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ServerKey(A)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          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50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fake.J.A.m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receive.J.A.m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learn.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Sq.&lt;{Sq&lt;C,K,Na,Nc&gt;}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ServerKey(A)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            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ServerKey(C)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take.A.C.m</a:t>
                      </a:r>
                    </a:p>
                  </a:txBody>
                  <a:tcPr marT="45458" marB="454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A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receive.J.A.m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-11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</a:rPr>
                        <a:t>learn.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&lt;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pitchFamily="-112" charset="-128"/>
                          <a:cs typeface="Arial Unicode MS" pitchFamily="-112" charset="0"/>
                        </a:rPr>
                        <a:t>{&lt;A,K&gt;} 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ServerKey(C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),{N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c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}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K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-112" charset="0"/>
                          <a:ea typeface="ＭＳ Ｐゴシック" pitchFamily="-112" charset="-128"/>
                          <a:cs typeface="Arial Unicode MS" pitchFamily="-112" charset="0"/>
                        </a:rPr>
                        <a:t>&gt;</a:t>
                      </a:r>
                    </a:p>
                  </a:txBody>
                  <a:tcPr marT="45458" marB="454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9E39030F-660C-F2C3-BE10-2F5848D20F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Direct Communication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7F11216C-DCF4-A223-825B-1EACBE5FF9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allow direct communication between agents without Intruder interference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Make take and fake alternatives to the original communication: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RenAgent(A)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≡Agent(A)[[fake,com,take,com /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receive,receive,send,send]]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Com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provides an alternative channel for honest agents to communicate.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Oval 2">
            <a:extLst>
              <a:ext uri="{FF2B5EF4-FFF2-40B4-BE49-F238E27FC236}">
                <a16:creationId xmlns:a16="http://schemas.microsoft.com/office/drawing/2014/main" id="{0AA2EFA7-216C-E0DD-03C1-377E4BAA7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1908175" cy="176688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58" name="AutoShape 3">
            <a:extLst>
              <a:ext uri="{FF2B5EF4-FFF2-40B4-BE49-F238E27FC236}">
                <a16:creationId xmlns:a16="http://schemas.microsoft.com/office/drawing/2014/main" id="{66A0006B-E0AB-13B7-B29A-1938BE133121}"/>
              </a:ext>
            </a:extLst>
          </p:cNvPr>
          <p:cNvSpPr>
            <a:spLocks noChangeArrowheads="1"/>
          </p:cNvSpPr>
          <p:nvPr/>
        </p:nvSpPr>
        <p:spPr bwMode="auto">
          <a:xfrm rot="-10788584">
            <a:off x="3324225" y="5024438"/>
            <a:ext cx="2884488" cy="15001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38410642-227A-7C4D-A268-075D5B9C56D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Improved Network Connections</a:t>
            </a:r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8B2C8015-45C9-3120-9FC1-EC8379CDB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447800"/>
            <a:ext cx="2233613" cy="174148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1" name="Oval 6">
            <a:extLst>
              <a:ext uri="{FF2B5EF4-FFF2-40B4-BE49-F238E27FC236}">
                <a16:creationId xmlns:a16="http://schemas.microsoft.com/office/drawing/2014/main" id="{825CDA27-95FB-1452-5473-2C066BC9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2286000"/>
            <a:ext cx="1847850" cy="17065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2" name="Oval 7">
            <a:extLst>
              <a:ext uri="{FF2B5EF4-FFF2-40B4-BE49-F238E27FC236}">
                <a16:creationId xmlns:a16="http://schemas.microsoft.com/office/drawing/2014/main" id="{5AB4E273-3641-F1DA-180F-BD5D0174E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Anne</a:t>
            </a:r>
          </a:p>
        </p:txBody>
      </p:sp>
      <p:sp>
        <p:nvSpPr>
          <p:cNvPr id="45063" name="Oval 8">
            <a:extLst>
              <a:ext uri="{FF2B5EF4-FFF2-40B4-BE49-F238E27FC236}">
                <a16:creationId xmlns:a16="http://schemas.microsoft.com/office/drawing/2014/main" id="{BD676B61-C591-D3E7-379A-7BF45EE42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2895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Bob</a:t>
            </a:r>
          </a:p>
        </p:txBody>
      </p:sp>
      <p:sp>
        <p:nvSpPr>
          <p:cNvPr id="45064" name="Rectangle 9">
            <a:extLst>
              <a:ext uri="{FF2B5EF4-FFF2-40B4-BE49-F238E27FC236}">
                <a16:creationId xmlns:a16="http://schemas.microsoft.com/office/drawing/2014/main" id="{8769F9AC-6C67-BF6B-509D-88F76CA8F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828800"/>
            <a:ext cx="914400" cy="914400"/>
          </a:xfrm>
          <a:prstGeom prst="rect">
            <a:avLst/>
          </a:prstGeom>
          <a:solidFill>
            <a:srgbClr val="6699FF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Jeeves</a:t>
            </a:r>
          </a:p>
        </p:txBody>
      </p:sp>
      <p:sp>
        <p:nvSpPr>
          <p:cNvPr id="45065" name="AutoShape 10">
            <a:extLst>
              <a:ext uri="{FF2B5EF4-FFF2-40B4-BE49-F238E27FC236}">
                <a16:creationId xmlns:a16="http://schemas.microsoft.com/office/drawing/2014/main" id="{FD50B1F8-8251-040F-3F91-EB272EFD640A}"/>
              </a:ext>
            </a:extLst>
          </p:cNvPr>
          <p:cNvSpPr>
            <a:spLocks noChangeArrowheads="1"/>
          </p:cNvSpPr>
          <p:nvPr/>
        </p:nvSpPr>
        <p:spPr bwMode="auto">
          <a:xfrm rot="8091553">
            <a:off x="4319588" y="5713413"/>
            <a:ext cx="914400" cy="914400"/>
          </a:xfrm>
          <a:prstGeom prst="rtTriangle">
            <a:avLst/>
          </a:prstGeom>
          <a:solidFill>
            <a:srgbClr val="FF7C80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45066" name="Text Box 11">
            <a:extLst>
              <a:ext uri="{FF2B5EF4-FFF2-40B4-BE49-F238E27FC236}">
                <a16:creationId xmlns:a16="http://schemas.microsoft.com/office/drawing/2014/main" id="{4DE59558-8D42-4352-999B-C57096B1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5781675"/>
            <a:ext cx="652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</a:rPr>
              <a:t>Yves</a:t>
            </a:r>
          </a:p>
        </p:txBody>
      </p:sp>
      <p:sp>
        <p:nvSpPr>
          <p:cNvPr id="45067" name="Text Box 12">
            <a:extLst>
              <a:ext uri="{FF2B5EF4-FFF2-40B4-BE49-F238E27FC236}">
                <a16:creationId xmlns:a16="http://schemas.microsoft.com/office/drawing/2014/main" id="{E3BE46FB-1418-43FF-4E5A-C95D68A7D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63" y="5375275"/>
            <a:ext cx="984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take.Anne.y</a:t>
            </a:r>
          </a:p>
        </p:txBody>
      </p:sp>
      <p:sp>
        <p:nvSpPr>
          <p:cNvPr id="45068" name="Text Box 13">
            <a:extLst>
              <a:ext uri="{FF2B5EF4-FFF2-40B4-BE49-F238E27FC236}">
                <a16:creationId xmlns:a16="http://schemas.microsoft.com/office/drawing/2014/main" id="{027F3617-523F-ECFE-C081-E17A687F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199063"/>
            <a:ext cx="895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fake.x.Bob</a:t>
            </a:r>
          </a:p>
        </p:txBody>
      </p:sp>
      <p:sp>
        <p:nvSpPr>
          <p:cNvPr id="45069" name="Text Box 14">
            <a:extLst>
              <a:ext uri="{FF2B5EF4-FFF2-40B4-BE49-F238E27FC236}">
                <a16:creationId xmlns:a16="http://schemas.microsoft.com/office/drawing/2014/main" id="{BA83D585-5EB4-F24A-1E87-5B2C23267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667000"/>
            <a:ext cx="5032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45070" name="Text Box 15">
            <a:extLst>
              <a:ext uri="{FF2B5EF4-FFF2-40B4-BE49-F238E27FC236}">
                <a16:creationId xmlns:a16="http://schemas.microsoft.com/office/drawing/2014/main" id="{5101AC07-E654-C2B3-2300-705933835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38600"/>
            <a:ext cx="67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1" name="Text Box 16">
            <a:extLst>
              <a:ext uri="{FF2B5EF4-FFF2-40B4-BE49-F238E27FC236}">
                <a16:creationId xmlns:a16="http://schemas.microsoft.com/office/drawing/2014/main" id="{F634186B-A47B-31D1-C1A9-F30EAE77F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5449888"/>
            <a:ext cx="520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learn</a:t>
            </a:r>
          </a:p>
        </p:txBody>
      </p:sp>
      <p:sp>
        <p:nvSpPr>
          <p:cNvPr id="45072" name="Text Box 17">
            <a:extLst>
              <a:ext uri="{FF2B5EF4-FFF2-40B4-BE49-F238E27FC236}">
                <a16:creationId xmlns:a16="http://schemas.microsoft.com/office/drawing/2014/main" id="{AB72551A-17AB-9E5A-C56C-90D8CB1C2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5413" y="5476875"/>
            <a:ext cx="407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say</a:t>
            </a:r>
          </a:p>
        </p:txBody>
      </p:sp>
      <p:sp>
        <p:nvSpPr>
          <p:cNvPr id="45073" name="Text Box 18">
            <a:extLst>
              <a:ext uri="{FF2B5EF4-FFF2-40B4-BE49-F238E27FC236}">
                <a16:creationId xmlns:a16="http://schemas.microsoft.com/office/drawing/2014/main" id="{27DB4EE1-574F-C7C6-1EFD-276C35952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67000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4" name="Text Box 19">
            <a:extLst>
              <a:ext uri="{FF2B5EF4-FFF2-40B4-BE49-F238E27FC236}">
                <a16:creationId xmlns:a16="http://schemas.microsoft.com/office/drawing/2014/main" id="{119DAB61-C062-BF07-E44D-B49D1D3CE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214813"/>
            <a:ext cx="6635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receive</a:t>
            </a:r>
          </a:p>
        </p:txBody>
      </p:sp>
      <p:sp>
        <p:nvSpPr>
          <p:cNvPr id="45075" name="Text Box 20">
            <a:extLst>
              <a:ext uri="{FF2B5EF4-FFF2-40B4-BE49-F238E27FC236}">
                <a16:creationId xmlns:a16="http://schemas.microsoft.com/office/drawing/2014/main" id="{B76C1BBC-1DCB-8BBF-950F-7D0307C23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388143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sp>
        <p:nvSpPr>
          <p:cNvPr id="45076" name="Text Box 21">
            <a:extLst>
              <a:ext uri="{FF2B5EF4-FFF2-40B4-BE49-F238E27FC236}">
                <a16:creationId xmlns:a16="http://schemas.microsoft.com/office/drawing/2014/main" id="{D538D9C7-5797-E98C-B319-1C42F4CBB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141788"/>
            <a:ext cx="5032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latin typeface="Tahoma" panose="020B0604030504040204" pitchFamily="34" charset="0"/>
              </a:rPr>
              <a:t>send</a:t>
            </a:r>
          </a:p>
        </p:txBody>
      </p:sp>
      <p:cxnSp>
        <p:nvCxnSpPr>
          <p:cNvPr id="45077" name="AutoShape 22">
            <a:extLst>
              <a:ext uri="{FF2B5EF4-FFF2-40B4-BE49-F238E27FC236}">
                <a16:creationId xmlns:a16="http://schemas.microsoft.com/office/drawing/2014/main" id="{5F348C49-F9D2-6477-7BA4-27C898AF6944}"/>
              </a:ext>
            </a:extLst>
          </p:cNvPr>
          <p:cNvCxnSpPr>
            <a:cxnSpLocks noChangeShapeType="1"/>
            <a:stCxn id="45065" idx="1"/>
            <a:endCxn id="45058" idx="2"/>
          </p:cNvCxnSpPr>
          <p:nvPr/>
        </p:nvCxnSpPr>
        <p:spPr bwMode="auto">
          <a:xfrm flipV="1">
            <a:off x="5099050" y="5778500"/>
            <a:ext cx="749300" cy="6667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8" name="AutoShape 23">
            <a:extLst>
              <a:ext uri="{FF2B5EF4-FFF2-40B4-BE49-F238E27FC236}">
                <a16:creationId xmlns:a16="http://schemas.microsoft.com/office/drawing/2014/main" id="{D544883F-FC86-71AB-E267-BBF5E11C7664}"/>
              </a:ext>
            </a:extLst>
          </p:cNvPr>
          <p:cNvCxnSpPr>
            <a:cxnSpLocks noChangeShapeType="1"/>
            <a:stCxn id="45058" idx="0"/>
            <a:endCxn id="45065" idx="3"/>
          </p:cNvCxnSpPr>
          <p:nvPr/>
        </p:nvCxnSpPr>
        <p:spPr bwMode="auto">
          <a:xfrm>
            <a:off x="3686175" y="5772150"/>
            <a:ext cx="765175" cy="7461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9" name="AutoShape 24">
            <a:extLst>
              <a:ext uri="{FF2B5EF4-FFF2-40B4-BE49-F238E27FC236}">
                <a16:creationId xmlns:a16="http://schemas.microsoft.com/office/drawing/2014/main" id="{2FE6244E-3D12-3DCD-B314-A9A931FA8A2A}"/>
              </a:ext>
            </a:extLst>
          </p:cNvPr>
          <p:cNvCxnSpPr>
            <a:cxnSpLocks noChangeShapeType="1"/>
            <a:stCxn id="45064" idx="1"/>
            <a:endCxn id="45060" idx="1"/>
          </p:cNvCxnSpPr>
          <p:nvPr/>
        </p:nvCxnSpPr>
        <p:spPr bwMode="auto">
          <a:xfrm flipH="1">
            <a:off x="3581400" y="2286000"/>
            <a:ext cx="609600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0" name="AutoShape 25">
            <a:extLst>
              <a:ext uri="{FF2B5EF4-FFF2-40B4-BE49-F238E27FC236}">
                <a16:creationId xmlns:a16="http://schemas.microsoft.com/office/drawing/2014/main" id="{DE40066E-3788-E674-DB30-AC8C852EC8F0}"/>
              </a:ext>
            </a:extLst>
          </p:cNvPr>
          <p:cNvCxnSpPr>
            <a:cxnSpLocks noChangeShapeType="1"/>
            <a:stCxn id="45060" idx="3"/>
            <a:endCxn id="45064" idx="3"/>
          </p:cNvCxnSpPr>
          <p:nvPr/>
        </p:nvCxnSpPr>
        <p:spPr bwMode="auto">
          <a:xfrm flipH="1" flipV="1">
            <a:off x="5105400" y="2286000"/>
            <a:ext cx="709613" cy="3333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1" name="AutoShape 26">
            <a:extLst>
              <a:ext uri="{FF2B5EF4-FFF2-40B4-BE49-F238E27FC236}">
                <a16:creationId xmlns:a16="http://schemas.microsoft.com/office/drawing/2014/main" id="{0354B4FC-0DF1-FBFB-2BA4-A1CE55A8CA65}"/>
              </a:ext>
            </a:extLst>
          </p:cNvPr>
          <p:cNvCxnSpPr>
            <a:cxnSpLocks noChangeShapeType="1"/>
            <a:stCxn id="45057" idx="5"/>
            <a:endCxn id="45062" idx="5"/>
          </p:cNvCxnSpPr>
          <p:nvPr/>
        </p:nvCxnSpPr>
        <p:spPr bwMode="auto">
          <a:xfrm flipH="1" flipV="1">
            <a:off x="1641475" y="3394075"/>
            <a:ext cx="520700" cy="4000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2" name="AutoShape 27">
            <a:extLst>
              <a:ext uri="{FF2B5EF4-FFF2-40B4-BE49-F238E27FC236}">
                <a16:creationId xmlns:a16="http://schemas.microsoft.com/office/drawing/2014/main" id="{FC85CB50-2955-3094-0817-E15A65B2A3B7}"/>
              </a:ext>
            </a:extLst>
          </p:cNvPr>
          <p:cNvCxnSpPr>
            <a:cxnSpLocks noChangeShapeType="1"/>
            <a:stCxn id="45062" idx="4"/>
            <a:endCxn id="45057" idx="4"/>
          </p:cNvCxnSpPr>
          <p:nvPr/>
        </p:nvCxnSpPr>
        <p:spPr bwMode="auto">
          <a:xfrm>
            <a:off x="1371600" y="3505200"/>
            <a:ext cx="115888" cy="547688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3" name="AutoShape 28">
            <a:extLst>
              <a:ext uri="{FF2B5EF4-FFF2-40B4-BE49-F238E27FC236}">
                <a16:creationId xmlns:a16="http://schemas.microsoft.com/office/drawing/2014/main" id="{8A5005BF-D3F8-6C1E-8E6B-306002FBC934}"/>
              </a:ext>
            </a:extLst>
          </p:cNvPr>
          <p:cNvCxnSpPr>
            <a:cxnSpLocks noChangeShapeType="1"/>
            <a:stCxn id="45063" idx="3"/>
            <a:endCxn id="45061" idx="3"/>
          </p:cNvCxnSpPr>
          <p:nvPr/>
        </p:nvCxnSpPr>
        <p:spPr bwMode="auto">
          <a:xfrm flipH="1">
            <a:off x="7566025" y="3546475"/>
            <a:ext cx="317500" cy="19685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4" name="AutoShape 29">
            <a:extLst>
              <a:ext uri="{FF2B5EF4-FFF2-40B4-BE49-F238E27FC236}">
                <a16:creationId xmlns:a16="http://schemas.microsoft.com/office/drawing/2014/main" id="{51E9CFE7-81D1-71F1-CCDF-F203CD405426}"/>
              </a:ext>
            </a:extLst>
          </p:cNvPr>
          <p:cNvCxnSpPr>
            <a:cxnSpLocks noChangeShapeType="1"/>
            <a:stCxn id="45061" idx="4"/>
            <a:endCxn id="45063" idx="4"/>
          </p:cNvCxnSpPr>
          <p:nvPr/>
        </p:nvCxnSpPr>
        <p:spPr bwMode="auto">
          <a:xfrm flipH="1" flipV="1">
            <a:off x="8153400" y="3657600"/>
            <a:ext cx="66675" cy="33496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5" name="AutoShape 30">
            <a:extLst>
              <a:ext uri="{FF2B5EF4-FFF2-40B4-BE49-F238E27FC236}">
                <a16:creationId xmlns:a16="http://schemas.microsoft.com/office/drawing/2014/main" id="{3F73541D-BC8B-E3F6-8C14-02D5A20EC753}"/>
              </a:ext>
            </a:extLst>
          </p:cNvPr>
          <p:cNvCxnSpPr>
            <a:cxnSpLocks noChangeShapeType="1"/>
            <a:stCxn id="45057" idx="4"/>
            <a:endCxn id="45058" idx="0"/>
          </p:cNvCxnSpPr>
          <p:nvPr/>
        </p:nvCxnSpPr>
        <p:spPr bwMode="auto">
          <a:xfrm rot="16200000" flipH="1">
            <a:off x="1727201" y="3813175"/>
            <a:ext cx="1719262" cy="219868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6" name="AutoShape 31">
            <a:extLst>
              <a:ext uri="{FF2B5EF4-FFF2-40B4-BE49-F238E27FC236}">
                <a16:creationId xmlns:a16="http://schemas.microsoft.com/office/drawing/2014/main" id="{02982475-6FE0-B410-ADF5-05C5238933C2}"/>
              </a:ext>
            </a:extLst>
          </p:cNvPr>
          <p:cNvCxnSpPr>
            <a:cxnSpLocks noChangeShapeType="1"/>
            <a:stCxn id="45058" idx="2"/>
            <a:endCxn id="45057" idx="5"/>
          </p:cNvCxnSpPr>
          <p:nvPr/>
        </p:nvCxnSpPr>
        <p:spPr bwMode="auto">
          <a:xfrm flipH="1" flipV="1">
            <a:off x="2162175" y="3794125"/>
            <a:ext cx="3686175" cy="1984375"/>
          </a:xfrm>
          <a:prstGeom prst="curvedConnector4">
            <a:avLst>
              <a:gd name="adj1" fmla="val -16019"/>
              <a:gd name="adj2" fmla="val 6263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7" name="AutoShape 32">
            <a:extLst>
              <a:ext uri="{FF2B5EF4-FFF2-40B4-BE49-F238E27FC236}">
                <a16:creationId xmlns:a16="http://schemas.microsoft.com/office/drawing/2014/main" id="{708A7E72-B252-5CA2-F7C1-5BBB4AA5B595}"/>
              </a:ext>
            </a:extLst>
          </p:cNvPr>
          <p:cNvCxnSpPr>
            <a:cxnSpLocks noChangeShapeType="1"/>
            <a:stCxn id="45060" idx="1"/>
            <a:endCxn id="45058" idx="0"/>
          </p:cNvCxnSpPr>
          <p:nvPr/>
        </p:nvCxnSpPr>
        <p:spPr bwMode="auto">
          <a:xfrm rot="10800000" flipH="1" flipV="1">
            <a:off x="3581400" y="2319338"/>
            <a:ext cx="104775" cy="3452812"/>
          </a:xfrm>
          <a:prstGeom prst="curvedConnector3">
            <a:avLst>
              <a:gd name="adj1" fmla="val -4666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8" name="AutoShape 33">
            <a:extLst>
              <a:ext uri="{FF2B5EF4-FFF2-40B4-BE49-F238E27FC236}">
                <a16:creationId xmlns:a16="http://schemas.microsoft.com/office/drawing/2014/main" id="{381E7551-0144-E721-1462-D274D8E65E1C}"/>
              </a:ext>
            </a:extLst>
          </p:cNvPr>
          <p:cNvCxnSpPr>
            <a:cxnSpLocks noChangeShapeType="1"/>
            <a:stCxn id="45058" idx="2"/>
            <a:endCxn id="45060" idx="3"/>
          </p:cNvCxnSpPr>
          <p:nvPr/>
        </p:nvCxnSpPr>
        <p:spPr bwMode="auto">
          <a:xfrm flipH="1" flipV="1">
            <a:off x="5815013" y="2319338"/>
            <a:ext cx="33337" cy="3459162"/>
          </a:xfrm>
          <a:prstGeom prst="curvedConnector3">
            <a:avLst>
              <a:gd name="adj1" fmla="val -17714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89" name="AutoShape 34">
            <a:extLst>
              <a:ext uri="{FF2B5EF4-FFF2-40B4-BE49-F238E27FC236}">
                <a16:creationId xmlns:a16="http://schemas.microsoft.com/office/drawing/2014/main" id="{84261DBA-9E4A-30CF-ACEA-246653EA62F4}"/>
              </a:ext>
            </a:extLst>
          </p:cNvPr>
          <p:cNvCxnSpPr>
            <a:cxnSpLocks noChangeShapeType="1"/>
            <a:stCxn id="45061" idx="3"/>
            <a:endCxn id="45058" idx="0"/>
          </p:cNvCxnSpPr>
          <p:nvPr/>
        </p:nvCxnSpPr>
        <p:spPr bwMode="auto">
          <a:xfrm rot="5400000">
            <a:off x="4611687" y="2817813"/>
            <a:ext cx="2028825" cy="3879850"/>
          </a:xfrm>
          <a:prstGeom prst="curvedConnector4">
            <a:avLst>
              <a:gd name="adj1" fmla="val 37560"/>
              <a:gd name="adj2" fmla="val 11530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0" name="AutoShape 35">
            <a:extLst>
              <a:ext uri="{FF2B5EF4-FFF2-40B4-BE49-F238E27FC236}">
                <a16:creationId xmlns:a16="http://schemas.microsoft.com/office/drawing/2014/main" id="{C0A128F9-FC7B-B887-697B-A42290438B7D}"/>
              </a:ext>
            </a:extLst>
          </p:cNvPr>
          <p:cNvCxnSpPr>
            <a:cxnSpLocks noChangeShapeType="1"/>
            <a:stCxn id="45058" idx="2"/>
            <a:endCxn id="45061" idx="4"/>
          </p:cNvCxnSpPr>
          <p:nvPr/>
        </p:nvCxnSpPr>
        <p:spPr bwMode="auto">
          <a:xfrm flipV="1">
            <a:off x="5848350" y="3992563"/>
            <a:ext cx="2371725" cy="17859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91" name="AutoShape 36">
            <a:extLst>
              <a:ext uri="{FF2B5EF4-FFF2-40B4-BE49-F238E27FC236}">
                <a16:creationId xmlns:a16="http://schemas.microsoft.com/office/drawing/2014/main" id="{C1B9BBAA-1C02-9ABB-BD20-6A2B9B75CC59}"/>
              </a:ext>
            </a:extLst>
          </p:cNvPr>
          <p:cNvCxnSpPr>
            <a:cxnSpLocks noChangeShapeType="1"/>
            <a:stCxn id="45058" idx="2"/>
          </p:cNvCxnSpPr>
          <p:nvPr/>
        </p:nvCxnSpPr>
        <p:spPr bwMode="auto">
          <a:xfrm>
            <a:off x="5848350" y="5778500"/>
            <a:ext cx="1665288" cy="606425"/>
          </a:xfrm>
          <a:prstGeom prst="curvedConnector3">
            <a:avLst>
              <a:gd name="adj1" fmla="val 608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92" name="Text Box 37">
            <a:extLst>
              <a:ext uri="{FF2B5EF4-FFF2-40B4-BE49-F238E27FC236}">
                <a16:creationId xmlns:a16="http://schemas.microsoft.com/office/drawing/2014/main" id="{465FB945-A0B1-A878-B2C6-2CBD35BC4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75" y="5888038"/>
            <a:ext cx="501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400">
                <a:latin typeface="Tahoma" panose="020B0604030504040204" pitchFamily="34" charset="0"/>
              </a:rPr>
              <a:t>leak</a:t>
            </a:r>
          </a:p>
        </p:txBody>
      </p:sp>
      <p:sp>
        <p:nvSpPr>
          <p:cNvPr id="45093" name="Freeform 38">
            <a:extLst>
              <a:ext uri="{FF2B5EF4-FFF2-40B4-BE49-F238E27FC236}">
                <a16:creationId xmlns:a16="http://schemas.microsoft.com/office/drawing/2014/main" id="{B554E8E9-5F76-3FCD-A072-B9CB558757E1}"/>
              </a:ext>
            </a:extLst>
          </p:cNvPr>
          <p:cNvSpPr>
            <a:spLocks/>
          </p:cNvSpPr>
          <p:nvPr/>
        </p:nvSpPr>
        <p:spPr bwMode="auto">
          <a:xfrm>
            <a:off x="2438400" y="3429000"/>
            <a:ext cx="4876800" cy="622300"/>
          </a:xfrm>
          <a:custGeom>
            <a:avLst/>
            <a:gdLst>
              <a:gd name="T0" fmla="*/ 0 w 3072"/>
              <a:gd name="T1" fmla="*/ 0 h 392"/>
              <a:gd name="T2" fmla="*/ 2147483647 w 3072"/>
              <a:gd name="T3" fmla="*/ 2147483647 h 392"/>
              <a:gd name="T4" fmla="*/ 2147483647 w 3072"/>
              <a:gd name="T5" fmla="*/ 2147483647 h 392"/>
              <a:gd name="T6" fmla="*/ 2147483647 w 3072"/>
              <a:gd name="T7" fmla="*/ 2147483647 h 392"/>
              <a:gd name="T8" fmla="*/ 2147483647 w 3072"/>
              <a:gd name="T9" fmla="*/ 2147483647 h 392"/>
              <a:gd name="T10" fmla="*/ 2147483647 w 3072"/>
              <a:gd name="T11" fmla="*/ 0 h 3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72"/>
              <a:gd name="T19" fmla="*/ 0 h 392"/>
              <a:gd name="T20" fmla="*/ 3072 w 3072"/>
              <a:gd name="T21" fmla="*/ 392 h 3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72" h="392">
                <a:moveTo>
                  <a:pt x="0" y="0"/>
                </a:moveTo>
                <a:cubicBezTo>
                  <a:pt x="136" y="72"/>
                  <a:pt x="272" y="144"/>
                  <a:pt x="384" y="192"/>
                </a:cubicBezTo>
                <a:cubicBezTo>
                  <a:pt x="496" y="240"/>
                  <a:pt x="424" y="256"/>
                  <a:pt x="672" y="288"/>
                </a:cubicBezTo>
                <a:cubicBezTo>
                  <a:pt x="920" y="320"/>
                  <a:pt x="1544" y="392"/>
                  <a:pt x="1872" y="384"/>
                </a:cubicBezTo>
                <a:cubicBezTo>
                  <a:pt x="2200" y="376"/>
                  <a:pt x="2440" y="304"/>
                  <a:pt x="2640" y="240"/>
                </a:cubicBezTo>
                <a:cubicBezTo>
                  <a:pt x="2840" y="176"/>
                  <a:pt x="3000" y="40"/>
                  <a:pt x="3072" y="0"/>
                </a:cubicBezTo>
              </a:path>
            </a:pathLst>
          </a:cu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4" name="Freeform 39">
            <a:extLst>
              <a:ext uri="{FF2B5EF4-FFF2-40B4-BE49-F238E27FC236}">
                <a16:creationId xmlns:a16="http://schemas.microsoft.com/office/drawing/2014/main" id="{047CDAC5-52C0-16DB-D4AA-AF50F9224D15}"/>
              </a:ext>
            </a:extLst>
          </p:cNvPr>
          <p:cNvSpPr>
            <a:spLocks/>
          </p:cNvSpPr>
          <p:nvPr/>
        </p:nvSpPr>
        <p:spPr bwMode="auto">
          <a:xfrm>
            <a:off x="2362200" y="3124200"/>
            <a:ext cx="1524000" cy="406400"/>
          </a:xfrm>
          <a:custGeom>
            <a:avLst/>
            <a:gdLst>
              <a:gd name="T0" fmla="*/ 2147483647 w 960"/>
              <a:gd name="T1" fmla="*/ 0 h 256"/>
              <a:gd name="T2" fmla="*/ 2147483647 w 960"/>
              <a:gd name="T3" fmla="*/ 2147483647 h 256"/>
              <a:gd name="T4" fmla="*/ 2147483647 w 960"/>
              <a:gd name="T5" fmla="*/ 2147483647 h 256"/>
              <a:gd name="T6" fmla="*/ 2147483647 w 960"/>
              <a:gd name="T7" fmla="*/ 2147483647 h 256"/>
              <a:gd name="T8" fmla="*/ 2147483647 w 960"/>
              <a:gd name="T9" fmla="*/ 2147483647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0"/>
              <a:gd name="T16" fmla="*/ 0 h 256"/>
              <a:gd name="T17" fmla="*/ 960 w 960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0" h="256">
                <a:moveTo>
                  <a:pt x="96" y="0"/>
                </a:moveTo>
                <a:cubicBezTo>
                  <a:pt x="48" y="4"/>
                  <a:pt x="0" y="8"/>
                  <a:pt x="96" y="48"/>
                </a:cubicBezTo>
                <a:cubicBezTo>
                  <a:pt x="192" y="88"/>
                  <a:pt x="536" y="224"/>
                  <a:pt x="672" y="240"/>
                </a:cubicBezTo>
                <a:cubicBezTo>
                  <a:pt x="808" y="256"/>
                  <a:pt x="864" y="176"/>
                  <a:pt x="912" y="144"/>
                </a:cubicBezTo>
                <a:cubicBezTo>
                  <a:pt x="960" y="112"/>
                  <a:pt x="952" y="64"/>
                  <a:pt x="960" y="48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5" name="Freeform 41">
            <a:extLst>
              <a:ext uri="{FF2B5EF4-FFF2-40B4-BE49-F238E27FC236}">
                <a16:creationId xmlns:a16="http://schemas.microsoft.com/office/drawing/2014/main" id="{44C81DA8-4EAB-E9A0-B818-B5747DE0FEF7}"/>
              </a:ext>
            </a:extLst>
          </p:cNvPr>
          <p:cNvSpPr>
            <a:spLocks/>
          </p:cNvSpPr>
          <p:nvPr/>
        </p:nvSpPr>
        <p:spPr bwMode="auto">
          <a:xfrm>
            <a:off x="5334000" y="3048000"/>
            <a:ext cx="1981200" cy="584200"/>
          </a:xfrm>
          <a:custGeom>
            <a:avLst/>
            <a:gdLst>
              <a:gd name="T0" fmla="*/ 0 w 1248"/>
              <a:gd name="T1" fmla="*/ 2147483647 h 272"/>
              <a:gd name="T2" fmla="*/ 2147483647 w 1248"/>
              <a:gd name="T3" fmla="*/ 2147483647 h 272"/>
              <a:gd name="T4" fmla="*/ 2147483647 w 1248"/>
              <a:gd name="T5" fmla="*/ 2147483647 h 272"/>
              <a:gd name="T6" fmla="*/ 2147483647 w 1248"/>
              <a:gd name="T7" fmla="*/ 2147483647 h 272"/>
              <a:gd name="T8" fmla="*/ 2147483647 w 1248"/>
              <a:gd name="T9" fmla="*/ 0 h 2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48"/>
              <a:gd name="T16" fmla="*/ 0 h 272"/>
              <a:gd name="T17" fmla="*/ 1248 w 1248"/>
              <a:gd name="T18" fmla="*/ 272 h 2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48" h="272">
                <a:moveTo>
                  <a:pt x="0" y="48"/>
                </a:moveTo>
                <a:cubicBezTo>
                  <a:pt x="72" y="128"/>
                  <a:pt x="144" y="208"/>
                  <a:pt x="240" y="240"/>
                </a:cubicBezTo>
                <a:cubicBezTo>
                  <a:pt x="336" y="272"/>
                  <a:pt x="448" y="256"/>
                  <a:pt x="576" y="240"/>
                </a:cubicBezTo>
                <a:cubicBezTo>
                  <a:pt x="704" y="224"/>
                  <a:pt x="896" y="184"/>
                  <a:pt x="1008" y="144"/>
                </a:cubicBezTo>
                <a:cubicBezTo>
                  <a:pt x="1120" y="104"/>
                  <a:pt x="1208" y="24"/>
                  <a:pt x="1248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6" name="Rectangle 42">
            <a:extLst>
              <a:ext uri="{FF2B5EF4-FFF2-40B4-BE49-F238E27FC236}">
                <a16:creationId xmlns:a16="http://schemas.microsoft.com/office/drawing/2014/main" id="{8FFAE9CA-A473-7AB7-444E-58F79D9AF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10000"/>
            <a:ext cx="1828800" cy="457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Com.Anne.Bob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4">
            <a:extLst>
              <a:ext uri="{FF2B5EF4-FFF2-40B4-BE49-F238E27FC236}">
                <a16:creationId xmlns:a16="http://schemas.microsoft.com/office/drawing/2014/main" id="{B4FA27E8-4A6F-FC9B-8866-EDA2B09AD3BA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Specifying Protocol Goals</a:t>
            </a:r>
          </a:p>
        </p:txBody>
      </p:sp>
      <p:sp>
        <p:nvSpPr>
          <p:cNvPr id="47106" name="Rectangle 5">
            <a:extLst>
              <a:ext uri="{FF2B5EF4-FFF2-40B4-BE49-F238E27FC236}">
                <a16:creationId xmlns:a16="http://schemas.microsoft.com/office/drawing/2014/main" id="{EDECE0D4-997C-71C6-2082-E6C0C681E0EF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295400" y="4267200"/>
            <a:ext cx="64008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Chapter 3 of Ryan and Schneider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D09905B5-DBE0-DE4C-7BFF-D5CE3208F4D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Protocol Security Objectives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950B501-0AF4-4624-784A-6F20DD7F17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05800" cy="5029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Participants modeled as participant processes. 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Attackers modeled as Intruder processes.</a:t>
            </a:r>
          </a:p>
          <a:p>
            <a:pPr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800" dirty="0">
                <a:effectLst/>
              </a:rPr>
              <a:t>What objectives should the protocol satisfy in the presence of the intruder?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Secrecy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:</a:t>
            </a:r>
            <a:r>
              <a:rPr lang="en-US" sz="2400" dirty="0">
                <a:effectLst/>
              </a:rPr>
              <a:t> Item </a:t>
            </a:r>
            <a:r>
              <a:rPr lang="en-US" sz="2400" dirty="0">
                <a:solidFill>
                  <a:schemeClr val="accent1"/>
                </a:solidFill>
                <a:effectLst/>
              </a:rPr>
              <a:t>m</a:t>
            </a:r>
            <a:r>
              <a:rPr lang="en-US" sz="2400" dirty="0">
                <a:solidFill>
                  <a:schemeClr val="bg2"/>
                </a:solidFill>
                <a:effectLst/>
              </a:rPr>
              <a:t> </a:t>
            </a:r>
            <a:r>
              <a:rPr lang="en-US" sz="2400" dirty="0">
                <a:effectLst/>
              </a:rPr>
              <a:t>is intended to be a secret until the end of the protocol.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Authenticity:</a:t>
            </a:r>
            <a:r>
              <a:rPr lang="en-US" sz="2400" dirty="0">
                <a:effectLst/>
              </a:rPr>
              <a:t> When completed, some guarantees are needed about the participation of some parties the protocol is apparently run with. 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Non-repudiation: </a:t>
            </a:r>
            <a:r>
              <a:rPr lang="en-US" sz="2400" dirty="0">
                <a:effectLst/>
              </a:rPr>
              <a:t>Evidence of the involvement of the other party</a:t>
            </a:r>
          </a:p>
          <a:p>
            <a:pPr lvl="1">
              <a:lnSpc>
                <a:spcPct val="80000"/>
              </a:lnSpc>
              <a:buFont typeface="Wingdings" pitchFamily="-112" charset="2"/>
              <a:buChar char="l"/>
              <a:defRPr/>
            </a:pPr>
            <a:r>
              <a:rPr lang="en-US" sz="2400" dirty="0">
                <a:solidFill>
                  <a:schemeClr val="accent1"/>
                </a:solidFill>
                <a:effectLst/>
              </a:rPr>
              <a:t>Anonymity: </a:t>
            </a:r>
            <a:r>
              <a:rPr lang="en-US" sz="2400" dirty="0">
                <a:effectLst/>
              </a:rPr>
              <a:t>Protecting the identity of agents with respect to particular events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1EBE926C-9D46-BB35-2F8D-C106EA5707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BCA1ABF-C37C-1798-F80D-DF1D6FA024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At some point in the protocol a signal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Claim_secret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will be inserted into the protocol by means of a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 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a special channel to make secrecy claims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are not facts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: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Signal </a:t>
            </a: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∩ Fact =Ø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Information appearing on the Signal channels are claims expressing the claimants conditions. 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specify secrecy claims (such as trace properties) without this channel, but is more complex.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3">
            <a:extLst>
              <a:ext uri="{FF2B5EF4-FFF2-40B4-BE49-F238E27FC236}">
                <a16:creationId xmlns:a16="http://schemas.microsoft.com/office/drawing/2014/main" id="{C205CBC8-7CD1-D0FE-E230-6D29D183B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743200"/>
            <a:ext cx="15240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50" name="Rectangle 4">
            <a:extLst>
              <a:ext uri="{FF2B5EF4-FFF2-40B4-BE49-F238E27FC236}">
                <a16:creationId xmlns:a16="http://schemas.microsoft.com/office/drawing/2014/main" id="{75AF4E85-38F3-EF0A-6F7E-C047CDFD967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</a:t>
            </a:r>
          </a:p>
        </p:txBody>
      </p:sp>
      <p:sp>
        <p:nvSpPr>
          <p:cNvPr id="53251" name="Line 5">
            <a:extLst>
              <a:ext uri="{FF2B5EF4-FFF2-40B4-BE49-F238E27FC236}">
                <a16:creationId xmlns:a16="http://schemas.microsoft.com/office/drawing/2014/main" id="{698AB7DA-8EAC-A766-CAD4-BE5A8BA49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2088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2" name="Line 6">
            <a:extLst>
              <a:ext uri="{FF2B5EF4-FFF2-40B4-BE49-F238E27FC236}">
                <a16:creationId xmlns:a16="http://schemas.microsoft.com/office/drawing/2014/main" id="{84FF1B35-2023-7E41-65FF-1C3AFB282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3" name="Line 7">
            <a:extLst>
              <a:ext uri="{FF2B5EF4-FFF2-40B4-BE49-F238E27FC236}">
                <a16:creationId xmlns:a16="http://schemas.microsoft.com/office/drawing/2014/main" id="{3252E140-0B5D-4081-988F-42A91E164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286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4" name="Text Box 11">
            <a:extLst>
              <a:ext uri="{FF2B5EF4-FFF2-40B4-BE49-F238E27FC236}">
                <a16:creationId xmlns:a16="http://schemas.microsoft.com/office/drawing/2014/main" id="{531255E0-39F2-CEFA-5044-20D27FD7C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1722438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3255" name="Text Box 12">
            <a:extLst>
              <a:ext uri="{FF2B5EF4-FFF2-40B4-BE49-F238E27FC236}">
                <a16:creationId xmlns:a16="http://schemas.microsoft.com/office/drawing/2014/main" id="{EAA5DF7D-66F1-38ED-6C84-08F44E394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9688" y="1709738"/>
            <a:ext cx="366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53256" name="Text Box 14">
            <a:extLst>
              <a:ext uri="{FF2B5EF4-FFF2-40B4-BE49-F238E27FC236}">
                <a16:creationId xmlns:a16="http://schemas.microsoft.com/office/drawing/2014/main" id="{5DBD1F64-FC0B-62B8-DAC0-688E99B49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363" y="1758950"/>
            <a:ext cx="598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Intr</a:t>
            </a:r>
          </a:p>
        </p:txBody>
      </p:sp>
      <p:sp>
        <p:nvSpPr>
          <p:cNvPr id="53257" name="Line 17">
            <a:extLst>
              <a:ext uri="{FF2B5EF4-FFF2-40B4-BE49-F238E27FC236}">
                <a16:creationId xmlns:a16="http://schemas.microsoft.com/office/drawing/2014/main" id="{DBCB81F6-D860-2B81-1ACC-86B53F387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4363" y="3429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8" name="Line 18">
            <a:extLst>
              <a:ext uri="{FF2B5EF4-FFF2-40B4-BE49-F238E27FC236}">
                <a16:creationId xmlns:a16="http://schemas.microsoft.com/office/drawing/2014/main" id="{5A0EF10A-BFF1-ED19-FB0F-68127DF0F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2850" y="3429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59" name="Line 19">
            <a:extLst>
              <a:ext uri="{FF2B5EF4-FFF2-40B4-BE49-F238E27FC236}">
                <a16:creationId xmlns:a16="http://schemas.microsoft.com/office/drawing/2014/main" id="{33C85245-5851-CA19-72AB-5D4C53FF3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4290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0" name="Line 22">
            <a:extLst>
              <a:ext uri="{FF2B5EF4-FFF2-40B4-BE49-F238E27FC236}">
                <a16:creationId xmlns:a16="http://schemas.microsoft.com/office/drawing/2014/main" id="{58D8FA60-C209-086E-E720-12A5FD22D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0838" y="2971800"/>
            <a:ext cx="5635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1" name="Line 23">
            <a:extLst>
              <a:ext uri="{FF2B5EF4-FFF2-40B4-BE49-F238E27FC236}">
                <a16:creationId xmlns:a16="http://schemas.microsoft.com/office/drawing/2014/main" id="{879ED597-C1D6-C0F4-5F80-BA846A22E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3200400"/>
            <a:ext cx="5429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2" name="Line 26">
            <a:extLst>
              <a:ext uri="{FF2B5EF4-FFF2-40B4-BE49-F238E27FC236}">
                <a16:creationId xmlns:a16="http://schemas.microsoft.com/office/drawing/2014/main" id="{165DE618-7FEE-8CC7-6C09-2C313D08B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9163" y="5334000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3" name="Line 27">
            <a:extLst>
              <a:ext uri="{FF2B5EF4-FFF2-40B4-BE49-F238E27FC236}">
                <a16:creationId xmlns:a16="http://schemas.microsoft.com/office/drawing/2014/main" id="{83F33FFB-D261-E7AC-4257-002374D5C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9163" y="5334000"/>
            <a:ext cx="2936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4" name="Line 28">
            <a:extLst>
              <a:ext uri="{FF2B5EF4-FFF2-40B4-BE49-F238E27FC236}">
                <a16:creationId xmlns:a16="http://schemas.microsoft.com/office/drawing/2014/main" id="{6DFEFB30-1598-B644-5084-0E4B3809091F}"/>
              </a:ext>
            </a:extLst>
          </p:cNvPr>
          <p:cNvSpPr>
            <a:spLocks noChangeShapeType="1"/>
          </p:cNvSpPr>
          <p:nvPr/>
        </p:nvSpPr>
        <p:spPr bwMode="auto">
          <a:xfrm rot="1332027" flipH="1">
            <a:off x="4870450" y="5178425"/>
            <a:ext cx="1588" cy="3111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3265" name="Text Box 29">
            <a:extLst>
              <a:ext uri="{FF2B5EF4-FFF2-40B4-BE49-F238E27FC236}">
                <a16:creationId xmlns:a16="http://schemas.microsoft.com/office/drawing/2014/main" id="{BC273F38-5237-39C7-9380-A5BD98ACE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36893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3266" name="Text Box 30">
            <a:extLst>
              <a:ext uri="{FF2B5EF4-FFF2-40B4-BE49-F238E27FC236}">
                <a16:creationId xmlns:a16="http://schemas.microsoft.com/office/drawing/2014/main" id="{1E7C2C40-BAF3-403C-88E7-17FAB5D3D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81400"/>
            <a:ext cx="2193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000">
                <a:solidFill>
                  <a:srgbClr val="FF0066"/>
                </a:solidFill>
                <a:latin typeface="Comic Sans MS" panose="030F0902030302020204" pitchFamily="66" charset="0"/>
              </a:rPr>
              <a:t>Protocol run</a:t>
            </a:r>
          </a:p>
        </p:txBody>
      </p:sp>
      <p:sp>
        <p:nvSpPr>
          <p:cNvPr id="53267" name="Oval 33">
            <a:extLst>
              <a:ext uri="{FF2B5EF4-FFF2-40B4-BE49-F238E27FC236}">
                <a16:creationId xmlns:a16="http://schemas.microsoft.com/office/drawing/2014/main" id="{2485FAA2-971F-CC29-4CC1-680C1F26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5286375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3268" name="Text Box 34">
            <a:extLst>
              <a:ext uri="{FF2B5EF4-FFF2-40B4-BE49-F238E27FC236}">
                <a16:creationId xmlns:a16="http://schemas.microsoft.com/office/drawing/2014/main" id="{B9BCA6CE-E851-0696-5F98-A1739B362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181600"/>
            <a:ext cx="1865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1800">
                <a:solidFill>
                  <a:srgbClr val="00FF00"/>
                </a:solidFill>
                <a:latin typeface="Comic Sans MS" panose="030F0902030302020204" pitchFamily="66" charset="0"/>
              </a:rPr>
              <a:t>Claim_Secret.m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F995F062-8B2C-21A5-37DB-276851F2B2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of the Yahalom Protocol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6E586371-35AD-0186-0068-5D7D2A2BEF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Expand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Yahalom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Yahalom</a:t>
            </a:r>
            <a:r>
              <a:rPr lang="ja-JP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by inserting secrecy claims</a:t>
            </a:r>
          </a:p>
          <a:p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Secrecy claims: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signal.Claim_Secret.a.b.L</a:t>
            </a:r>
          </a:p>
          <a:p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at this point 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 run apparently with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the protocol guarantees that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Yves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cannot obtain 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607E6EDA-4AE4-9C36-2B88-8004295A5F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Initiator with Signals</a:t>
            </a:r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18C75552-B2E6-EC62-D91D-BEDD3A93F2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5344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Initiator(a,n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		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receive.J.a{b.k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endParaRPr lang="en-US" altLang="en-US" sz="28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50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	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	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8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signal.Claim_Secret.a.b.k</a:t>
            </a:r>
            <a:r>
              <a:rPr lang="en-US" altLang="en-US" sz="2800" baseline="-250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800">
                <a:effectLst/>
                <a:latin typeface="Wingdings 3" pitchFamily="2" charset="2"/>
                <a:ea typeface="ＭＳ Ｐゴシック" panose="020B0600070205080204" pitchFamily="34" charset="-128"/>
              </a:rPr>
              <a:t> 		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</a:p>
        </p:txBody>
      </p:sp>
      <p:sp>
        <p:nvSpPr>
          <p:cNvPr id="57347" name="AutoShape 4">
            <a:extLst>
              <a:ext uri="{FF2B5EF4-FFF2-40B4-BE49-F238E27FC236}">
                <a16:creationId xmlns:a16="http://schemas.microsoft.com/office/drawing/2014/main" id="{F2F768C9-57D4-92FA-04D1-7549AAAFBEB1}"/>
              </a:ext>
            </a:extLst>
          </p:cNvPr>
          <p:cNvSpPr>
            <a:spLocks/>
          </p:cNvSpPr>
          <p:nvPr/>
        </p:nvSpPr>
        <p:spPr bwMode="auto">
          <a:xfrm>
            <a:off x="2286000" y="3429000"/>
            <a:ext cx="152400" cy="2286000"/>
          </a:xfrm>
          <a:prstGeom prst="leftBracket">
            <a:avLst>
              <a:gd name="adj" fmla="val 1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615E8556-F7B3-7FAC-3F2B-83740A627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4290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7349" name="AutoShape 6">
            <a:extLst>
              <a:ext uri="{FF2B5EF4-FFF2-40B4-BE49-F238E27FC236}">
                <a16:creationId xmlns:a16="http://schemas.microsoft.com/office/drawing/2014/main" id="{A9800457-FCED-9089-6BA6-B9F779285A70}"/>
              </a:ext>
            </a:extLst>
          </p:cNvPr>
          <p:cNvSpPr>
            <a:spLocks/>
          </p:cNvSpPr>
          <p:nvPr/>
        </p:nvSpPr>
        <p:spPr bwMode="auto">
          <a:xfrm>
            <a:off x="8686800" y="3352800"/>
            <a:ext cx="76200" cy="2514600"/>
          </a:xfrm>
          <a:prstGeom prst="rightBracket">
            <a:avLst>
              <a:gd name="adj" fmla="val 27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2ED21276-7C00-3BF4-366E-025453E068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 – the initial version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DA9A8915-7400-6D1C-3F9C-09FA657FDE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Responder(b,n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receive.a.b.a.n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			 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3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32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 sz="3200"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endParaRPr lang="en-US" altLang="en-US" sz="3200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itchFamily="2" charset="2"/>
              <a:buNone/>
            </a:pP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 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  <a:r>
              <a:rPr lang="en-US" altLang="en-US" baseline="-36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signal.Claim_Secret.a.b.k</a:t>
            </a:r>
            <a:r>
              <a:rPr lang="en-US" altLang="en-US" sz="2800" baseline="-25000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endParaRPr lang="en-US" altLang="en-US" sz="2800" baseline="-36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>
                <a:effectLst/>
                <a:latin typeface="Wingdings 3" pitchFamily="2" charset="2"/>
                <a:ea typeface="ＭＳ Ｐゴシック" panose="020B0600070205080204" pitchFamily="34" charset="-128"/>
              </a:rPr>
              <a:t> g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 3" pitchFamily="2" charset="2"/>
              <a:buNone/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endParaRPr lang="en-US" altLang="en-US" baseline="-25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9395" name="Rectangle 4">
            <a:extLst>
              <a:ext uri="{FF2B5EF4-FFF2-40B4-BE49-F238E27FC236}">
                <a16:creationId xmlns:a16="http://schemas.microsoft.com/office/drawing/2014/main" id="{552CB4F6-A5D5-EDAD-4DDF-07170B909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533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9396" name="AutoShape 5">
            <a:extLst>
              <a:ext uri="{FF2B5EF4-FFF2-40B4-BE49-F238E27FC236}">
                <a16:creationId xmlns:a16="http://schemas.microsoft.com/office/drawing/2014/main" id="{38A2D5A7-4194-26C8-DD58-BD00316C2DBD}"/>
              </a:ext>
            </a:extLst>
          </p:cNvPr>
          <p:cNvSpPr>
            <a:spLocks/>
          </p:cNvSpPr>
          <p:nvPr/>
        </p:nvSpPr>
        <p:spPr bwMode="auto">
          <a:xfrm>
            <a:off x="2286000" y="2286000"/>
            <a:ext cx="76200" cy="2819400"/>
          </a:xfrm>
          <a:prstGeom prst="leftBracket">
            <a:avLst>
              <a:gd name="adj" fmla="val 30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59397" name="AutoShape 6">
            <a:extLst>
              <a:ext uri="{FF2B5EF4-FFF2-40B4-BE49-F238E27FC236}">
                <a16:creationId xmlns:a16="http://schemas.microsoft.com/office/drawing/2014/main" id="{B3909423-78C4-39AF-D4E3-2EABDF8814D2}"/>
              </a:ext>
            </a:extLst>
          </p:cNvPr>
          <p:cNvSpPr>
            <a:spLocks/>
          </p:cNvSpPr>
          <p:nvPr/>
        </p:nvSpPr>
        <p:spPr bwMode="auto">
          <a:xfrm>
            <a:off x="8686800" y="2133600"/>
            <a:ext cx="152400" cy="3048000"/>
          </a:xfrm>
          <a:prstGeom prst="rightBracket">
            <a:avLst>
              <a:gd name="adj" fmla="val 16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D5DCAC20-8BB5-B76B-14E7-53552FC4AA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7F86C6F5-C5BB-6971-91D2-D2F3547A69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order to check if K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appears on the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channel, we can check that by copying its messages into a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leak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channel.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trace Secret can be expressed as the trace property: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Secret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(tr)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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s:signal Claim_Secreta.b.s. in tr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>
                <a:solidFill>
                  <a:srgbClr val="FFFF00"/>
                </a:solidFill>
                <a:effectLst/>
                <a:latin typeface="Verdan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Wingdings" pitchFamily="2" charset="2"/>
              </a:rPr>
              <a:t>¬ (leak.s. in tr)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4D86D104-073F-CBD9-BFED-CF383013C31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Where to insert the signal?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3E9E79F7-D4F5-133B-9DCD-6CDE329D4A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4582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process should signal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Claim-Secret.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*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as soon as it sees </a:t>
            </a:r>
            <a:r>
              <a:rPr lang="en-US" altLang="en-US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– called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strong secrecy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Sometimes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secret created within a protocol run and used only if the protocol terminates without problems. 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 example: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session keys – useless unless the protocol runs to completion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Then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Signal.Claim-Secret.*.s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should be placed at the end of the protocol.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4">
            <a:extLst>
              <a:ext uri="{FF2B5EF4-FFF2-40B4-BE49-F238E27FC236}">
                <a16:creationId xmlns:a16="http://schemas.microsoft.com/office/drawing/2014/main" id="{55D82107-8CB3-D5B9-A9DB-D32F5AACC21D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7537C8B7-E249-7F94-C680-A842804597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CSP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2A7FFB7F-FA19-C429-FCE5-11E0709ED6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47688" y="1676400"/>
            <a:ext cx="8062912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Insert two signals to the protocol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Running.a.b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protocol: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 executing a run apparently with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2">
              <a:lnSpc>
                <a:spcPct val="90000"/>
              </a:lnSpc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Commit.b.a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protocol: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completed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protocol run apparently with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2D249E84-5B6B-4EB9-0154-21F47D93E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590800"/>
            <a:ext cx="15240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34" name="Rectangle 4">
            <a:extLst>
              <a:ext uri="{FF2B5EF4-FFF2-40B4-BE49-F238E27FC236}">
                <a16:creationId xmlns:a16="http://schemas.microsoft.com/office/drawing/2014/main" id="{8CDADF08-9628-96BF-02B0-16DFB886CC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</a:t>
            </a:r>
          </a:p>
        </p:txBody>
      </p:sp>
      <p:sp>
        <p:nvSpPr>
          <p:cNvPr id="69635" name="Line 8">
            <a:extLst>
              <a:ext uri="{FF2B5EF4-FFF2-40B4-BE49-F238E27FC236}">
                <a16:creationId xmlns:a16="http://schemas.microsoft.com/office/drawing/2014/main" id="{4685A005-9455-03C4-22FF-53DADCEE0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6" name="Line 9">
            <a:extLst>
              <a:ext uri="{FF2B5EF4-FFF2-40B4-BE49-F238E27FC236}">
                <a16:creationId xmlns:a16="http://schemas.microsoft.com/office/drawing/2014/main" id="{19665BB0-A1E6-C515-702A-E7818B53B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3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7" name="Line 10">
            <a:extLst>
              <a:ext uri="{FF2B5EF4-FFF2-40B4-BE49-F238E27FC236}">
                <a16:creationId xmlns:a16="http://schemas.microsoft.com/office/drawing/2014/main" id="{7B509E05-EE4E-A456-B6EB-277F65357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38" name="Text Box 13">
            <a:extLst>
              <a:ext uri="{FF2B5EF4-FFF2-40B4-BE49-F238E27FC236}">
                <a16:creationId xmlns:a16="http://schemas.microsoft.com/office/drawing/2014/main" id="{1D623195-5DC4-8638-C532-A8AA01A85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15700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B</a:t>
            </a:r>
          </a:p>
        </p:txBody>
      </p:sp>
      <p:sp>
        <p:nvSpPr>
          <p:cNvPr id="69639" name="Text Box 15">
            <a:extLst>
              <a:ext uri="{FF2B5EF4-FFF2-40B4-BE49-F238E27FC236}">
                <a16:creationId xmlns:a16="http://schemas.microsoft.com/office/drawing/2014/main" id="{4DE4F91F-F7D2-4CFB-973B-2195EF48E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550" y="1617663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Comic Sans MS" panose="030F0902030302020204" pitchFamily="66" charset="0"/>
              </a:rPr>
              <a:t>Intr</a:t>
            </a:r>
          </a:p>
        </p:txBody>
      </p:sp>
      <p:sp>
        <p:nvSpPr>
          <p:cNvPr id="69640" name="Text Box 16">
            <a:extLst>
              <a:ext uri="{FF2B5EF4-FFF2-40B4-BE49-F238E27FC236}">
                <a16:creationId xmlns:a16="http://schemas.microsoft.com/office/drawing/2014/main" id="{3F461248-B176-FF5C-34DB-791B6DBA6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1570038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69641" name="Line 20">
            <a:extLst>
              <a:ext uri="{FF2B5EF4-FFF2-40B4-BE49-F238E27FC236}">
                <a16:creationId xmlns:a16="http://schemas.microsoft.com/office/drawing/2014/main" id="{CA12CB38-9DB8-3125-C676-418AEDCED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8063" y="3292475"/>
            <a:ext cx="0" cy="1203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2" name="Line 21">
            <a:extLst>
              <a:ext uri="{FF2B5EF4-FFF2-40B4-BE49-F238E27FC236}">
                <a16:creationId xmlns:a16="http://schemas.microsoft.com/office/drawing/2014/main" id="{EDA35EF5-C834-7358-5E31-309029427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1150" y="3292475"/>
            <a:ext cx="0" cy="12033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3" name="Line 24">
            <a:extLst>
              <a:ext uri="{FF2B5EF4-FFF2-40B4-BE49-F238E27FC236}">
                <a16:creationId xmlns:a16="http://schemas.microsoft.com/office/drawing/2014/main" id="{760FBD4C-DBDA-46A7-6E84-989F81DB5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8" y="2819400"/>
            <a:ext cx="5762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4" name="Line 25">
            <a:extLst>
              <a:ext uri="{FF2B5EF4-FFF2-40B4-BE49-F238E27FC236}">
                <a16:creationId xmlns:a16="http://schemas.microsoft.com/office/drawing/2014/main" id="{E0B3AEBD-416D-26E3-941E-054BDCE36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048000"/>
            <a:ext cx="58261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9645" name="Oval 31">
            <a:extLst>
              <a:ext uri="{FF2B5EF4-FFF2-40B4-BE49-F238E27FC236}">
                <a16:creationId xmlns:a16="http://schemas.microsoft.com/office/drawing/2014/main" id="{36C37439-F1DB-0F98-7F8D-11EE02DEF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657600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46" name="Oval 32">
            <a:extLst>
              <a:ext uri="{FF2B5EF4-FFF2-40B4-BE49-F238E27FC236}">
                <a16:creationId xmlns:a16="http://schemas.microsoft.com/office/drawing/2014/main" id="{E1E9DDDA-2CC6-7BEF-B094-B707475EF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334000"/>
            <a:ext cx="92075" cy="92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69647" name="Text Box 35">
            <a:extLst>
              <a:ext uri="{FF2B5EF4-FFF2-40B4-BE49-F238E27FC236}">
                <a16:creationId xmlns:a16="http://schemas.microsoft.com/office/drawing/2014/main" id="{B3133E2E-9FD4-31D9-C36E-03402A577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1816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FF00"/>
                </a:solidFill>
                <a:latin typeface="Comic Sans MS" panose="030F0902030302020204" pitchFamily="66" charset="0"/>
              </a:rPr>
              <a:t>Commit with A</a:t>
            </a:r>
          </a:p>
        </p:txBody>
      </p:sp>
      <p:sp>
        <p:nvSpPr>
          <p:cNvPr id="69648" name="Rectangle 36">
            <a:extLst>
              <a:ext uri="{FF2B5EF4-FFF2-40B4-BE49-F238E27FC236}">
                <a16:creationId xmlns:a16="http://schemas.microsoft.com/office/drawing/2014/main" id="{D7D25AA6-2C2F-A307-C919-B043DF40D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81400"/>
            <a:ext cx="1319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FF0000"/>
                </a:solidFill>
                <a:latin typeface="Comic Sans MS" panose="030F0902030302020204" pitchFamily="66" charset="0"/>
              </a:rPr>
              <a:t>Run with 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6E4EE0D8-5D01-AF2D-187B-780EAD78BC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CSP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69C4F1F7-D421-1CB4-0E93-23425E3A38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19088" y="2057400"/>
            <a:ext cx="8596312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is achieved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Running.a.b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always precedes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66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Commit.b.a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traces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the system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Weaker or stronger forms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of authentication can be achieved by varying the parameters of these signals and their constraints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2B8330E7-51D2-573D-DD04-D306C42EEE2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in Yahalom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D458576E-B37E-A759-E7B5-9D2B3B90B9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8288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Yahalom Protocol wants to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authenticate both parties to each other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Requires two separate  enhancements to the protocol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 will analyze the two authentication properties separately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35552C43-B3A5-0995-6A0D-8CDE8E7C27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- 1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C81F4E4-F2B4-EEB7-8645-B8B47C4135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458200" cy="46831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Initiator</a:t>
            </a:r>
            <a:r>
              <a:rPr lang="ja-JP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(a,n</a:t>
            </a:r>
            <a:r>
              <a:rPr lang="en-US" altLang="ja-JP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		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(receive.J.a{b.k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</a:t>
            </a:r>
            <a:r>
              <a:rPr lang="en-US" altLang="en-US" sz="2000" baseline="-250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).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0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Key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signal.Running_Initiator.a.b.n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Nonce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(b,n</a:t>
            </a:r>
            <a:r>
              <a:rPr lang="en-US" altLang="ja-JP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</a:t>
            </a:r>
            <a:r>
              <a:rPr lang="en-US" altLang="ja-JP" sz="2000" b="1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(receive.a.b.a.n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e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Nonce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Commit_Responder.b.a.n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779" name="Rectangle 4">
            <a:extLst>
              <a:ext uri="{FF2B5EF4-FFF2-40B4-BE49-F238E27FC236}">
                <a16:creationId xmlns:a16="http://schemas.microsoft.com/office/drawing/2014/main" id="{5997059F-3B78-05E4-359F-2A0E0629B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146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5780" name="Rectangle 5">
            <a:extLst>
              <a:ext uri="{FF2B5EF4-FFF2-40B4-BE49-F238E27FC236}">
                <a16:creationId xmlns:a16="http://schemas.microsoft.com/office/drawing/2014/main" id="{80AEAA63-0C36-31BD-25DB-2446049C4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4958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A17C8B1A-EA33-E44F-BC7F-C2C6F35561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- 2</a:t>
            </a:r>
          </a:p>
        </p:txBody>
      </p:sp>
      <p:sp>
        <p:nvSpPr>
          <p:cNvPr id="77826" name="Line 3">
            <a:extLst>
              <a:ext uri="{FF2B5EF4-FFF2-40B4-BE49-F238E27FC236}">
                <a16:creationId xmlns:a16="http://schemas.microsoft.com/office/drawing/2014/main" id="{6EDAB892-B429-3251-9CA5-82DD77ABF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0550" y="21939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7" name="Line 4">
            <a:extLst>
              <a:ext uri="{FF2B5EF4-FFF2-40B4-BE49-F238E27FC236}">
                <a16:creationId xmlns:a16="http://schemas.microsoft.com/office/drawing/2014/main" id="{67702355-C11E-E64F-FB7E-73BDC0FC0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133600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8" name="Line 5">
            <a:extLst>
              <a:ext uri="{FF2B5EF4-FFF2-40B4-BE49-F238E27FC236}">
                <a16:creationId xmlns:a16="http://schemas.microsoft.com/office/drawing/2014/main" id="{C61C4140-A63A-6BC6-B1D4-81B786449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21177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29" name="Oval 6">
            <a:extLst>
              <a:ext uri="{FF2B5EF4-FFF2-40B4-BE49-F238E27FC236}">
                <a16:creationId xmlns:a16="http://schemas.microsoft.com/office/drawing/2014/main" id="{9274B817-1BA6-200A-D259-5821F8B3B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6019800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7830" name="Oval 7">
            <a:extLst>
              <a:ext uri="{FF2B5EF4-FFF2-40B4-BE49-F238E27FC236}">
                <a16:creationId xmlns:a16="http://schemas.microsoft.com/office/drawing/2014/main" id="{2D248772-DA0B-32F3-445C-BC6A03B7D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763" y="4891088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77831" name="Text Box 8">
            <a:extLst>
              <a:ext uri="{FF2B5EF4-FFF2-40B4-BE49-F238E27FC236}">
                <a16:creationId xmlns:a16="http://schemas.microsoft.com/office/drawing/2014/main" id="{23B8A6C6-8EF0-2005-2555-EA69737C8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1649413"/>
            <a:ext cx="1160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Initiator</a:t>
            </a:r>
            <a:r>
              <a:rPr lang="en-US" altLang="en-US" sz="2000" baseline="-25000">
                <a:latin typeface="Tahoma" panose="020B0604030504040204" pitchFamily="34" charset="0"/>
              </a:rPr>
              <a:t>a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2" name="Text Box 9">
            <a:extLst>
              <a:ext uri="{FF2B5EF4-FFF2-40B4-BE49-F238E27FC236}">
                <a16:creationId xmlns:a16="http://schemas.microsoft.com/office/drawing/2014/main" id="{A11689A9-89B8-CD28-EB93-A88EE0DD4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64623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Responder</a:t>
            </a:r>
            <a:r>
              <a:rPr lang="en-US" altLang="en-US" sz="2000" baseline="-25000">
                <a:latin typeface="Tahoma" panose="020B0604030504040204" pitchFamily="34" charset="0"/>
              </a:rPr>
              <a:t>b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3" name="Text Box 10">
            <a:extLst>
              <a:ext uri="{FF2B5EF4-FFF2-40B4-BE49-F238E27FC236}">
                <a16:creationId xmlns:a16="http://schemas.microsoft.com/office/drawing/2014/main" id="{CF79592E-A68E-E047-6DF7-636BF0D3B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800" y="1616075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Server</a:t>
            </a:r>
          </a:p>
        </p:txBody>
      </p:sp>
      <p:sp>
        <p:nvSpPr>
          <p:cNvPr id="77834" name="Text Box 11">
            <a:extLst>
              <a:ext uri="{FF2B5EF4-FFF2-40B4-BE49-F238E27FC236}">
                <a16:creationId xmlns:a16="http://schemas.microsoft.com/office/drawing/2014/main" id="{5A97F7E7-574A-65E2-5974-886AB07CD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63" y="26225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77835" name="Text Box 12">
            <a:extLst>
              <a:ext uri="{FF2B5EF4-FFF2-40B4-BE49-F238E27FC236}">
                <a16:creationId xmlns:a16="http://schemas.microsoft.com/office/drawing/2014/main" id="{3A3B0793-1D59-4894-2A44-2910EFAB6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589213"/>
            <a:ext cx="1428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</a:p>
          <a:p>
            <a:pPr eaLnBrk="1" hangingPunct="1"/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77836" name="Text Box 13">
            <a:extLst>
              <a:ext uri="{FF2B5EF4-FFF2-40B4-BE49-F238E27FC236}">
                <a16:creationId xmlns:a16="http://schemas.microsoft.com/office/drawing/2014/main" id="{AB9574A5-0860-0E47-EB16-602F02663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2263" y="3068638"/>
            <a:ext cx="2405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b.{a.n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37" name="Text Box 14">
            <a:extLst>
              <a:ext uri="{FF2B5EF4-FFF2-40B4-BE49-F238E27FC236}">
                <a16:creationId xmlns:a16="http://schemas.microsoft.com/office/drawing/2014/main" id="{EB99892C-394F-9995-6ACB-E004FCE18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0" y="3829050"/>
            <a:ext cx="4032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{b.k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ServerKey(a) </a:t>
            </a: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38" name="Text Box 15">
            <a:extLst>
              <a:ext uri="{FF2B5EF4-FFF2-40B4-BE49-F238E27FC236}">
                <a16:creationId xmlns:a16="http://schemas.microsoft.com/office/drawing/2014/main" id="{F6D53F3A-E581-DBD4-7808-5169C4129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5326063"/>
            <a:ext cx="2740025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 </a:t>
            </a:r>
            <a:r>
              <a:rPr lang="en-US" altLang="en-US" sz="1600">
                <a:latin typeface="Comic Sans MS" panose="030F0902030302020204" pitchFamily="66" charset="0"/>
              </a:rPr>
              <a:t>.{n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kab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lang="en-US" altLang="en-US" sz="1600" baseline="-25000">
              <a:latin typeface="Comic Sans MS" panose="030F0902030302020204" pitchFamily="66" charset="0"/>
            </a:endParaRPr>
          </a:p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7839" name="Text Box 16">
            <a:extLst>
              <a:ext uri="{FF2B5EF4-FFF2-40B4-BE49-F238E27FC236}">
                <a16:creationId xmlns:a16="http://schemas.microsoft.com/office/drawing/2014/main" id="{78021EA1-E37A-8165-162E-E245A0CFE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5" y="5872163"/>
            <a:ext cx="2219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Com_Resp.b.a.n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ab</a:t>
            </a:r>
          </a:p>
          <a:p>
            <a:pPr eaLnBrk="1" hangingPunct="1"/>
            <a:endParaRPr lang="en-US" altLang="en-US" sz="1600">
              <a:solidFill>
                <a:srgbClr val="00FF00"/>
              </a:solidFill>
              <a:latin typeface="Tahoma" panose="020B0604030504040204" pitchFamily="34" charset="0"/>
            </a:endParaRPr>
          </a:p>
        </p:txBody>
      </p:sp>
      <p:sp>
        <p:nvSpPr>
          <p:cNvPr id="77840" name="Text Box 17">
            <a:extLst>
              <a:ext uri="{FF2B5EF4-FFF2-40B4-BE49-F238E27FC236}">
                <a16:creationId xmlns:a16="http://schemas.microsoft.com/office/drawing/2014/main" id="{F1AC5E55-4019-2D19-E85A-6698C1377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163" y="4775200"/>
            <a:ext cx="2139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Run_Init.a.b.n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</a:t>
            </a:r>
            <a:r>
              <a:rPr lang="en-US" altLang="en-US" sz="1600" baseline="-25000">
                <a:solidFill>
                  <a:srgbClr val="00CC00"/>
                </a:solidFill>
                <a:latin typeface="Comic Sans MS" panose="030F0902030302020204" pitchFamily="66" charset="0"/>
              </a:rPr>
              <a:t>b</a:t>
            </a:r>
            <a:r>
              <a:rPr lang="en-US" altLang="en-US" sz="1600" baseline="-25000">
                <a:solidFill>
                  <a:srgbClr val="008080"/>
                </a:solidFill>
                <a:latin typeface="Comic Sans MS" panose="030F0902030302020204" pitchFamily="66" charset="0"/>
              </a:rPr>
              <a:t> 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77841" name="Line 18">
            <a:extLst>
              <a:ext uri="{FF2B5EF4-FFF2-40B4-BE49-F238E27FC236}">
                <a16:creationId xmlns:a16="http://schemas.microsoft.com/office/drawing/2014/main" id="{E2E59F51-807D-53B3-A4F6-80FA478DF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963" y="2987675"/>
            <a:ext cx="2332037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2" name="Line 19">
            <a:extLst>
              <a:ext uri="{FF2B5EF4-FFF2-40B4-BE49-F238E27FC236}">
                <a16:creationId xmlns:a16="http://schemas.microsoft.com/office/drawing/2014/main" id="{A9565594-93B6-D5C8-E605-973A134D7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459163"/>
            <a:ext cx="2422525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3" name="Line 20">
            <a:extLst>
              <a:ext uri="{FF2B5EF4-FFF2-40B4-BE49-F238E27FC236}">
                <a16:creationId xmlns:a16="http://schemas.microsoft.com/office/drawing/2014/main" id="{C9E40DB2-3AAD-7A1C-35B8-03C0755F3F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4675" y="4251325"/>
            <a:ext cx="4754563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4" name="Text Box 21">
            <a:extLst>
              <a:ext uri="{FF2B5EF4-FFF2-40B4-BE49-F238E27FC236}">
                <a16:creationId xmlns:a16="http://schemas.microsoft.com/office/drawing/2014/main" id="{8159004A-0B0D-91B9-80E2-937186E2F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9038" y="5718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77845" name="Line 22">
            <a:extLst>
              <a:ext uri="{FF2B5EF4-FFF2-40B4-BE49-F238E27FC236}">
                <a16:creationId xmlns:a16="http://schemas.microsoft.com/office/drawing/2014/main" id="{A3E5523F-4D87-939E-32D1-EFDF75B7B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8963" y="5745163"/>
            <a:ext cx="2332037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7846" name="Text Box 23">
            <a:extLst>
              <a:ext uri="{FF2B5EF4-FFF2-40B4-BE49-F238E27FC236}">
                <a16:creationId xmlns:a16="http://schemas.microsoft.com/office/drawing/2014/main" id="{43C584E7-31B1-F6A7-A350-53304248A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7850" y="5732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BFBD66DA-C3EE-ABB5-D51E-65151A6EC8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Initiator - 3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6D22A781-F900-7832-3726-45E0427CE7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Property to be verified: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Running_Initiator.a.b.n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800" baseline="-25000">
                <a:solidFill>
                  <a:srgbClr val="00808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signal.Commit_Responder.b.a.n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the Traces(System)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Again, this property can be verified automatically by checking all traces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228E3F3F-A12D-C1EF-7934-242B8F8409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 -1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31BC72C-5563-B62D-2A1A-7198DF3155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Initiator</a:t>
            </a:r>
            <a:r>
              <a:rPr lang="ja-JP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(a,n</a:t>
            </a:r>
            <a:r>
              <a:rPr lang="en-US" altLang="ja-JP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ja-JP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env?b: Agent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send.a.b.a.n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(receive.J.a{b. 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ServerKey(a).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{a.k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C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902030302020204" pitchFamily="66" charset="0"/>
                <a:ea typeface="ＭＳ Ｐゴシック" panose="020B0600070205080204" pitchFamily="34" charset="-128"/>
              </a:rPr>
              <a:t>ServerKey(b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.m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send.a.b.m.{n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signal.Commit_Initiator.a.b.n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Session(a,b,k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 baseline="-25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Responder</a:t>
            </a:r>
            <a:r>
              <a:rPr lang="ja-JP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(b,n</a:t>
            </a:r>
            <a:r>
              <a:rPr lang="en-US" altLang="ja-JP" sz="2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ja-JP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) =</a:t>
            </a:r>
            <a:r>
              <a:rPr lang="en-US" altLang="ja-JP" sz="2400" b="1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(receive.a.b.a.n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send.b.J.b .{a.n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Key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Running_Responder.b.a.n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 baseline="-36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Nonce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  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receive.a.b.{a. 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ServerKey(b)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000" baseline="-36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lvl="1">
              <a:lnSpc>
                <a:spcPct val="90000"/>
              </a:lnSpc>
              <a:buFont typeface="Wingdings 3" pitchFamily="2" charset="2"/>
              <a:buNone/>
            </a:pP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</a:t>
            </a:r>
            <a:r>
              <a:rPr lang="en-US" altLang="en-US" sz="2000">
                <a:solidFill>
                  <a:srgbClr val="FFFF00"/>
                </a:solidFill>
                <a:effectLst/>
                <a:latin typeface="Wingdings 3" pitchFamily="2" charset="2"/>
                <a:ea typeface="ＭＳ Ｐゴシック" panose="020B0600070205080204" pitchFamily="34" charset="-128"/>
              </a:rPr>
              <a:t>g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Session(b,a,k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,n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)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923" name="Rectangle 4">
            <a:extLst>
              <a:ext uri="{FF2B5EF4-FFF2-40B4-BE49-F238E27FC236}">
                <a16:creationId xmlns:a16="http://schemas.microsoft.com/office/drawing/2014/main" id="{FFD4B64B-8F89-05E3-8CEA-B3B8E720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6670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1924" name="Rectangle 5">
            <a:extLst>
              <a:ext uri="{FF2B5EF4-FFF2-40B4-BE49-F238E27FC236}">
                <a16:creationId xmlns:a16="http://schemas.microsoft.com/office/drawing/2014/main" id="{3FFD62CC-37AA-ADB8-3B7C-18427960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381000" cy="4572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A89ACE09-5F08-362E-9239-C7015207AC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 -2</a:t>
            </a:r>
          </a:p>
        </p:txBody>
      </p:sp>
      <p:sp>
        <p:nvSpPr>
          <p:cNvPr id="83970" name="Line 3">
            <a:extLst>
              <a:ext uri="{FF2B5EF4-FFF2-40B4-BE49-F238E27FC236}">
                <a16:creationId xmlns:a16="http://schemas.microsoft.com/office/drawing/2014/main" id="{047F9849-B203-9BEF-F812-EDF645E46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5350" y="21939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1" name="Line 4">
            <a:extLst>
              <a:ext uri="{FF2B5EF4-FFF2-40B4-BE49-F238E27FC236}">
                <a16:creationId xmlns:a16="http://schemas.microsoft.com/office/drawing/2014/main" id="{2993B04A-5F8A-34FC-7BD7-0FA82F1F7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133600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2" name="Line 5">
            <a:extLst>
              <a:ext uri="{FF2B5EF4-FFF2-40B4-BE49-F238E27FC236}">
                <a16:creationId xmlns:a16="http://schemas.microsoft.com/office/drawing/2014/main" id="{74245AC0-E400-1512-71F7-28B3D70F9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4038" y="2117725"/>
            <a:ext cx="0" cy="42513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73" name="Oval 6">
            <a:extLst>
              <a:ext uri="{FF2B5EF4-FFF2-40B4-BE49-F238E27FC236}">
                <a16:creationId xmlns:a16="http://schemas.microsoft.com/office/drawing/2014/main" id="{92B8BC91-3553-E85F-63AE-6712C535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003550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3974" name="Oval 7">
            <a:extLst>
              <a:ext uri="{FF2B5EF4-FFF2-40B4-BE49-F238E27FC236}">
                <a16:creationId xmlns:a16="http://schemas.microsoft.com/office/drawing/2014/main" id="{FF98A6FA-DDEE-516B-D0B9-95282B42A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5730875"/>
            <a:ext cx="1524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83975" name="Text Box 8">
            <a:extLst>
              <a:ext uri="{FF2B5EF4-FFF2-40B4-BE49-F238E27FC236}">
                <a16:creationId xmlns:a16="http://schemas.microsoft.com/office/drawing/2014/main" id="{0DD24332-2F0C-B202-1658-EA252138E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75" y="1649413"/>
            <a:ext cx="1160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Initiator</a:t>
            </a:r>
            <a:r>
              <a:rPr lang="en-US" altLang="en-US" sz="2000" baseline="-25000">
                <a:latin typeface="Tahoma" panose="020B0604030504040204" pitchFamily="34" charset="0"/>
              </a:rPr>
              <a:t>a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6" name="Text Box 9">
            <a:extLst>
              <a:ext uri="{FF2B5EF4-FFF2-40B4-BE49-F238E27FC236}">
                <a16:creationId xmlns:a16="http://schemas.microsoft.com/office/drawing/2014/main" id="{F163D397-C74B-E213-6DDF-D60081238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646238"/>
            <a:ext cx="1462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Responder</a:t>
            </a:r>
            <a:r>
              <a:rPr lang="en-US" altLang="en-US" sz="2000" baseline="-25000">
                <a:latin typeface="Tahoma" panose="020B0604030504040204" pitchFamily="34" charset="0"/>
              </a:rPr>
              <a:t>b</a:t>
            </a: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7" name="Text Box 10">
            <a:extLst>
              <a:ext uri="{FF2B5EF4-FFF2-40B4-BE49-F238E27FC236}">
                <a16:creationId xmlns:a16="http://schemas.microsoft.com/office/drawing/2014/main" id="{C94DA23D-B724-C29B-E163-DC542B8DF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1616075"/>
            <a:ext cx="903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Server</a:t>
            </a:r>
          </a:p>
        </p:txBody>
      </p:sp>
      <p:sp>
        <p:nvSpPr>
          <p:cNvPr id="83978" name="Text Box 11">
            <a:extLst>
              <a:ext uri="{FF2B5EF4-FFF2-40B4-BE49-F238E27FC236}">
                <a16:creationId xmlns:a16="http://schemas.microsoft.com/office/drawing/2014/main" id="{A8ECBDC5-6BCD-0F73-F0AD-EEEEC429A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4463" y="2622550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3979" name="Text Box 12">
            <a:extLst>
              <a:ext uri="{FF2B5EF4-FFF2-40B4-BE49-F238E27FC236}">
                <a16:creationId xmlns:a16="http://schemas.microsoft.com/office/drawing/2014/main" id="{B6956932-F9BD-2AFC-C8E4-CF74107E5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2192338"/>
            <a:ext cx="1428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</a:p>
          <a:p>
            <a:pPr eaLnBrk="1" hangingPunct="1"/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83980" name="Text Box 13">
            <a:extLst>
              <a:ext uri="{FF2B5EF4-FFF2-40B4-BE49-F238E27FC236}">
                <a16:creationId xmlns:a16="http://schemas.microsoft.com/office/drawing/2014/main" id="{5D07DD9B-68C9-AA3D-CAF8-FDBBA7C20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4013" y="3313113"/>
            <a:ext cx="2405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b.{a.n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1" name="Text Box 14">
            <a:extLst>
              <a:ext uri="{FF2B5EF4-FFF2-40B4-BE49-F238E27FC236}">
                <a16:creationId xmlns:a16="http://schemas.microsoft.com/office/drawing/2014/main" id="{7B2F3F85-38B1-53A6-D7E2-CCD6A4D87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0" y="3829050"/>
            <a:ext cx="40322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{b.k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a</a:t>
            </a:r>
            <a:r>
              <a:rPr lang="en-US" altLang="en-US" sz="1600">
                <a:latin typeface="Comic Sans MS" panose="030F0902030302020204" pitchFamily="66" charset="0"/>
              </a:rPr>
              <a:t>.n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ServerKey(a) </a:t>
            </a: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2" name="Text Box 15">
            <a:extLst>
              <a:ext uri="{FF2B5EF4-FFF2-40B4-BE49-F238E27FC236}">
                <a16:creationId xmlns:a16="http://schemas.microsoft.com/office/drawing/2014/main" id="{63688850-D03D-17EA-3260-FF0A9B65C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4579938"/>
            <a:ext cx="2740025" cy="90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en-US" sz="1600">
                <a:latin typeface="Comic Sans MS" panose="030F0902030302020204" pitchFamily="66" charset="0"/>
              </a:rPr>
              <a:t>{a.k</a:t>
            </a:r>
            <a:r>
              <a:rPr lang="en-US" altLang="en-US" sz="1600" baseline="-25000">
                <a:latin typeface="Comic Sans MS" panose="030F0902030302020204" pitchFamily="66" charset="0"/>
              </a:rPr>
              <a:t>ab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ServerKey(b) </a:t>
            </a:r>
            <a:r>
              <a:rPr lang="en-US" altLang="en-US" sz="1600">
                <a:latin typeface="Comic Sans MS" panose="030F0902030302020204" pitchFamily="66" charset="0"/>
              </a:rPr>
              <a:t>.{n</a:t>
            </a:r>
            <a:r>
              <a:rPr lang="en-US" altLang="en-US" sz="1600" baseline="-25000">
                <a:latin typeface="Comic Sans MS" panose="030F0902030302020204" pitchFamily="66" charset="0"/>
              </a:rPr>
              <a:t>b</a:t>
            </a:r>
            <a:r>
              <a:rPr lang="en-US" altLang="en-US" sz="1600">
                <a:latin typeface="Comic Sans MS" panose="030F0902030302020204" pitchFamily="66" charset="0"/>
              </a:rPr>
              <a:t>}</a:t>
            </a:r>
            <a:r>
              <a:rPr lang="en-US" altLang="en-US" sz="1600" baseline="-25000">
                <a:latin typeface="Comic Sans MS" panose="030F0902030302020204" pitchFamily="66" charset="0"/>
              </a:rPr>
              <a:t>kab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lang="en-US" altLang="en-US" sz="1600" baseline="-25000">
              <a:latin typeface="Comic Sans MS" panose="030F0902030302020204" pitchFamily="66" charset="0"/>
            </a:endParaRPr>
          </a:p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3983" name="Text Box 16">
            <a:extLst>
              <a:ext uri="{FF2B5EF4-FFF2-40B4-BE49-F238E27FC236}">
                <a16:creationId xmlns:a16="http://schemas.microsoft.com/office/drawing/2014/main" id="{C2DBB8FC-9805-D456-9A0B-2CCCD3EE2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75" y="2854325"/>
            <a:ext cx="19097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Run_Resp.b.a.n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</a:t>
            </a:r>
            <a:r>
              <a:rPr lang="en-US" altLang="en-US" sz="1600" baseline="-25000">
                <a:solidFill>
                  <a:srgbClr val="990000"/>
                </a:solidFill>
                <a:latin typeface="Comic Sans MS" panose="030F0902030302020204" pitchFamily="66" charset="0"/>
              </a:rPr>
              <a:t>.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4" name="Text Box 17">
            <a:extLst>
              <a:ext uri="{FF2B5EF4-FFF2-40B4-BE49-F238E27FC236}">
                <a16:creationId xmlns:a16="http://schemas.microsoft.com/office/drawing/2014/main" id="{9064DADD-F6BD-27AC-8DDB-FF94974FF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5597525"/>
            <a:ext cx="21955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Com_Init.a.b.n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n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b.</a:t>
            </a:r>
            <a:r>
              <a:rPr lang="en-US" altLang="en-US" sz="1600">
                <a:solidFill>
                  <a:srgbClr val="00FF00"/>
                </a:solidFill>
                <a:latin typeface="Comic Sans MS" panose="030F0902030302020204" pitchFamily="66" charset="0"/>
              </a:rPr>
              <a:t>k</a:t>
            </a:r>
            <a:r>
              <a:rPr lang="en-US" altLang="en-US" sz="1600" baseline="-25000">
                <a:solidFill>
                  <a:srgbClr val="00FF00"/>
                </a:solidFill>
                <a:latin typeface="Comic Sans MS" panose="030F0902030302020204" pitchFamily="66" charset="0"/>
              </a:rPr>
              <a:t>ab </a:t>
            </a:r>
          </a:p>
          <a:p>
            <a:pPr eaLnBrk="1" hangingPunct="1"/>
            <a:endParaRPr lang="en-US" altLang="en-US" sz="1600">
              <a:latin typeface="Tahoma" panose="020B0604030504040204" pitchFamily="34" charset="0"/>
            </a:endParaRPr>
          </a:p>
        </p:txBody>
      </p:sp>
      <p:sp>
        <p:nvSpPr>
          <p:cNvPr id="83985" name="Line 18">
            <a:extLst>
              <a:ext uri="{FF2B5EF4-FFF2-40B4-BE49-F238E27FC236}">
                <a16:creationId xmlns:a16="http://schemas.microsoft.com/office/drawing/2014/main" id="{E5F991A2-1A84-F936-6F9A-5FE8355BD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2622550"/>
            <a:ext cx="2332038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6" name="Line 19">
            <a:extLst>
              <a:ext uri="{FF2B5EF4-FFF2-40B4-BE49-F238E27FC236}">
                <a16:creationId xmlns:a16="http://schemas.microsoft.com/office/drawing/2014/main" id="{601C648E-2413-F8B4-8D7E-2BE1003A59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9925" y="3717925"/>
            <a:ext cx="2422525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7" name="Line 20">
            <a:extLst>
              <a:ext uri="{FF2B5EF4-FFF2-40B4-BE49-F238E27FC236}">
                <a16:creationId xmlns:a16="http://schemas.microsoft.com/office/drawing/2014/main" id="{ED1C1C6B-0D5B-2623-CC7A-EC211F84C4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49475" y="4251325"/>
            <a:ext cx="4754563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88" name="Text Box 21">
            <a:extLst>
              <a:ext uri="{FF2B5EF4-FFF2-40B4-BE49-F238E27FC236}">
                <a16:creationId xmlns:a16="http://schemas.microsoft.com/office/drawing/2014/main" id="{5971831C-540E-C4E3-6757-C81793587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57181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3989" name="Line 22">
            <a:extLst>
              <a:ext uri="{FF2B5EF4-FFF2-40B4-BE49-F238E27FC236}">
                <a16:creationId xmlns:a16="http://schemas.microsoft.com/office/drawing/2014/main" id="{CD706DA2-7D86-18EB-02CF-6ED9CD53C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925" y="5089525"/>
            <a:ext cx="2332038" cy="0"/>
          </a:xfrm>
          <a:prstGeom prst="line">
            <a:avLst/>
          </a:prstGeom>
          <a:noFill/>
          <a:ln w="9525">
            <a:solidFill>
              <a:srgbClr val="00808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3990" name="Text Box 23">
            <a:extLst>
              <a:ext uri="{FF2B5EF4-FFF2-40B4-BE49-F238E27FC236}">
                <a16:creationId xmlns:a16="http://schemas.microsoft.com/office/drawing/2014/main" id="{5707EF73-064C-5EA1-C129-91F63146A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57324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53085EA4-2491-AAA3-F5B7-6B2889FB2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Authenticating the Responder-3</a:t>
            </a:r>
          </a:p>
        </p:txBody>
      </p:sp>
      <p:sp>
        <p:nvSpPr>
          <p:cNvPr id="86018" name="Rectangle 3">
            <a:extLst>
              <a:ext uri="{FF2B5EF4-FFF2-40B4-BE49-F238E27FC236}">
                <a16:creationId xmlns:a16="http://schemas.microsoft.com/office/drawing/2014/main" id="{7AF1A74A-1CE6-73B4-14EB-FBC49D0BA6C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property to be verified: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 Running_Responder.b.a.n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800" baseline="-25000">
                <a:solidFill>
                  <a:srgbClr val="00808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signal.Commit_Initiator.a.b.n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b.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</a:t>
            </a:r>
          </a:p>
          <a:p>
            <a:pPr algn="ctr"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possible Traces(System)</a:t>
            </a:r>
          </a:p>
          <a:p>
            <a:pPr algn="ctr">
              <a:buFont typeface="Wingdings" pitchFamily="2" charset="2"/>
              <a:buNone/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Again, this property can be verified automatically by checking the traces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65F19AD7-4602-7C5C-06CB-10A8727A23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6868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Forms of Authentication Objectives</a:t>
            </a: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94F3116B-CCAC-810B-BE5A-E84D9B06EB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240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From Sections 4 and 5 of Gavin Lowe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paper on </a:t>
            </a:r>
            <a:r>
              <a:rPr lang="ja-JP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hierarchy of authentication specifications</a:t>
            </a:r>
            <a:r>
              <a:rPr lang="ja-JP" altLang="en-US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Recap of specifications: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where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B-role: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Role of agent being authenticated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A-role: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Role of the recipient of authentication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ds: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data items agreed upon for authentication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identity of agent being autheticated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>
            <a:extLst>
              <a:ext uri="{FF2B5EF4-FFF2-40B4-BE49-F238E27FC236}">
                <a16:creationId xmlns:a16="http://schemas.microsoft.com/office/drawing/2014/main" id="{8D7B23BB-B398-8DF1-E7E3-094D0FE3EC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Authentication Agreements</a:t>
            </a:r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84A5507A-A7E7-8F45-CDCF-7045B7189D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signal.Running.B-role.B?A?d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’?d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en-US" altLang="ja-JP" sz="28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stop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Guarantees to agent A taking role A-role on data items 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 agent B taking B-role.</a:t>
            </a:r>
          </a:p>
          <a:p>
            <a:pPr>
              <a:lnSpc>
                <a:spcPct val="90000"/>
              </a:lnSpc>
            </a:pPr>
            <a:r>
              <a:rPr lang="en-US" altLang="en-US" sz="2800" u="sng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Objective: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all traces, </a:t>
            </a:r>
            <a:r>
              <a:rPr lang="en-US" altLang="en-US" sz="2800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precedes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2B2BFE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signal.Commit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Can be stated as a refinement statement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lang="en-US" altLang="en-US" sz="2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                      SYSTEM \ (</a:t>
            </a:r>
            <a:r>
              <a:rPr lang="el-GR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 </a:t>
            </a:r>
            <a:r>
              <a:rPr lang="en-US" altLang="en-US" sz="28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Agreement)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7234D05C-73C6-8F36-BC80-E6E1D2C7E1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Recall Trace Semantics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8E039782-2DC1-6202-A1D8-F896025374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382000" cy="4911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Recall: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 </a:t>
            </a:r>
            <a:r>
              <a:rPr lang="en-US" altLang="en-US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Q if </a:t>
            </a: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trace(Q)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trace(P)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P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\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S = removing all events in S from P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\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</a:t>
            </a:r>
            <a:r>
              <a:rPr lang="el-GR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-X) where X is </a:t>
            </a:r>
            <a:r>
              <a:rPr lang="en-US" altLang="en-US" sz="2400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  <a:cs typeface="Arial" panose="020B0604020202020204" pitchFamily="34" charset="0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Agreement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	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valid if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all symbols that 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do not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belong to the alphabet of Agreement are removed from system traces, then the remaining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 traces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must be a subset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of </a:t>
            </a:r>
            <a:r>
              <a:rPr lang="en-US" altLang="en-US" sz="2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traces satisfying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Written as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or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>
            <a:extLst>
              <a:ext uri="{FF2B5EF4-FFF2-40B4-BE49-F238E27FC236}">
                <a16:creationId xmlns:a16="http://schemas.microsoft.com/office/drawing/2014/main" id="{BA1EC71E-AC3B-8460-B053-2B77767C0D8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77813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Common Format for Specification</a:t>
            </a:r>
          </a:p>
        </p:txBody>
      </p:sp>
      <p:sp>
        <p:nvSpPr>
          <p:cNvPr id="94210" name="Rectangle 3">
            <a:extLst>
              <a:ext uri="{FF2B5EF4-FFF2-40B4-BE49-F238E27FC236}">
                <a16:creationId xmlns:a16="http://schemas.microsoft.com/office/drawing/2014/main" id="{66CB7192-92AC-8EED-EE77-8EEC31D8E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95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SPEC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rgbClr val="FF66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⊑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(</a:t>
            </a:r>
            <a:r>
              <a:rPr lang="el-GR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-</a:t>
            </a:r>
            <a:r>
              <a:rPr lang="en-US" altLang="en-US">
                <a:solidFill>
                  <a:srgbClr val="00FF00"/>
                </a:solidFill>
                <a:effectLst/>
                <a:latin typeface="Symbol" pitchFamily="2" charset="2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STEM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Sometime written as: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Generalization:</a:t>
            </a:r>
          </a:p>
          <a:p>
            <a:pPr marL="457200" lvl="1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meets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Means: </a:t>
            </a:r>
          </a:p>
          <a:p>
            <a:pPr marL="457200" lvl="1" indent="0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(the agent being authenticated) performs at most n runs, and every commit event is matched by some run event</a:t>
            </a:r>
          </a:p>
          <a:p>
            <a:pPr>
              <a:lnSpc>
                <a:spcPct val="90000"/>
              </a:lnSpc>
            </a:pP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ACD4DE90-6CDB-481D-F2E8-23B593BAED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Generalizing Authentication</a:t>
            </a:r>
          </a:p>
        </p:txBody>
      </p:sp>
      <p:sp>
        <p:nvSpPr>
          <p:cNvPr id="96258" name="Rectangle 3">
            <a:extLst>
              <a:ext uri="{FF2B5EF4-FFF2-40B4-BE49-F238E27FC236}">
                <a16:creationId xmlns:a16="http://schemas.microsoft.com/office/drawing/2014/main" id="{CC274F94-2BCD-1E6B-4947-94982D7F9C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pPr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Notation: </a:t>
            </a:r>
            <a:r>
              <a:rPr lang="en-US" altLang="en-US" sz="12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Agreement(P,Q,R,S)(T)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P=role of agent being authenticated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Q=role of agent whom authentication is made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R=data items agreed upon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B= identity of the agent being authenticated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1,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Guarantees to agent A taking role A-role on data items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 agent B taking B-role.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Specification says that whenever A performs the event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signal.Running.B-role.?B?A?d’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B has previously performed the corresponding event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signal.Commit.A-role.A.B.d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endParaRPr lang="en-US" altLang="ja-JP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>
            <a:extLst>
              <a:ext uri="{FF2B5EF4-FFF2-40B4-BE49-F238E27FC236}">
                <a16:creationId xmlns:a16="http://schemas.microsoft.com/office/drawing/2014/main" id="{E503C35D-4AF0-AFC4-CD35-CFC64173ED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Generalizing Authentication - 2</a:t>
            </a:r>
          </a:p>
        </p:txBody>
      </p:sp>
      <p:sp>
        <p:nvSpPr>
          <p:cNvPr id="98306" name="Rectangle 3">
            <a:extLst>
              <a:ext uri="{FF2B5EF4-FFF2-40B4-BE49-F238E27FC236}">
                <a16:creationId xmlns:a16="http://schemas.microsoft.com/office/drawing/2014/main" id="{C48E75CB-40E2-8452-5148-B4F24FAE12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pPr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Notation: </a:t>
            </a:r>
            <a:r>
              <a:rPr lang="en-US" altLang="en-US" sz="12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Agreement(P,Q,R,S)(T)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P=role of agent being authenticated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Q=role of agent whom authentication is made 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R=data items agreed upon</a:t>
            </a:r>
          </a:p>
          <a:p>
            <a:pPr lvl="1">
              <a:lnSpc>
                <a:spcPct val="90000"/>
              </a:lnSpc>
            </a:pPr>
            <a:r>
              <a:rPr lang="en-US" altLang="en-US" sz="12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B= identity of the agent being authenticated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Commitment based on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but not d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Commit based on no data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Agreeement(B-role,A-role,{})(B) 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signal.Running.B-role.?B?A?d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?d”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?d’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42035ADA-62D2-72C9-E997-03E5D53333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Fact on 1-1 Agreements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46683B95-EEE5-CD95-B795-67BAA91838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ds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implies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1C0A201F-021C-5088-C444-80DAE90D91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Non-injective Agreements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747974CF-C11B-204A-B938-26E5488378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3820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previous agreements, runs of A and run of B had 1-1 correspondences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 A to commit an arbitrary number of times for on each run of B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NI-Agreement(B-role,A-role,{d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signal.Running.B-role.B.A.d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RUN({signal.Commit.A-role.A.B.d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ja-JP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2400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})  stop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One instance of Running by B-role, A-role runs as many runs as possible !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Similarly,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allows the protocol to be run at most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times, but allows any number of runs of </a:t>
            </a:r>
            <a:r>
              <a:rPr lang="en-US" altLang="en-US" sz="24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to match with a single run of </a:t>
            </a:r>
            <a:r>
              <a:rPr lang="en-US" altLang="en-US" sz="2400">
                <a:solidFill>
                  <a:srgbClr val="FFC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endParaRPr lang="en-US" altLang="en-US" sz="2400">
              <a:solidFill>
                <a:srgbClr val="FFC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E256618C-69A1-A8F3-FE7E-5ADECAB780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More properties of agreements</a:t>
            </a:r>
          </a:p>
        </p:txBody>
      </p:sp>
      <p:sp>
        <p:nvSpPr>
          <p:cNvPr id="104450" name="Rectangle 3">
            <a:extLst>
              <a:ext uri="{FF2B5EF4-FFF2-40B4-BE49-F238E27FC236}">
                <a16:creationId xmlns:a16="http://schemas.microsoft.com/office/drawing/2014/main" id="{9BBDA84F-E215-1A97-1CE7-AA06C27AC8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ds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en-US" baseline="-250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implies 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then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C66627C1-10A9-8913-C45B-8DCBD66F8A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weaker version of non-injectivity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61F4FA0C-187E-F235-38DE-48C18EC1A0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600200"/>
            <a:ext cx="8991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Agents agreeing on some data, not others: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Agreeement(B-role,A-role,{d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[signal.Running.B-role.B?A?d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?d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signal.Commit.A-role.A.B.d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1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.d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baseline="-25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 stop]</a:t>
            </a:r>
            <a:r>
              <a:rPr lang="en-US" altLang="ja-JP" baseline="300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n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Agreement completed in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n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runs, but each commit is matched by only one run.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34A2450C-4AD6-CAD7-92B1-671B95FCD9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 Agreements</a:t>
            </a:r>
          </a:p>
        </p:txBody>
      </p:sp>
      <p:sp>
        <p:nvSpPr>
          <p:cNvPr id="108546" name="Rectangle 3">
            <a:extLst>
              <a:ext uri="{FF2B5EF4-FFF2-40B4-BE49-F238E27FC236}">
                <a16:creationId xmlns:a16="http://schemas.microsoft.com/office/drawing/2014/main" id="{2A66DCAF-8BF9-EA96-A09F-9213904DE0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 guarantee on B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role and data</a:t>
            </a:r>
          </a:p>
          <a:p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WeakAgreement(A-role,{d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signal.Running?B-role!B?A?ds</a:t>
            </a:r>
            <a:r>
              <a:rPr lang="ja-JP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RUN({signal.Commit.A-role.A.B.ds|ds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∈Data*</a:t>
            </a:r>
            <a:r>
              <a:rPr lang="en-US" altLang="en-US" sz="28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})</a:t>
            </a: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	 stop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 completes play A-role an arbitrary number of runs if B runs at least once playing some role (?B-role) using some data values (?ds’)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73FA1A6C-B1C9-79C5-ADA9-09C8D02FDE8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 vs. Non-injective</a:t>
            </a:r>
          </a:p>
        </p:txBody>
      </p:sp>
      <p:sp>
        <p:nvSpPr>
          <p:cNvPr id="110594" name="Rectangle 3">
            <a:extLst>
              <a:ext uri="{FF2B5EF4-FFF2-40B4-BE49-F238E27FC236}">
                <a16:creationId xmlns:a16="http://schemas.microsoft.com/office/drawing/2014/main" id="{EDBA7047-1CAB-FF98-D860-E8A48E1960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specify a system satisfying a week agreement 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rounds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Suppose an agent B can run a maximum of m runs with role B-role and n runs with other roles: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NI-agreeement(B-role,A-role,ds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then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m+n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4F1BEB28-69EB-ED87-964F-6A0C4455A6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6F573F77-BEC7-CACA-757D-6CAE3FEB46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further weakening: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receives no guarantee that B was running the same protocol with A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that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was running the protocol with someone</a:t>
            </a:r>
          </a:p>
          <a:p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	RUN({signal.Commit.A-role.A.B.ds | 				ds∈Data* /\ A∈Agent })  Stop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Agreement: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SYSTEM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 sat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2A285CE8-BEDC-9F34-9AFA-33AA0EC1FE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 vs. Weak-agreement</a:t>
            </a:r>
          </a:p>
        </p:txBody>
      </p:sp>
      <p:sp>
        <p:nvSpPr>
          <p:cNvPr id="114690" name="Rectangle 3">
            <a:extLst>
              <a:ext uri="{FF2B5EF4-FFF2-40B4-BE49-F238E27FC236}">
                <a16:creationId xmlns:a16="http://schemas.microsoft.com/office/drawing/2014/main" id="{D932326B-5632-985A-F59C-788E6608D1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u="sng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Lemma: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If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SYSTEM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WeakAgreement(B-role,A-role,{d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,d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})(B)</a:t>
            </a:r>
            <a:r>
              <a:rPr lang="en-US" altLang="en-US" sz="24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SYSTEM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 sat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Aliveness(a-role)(B)</a:t>
            </a:r>
            <a:r>
              <a:rPr lang="en-US" altLang="en-US" sz="28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>
            <a:extLst>
              <a:ext uri="{FF2B5EF4-FFF2-40B4-BE49-F238E27FC236}">
                <a16:creationId xmlns:a16="http://schemas.microsoft.com/office/drawing/2014/main" id="{84B3AB59-0FA1-B855-4B6C-D200734548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Agreeing on the Protocol</a:t>
            </a:r>
          </a:p>
        </p:txBody>
      </p:sp>
      <p:sp>
        <p:nvSpPr>
          <p:cNvPr id="116738" name="Rectangle 3">
            <a:extLst>
              <a:ext uri="{FF2B5EF4-FFF2-40B4-BE49-F238E27FC236}">
                <a16:creationId xmlns:a16="http://schemas.microsoft.com/office/drawing/2014/main" id="{77EAE88C-D8B9-5982-BCF0-A0D2C7A676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759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 an extra field for the protocol ID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Running with the the same protocol ID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Aliveness(ProtId,A-role)(B)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signal.Running.protId?B-role!B?C?ds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RUN({signal.Commit.protId.A-role.A.B.ds| 		ds∈Data* /\ A∈Agent })  Stop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Running with different protocol IDs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Aliveness(?ProtId</a:t>
            </a:r>
            <a:r>
              <a:rPr lang="ja-JP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,A-role)(B) </a:t>
            </a:r>
            <a:r>
              <a:rPr lang="en-US" altLang="ja-JP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signal.Running.protId?B-role!B?C?ds</a:t>
            </a:r>
            <a:r>
              <a:rPr lang="ja-JP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	RUN({signal.Commit.protId.A-role.A.B.ds| 		ds∈Data* /\ A∈Agent })  Stop</a:t>
            </a:r>
          </a:p>
          <a:p>
            <a:pPr>
              <a:lnSpc>
                <a:spcPct val="80000"/>
              </a:lnSpc>
            </a:pP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>
            <a:extLst>
              <a:ext uri="{FF2B5EF4-FFF2-40B4-BE49-F238E27FC236}">
                <a16:creationId xmlns:a16="http://schemas.microsoft.com/office/drawing/2014/main" id="{1260C436-C9C9-0C24-B1C7-BB565333D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Recentness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37A44CA-C919-46F2-6E42-D1A5E97C88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229600" cy="4911725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Two approaches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</a:rPr>
              <a:t>Using </a:t>
            </a:r>
            <a:r>
              <a:rPr lang="en-US" dirty="0" err="1">
                <a:effectLst/>
                <a:ea typeface="ＭＳ Ｐゴシック" charset="0"/>
              </a:rPr>
              <a:t>nonces</a:t>
            </a:r>
            <a:endParaRPr lang="en-US" dirty="0">
              <a:effectLst/>
              <a:ea typeface="ＭＳ Ｐゴシック" charset="0"/>
            </a:endParaRP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</a:rPr>
              <a:t>Using time</a:t>
            </a: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Need another field in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agreements: </a:t>
            </a:r>
          </a:p>
          <a:p>
            <a:pPr marL="0" indent="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8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	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Agreement(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Resp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-Role,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Init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-role, {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N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,N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})(Bob)</a:t>
            </a:r>
            <a:r>
              <a:rPr lang="en-US" sz="2400" baseline="30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endParaRPr lang="en-US" sz="2400" dirty="0">
              <a:effectLst/>
              <a:ea typeface="ＭＳ Ｐゴシック" charset="0"/>
              <a:cs typeface="ＭＳ Ｐゴシック" charset="0"/>
            </a:endParaRP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An initiator A completes a run of the protocol apparently with Bob using </a:t>
            </a:r>
            <a:r>
              <a:rPr lang="en-US" sz="2400" dirty="0" err="1">
                <a:effectLst/>
                <a:ea typeface="ＭＳ Ｐゴシック" charset="0"/>
                <a:cs typeface="ＭＳ Ｐゴシック" charset="0"/>
              </a:rPr>
              <a:t>nonces</a:t>
            </a: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effectLst/>
                <a:ea typeface="ＭＳ Ｐゴシック" charset="0"/>
              </a:rPr>
              <a:t>N</a:t>
            </a:r>
            <a:r>
              <a:rPr lang="en-US" sz="2400" baseline="-25000" dirty="0">
                <a:effectLst/>
                <a:ea typeface="ＭＳ Ｐゴシック" charset="0"/>
              </a:rPr>
              <a:t>a</a:t>
            </a:r>
            <a:r>
              <a:rPr lang="en-US" sz="2400" dirty="0">
                <a:effectLst/>
                <a:ea typeface="ＭＳ Ｐゴシック" charset="0"/>
              </a:rPr>
              <a:t> and </a:t>
            </a:r>
            <a:r>
              <a:rPr lang="en-US" sz="2400" dirty="0" err="1">
                <a:effectLst/>
                <a:ea typeface="ＭＳ Ｐゴシック" charset="0"/>
              </a:rPr>
              <a:t>N</a:t>
            </a:r>
            <a:r>
              <a:rPr lang="en-US" sz="2400" baseline="-25000" dirty="0" err="1">
                <a:effectLst/>
                <a:ea typeface="ＭＳ Ｐゴシック" charset="0"/>
              </a:rPr>
              <a:t>b</a:t>
            </a:r>
            <a:r>
              <a:rPr lang="en-US" sz="2400" dirty="0">
                <a:effectLst/>
                <a:ea typeface="ＭＳ Ｐゴシック" charset="0"/>
              </a:rPr>
              <a:t> and Bob ran the protocol apparently with the initiator using N</a:t>
            </a:r>
            <a:r>
              <a:rPr lang="en-US" sz="2400" baseline="-25000" dirty="0">
                <a:effectLst/>
                <a:ea typeface="ＭＳ Ｐゴシック" charset="0"/>
              </a:rPr>
              <a:t>a</a:t>
            </a:r>
            <a:r>
              <a:rPr lang="en-US" sz="2400" dirty="0">
                <a:effectLst/>
                <a:ea typeface="ＭＳ Ｐゴシック" charset="0"/>
              </a:rPr>
              <a:t> and </a:t>
            </a:r>
            <a:r>
              <a:rPr lang="en-US" sz="2400" dirty="0" err="1">
                <a:effectLst/>
                <a:ea typeface="ＭＳ Ｐゴシック" charset="0"/>
              </a:rPr>
              <a:t>N</a:t>
            </a:r>
            <a:r>
              <a:rPr lang="en-US" sz="2400" baseline="-25000" dirty="0" err="1">
                <a:effectLst/>
                <a:ea typeface="ＭＳ Ｐゴシック" charset="0"/>
              </a:rPr>
              <a:t>b</a:t>
            </a:r>
            <a:r>
              <a:rPr lang="en-US" sz="2400" dirty="0">
                <a:effectLst/>
                <a:ea typeface="ＭＳ Ｐゴシック" charset="0"/>
              </a:rPr>
              <a:t> </a:t>
            </a:r>
            <a:endParaRPr lang="en-US" sz="2400" dirty="0">
              <a:effectLst/>
              <a:ea typeface="ＭＳ Ｐゴシック" charset="0"/>
              <a:cs typeface="ＭＳ Ｐゴシック" charset="0"/>
            </a:endParaRP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effectLst/>
                <a:ea typeface="ＭＳ Ｐゴシック" charset="0"/>
                <a:cs typeface="ＭＳ Ｐゴシック" charset="0"/>
              </a:rPr>
              <a:t>Assumptions: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</a:rPr>
              <a:t>A and B invented </a:t>
            </a:r>
            <a:r>
              <a:rPr lang="en-US" sz="2000" dirty="0" err="1">
                <a:effectLst/>
                <a:ea typeface="ＭＳ Ｐゴシック" charset="0"/>
              </a:rPr>
              <a:t>Nonces</a:t>
            </a:r>
            <a:r>
              <a:rPr lang="en-US" sz="2000" dirty="0">
                <a:effectLst/>
                <a:ea typeface="ＭＳ Ｐゴシック" charset="0"/>
              </a:rPr>
              <a:t> N</a:t>
            </a:r>
            <a:r>
              <a:rPr lang="en-US" sz="2000" baseline="-25000" dirty="0">
                <a:effectLst/>
                <a:ea typeface="ＭＳ Ｐゴシック" charset="0"/>
              </a:rPr>
              <a:t>a</a:t>
            </a:r>
            <a:r>
              <a:rPr lang="en-US" sz="2000" dirty="0">
                <a:effectLst/>
                <a:ea typeface="ＭＳ Ｐゴシック" charset="0"/>
              </a:rPr>
              <a:t> and </a:t>
            </a:r>
            <a:r>
              <a:rPr lang="en-US" sz="2000" dirty="0" err="1">
                <a:effectLst/>
                <a:ea typeface="ＭＳ Ｐゴシック" charset="0"/>
              </a:rPr>
              <a:t>N</a:t>
            </a:r>
            <a:r>
              <a:rPr lang="en-US" sz="2000" baseline="-25000" dirty="0" err="1">
                <a:effectLst/>
                <a:ea typeface="ＭＳ Ｐゴシック" charset="0"/>
              </a:rPr>
              <a:t>b</a:t>
            </a:r>
            <a:r>
              <a:rPr lang="en-US" sz="2000" dirty="0">
                <a:effectLst/>
                <a:ea typeface="ＭＳ Ｐゴシック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effectLst/>
                <a:ea typeface="ＭＳ Ｐゴシック" charset="0"/>
              </a:rPr>
              <a:t>not too distant</a:t>
            </a:r>
            <a:r>
              <a:rPr lang="en-US" sz="2000" dirty="0">
                <a:effectLst/>
                <a:ea typeface="ＭＳ Ｐゴシック" charset="0"/>
              </a:rPr>
              <a:t> in the past</a:t>
            </a:r>
          </a:p>
          <a:p>
            <a:pPr lvl="1"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000" dirty="0" err="1">
                <a:effectLst/>
                <a:ea typeface="ＭＳ Ｐゴシック" charset="0"/>
              </a:rPr>
              <a:t>Nonces</a:t>
            </a:r>
            <a:r>
              <a:rPr lang="en-US" sz="2000" dirty="0">
                <a:effectLst/>
                <a:ea typeface="ＭＳ Ｐゴシック" charset="0"/>
              </a:rPr>
              <a:t> are new; i.e. have not been used in the recent past</a:t>
            </a:r>
          </a:p>
          <a:p>
            <a:pPr>
              <a:spcBef>
                <a:spcPts val="0"/>
              </a:spcBef>
              <a:buFont typeface="Wingdings" charset="0"/>
              <a:buChar char="l"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</a:rPr>
              <a:t>The problem is how recently were the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</a:rPr>
              <a:t>nonces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</a:rPr>
              <a:t> created?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388FC021-AEF3-E16F-2032-39227121D0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 Alternative: Timed Authentication</a:t>
            </a:r>
          </a:p>
        </p:txBody>
      </p:sp>
      <p:sp>
        <p:nvSpPr>
          <p:cNvPr id="120834" name="Rectangle 3">
            <a:extLst>
              <a:ext uri="{FF2B5EF4-FFF2-40B4-BE49-F238E27FC236}">
                <a16:creationId xmlns:a16="http://schemas.microsoft.com/office/drawing/2014/main" id="{73716992-4EA4-A744-7E77-73CDF9003B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47800"/>
            <a:ext cx="84582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Requires a discrete clock where passage of one unit of time is represented with a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Objective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Whenever A commits a session apparently with B, then B was running the protocol within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AuthTime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tocks.</a:t>
            </a:r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>
            <a:extLst>
              <a:ext uri="{FF2B5EF4-FFF2-40B4-BE49-F238E27FC236}">
                <a16:creationId xmlns:a16="http://schemas.microsoft.com/office/drawing/2014/main" id="{669E1A5E-EA18-E9FB-81D6-1701621785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 Authentication </a:t>
            </a:r>
          </a:p>
        </p:txBody>
      </p:sp>
      <p:sp>
        <p:nvSpPr>
          <p:cNvPr id="122882" name="Rectangle 3">
            <a:extLst>
              <a:ext uri="{FF2B5EF4-FFF2-40B4-BE49-F238E27FC236}">
                <a16:creationId xmlns:a16="http://schemas.microsoft.com/office/drawing/2014/main" id="{7910FB1E-40A4-3575-64A1-EF897BA551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10600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authenticate within a time window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AuthTime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agent has a built-in timeout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MaxRunTime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Add timeouts to un-timed versions of authentication objectives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0E528BA8-0FD4-3286-FC89-243862F034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Clocks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744D477-8EB9-D73D-F455-1BD711B90E6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90600"/>
            <a:ext cx="8610600" cy="5410200"/>
          </a:xfr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1.Define auxhilliary (alarm clock) processes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Tock(n):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performs at most n tocks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Tock(n)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If n= 0 then SKIP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   	else (tock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Tock(n-1)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SKIP),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TSKIP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TSKIP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SKIP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2. Make an unlimited agent P run only for MaxRunTime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AddTime(P,MaxRunTime) 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tock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  <a:sym typeface="Wingdings" pitchFamily="2" charset="2"/>
              </a:rPr>
              <a:t>AddTime(P,MaxRunTime) </a:t>
            </a:r>
            <a:r>
              <a:rPr lang="en-US" altLang="en-US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□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	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( (P ||| Tock(MaxRunTime) ) </a:t>
            </a:r>
            <a:r>
              <a:rPr lang="el-GR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Δ</a:t>
            </a:r>
            <a:r>
              <a:rPr lang="en-US" altLang="en-US" sz="2800">
                <a:solidFill>
                  <a:srgbClr val="CCFFCC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tockTSKIP)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Q </a:t>
            </a:r>
            <a:r>
              <a:rPr lang="el-GR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Δ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P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initially acts like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Q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but on receiving interrupt act like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P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3. Replace P with AddTime(P,MaxRuntime)</a:t>
            </a:r>
            <a:endParaRPr lang="el-GR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9DB724F5-A6DD-40D0-68F7-F8DF9CA7D2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 Authentication</a:t>
            </a:r>
          </a:p>
        </p:txBody>
      </p:sp>
      <p:sp>
        <p:nvSpPr>
          <p:cNvPr id="126978" name="Rectangle 3">
            <a:extLst>
              <a:ext uri="{FF2B5EF4-FFF2-40B4-BE49-F238E27FC236}">
                <a16:creationId xmlns:a16="http://schemas.microsoft.com/office/drawing/2014/main" id="{EB34E449-9D3C-F6DB-2596-01254FD1CF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</a:t>
            </a:r>
          </a:p>
          <a:p>
            <a:pPr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AddTime(Agreement(B-role,A-role,ds)(B),AuthTime)</a:t>
            </a:r>
            <a:endParaRPr lang="en-US" altLang="en-US" sz="2400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The process allows at most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AuthTime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tocks to occur between the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Running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Commit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events – i.e. during the execution </a:t>
            </a: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Agreement(B-role,A-Role,ds).</a:t>
            </a:r>
            <a:endParaRPr lang="en-US" altLang="en-US" sz="2400"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Specification: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</a:t>
            </a:r>
            <a:r>
              <a:rPr lang="en-US" altLang="en-US" sz="20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  <a:p>
            <a:pPr>
              <a:spcBef>
                <a:spcPct val="0"/>
              </a:spcBef>
            </a:pPr>
            <a:r>
              <a:rPr lang="en-US" altLang="en-US" sz="2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Need to redefine: 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P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16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P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……. |||</a:t>
            </a:r>
            <a:r>
              <a:rPr lang="en-US" altLang="en-US" sz="16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{tock}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P</a:t>
            </a:r>
          </a:p>
          <a:p>
            <a:pPr lvl="1">
              <a:spcBef>
                <a:spcPct val="0"/>
              </a:spcBef>
            </a:pP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Using equations: 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0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=RUN({tock}), 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n+1</a:t>
            </a:r>
            <a:r>
              <a:rPr lang="en-US" altLang="en-US" sz="2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=P||P</a:t>
            </a:r>
            <a:r>
              <a:rPr lang="en-US" altLang="en-US" sz="2000" baseline="30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</a:t>
            </a:r>
          </a:p>
          <a:p>
            <a:pPr>
              <a:spcBef>
                <a:spcPct val="0"/>
              </a:spcBef>
            </a:pPr>
            <a:r>
              <a:rPr lang="en-US" altLang="en-US" sz="2400">
                <a:solidFill>
                  <a:srgbClr val="CCFFCC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Why?: all processes need to synchronize on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tock</a:t>
            </a:r>
          </a:p>
          <a:p>
            <a:pPr>
              <a:spcBef>
                <a:spcPct val="0"/>
              </a:spcBef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Other un-timed specifications can be enriched to have timed versions</a:t>
            </a:r>
            <a:endParaRPr lang="en-US" altLang="en-US" sz="2400">
              <a:solidFill>
                <a:srgbClr val="FFFF00"/>
              </a:solidFill>
              <a:effectLst/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>
            <a:extLst>
              <a:ext uri="{FF2B5EF4-FFF2-40B4-BE49-F238E27FC236}">
                <a16:creationId xmlns:a16="http://schemas.microsoft.com/office/drawing/2014/main" id="{186EE3CC-5687-D258-2BCA-8C2BDD8578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Properties of timed Authentication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DA6C674-D7C2-B58E-8B63-DC2CB759EE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ds</a:t>
            </a:r>
            <a:r>
              <a:rPr lang="ja-JP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⊆ ds</a:t>
            </a:r>
            <a:r>
              <a:rPr lang="en-US" altLang="ja-JP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</a:t>
            </a:r>
          </a:p>
          <a:p>
            <a:pPr>
              <a:buFont typeface="Wingdings" pitchFamily="2" charset="2"/>
              <a:buNone/>
            </a:pPr>
            <a:r>
              <a:rPr lang="en-US" altLang="en-US" sz="1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  If</a:t>
            </a:r>
            <a:r>
              <a:rPr lang="en-US" altLang="en-US" sz="1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SYSTEM</a:t>
            </a:r>
            <a:r>
              <a:rPr lang="en-US" altLang="en-US" sz="1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18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TimedAgreeement(B-role,A-role,ds,AuthTime)(B)</a:t>
            </a:r>
            <a:r>
              <a:rPr lang="en-US" altLang="en-US" sz="18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r>
              <a:rPr lang="en-US" altLang="en-US" sz="1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then</a:t>
            </a:r>
          </a:p>
          <a:p>
            <a:pPr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SYSTEM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 sz="2000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TimedAgreeement(B-role,A-role,ds</a:t>
            </a:r>
            <a:r>
              <a:rPr lang="ja-JP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,AuthTime)(B)</a:t>
            </a:r>
            <a:r>
              <a:rPr lang="en-US" altLang="ja-JP" sz="2000" baseline="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  <a:endParaRPr lang="en-US" altLang="ja-JP" sz="2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Similar results hold for other timed versions of 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TimedNonInjectiveAgreement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TimedWeakAgreement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TimedAliveness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>
            <a:extLst>
              <a:ext uri="{FF2B5EF4-FFF2-40B4-BE49-F238E27FC236}">
                <a16:creationId xmlns:a16="http://schemas.microsoft.com/office/drawing/2014/main" id="{2217B745-BE22-D1E9-023E-99A89C8859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Monotonicity of Timed Specs</a:t>
            </a:r>
          </a:p>
        </p:txBody>
      </p:sp>
      <p:sp>
        <p:nvSpPr>
          <p:cNvPr id="131074" name="Rectangle 3">
            <a:extLst>
              <a:ext uri="{FF2B5EF4-FFF2-40B4-BE49-F238E27FC236}">
                <a16:creationId xmlns:a16="http://schemas.microsoft.com/office/drawing/2014/main" id="{41C38B97-C8DD-5566-03E4-42BD7E042D8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TimedSpec(_) stands for any of the specified timed authentication specifications 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 &lt; t</a:t>
            </a:r>
            <a:r>
              <a:rPr lang="ja-JP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</a:t>
            </a:r>
            <a:r>
              <a:rPr lang="en-US" altLang="ja-JP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</a:t>
            </a:r>
            <a:r>
              <a:rPr lang="ja-JP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2">
            <a:extLst>
              <a:ext uri="{FF2B5EF4-FFF2-40B4-BE49-F238E27FC236}">
                <a16:creationId xmlns:a16="http://schemas.microsoft.com/office/drawing/2014/main" id="{5CAEA5C6-8368-C492-0F1D-27C95B49BA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Un-timed vs. Timed Specs</a:t>
            </a:r>
          </a:p>
        </p:txBody>
      </p:sp>
      <p:sp>
        <p:nvSpPr>
          <p:cNvPr id="133122" name="Rectangle 3">
            <a:extLst>
              <a:ext uri="{FF2B5EF4-FFF2-40B4-BE49-F238E27FC236}">
                <a16:creationId xmlns:a16="http://schemas.microsoft.com/office/drawing/2014/main" id="{8305CEF9-C243-1280-80A3-7FE4CB945B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Suppose TimedSpec(_) is the timed version of Spec(_) and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TimedSpec(t,_)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then,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solidFill>
                  <a:srgbClr val="FF00FF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Spec(_)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4">
            <a:extLst>
              <a:ext uri="{FF2B5EF4-FFF2-40B4-BE49-F238E27FC236}">
                <a16:creationId xmlns:a16="http://schemas.microsoft.com/office/drawing/2014/main" id="{046BC6BB-CB21-7ADA-DC12-2381A9AF07A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>
            <a:extLst>
              <a:ext uri="{FF2B5EF4-FFF2-40B4-BE49-F238E27FC236}">
                <a16:creationId xmlns:a16="http://schemas.microsoft.com/office/drawing/2014/main" id="{7DC84010-F58B-674B-9389-0FB1BD7E3B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Objectives</a:t>
            </a:r>
          </a:p>
        </p:txBody>
      </p:sp>
      <p:sp>
        <p:nvSpPr>
          <p:cNvPr id="137218" name="Rectangle 3">
            <a:extLst>
              <a:ext uri="{FF2B5EF4-FFF2-40B4-BE49-F238E27FC236}">
                <a16:creationId xmlns:a16="http://schemas.microsoft.com/office/drawing/2014/main" id="{CFCD0B9F-5EDA-0EDB-DFD6-F2320C7A748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229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Provide the parties of an interaction with evidence so that later they cannot deny having participated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Participants  and trust: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May not trust each-other.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Different from previous models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derive facts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Attackers are different: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Could live in the media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Participants could be attackers.</a:t>
            </a:r>
            <a:endParaRPr lang="en-US" altLang="en-US" sz="24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>
            <a:extLst>
              <a:ext uri="{FF2B5EF4-FFF2-40B4-BE49-F238E27FC236}">
                <a16:creationId xmlns:a16="http://schemas.microsoft.com/office/drawing/2014/main" id="{BC5BED68-5CDB-3C2C-4C65-A3B0F2D429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89154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and Arguments of Evidence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3332B299-51C1-DEFE-4671-F0236A13CF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077200" cy="4876800"/>
          </a:xfrm>
        </p:spPr>
        <p:txBody>
          <a:bodyPr/>
          <a:lstStyle/>
          <a:p>
            <a:pPr marL="533400" indent="-533400">
              <a:buFont typeface="Wingdings" charset="0"/>
              <a:buChar char="l"/>
              <a:defRPr/>
            </a:pP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evidence.a.m</a:t>
            </a:r>
            <a:r>
              <a:rPr lang="en-US" sz="2400" dirty="0">
                <a:solidFill>
                  <a:srgbClr val="FF00FF"/>
                </a:solidFill>
                <a:effectLst/>
                <a:ea typeface="ＭＳ Ｐゴシック" charset="0"/>
                <a:cs typeface="ＭＳ Ｐゴシック" charset="0"/>
              </a:rPr>
              <a:t>: agent </a:t>
            </a:r>
            <a:r>
              <a:rPr lang="en-US" sz="24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FF00FF"/>
                </a:solidFill>
                <a:effectLst/>
                <a:ea typeface="ＭＳ Ｐゴシック" charset="0"/>
                <a:cs typeface="ＭＳ Ｐゴシック" charset="0"/>
              </a:rPr>
              <a:t> signals receipt of evidence of message </a:t>
            </a:r>
            <a:r>
              <a:rPr lang="en-US" sz="24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≡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  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□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Arial" charset="0"/>
              </a:rPr>
              <a:t>{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, 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51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S</a:t>
            </a:r>
            <a:r>
              <a:rPr lang="en-US" sz="2400" baseline="-51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}</a:t>
            </a:r>
            <a:r>
              <a:rPr lang="en-US" sz="2400" baseline="-510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send.a.b.m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  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□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receive?b.a?m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</a:t>
            </a:r>
            <a:r>
              <a:rPr lang="en-US" sz="2400" dirty="0">
                <a:solidFill>
                  <a:schemeClr val="accent1"/>
                </a:solidFill>
                <a:effectLst/>
                <a:ea typeface="ＭＳ Ｐゴシック" charset="0"/>
                <a:cs typeface="ＭＳ Ｐゴシック" charset="0"/>
              </a:rPr>
              <a:t>close</a:t>
            </a:r>
            <a:r>
              <a:rPr lang="en-US" sz="2400" baseline="-25000" dirty="0">
                <a:solidFill>
                  <a:schemeClr val="accent1"/>
                </a:solidFill>
                <a:effectLst/>
                <a:ea typeface="ＭＳ Ｐゴシック" charset="0"/>
                <a:cs typeface="Arial" charset="0"/>
              </a:rPr>
              <a:t>├</a:t>
            </a:r>
            <a:r>
              <a:rPr lang="en-US" sz="2400" dirty="0">
                <a:solidFill>
                  <a:schemeClr val="accent1"/>
                </a:solidFill>
                <a:effectLst/>
                <a:ea typeface="ＭＳ Ｐゴシック" charset="0"/>
                <a:cs typeface="ＭＳ Ｐゴシック" charset="0"/>
              </a:rPr>
              <a:t>(S U {m})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)</a:t>
            </a:r>
          </a:p>
          <a:p>
            <a:pPr marL="533400" indent="-533400">
              <a:spcBef>
                <a:spcPts val="0"/>
              </a:spcBef>
              <a:buFont typeface="Wingdings" charset="0"/>
              <a:buNone/>
              <a:defRPr/>
            </a:pP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Arial" charset="0"/>
              </a:rPr>
              <a:t>    □ </a:t>
            </a:r>
            <a:r>
              <a:rPr lang="en-US" sz="2400" baseline="-25000" dirty="0">
                <a:solidFill>
                  <a:srgbClr val="FFFF00"/>
                </a:solidFill>
                <a:effectLst/>
                <a:ea typeface="ＭＳ Ｐゴシック" charset="0"/>
                <a:cs typeface="Arial" charset="0"/>
              </a:rPr>
              <a:t>{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400" baseline="-25000" dirty="0" err="1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S</a:t>
            </a:r>
            <a:r>
              <a:rPr lang="en-US" sz="2400" baseline="-250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}</a:t>
            </a:r>
            <a:r>
              <a:rPr lang="en-US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evidence.a.m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Agent</a:t>
            </a:r>
            <a:r>
              <a:rPr lang="en-US" sz="2400" baseline="-25000" dirty="0" err="1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i</a:t>
            </a:r>
            <a:r>
              <a:rPr lang="en-US" sz="2400" dirty="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(S)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An agent can send messages from data in S, receive messages (say m, and add it to its own knowledge) and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claim</a:t>
            </a: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 that it has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gathered evidence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The evidence is about the origin of messages, often in the form of a signed message.</a:t>
            </a:r>
          </a:p>
          <a:p>
            <a:pPr marL="533400" indent="-533400">
              <a:buFont typeface="Wingdings" charset="0"/>
              <a:buChar char="l"/>
              <a:defRPr/>
            </a:pPr>
            <a:r>
              <a:rPr lang="en-US" sz="2000" dirty="0">
                <a:effectLst/>
                <a:ea typeface="ＭＳ Ｐゴシック" charset="0"/>
                <a:cs typeface="ＭＳ Ｐゴシック" charset="0"/>
              </a:rPr>
              <a:t>Need to be strong enough to support the </a:t>
            </a:r>
            <a:r>
              <a:rPr lang="en-US" sz="20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claim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>
            <a:extLst>
              <a:ext uri="{FF2B5EF4-FFF2-40B4-BE49-F238E27FC236}">
                <a16:creationId xmlns:a16="http://schemas.microsoft.com/office/drawing/2014/main" id="{F9EF02D6-9B4D-2176-5281-9F70D2A2BC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89154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Signals and Arguments of Evidence</a:t>
            </a:r>
          </a:p>
        </p:txBody>
      </p:sp>
      <p:sp>
        <p:nvSpPr>
          <p:cNvPr id="141314" name="Rectangle 3">
            <a:extLst>
              <a:ext uri="{FF2B5EF4-FFF2-40B4-BE49-F238E27FC236}">
                <a16:creationId xmlns:a16="http://schemas.microsoft.com/office/drawing/2014/main" id="{B9001E1E-6691-2ADD-AAB9-32CF2786FA5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077200" cy="5181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≡(||| 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{a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 }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(IK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|| Medium(IK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))</a:t>
            </a:r>
            <a:endParaRPr lang="en-US" altLang="en-US" sz="2400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system consists of agents, and a medium that may or may not be reliable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may include private keys of agent A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Ik</a:t>
            </a:r>
            <a:r>
              <a:rPr lang="en-US" altLang="en-US" sz="24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depends on the medium. </a:t>
            </a: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medium can become an active intruder or merely collect messages that go on the wire.</a:t>
            </a:r>
          </a:p>
          <a:p>
            <a:pPr marL="533400" indent="-533400"/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Close</a:t>
            </a:r>
            <a:r>
              <a:rPr lang="en-US" altLang="en-US" sz="2400" baseline="-250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├</a:t>
            </a:r>
            <a:r>
              <a:rPr lang="en-US" altLang="en-US" sz="24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(S):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Deductive closure of knowledge</a:t>
            </a:r>
          </a:p>
          <a:p>
            <a:pPr marL="533400" indent="-533400"/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Argument: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evidence.a.m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b sent m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endParaRPr lang="en-US" altLang="ja-JP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  <a:p>
            <a:pPr marL="533400" indent="-533400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The non repudiation may require that the evidence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evidence.a.m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provides a guarantee that some other message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has been sent by 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>
            <a:extLst>
              <a:ext uri="{FF2B5EF4-FFF2-40B4-BE49-F238E27FC236}">
                <a16:creationId xmlns:a16="http://schemas.microsoft.com/office/drawing/2014/main" id="{11CA26C9-EA85-FBBF-EF31-D798EF3F0A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Sending and Agent Knowledge</a:t>
            </a:r>
          </a:p>
        </p:txBody>
      </p:sp>
      <p:sp>
        <p:nvSpPr>
          <p:cNvPr id="143362" name="Rectangle 3">
            <a:extLst>
              <a:ext uri="{FF2B5EF4-FFF2-40B4-BE49-F238E27FC236}">
                <a16:creationId xmlns:a16="http://schemas.microsoft.com/office/drawing/2014/main" id="{C3835E38-91D0-E2D5-5CDA-B0D466B5BE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sent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 </a:t>
            </a:r>
            <a:r>
              <a:rPr lang="en-US" altLang="en-US" sz="3600" b="1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m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:fact; b:Agent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			  send.a.b.m</a:t>
            </a:r>
            <a:r>
              <a:rPr lang="ja-JP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/\ (m</a:t>
            </a:r>
            <a:r>
              <a:rPr lang="ja-JP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contains </a:t>
            </a:r>
            <a:r>
              <a:rPr lang="en-US" altLang="ja-JP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Axioms for </a:t>
            </a:r>
            <a:r>
              <a:rPr lang="en-US" altLang="en-US" sz="36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contains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”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.m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”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 contains m</a:t>
            </a:r>
          </a:p>
          <a:p>
            <a:pPr>
              <a:lnSpc>
                <a:spcPct val="90000"/>
              </a:lnSpc>
            </a:pPr>
            <a:r>
              <a:rPr lang="en-US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Symbol" pitchFamily="2" charset="2"/>
              </a:rPr>
              <a:t> contains m 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 k(m</a:t>
            </a:r>
            <a:r>
              <a:rPr lang="ja-JP" altLang="en-US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’</a:t>
            </a:r>
            <a:r>
              <a:rPr lang="en-US" altLang="ja-JP" sz="3600"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) contains m</a:t>
            </a:r>
            <a:endParaRPr lang="en-US" altLang="en-US" sz="3600">
              <a:effectLst/>
              <a:latin typeface="Arial" panose="020B0604020202020204" pitchFamily="34" charset="0"/>
              <a:ea typeface="ＭＳ Ｐゴシック" panose="020B0600070205080204" pitchFamily="34" charset="-128"/>
              <a:sym typeface="Wingdings" pitchFamily="2" charset="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>
            <a:extLst>
              <a:ext uri="{FF2B5EF4-FFF2-40B4-BE49-F238E27FC236}">
                <a16:creationId xmlns:a16="http://schemas.microsoft.com/office/drawing/2014/main" id="{6FEFFDBE-2741-958D-502F-10EFCFF880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-1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E959895-04B3-1927-62AE-1A12773701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5257800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Objective: 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dirty="0">
                <a:effectLst/>
                <a:ea typeface="ＭＳ Ｐゴシック" charset="0"/>
                <a:cs typeface="ＭＳ Ｐゴシック" charset="0"/>
              </a:rPr>
              <a:t>Ag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ent</a:t>
            </a: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wants to send message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to agent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. 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Both parties to be able to obtain evidence that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was sent and received.</a:t>
            </a:r>
          </a:p>
          <a:p>
            <a:pPr marL="609600" indent="-6096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The protocol also wants to ensure fairness.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800" dirty="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Steps: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 message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m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encrypted using some 	 key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k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 is sent to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by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 a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.</a:t>
            </a:r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After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received the message, the key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k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 is sent using a trusted third party that has received evidence that </a:t>
            </a:r>
            <a:r>
              <a:rPr lang="en-US" sz="2800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b </a:t>
            </a:r>
            <a:r>
              <a:rPr lang="en-US" sz="2800" dirty="0">
                <a:effectLst/>
                <a:ea typeface="ＭＳ Ｐゴシック" charset="0"/>
                <a:cs typeface="ＭＳ Ｐゴシック" charset="0"/>
              </a:rPr>
              <a:t>got the message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r>
              <a:rPr lang="en-US" dirty="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	</a:t>
            </a:r>
            <a:r>
              <a:rPr lang="en-US" dirty="0">
                <a:effectLst/>
                <a:ea typeface="ＭＳ Ｐゴシック" charset="0"/>
                <a:cs typeface="ＭＳ Ｐゴシック" charset="0"/>
              </a:rPr>
              <a:t>	. </a:t>
            </a:r>
          </a:p>
          <a:p>
            <a:pPr marL="609600" indent="-609600">
              <a:lnSpc>
                <a:spcPct val="80000"/>
              </a:lnSpc>
              <a:buFont typeface="Wingdings" charset="0"/>
              <a:buNone/>
              <a:defRPr/>
            </a:pPr>
            <a:endParaRPr lang="en-US" dirty="0">
              <a:effectLst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2">
            <a:extLst>
              <a:ext uri="{FF2B5EF4-FFF2-40B4-BE49-F238E27FC236}">
                <a16:creationId xmlns:a16="http://schemas.microsoft.com/office/drawing/2014/main" id="{557A7A67-2961-0429-E040-419F8F8676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-2</a:t>
            </a:r>
          </a:p>
        </p:txBody>
      </p:sp>
      <p:sp>
        <p:nvSpPr>
          <p:cNvPr id="147458" name="Rectangle 3">
            <a:extLst>
              <a:ext uri="{FF2B5EF4-FFF2-40B4-BE49-F238E27FC236}">
                <a16:creationId xmlns:a16="http://schemas.microsoft.com/office/drawing/2014/main" id="{8D6A72A2-9E75-918C-640A-073A229F5D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1   a -&gt; b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.b.l.k(m)}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an encrypted msg  C=k(m) with run l, recipient name b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2   b -&gt; a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.a.l.k(m)}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signed record with sender a, run l and ciphertext C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3   a 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send encryption key k to the server 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4   b &lt;-&gt;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b uses ftp-get to retrieve a signed record of a, b, l and k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Message 5   a &lt;-&gt; j :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{f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1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1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// a uses ftp-get retrieve a signed record of a, b, l and k</a:t>
            </a:r>
          </a:p>
          <a:p>
            <a:pPr marL="609600" indent="-609600">
              <a:lnSpc>
                <a:spcPct val="80000"/>
              </a:lnSpc>
              <a:buFont typeface="Wingdings" pitchFamily="2" charset="2"/>
              <a:buNone/>
            </a:pPr>
            <a:endParaRPr lang="en-US" altLang="en-US" sz="16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plaintext message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=encryption key 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the ciphertext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=originator,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=recipient,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=trusted server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f 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 </a:t>
            </a: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protocol steps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 protocol run ID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16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16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=a</a:t>
            </a:r>
            <a:r>
              <a:rPr lang="ja-JP" altLang="en-US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16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private  key</a:t>
            </a:r>
            <a:endParaRPr lang="en-US" altLang="en-US" sz="16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2">
            <a:extLst>
              <a:ext uri="{FF2B5EF4-FFF2-40B4-BE49-F238E27FC236}">
                <a16:creationId xmlns:a16="http://schemas.microsoft.com/office/drawing/2014/main" id="{B851BE5B-19FC-D3B4-45DF-D59BB0FF41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Properties of Zhou-Gollmann - 3</a:t>
            </a:r>
          </a:p>
        </p:txBody>
      </p:sp>
      <p:sp>
        <p:nvSpPr>
          <p:cNvPr id="149506" name="Rectangle 3">
            <a:extLst>
              <a:ext uri="{FF2B5EF4-FFF2-40B4-BE49-F238E27FC236}">
                <a16:creationId xmlns:a16="http://schemas.microsoft.com/office/drawing/2014/main" id="{AB8578B5-42C7-A477-47CE-7E1686A51E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use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 a, l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to argue that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K(m)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was sent in run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by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responds with a signed record that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k(m)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was received in run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sends key k to the trusted server with label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sends a wrong key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k</a:t>
            </a:r>
            <a:r>
              <a:rPr lang="ja-JP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tries to obtain evidence, then, </a:t>
            </a:r>
            <a:r>
              <a:rPr lang="en-US" altLang="ja-JP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will not send it.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will receive signed records of receipts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from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 </a:t>
            </a:r>
            <a:endParaRPr lang="en-US" altLang="en-US" sz="20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>
            <a:extLst>
              <a:ext uri="{FF2B5EF4-FFF2-40B4-BE49-F238E27FC236}">
                <a16:creationId xmlns:a16="http://schemas.microsoft.com/office/drawing/2014/main" id="{BC5641EC-5E40-7622-3B28-9A78016DFB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-3</a:t>
            </a:r>
          </a:p>
        </p:txBody>
      </p:sp>
      <p:sp>
        <p:nvSpPr>
          <p:cNvPr id="151554" name="Rectangle 3">
            <a:extLst>
              <a:ext uri="{FF2B5EF4-FFF2-40B4-BE49-F238E27FC236}">
                <a16:creationId xmlns:a16="http://schemas.microsoft.com/office/drawing/2014/main" id="{85BE67BD-365B-3F56-76B6-1E1C4B3D7B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ja-JP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claims of non-repudiation by B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of Receipt: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prove that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has got the message by presenting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{f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.a.l.k(m)}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 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message was received by b</a:t>
            </a:r>
            <a:endParaRPr lang="en-US" altLang="en-US" sz="2400" baseline="-30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 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{f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4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4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4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endParaRPr lang="en-US" altLang="en-US" sz="2400">
              <a:solidFill>
                <a:srgbClr val="FF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key k was deposited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terms of the evidence signal (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NRR(tr)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is 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b sent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endParaRPr lang="en-US" altLang="en-US" sz="20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evidence.a.{f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receive.a.j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.b.l.k(m)}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endParaRPr lang="en-US" altLang="en-US" sz="20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sz="2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>
            <a:extLst>
              <a:ext uri="{FF2B5EF4-FFF2-40B4-BE49-F238E27FC236}">
                <a16:creationId xmlns:a16="http://schemas.microsoft.com/office/drawing/2014/main" id="{5E0BC71F-1A91-1252-10D4-459E8B9EDF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82296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Protocol -4</a:t>
            </a:r>
          </a:p>
        </p:txBody>
      </p:sp>
      <p:sp>
        <p:nvSpPr>
          <p:cNvPr id="153602" name="Rectangle 3">
            <a:extLst>
              <a:ext uri="{FF2B5EF4-FFF2-40B4-BE49-F238E27FC236}">
                <a16:creationId xmlns:a16="http://schemas.microsoft.com/office/drawing/2014/main" id="{80E68363-C51F-44C5-7BBC-DA5282622E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5344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ja-JP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claim of non-repudiation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Non-Repudiation of Origin: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can prove that 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has sent the message by presenting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{f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.b.l.k(m)}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a sent the msg k(m)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and  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{f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8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800" baseline="-25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800" baseline="-30000">
                <a:solidFill>
                  <a:schemeClr val="folHlink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// key k was deposited</a:t>
            </a:r>
          </a:p>
          <a:p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terms of the evidence signal  (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NRO(tr)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is: 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evidence.b.{f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.b.l.k(m)}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SKa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a sent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.a.l.k(m)}</a:t>
            </a:r>
            <a:endParaRPr lang="en-US" altLang="en-US" sz="2400" baseline="-250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evidence.b.{f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.a.b.l.k(m)}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SKj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tr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sym typeface="Wingdings" pitchFamily="2" charset="2"/>
              </a:rPr>
              <a:t> a sent.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</a:t>
            </a:r>
            <a:r>
              <a:rPr lang="en-US" altLang="en-US" sz="24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.b.l.k</a:t>
            </a:r>
          </a:p>
          <a:p>
            <a:pPr>
              <a:buFont typeface="Wingdings" pitchFamily="2" charset="2"/>
              <a:buNone/>
            </a:pPr>
            <a:endParaRPr lang="en-US" altLang="en-US" sz="2800" baseline="-30000">
              <a:solidFill>
                <a:schemeClr val="folHlink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AutoShape 2">
            <a:extLst>
              <a:ext uri="{FF2B5EF4-FFF2-40B4-BE49-F238E27FC236}">
                <a16:creationId xmlns:a16="http://schemas.microsoft.com/office/drawing/2014/main" id="{F3C5AE1D-EF11-F3C0-569C-9E296D63A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00600"/>
            <a:ext cx="2117725" cy="823913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en-US">
              <a:solidFill>
                <a:schemeClr val="accent1"/>
              </a:solidFill>
              <a:latin typeface="Tahoma" panose="020B0604030504040204" pitchFamily="34" charset="0"/>
            </a:endParaRPr>
          </a:p>
        </p:txBody>
      </p:sp>
      <p:sp>
        <p:nvSpPr>
          <p:cNvPr id="155650" name="Oval 3">
            <a:extLst>
              <a:ext uri="{FF2B5EF4-FFF2-40B4-BE49-F238E27FC236}">
                <a16:creationId xmlns:a16="http://schemas.microsoft.com/office/drawing/2014/main" id="{CCF29478-AD39-8A3A-9245-DD6E3891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048000"/>
            <a:ext cx="641350" cy="669925"/>
          </a:xfrm>
          <a:prstGeom prst="ellipse">
            <a:avLst/>
          </a:prstGeom>
          <a:solidFill>
            <a:srgbClr val="FF7C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J</a:t>
            </a:r>
          </a:p>
        </p:txBody>
      </p:sp>
      <p:sp>
        <p:nvSpPr>
          <p:cNvPr id="155651" name="Oval 4">
            <a:extLst>
              <a:ext uri="{FF2B5EF4-FFF2-40B4-BE49-F238E27FC236}">
                <a16:creationId xmlns:a16="http://schemas.microsoft.com/office/drawing/2014/main" id="{241804B2-F4A8-64F1-104B-3231680E2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981200"/>
            <a:ext cx="641350" cy="669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55652" name="Oval 5">
            <a:extLst>
              <a:ext uri="{FF2B5EF4-FFF2-40B4-BE49-F238E27FC236}">
                <a16:creationId xmlns:a16="http://schemas.microsoft.com/office/drawing/2014/main" id="{7152AB01-645E-48F0-7495-C065E0CAE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981200"/>
            <a:ext cx="641350" cy="6699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latin typeface="Tahoma" panose="020B0604030504040204" pitchFamily="34" charset="0"/>
              </a:rPr>
              <a:t>b</a:t>
            </a:r>
          </a:p>
        </p:txBody>
      </p:sp>
      <p:cxnSp>
        <p:nvCxnSpPr>
          <p:cNvPr id="155653" name="AutoShape 6">
            <a:extLst>
              <a:ext uri="{FF2B5EF4-FFF2-40B4-BE49-F238E27FC236}">
                <a16:creationId xmlns:a16="http://schemas.microsoft.com/office/drawing/2014/main" id="{1ED8EA61-4035-B60D-7BF8-ABA93F720C40}"/>
              </a:ext>
            </a:extLst>
          </p:cNvPr>
          <p:cNvCxnSpPr>
            <a:cxnSpLocks noChangeShapeType="1"/>
            <a:stCxn id="155651" idx="3"/>
            <a:endCxn id="155649" idx="1"/>
          </p:cNvCxnSpPr>
          <p:nvPr/>
        </p:nvCxnSpPr>
        <p:spPr bwMode="auto">
          <a:xfrm rot="16200000" flipH="1">
            <a:off x="2031207" y="3739356"/>
            <a:ext cx="2660650" cy="287337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4" name="AutoShape 7">
            <a:extLst>
              <a:ext uri="{FF2B5EF4-FFF2-40B4-BE49-F238E27FC236}">
                <a16:creationId xmlns:a16="http://schemas.microsoft.com/office/drawing/2014/main" id="{0814B0C3-3B22-1A7B-21EC-AB1B58B8B09C}"/>
              </a:ext>
            </a:extLst>
          </p:cNvPr>
          <p:cNvCxnSpPr>
            <a:cxnSpLocks noChangeShapeType="1"/>
            <a:stCxn id="155652" idx="5"/>
            <a:endCxn id="155649" idx="3"/>
          </p:cNvCxnSpPr>
          <p:nvPr/>
        </p:nvCxnSpPr>
        <p:spPr bwMode="auto">
          <a:xfrm rot="5400000">
            <a:off x="4460082" y="3715543"/>
            <a:ext cx="2660650" cy="334963"/>
          </a:xfrm>
          <a:prstGeom prst="curved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5" name="AutoShape 8">
            <a:extLst>
              <a:ext uri="{FF2B5EF4-FFF2-40B4-BE49-F238E27FC236}">
                <a16:creationId xmlns:a16="http://schemas.microsoft.com/office/drawing/2014/main" id="{B9707A3A-4AAD-14B1-0367-1E64A3982D26}"/>
              </a:ext>
            </a:extLst>
          </p:cNvPr>
          <p:cNvCxnSpPr>
            <a:cxnSpLocks noChangeShapeType="1"/>
            <a:stCxn id="155649" idx="1"/>
            <a:endCxn id="155651" idx="2"/>
          </p:cNvCxnSpPr>
          <p:nvPr/>
        </p:nvCxnSpPr>
        <p:spPr bwMode="auto">
          <a:xfrm rot="10800000">
            <a:off x="3124200" y="2316163"/>
            <a:ext cx="381000" cy="2897187"/>
          </a:xfrm>
          <a:prstGeom prst="curvedConnector3">
            <a:avLst>
              <a:gd name="adj1" fmla="val 16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6" name="AutoShape 9">
            <a:extLst>
              <a:ext uri="{FF2B5EF4-FFF2-40B4-BE49-F238E27FC236}">
                <a16:creationId xmlns:a16="http://schemas.microsoft.com/office/drawing/2014/main" id="{6B601309-C334-B941-4772-14E51D88A8F3}"/>
              </a:ext>
            </a:extLst>
          </p:cNvPr>
          <p:cNvCxnSpPr>
            <a:cxnSpLocks noChangeShapeType="1"/>
            <a:stCxn id="155649" idx="3"/>
            <a:endCxn id="155652" idx="6"/>
          </p:cNvCxnSpPr>
          <p:nvPr/>
        </p:nvCxnSpPr>
        <p:spPr bwMode="auto">
          <a:xfrm flipV="1">
            <a:off x="5622925" y="2316163"/>
            <a:ext cx="428625" cy="2897187"/>
          </a:xfrm>
          <a:prstGeom prst="curvedConnector3">
            <a:avLst>
              <a:gd name="adj1" fmla="val 15333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7" name="AutoShape 10">
            <a:extLst>
              <a:ext uri="{FF2B5EF4-FFF2-40B4-BE49-F238E27FC236}">
                <a16:creationId xmlns:a16="http://schemas.microsoft.com/office/drawing/2014/main" id="{682280DC-F301-5D5B-48CA-79B75DB89506}"/>
              </a:ext>
            </a:extLst>
          </p:cNvPr>
          <p:cNvCxnSpPr>
            <a:cxnSpLocks noChangeShapeType="1"/>
            <a:stCxn id="155650" idx="3"/>
            <a:endCxn id="155649" idx="0"/>
          </p:cNvCxnSpPr>
          <p:nvPr/>
        </p:nvCxnSpPr>
        <p:spPr bwMode="auto">
          <a:xfrm rot="16200000" flipH="1">
            <a:off x="3871913" y="4108450"/>
            <a:ext cx="1181100" cy="203200"/>
          </a:xfrm>
          <a:prstGeom prst="curvedConnector3">
            <a:avLst>
              <a:gd name="adj1" fmla="val 5416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8" name="AutoShape 11">
            <a:extLst>
              <a:ext uri="{FF2B5EF4-FFF2-40B4-BE49-F238E27FC236}">
                <a16:creationId xmlns:a16="http://schemas.microsoft.com/office/drawing/2014/main" id="{8F053C8C-C9E1-00DC-550C-0E53E73C5F62}"/>
              </a:ext>
            </a:extLst>
          </p:cNvPr>
          <p:cNvCxnSpPr>
            <a:cxnSpLocks noChangeShapeType="1"/>
            <a:stCxn id="155649" idx="0"/>
            <a:endCxn id="155650" idx="5"/>
          </p:cNvCxnSpPr>
          <p:nvPr/>
        </p:nvCxnSpPr>
        <p:spPr bwMode="auto">
          <a:xfrm rot="-5400000">
            <a:off x="4098926" y="4084637"/>
            <a:ext cx="1181100" cy="250825"/>
          </a:xfrm>
          <a:prstGeom prst="curvedConnector3">
            <a:avLst>
              <a:gd name="adj1" fmla="val 4583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59" name="AutoShape 12">
            <a:extLst>
              <a:ext uri="{FF2B5EF4-FFF2-40B4-BE49-F238E27FC236}">
                <a16:creationId xmlns:a16="http://schemas.microsoft.com/office/drawing/2014/main" id="{E6AEBDFE-B9F4-4A31-D4C6-B5D1AEE6F202}"/>
              </a:ext>
            </a:extLst>
          </p:cNvPr>
          <p:cNvCxnSpPr>
            <a:cxnSpLocks noChangeShapeType="1"/>
            <a:stCxn id="155650" idx="7"/>
            <a:endCxn id="155652" idx="3"/>
          </p:cNvCxnSpPr>
          <p:nvPr/>
        </p:nvCxnSpPr>
        <p:spPr bwMode="auto">
          <a:xfrm rot="-5400000">
            <a:off x="4862513" y="2505075"/>
            <a:ext cx="593725" cy="688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0" name="AutoShape 13">
            <a:extLst>
              <a:ext uri="{FF2B5EF4-FFF2-40B4-BE49-F238E27FC236}">
                <a16:creationId xmlns:a16="http://schemas.microsoft.com/office/drawing/2014/main" id="{D57A1B63-892A-B94D-E292-78492D8BE5F6}"/>
              </a:ext>
            </a:extLst>
          </p:cNvPr>
          <p:cNvCxnSpPr>
            <a:cxnSpLocks noChangeShapeType="1"/>
            <a:stCxn id="155650" idx="1"/>
            <a:endCxn id="155651" idx="5"/>
          </p:cNvCxnSpPr>
          <p:nvPr/>
        </p:nvCxnSpPr>
        <p:spPr bwMode="auto">
          <a:xfrm rot="5400000" flipH="1">
            <a:off x="3719513" y="2505075"/>
            <a:ext cx="593725" cy="688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61" name="AutoShape 14">
            <a:extLst>
              <a:ext uri="{FF2B5EF4-FFF2-40B4-BE49-F238E27FC236}">
                <a16:creationId xmlns:a16="http://schemas.microsoft.com/office/drawing/2014/main" id="{39771769-35F0-73E9-0045-242A39124039}"/>
              </a:ext>
            </a:extLst>
          </p:cNvPr>
          <p:cNvCxnSpPr>
            <a:cxnSpLocks noChangeShapeType="1"/>
            <a:stCxn id="155652" idx="0"/>
          </p:cNvCxnSpPr>
          <p:nvPr/>
        </p:nvCxnSpPr>
        <p:spPr bwMode="auto">
          <a:xfrm rot="-5400000">
            <a:off x="5532438" y="1570037"/>
            <a:ext cx="609600" cy="2127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62" name="Text Box 15">
            <a:extLst>
              <a:ext uri="{FF2B5EF4-FFF2-40B4-BE49-F238E27FC236}">
                <a16:creationId xmlns:a16="http://schemas.microsoft.com/office/drawing/2014/main" id="{3C88FE9F-8C83-87B2-82A7-63862E8F1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2888" y="5002213"/>
            <a:ext cx="10937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>
                <a:solidFill>
                  <a:srgbClr val="FF00FF"/>
                </a:solidFill>
                <a:latin typeface="Tahoma" panose="020B0604030504040204" pitchFamily="34" charset="0"/>
              </a:rPr>
              <a:t>medium</a:t>
            </a:r>
          </a:p>
        </p:txBody>
      </p:sp>
      <p:sp>
        <p:nvSpPr>
          <p:cNvPr id="155663" name="Text Box 16">
            <a:extLst>
              <a:ext uri="{FF2B5EF4-FFF2-40B4-BE49-F238E27FC236}">
                <a16:creationId xmlns:a16="http://schemas.microsoft.com/office/drawing/2014/main" id="{A97F7294-08B8-8CC1-5B01-36DC1DCDF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05200"/>
            <a:ext cx="1292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receive.*.b</a:t>
            </a:r>
          </a:p>
        </p:txBody>
      </p:sp>
      <p:sp>
        <p:nvSpPr>
          <p:cNvPr id="155664" name="Text Box 17">
            <a:extLst>
              <a:ext uri="{FF2B5EF4-FFF2-40B4-BE49-F238E27FC236}">
                <a16:creationId xmlns:a16="http://schemas.microsoft.com/office/drawing/2014/main" id="{5241ABDB-D385-4AF1-0915-B2B0278A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886200"/>
            <a:ext cx="1260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receive.*.J</a:t>
            </a:r>
          </a:p>
        </p:txBody>
      </p:sp>
      <p:sp>
        <p:nvSpPr>
          <p:cNvPr id="155665" name="Text Box 18">
            <a:extLst>
              <a:ext uri="{FF2B5EF4-FFF2-40B4-BE49-F238E27FC236}">
                <a16:creationId xmlns:a16="http://schemas.microsoft.com/office/drawing/2014/main" id="{1EB65511-96FC-6B67-94EF-F00BB622E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1285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receive.*.a</a:t>
            </a:r>
          </a:p>
        </p:txBody>
      </p:sp>
      <p:sp>
        <p:nvSpPr>
          <p:cNvPr id="155666" name="Text Box 19">
            <a:extLst>
              <a:ext uri="{FF2B5EF4-FFF2-40B4-BE49-F238E27FC236}">
                <a16:creationId xmlns:a16="http://schemas.microsoft.com/office/drawing/2014/main" id="{B752FB12-89B0-61E2-89D3-155AC634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038600"/>
            <a:ext cx="1020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send.*.J</a:t>
            </a:r>
          </a:p>
        </p:txBody>
      </p:sp>
      <p:sp>
        <p:nvSpPr>
          <p:cNvPr id="155667" name="Text Box 20">
            <a:extLst>
              <a:ext uri="{FF2B5EF4-FFF2-40B4-BE49-F238E27FC236}">
                <a16:creationId xmlns:a16="http://schemas.microsoft.com/office/drawing/2014/main" id="{55689FDF-C807-29DF-C637-7CD79471E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743200"/>
            <a:ext cx="1052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send.*.b</a:t>
            </a:r>
          </a:p>
        </p:txBody>
      </p:sp>
      <p:sp>
        <p:nvSpPr>
          <p:cNvPr id="155668" name="Text Box 21">
            <a:extLst>
              <a:ext uri="{FF2B5EF4-FFF2-40B4-BE49-F238E27FC236}">
                <a16:creationId xmlns:a16="http://schemas.microsoft.com/office/drawing/2014/main" id="{C6E68E5A-863B-539D-F803-D601E4C55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819400"/>
            <a:ext cx="1046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send.*.a</a:t>
            </a:r>
          </a:p>
        </p:txBody>
      </p:sp>
      <p:cxnSp>
        <p:nvCxnSpPr>
          <p:cNvPr id="155669" name="AutoShape 22">
            <a:extLst>
              <a:ext uri="{FF2B5EF4-FFF2-40B4-BE49-F238E27FC236}">
                <a16:creationId xmlns:a16="http://schemas.microsoft.com/office/drawing/2014/main" id="{A8932B1E-E570-E5B5-2756-509F098FBDBC}"/>
              </a:ext>
            </a:extLst>
          </p:cNvPr>
          <p:cNvCxnSpPr>
            <a:cxnSpLocks noChangeShapeType="1"/>
            <a:stCxn id="155668" idx="2"/>
          </p:cNvCxnSpPr>
          <p:nvPr/>
        </p:nvCxnSpPr>
        <p:spPr bwMode="auto">
          <a:xfrm rot="16200000" flipH="1">
            <a:off x="2540794" y="2769394"/>
            <a:ext cx="166687" cy="1000125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5670" name="AutoShape 23">
            <a:extLst>
              <a:ext uri="{FF2B5EF4-FFF2-40B4-BE49-F238E27FC236}">
                <a16:creationId xmlns:a16="http://schemas.microsoft.com/office/drawing/2014/main" id="{0FAB8F4B-2D87-3F89-A524-DF3BDB2272A1}"/>
              </a:ext>
            </a:extLst>
          </p:cNvPr>
          <p:cNvCxnSpPr>
            <a:cxnSpLocks noChangeShapeType="1"/>
            <a:stCxn id="155667" idx="2"/>
          </p:cNvCxnSpPr>
          <p:nvPr/>
        </p:nvCxnSpPr>
        <p:spPr bwMode="auto">
          <a:xfrm rot="5400000">
            <a:off x="6390481" y="2739232"/>
            <a:ext cx="166687" cy="908050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71" name="Text Box 24">
            <a:extLst>
              <a:ext uri="{FF2B5EF4-FFF2-40B4-BE49-F238E27FC236}">
                <a16:creationId xmlns:a16="http://schemas.microsoft.com/office/drawing/2014/main" id="{9FF50480-CDFD-24A7-DFEC-6235F5119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514600"/>
            <a:ext cx="65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ftp.a</a:t>
            </a:r>
          </a:p>
        </p:txBody>
      </p:sp>
      <p:sp>
        <p:nvSpPr>
          <p:cNvPr id="155672" name="Text Box 25">
            <a:extLst>
              <a:ext uri="{FF2B5EF4-FFF2-40B4-BE49-F238E27FC236}">
                <a16:creationId xmlns:a16="http://schemas.microsoft.com/office/drawing/2014/main" id="{4D0DE80C-EB3D-28DA-651B-65863E7DC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514600"/>
            <a:ext cx="657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ftp.b</a:t>
            </a:r>
          </a:p>
        </p:txBody>
      </p:sp>
      <p:cxnSp>
        <p:nvCxnSpPr>
          <p:cNvPr id="155673" name="AutoShape 26">
            <a:extLst>
              <a:ext uri="{FF2B5EF4-FFF2-40B4-BE49-F238E27FC236}">
                <a16:creationId xmlns:a16="http://schemas.microsoft.com/office/drawing/2014/main" id="{5B3A533A-B756-BE22-1804-E710BE7F0C59}"/>
              </a:ext>
            </a:extLst>
          </p:cNvPr>
          <p:cNvCxnSpPr>
            <a:cxnSpLocks noChangeShapeType="1"/>
            <a:stCxn id="155651" idx="0"/>
          </p:cNvCxnSpPr>
          <p:nvPr/>
        </p:nvCxnSpPr>
        <p:spPr bwMode="auto">
          <a:xfrm rot="5400000" flipH="1">
            <a:off x="3017838" y="1554162"/>
            <a:ext cx="609600" cy="2444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5674" name="Text Box 27">
            <a:extLst>
              <a:ext uri="{FF2B5EF4-FFF2-40B4-BE49-F238E27FC236}">
                <a16:creationId xmlns:a16="http://schemas.microsoft.com/office/drawing/2014/main" id="{473647C7-6D00-7A6C-D48A-120C70582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600200"/>
            <a:ext cx="1262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evidence.a</a:t>
            </a:r>
          </a:p>
        </p:txBody>
      </p:sp>
      <p:sp>
        <p:nvSpPr>
          <p:cNvPr id="155675" name="Text Box 28">
            <a:extLst>
              <a:ext uri="{FF2B5EF4-FFF2-40B4-BE49-F238E27FC236}">
                <a16:creationId xmlns:a16="http://schemas.microsoft.com/office/drawing/2014/main" id="{EA39C660-4829-0EB2-87C8-30E5F6FEE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1600200"/>
            <a:ext cx="1268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</a:rPr>
              <a:t>evidence.b</a:t>
            </a:r>
          </a:p>
        </p:txBody>
      </p:sp>
      <p:sp>
        <p:nvSpPr>
          <p:cNvPr id="155676" name="Rectangle 29">
            <a:extLst>
              <a:ext uri="{FF2B5EF4-FFF2-40B4-BE49-F238E27FC236}">
                <a16:creationId xmlns:a16="http://schemas.microsoft.com/office/drawing/2014/main" id="{12DC090C-D992-24B0-B73A-EC5600D106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Zhou-Gollmann in CSP 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>
            <a:extLst>
              <a:ext uri="{FF2B5EF4-FFF2-40B4-BE49-F238E27FC236}">
                <a16:creationId xmlns:a16="http://schemas.microsoft.com/office/drawing/2014/main" id="{1F676EE9-AFEC-6CD1-40CD-5D1B4E5B3E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57200"/>
            <a:ext cx="7696200" cy="960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Zhou-Gollmann </a:t>
            </a:r>
            <a:r>
              <a:rPr lang="en-US" altLang="en-US" sz="4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CSP - 2</a:t>
            </a:r>
          </a:p>
        </p:txBody>
      </p:sp>
      <p:sp>
        <p:nvSpPr>
          <p:cNvPr id="157698" name="Rectangle 3">
            <a:extLst>
              <a:ext uri="{FF2B5EF4-FFF2-40B4-BE49-F238E27FC236}">
                <a16:creationId xmlns:a16="http://schemas.microsoft.com/office/drawing/2014/main" id="{17FCF965-54B9-66B4-F7C3-05CD4260C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382000" cy="495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Agent, 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send.a.b.m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receive.a.b?m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(close(S U {m}))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ftp.a.Jeeves?m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(close(S U {m}))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 </a:t>
            </a:r>
            <a:r>
              <a:rPr lang="en-US" altLang="en-US" sz="18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evidence.a.m -&gt; Agent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---------------------------------------------------------------------------------------------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Server(S)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≡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receive.a.Jeeves?. 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SUB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000" baseline="-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-&gt; Server(S U {f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.a.b.l.k}</a:t>
            </a:r>
            <a:r>
              <a:rPr lang="en-US" altLang="en-US" sz="20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Sk</a:t>
            </a:r>
            <a:r>
              <a:rPr lang="en-US" altLang="en-US" sz="2000" baseline="-30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j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36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□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{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Agent, m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sz="2000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S}</a:t>
            </a:r>
            <a:r>
              <a:rPr lang="en-US" altLang="en-US" sz="2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ftp.a.Jeeves.m -&gt; Server(S)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endParaRPr lang="en-US" altLang="en-US" sz="1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2">
            <a:extLst>
              <a:ext uri="{FF2B5EF4-FFF2-40B4-BE49-F238E27FC236}">
                <a16:creationId xmlns:a16="http://schemas.microsoft.com/office/drawing/2014/main" id="{0F5DDDDD-2FF6-875D-578A-8D9155A42A9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Zhou-Gollmann </a:t>
            </a:r>
            <a:r>
              <a:rPr lang="en-US" altLang="en-US" sz="4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in CSP - 3</a:t>
            </a:r>
          </a:p>
        </p:txBody>
      </p:sp>
      <p:sp>
        <p:nvSpPr>
          <p:cNvPr id="159746" name="Rectangle 3">
            <a:extLst>
              <a:ext uri="{FF2B5EF4-FFF2-40B4-BE49-F238E27FC236}">
                <a16:creationId xmlns:a16="http://schemas.microsoft.com/office/drawing/2014/main" id="{98C69559-5591-7B81-44BC-49F2BB4FBB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Network=(|||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Agent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(IKa)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{|ftp|}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Server  			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{|send|}U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||</a:t>
            </a:r>
            <a:r>
              <a:rPr lang="en-US" altLang="en-US" baseline="-250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{|receive|}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Medium(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Ø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)</a:t>
            </a:r>
          </a:p>
          <a:p>
            <a:endParaRPr lang="en-US" altLang="en-US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correctness requirements</a:t>
            </a:r>
          </a:p>
          <a:p>
            <a:pPr lvl="1"/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NRO(tr)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</a:p>
          <a:p>
            <a:pPr lvl="1"/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NRR(tr)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4">
            <a:extLst>
              <a:ext uri="{FF2B5EF4-FFF2-40B4-BE49-F238E27FC236}">
                <a16:creationId xmlns:a16="http://schemas.microsoft.com/office/drawing/2014/main" id="{F4D9D433-1F52-59D4-D067-5BE4A292A3B9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2362200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in CSP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>
            <a:extLst>
              <a:ext uri="{FF2B5EF4-FFF2-40B4-BE49-F238E27FC236}">
                <a16:creationId xmlns:a16="http://schemas.microsoft.com/office/drawing/2014/main" id="{D29CA6E1-DB16-D10A-0336-B1447782F2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Definitions</a:t>
            </a:r>
          </a:p>
        </p:txBody>
      </p:sp>
      <p:sp>
        <p:nvSpPr>
          <p:cNvPr id="163842" name="Rectangle 3">
            <a:extLst>
              <a:ext uri="{FF2B5EF4-FFF2-40B4-BE49-F238E27FC236}">
                <a16:creationId xmlns:a16="http://schemas.microsoft.com/office/drawing/2014/main" id="{943E6C92-029F-2349-E97E-128EDAB3FC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There are many definitions of anonymity.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Ref papers on: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hlinkClick r:id="rId3"/>
              </a:rPr>
              <a:t>http://wiki.uni.lu/secan-lab/Anonymity-Papers.html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Most definitions are probabilistic and very dependent on the application</a:t>
            </a:r>
          </a:p>
          <a:p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Basic Issue: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protect the identity of an agent associated with a given event or message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2">
            <a:extLst>
              <a:ext uri="{FF2B5EF4-FFF2-40B4-BE49-F238E27FC236}">
                <a16:creationId xmlns:a16="http://schemas.microsoft.com/office/drawing/2014/main" id="{F1031BFA-8AF7-68A6-E7B7-C3105BAEA4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CSP Formulation</a:t>
            </a:r>
          </a:p>
        </p:txBody>
      </p:sp>
      <p:sp>
        <p:nvSpPr>
          <p:cNvPr id="165890" name="Rectangle 3">
            <a:extLst>
              <a:ext uri="{FF2B5EF4-FFF2-40B4-BE49-F238E27FC236}">
                <a16:creationId xmlns:a16="http://schemas.microsoft.com/office/drawing/2014/main" id="{61B52289-B94E-B349-8707-3A55F1DB07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Preventing the identity of agents associated with a message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message itself need not be hidden 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So, an event is modeled to have two parts: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a.x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agent (originator)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x: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content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protocol or a transaction must covey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x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without revealing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endParaRPr lang="en-US" altLang="en-US" sz="28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Also other </a:t>
            </a:r>
            <a:r>
              <a:rPr lang="en-US" altLang="en-US" sz="2800">
                <a:solidFill>
                  <a:schemeClr val="accent1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selected agents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must not be able to deduce that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issued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a.x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2">
            <a:extLst>
              <a:ext uri="{FF2B5EF4-FFF2-40B4-BE49-F238E27FC236}">
                <a16:creationId xmlns:a16="http://schemas.microsoft.com/office/drawing/2014/main" id="{A8F72F28-6013-A285-FCE0-80D9EA5711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Attacker Model</a:t>
            </a:r>
          </a:p>
        </p:txBody>
      </p:sp>
      <p:sp>
        <p:nvSpPr>
          <p:cNvPr id="167938" name="Rectangle 3">
            <a:extLst>
              <a:ext uri="{FF2B5EF4-FFF2-40B4-BE49-F238E27FC236}">
                <a16:creationId xmlns:a16="http://schemas.microsoft.com/office/drawing/2014/main" id="{FB848072-316D-9E8F-EA54-BCA465E9DFC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2296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group of agents that can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observe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deduce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information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medium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may or may not be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reliable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Usually the medium is assumed to be reliable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2">
            <a:extLst>
              <a:ext uri="{FF2B5EF4-FFF2-40B4-BE49-F238E27FC236}">
                <a16:creationId xmlns:a16="http://schemas.microsoft.com/office/drawing/2014/main" id="{482065A1-2B2A-01EA-804A-AEEFAD5E9D9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Users and Observers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712EECA6-A77E-6C06-4771-DA558737C2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/>
                <a:ea typeface="ＭＳ Ｐゴシック" charset="0"/>
                <a:cs typeface="ＭＳ Ｐゴシック" charset="0"/>
              </a:rPr>
              <a:t>The principle of anonymity:</a:t>
            </a:r>
            <a:r>
              <a:rPr lang="en-US" sz="2800">
                <a:effectLst/>
                <a:ea typeface="ＭＳ Ｐゴシック" charset="0"/>
                <a:cs typeface="ＭＳ Ｐゴシック" charset="0"/>
              </a:rPr>
              <a:t> a data item that could have originated from one agent could have originated from a collection of agents in a given set. </a:t>
            </a:r>
            <a:r>
              <a:rPr lang="en-US" sz="2800">
                <a:solidFill>
                  <a:srgbClr val="FF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charset="0"/>
                <a:cs typeface="ＭＳ Ｐゴシック" charset="0"/>
              </a:rPr>
              <a:t>That is said to preserve anonymity!</a:t>
            </a: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Anonusers</a:t>
            </a:r>
            <a:r>
              <a:rPr lang="en-US" sz="2800">
                <a:effectLst/>
                <a:ea typeface="ＭＳ Ｐゴシック" charset="0"/>
                <a:cs typeface="ＭＳ Ｐゴシック" charset="0"/>
              </a:rPr>
              <a:t> = the set of users whose identities should be masked</a:t>
            </a: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 = {a.x | a</a:t>
            </a:r>
            <a:r>
              <a:rPr lang="en-US" sz="2800">
                <a:solidFill>
                  <a:srgbClr val="00FF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∈</a:t>
            </a:r>
            <a:r>
              <a:rPr lang="en-US" sz="2800">
                <a:solidFill>
                  <a:srgbClr val="00FF00"/>
                </a:solidFill>
                <a:effectLst/>
                <a:ea typeface="ＭＳ Ｐゴシック" charset="0"/>
                <a:cs typeface="ＭＳ Ｐゴシック" charset="0"/>
              </a:rPr>
              <a:t>Anonusers}</a:t>
            </a:r>
            <a:endParaRPr lang="en-US" sz="2800">
              <a:effectLst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buFont typeface="Wingdings" charset="0"/>
              <a:buChar char="l"/>
              <a:defRPr/>
            </a:pPr>
            <a:r>
              <a:rPr lang="en-US" sz="2800">
                <a:effectLst/>
                <a:ea typeface="ＭＳ Ｐゴシック" charset="0"/>
                <a:cs typeface="ＭＳ Ｐゴシック" charset="0"/>
              </a:rPr>
              <a:t>A protocol P described </a:t>
            </a:r>
            <a:r>
              <a:rPr lang="en-US" sz="28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will provide anonymity to a set of users A if any permutation p</a:t>
            </a:r>
            <a:r>
              <a:rPr lang="en-US" sz="2800" baseline="-250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A</a:t>
            </a:r>
            <a:r>
              <a:rPr lang="en-US" sz="28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 of A is in the acceptable set of traces of P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>
            <a:extLst>
              <a:ext uri="{FF2B5EF4-FFF2-40B4-BE49-F238E27FC236}">
                <a16:creationId xmlns:a16="http://schemas.microsoft.com/office/drawing/2014/main" id="{E5FEE482-9ECD-0388-3CA8-F6BE9F22A9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Other Parameters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931956B8-D1EF-FCEA-F45B-E96AB7B6CC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534400" cy="2971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Set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Observable Events: B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(say)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Necessary condition for anonymity: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∩B=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∅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Events that not in A or B have to be abstracted out.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</a:t>
            </a:r>
            <a:r>
              <a:rPr lang="en-US" altLang="en-US" sz="2400" baseline="-250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= events to be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abstracted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out from the protocol P. Hence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 is abstracted out!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Means: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hidden, masked or renamed </a:t>
            </a:r>
          </a:p>
          <a:p>
            <a:pPr>
              <a:lnSpc>
                <a:spcPct val="80000"/>
              </a:lnSpc>
            </a:pPr>
            <a:r>
              <a:rPr lang="en-US" altLang="en-US" sz="2400">
                <a:solidFill>
                  <a:srgbClr val="FF00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Condition for anonymity is: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A 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(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ABS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(P))=ABS</a:t>
            </a:r>
            <a:r>
              <a:rPr lang="en-US" altLang="en-US" sz="2400" baseline="-250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</a:t>
            </a:r>
            <a:r>
              <a:rPr lang="en-US" alt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(P)</a:t>
            </a:r>
            <a:r>
              <a:rPr lang="en-US" altLang="en-US" sz="24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172035" name="Rectangle 4">
            <a:extLst>
              <a:ext uri="{FF2B5EF4-FFF2-40B4-BE49-F238E27FC236}">
                <a16:creationId xmlns:a16="http://schemas.microsoft.com/office/drawing/2014/main" id="{AA155B02-B4A8-DA98-7146-E9B7ECE79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800600"/>
            <a:ext cx="4953000" cy="182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  <a:sym typeface="Wingdings" pitchFamily="2" charset="2"/>
              </a:rPr>
              <a:t>                        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72036" name="Rectangle 5">
            <a:extLst>
              <a:ext uri="{FF2B5EF4-FFF2-40B4-BE49-F238E27FC236}">
                <a16:creationId xmlns:a16="http://schemas.microsoft.com/office/drawing/2014/main" id="{76ACDB3A-4A58-D666-7C35-2CDB9EEF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334000"/>
            <a:ext cx="1600200" cy="914400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Protocol P</a:t>
            </a:r>
          </a:p>
        </p:txBody>
      </p:sp>
      <p:sp>
        <p:nvSpPr>
          <p:cNvPr id="172037" name="AutoShape 7">
            <a:extLst>
              <a:ext uri="{FF2B5EF4-FFF2-40B4-BE49-F238E27FC236}">
                <a16:creationId xmlns:a16="http://schemas.microsoft.com/office/drawing/2014/main" id="{306B888B-CAC3-CBE4-071C-AEEA100AE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76800"/>
            <a:ext cx="990600" cy="442913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72038" name="AutoShape 8">
            <a:extLst>
              <a:ext uri="{FF2B5EF4-FFF2-40B4-BE49-F238E27FC236}">
                <a16:creationId xmlns:a16="http://schemas.microsoft.com/office/drawing/2014/main" id="{514B9F41-FD46-DF01-AC50-0A17BC5C3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410200"/>
            <a:ext cx="976313" cy="685800"/>
          </a:xfrm>
          <a:prstGeom prst="leftArrow">
            <a:avLst>
              <a:gd name="adj1" fmla="val 50000"/>
              <a:gd name="adj2" fmla="val 3559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72039" name="AutoShape 9">
            <a:extLst>
              <a:ext uri="{FF2B5EF4-FFF2-40B4-BE49-F238E27FC236}">
                <a16:creationId xmlns:a16="http://schemas.microsoft.com/office/drawing/2014/main" id="{A2CC8E8B-DD8D-301D-8833-32C2C142B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562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72040" name="Litebulb">
            <a:extLst>
              <a:ext uri="{FF2B5EF4-FFF2-40B4-BE49-F238E27FC236}">
                <a16:creationId xmlns:a16="http://schemas.microsoft.com/office/drawing/2014/main" id="{B635A5CC-21A3-B582-C29A-A93306F8650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248400" y="5410200"/>
            <a:ext cx="457200" cy="7620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3556 w 21600"/>
              <a:gd name="T13" fmla="*/ 2188 h 21600"/>
              <a:gd name="T14" fmla="*/ 18277 w 21600"/>
              <a:gd name="T15" fmla="*/ 9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00"/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>
            <a:extLst>
              <a:ext uri="{FF2B5EF4-FFF2-40B4-BE49-F238E27FC236}">
                <a16:creationId xmlns:a16="http://schemas.microsoft.com/office/drawing/2014/main" id="{FF64949B-6689-3811-F5C4-0A0889BEC4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4582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</a:t>
            </a:r>
            <a:r>
              <a:rPr lang="ja-JP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Problem</a:t>
            </a:r>
            <a:endParaRPr lang="en-US" altLang="en-US" sz="4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4082" name="Rectangle 3">
            <a:extLst>
              <a:ext uri="{FF2B5EF4-FFF2-40B4-BE49-F238E27FC236}">
                <a16:creationId xmlns:a16="http://schemas.microsoft.com/office/drawing/2014/main" id="{E37677FE-F35F-6900-E31D-92533DE1DE2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10600" cy="487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Reference: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Section 3.5 Modeling and analysis of security protocols, P. Ryan and S. Snyder</a:t>
            </a:r>
          </a:p>
          <a:p>
            <a:pPr marL="990600" lvl="1" indent="-533400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</a:t>
            </a:r>
            <a:r>
              <a:rPr lang="ja-JP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problem: unconditional sender and recipient un-traceability, Journal of Cryptology, 1-1998.</a:t>
            </a:r>
          </a:p>
          <a:p>
            <a:pPr marL="609600" indent="-609600"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problem: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 collection of cryptographers share a meal. At the end of the meal, they are secretly informed if one of them have to pay. If not, the host would pickup the tab. The cryptographers would like to know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which alternative occurs without revealing which cryptographer pays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, if it is one of them.</a:t>
            </a:r>
            <a:endParaRPr lang="en-US" altLang="en-US" sz="2800"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2">
            <a:extLst>
              <a:ext uri="{FF2B5EF4-FFF2-40B4-BE49-F238E27FC236}">
                <a16:creationId xmlns:a16="http://schemas.microsoft.com/office/drawing/2014/main" id="{9B3301AF-FD7C-EA90-CD1D-F19D05D066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Dining Cryptographer</a:t>
            </a:r>
            <a:r>
              <a:rPr lang="ja-JP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 Algorithm</a:t>
            </a:r>
            <a:endParaRPr lang="en-US" altLang="en-US" sz="4000"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8956EB44-A6FF-CE33-70F8-B9843B6743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4582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tosses a coin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visible to herself and her right hand neighbor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each cryptographer see two coins; 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self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right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gets one of two messages,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or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from the host = master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Each cryptographer makes an announcement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or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disagree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using the following algorithm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 paying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say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iff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self=right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paying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cryptographer says the opposite</a:t>
            </a:r>
          </a:p>
          <a:p>
            <a:pPr>
              <a:lnSpc>
                <a:spcPct val="90000"/>
              </a:lnSpc>
            </a:pPr>
            <a:r>
              <a:rPr lang="en-US" altLang="en-US" sz="2800">
                <a:solidFill>
                  <a:srgbClr val="FF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If #(disagree) is even then the host pays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2">
            <a:extLst>
              <a:ext uri="{FF2B5EF4-FFF2-40B4-BE49-F238E27FC236}">
                <a16:creationId xmlns:a16="http://schemas.microsoft.com/office/drawing/2014/main" id="{D8E02E82-A48A-0603-7F73-6E7C9B4B2B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Dining Cryptographers</a:t>
            </a:r>
          </a:p>
        </p:txBody>
      </p:sp>
      <p:sp>
        <p:nvSpPr>
          <p:cNvPr id="172036" name="Oval 4">
            <a:extLst>
              <a:ext uri="{FF2B5EF4-FFF2-40B4-BE49-F238E27FC236}">
                <a16:creationId xmlns:a16="http://schemas.microsoft.com/office/drawing/2014/main" id="{9529FA76-6EE5-B9A7-CB13-EBD9D1114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56388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Coin(1)</a:t>
            </a:r>
          </a:p>
        </p:txBody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1D31215F-46DF-787D-8367-F92244350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5720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Crypt(1)</a:t>
            </a:r>
          </a:p>
        </p:txBody>
      </p:sp>
      <p:sp>
        <p:nvSpPr>
          <p:cNvPr id="172039" name="Rectangle 7">
            <a:extLst>
              <a:ext uri="{FF2B5EF4-FFF2-40B4-BE49-F238E27FC236}">
                <a16:creationId xmlns:a16="http://schemas.microsoft.com/office/drawing/2014/main" id="{0690EB4F-FCEF-F075-E26A-B98EFF6E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2192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Crypt(0)</a:t>
            </a:r>
          </a:p>
        </p:txBody>
      </p:sp>
      <p:sp>
        <p:nvSpPr>
          <p:cNvPr id="172040" name="Rectangle 8">
            <a:extLst>
              <a:ext uri="{FF2B5EF4-FFF2-40B4-BE49-F238E27FC236}">
                <a16:creationId xmlns:a16="http://schemas.microsoft.com/office/drawing/2014/main" id="{7D8A1064-6F2D-C4C2-BD1F-7911751FA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724400"/>
            <a:ext cx="914400" cy="609600"/>
          </a:xfrm>
          <a:prstGeom prst="rect">
            <a:avLst/>
          </a:prstGeom>
          <a:solidFill>
            <a:srgbClr val="FFFF00"/>
          </a:solidFill>
          <a:ln w="508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Crypt(2)</a:t>
            </a:r>
          </a:p>
        </p:txBody>
      </p:sp>
      <p:sp>
        <p:nvSpPr>
          <p:cNvPr id="172041" name="Oval 9">
            <a:extLst>
              <a:ext uri="{FF2B5EF4-FFF2-40B4-BE49-F238E27FC236}">
                <a16:creationId xmlns:a16="http://schemas.microsoft.com/office/drawing/2014/main" id="{5671CFC6-3A4B-2366-C6EF-9809F409C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5146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Coin(2)</a:t>
            </a:r>
          </a:p>
        </p:txBody>
      </p:sp>
      <p:sp>
        <p:nvSpPr>
          <p:cNvPr id="172042" name="Oval 10">
            <a:extLst>
              <a:ext uri="{FF2B5EF4-FFF2-40B4-BE49-F238E27FC236}">
                <a16:creationId xmlns:a16="http://schemas.microsoft.com/office/drawing/2014/main" id="{C01BD9C8-6AC0-A292-4153-011D5BC2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62200"/>
            <a:ext cx="914400" cy="914400"/>
          </a:xfrm>
          <a:prstGeom prst="ellipse">
            <a:avLst/>
          </a:prstGeom>
          <a:solidFill>
            <a:schemeClr val="accent1"/>
          </a:solidFill>
          <a:ln w="635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Coin(0)</a:t>
            </a:r>
          </a:p>
        </p:txBody>
      </p:sp>
      <p:sp>
        <p:nvSpPr>
          <p:cNvPr id="172043" name="AutoShape 11">
            <a:extLst>
              <a:ext uri="{FF2B5EF4-FFF2-40B4-BE49-F238E27FC236}">
                <a16:creationId xmlns:a16="http://schemas.microsoft.com/office/drawing/2014/main" id="{85AA7CBC-B1C7-ADC8-D7B7-8CD75D509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352800"/>
            <a:ext cx="1057275" cy="914400"/>
          </a:xfrm>
          <a:prstGeom prst="hexagon">
            <a:avLst>
              <a:gd name="adj" fmla="val 28906"/>
              <a:gd name="vf" fmla="val 115470"/>
            </a:avLst>
          </a:prstGeom>
          <a:solidFill>
            <a:srgbClr val="FF6699"/>
          </a:solidFill>
          <a:ln w="63500">
            <a:solidFill>
              <a:srgbClr val="FFFF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</a:t>
            </a:r>
          </a:p>
          <a:p>
            <a:pPr algn="ctr"/>
            <a:r>
              <a:rPr lang="en-US" altLang="en-US" sz="180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Master</a:t>
            </a:r>
          </a:p>
        </p:txBody>
      </p:sp>
      <p:sp>
        <p:nvSpPr>
          <p:cNvPr id="172044" name="AutoShape 12">
            <a:extLst>
              <a:ext uri="{FF2B5EF4-FFF2-40B4-BE49-F238E27FC236}">
                <a16:creationId xmlns:a16="http://schemas.microsoft.com/office/drawing/2014/main" id="{BB683E1B-36E4-84FA-40DD-7269EBDF4F75}"/>
              </a:ext>
            </a:extLst>
          </p:cNvPr>
          <p:cNvSpPr>
            <a:spLocks noChangeArrowheads="1"/>
          </p:cNvSpPr>
          <p:nvPr/>
        </p:nvSpPr>
        <p:spPr bwMode="auto">
          <a:xfrm rot="19598104" flipV="1">
            <a:off x="5029200" y="5486400"/>
            <a:ext cx="1295400" cy="381000"/>
          </a:xfrm>
          <a:prstGeom prst="rightArrow">
            <a:avLst>
              <a:gd name="adj1" fmla="val 74556"/>
              <a:gd name="adj2" fmla="val 14450"/>
            </a:avLst>
          </a:prstGeom>
          <a:solidFill>
            <a:srgbClr val="FFCC99"/>
          </a:solidFill>
          <a:ln w="28575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look.2.1</a:t>
            </a:r>
          </a:p>
        </p:txBody>
      </p:sp>
      <p:sp>
        <p:nvSpPr>
          <p:cNvPr id="178186" name="AutoShape 13">
            <a:extLst>
              <a:ext uri="{FF2B5EF4-FFF2-40B4-BE49-F238E27FC236}">
                <a16:creationId xmlns:a16="http://schemas.microsoft.com/office/drawing/2014/main" id="{F2335D35-176E-1ED6-5382-4E742C5EBB81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2514600" y="5334000"/>
            <a:ext cx="1295400" cy="533400"/>
          </a:xfrm>
          <a:prstGeom prst="leftArrow">
            <a:avLst>
              <a:gd name="adj1" fmla="val 50000"/>
              <a:gd name="adj2" fmla="val 60714"/>
            </a:avLst>
          </a:prstGeom>
          <a:solidFill>
            <a:srgbClr val="FFCC99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</a:rPr>
              <a:t>look.1.1</a:t>
            </a:r>
          </a:p>
        </p:txBody>
      </p:sp>
      <p:sp>
        <p:nvSpPr>
          <p:cNvPr id="178187" name="AutoShape 14">
            <a:extLst>
              <a:ext uri="{FF2B5EF4-FFF2-40B4-BE49-F238E27FC236}">
                <a16:creationId xmlns:a16="http://schemas.microsoft.com/office/drawing/2014/main" id="{6AF71DEB-C47E-F11D-F5B4-8476F23CDE3C}"/>
              </a:ext>
            </a:extLst>
          </p:cNvPr>
          <p:cNvSpPr>
            <a:spLocks noChangeArrowheads="1"/>
          </p:cNvSpPr>
          <p:nvPr/>
        </p:nvSpPr>
        <p:spPr bwMode="auto">
          <a:xfrm rot="1800000">
            <a:off x="4891088" y="1922463"/>
            <a:ext cx="1524000" cy="533400"/>
          </a:xfrm>
          <a:prstGeom prst="leftArrow">
            <a:avLst>
              <a:gd name="adj1" fmla="val 50000"/>
              <a:gd name="adj2" fmla="val 71429"/>
            </a:avLst>
          </a:prstGeom>
          <a:solidFill>
            <a:srgbClr val="FFCC99"/>
          </a:solidFill>
          <a:ln w="254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</a:rPr>
              <a:t>look.0.2</a:t>
            </a:r>
          </a:p>
        </p:txBody>
      </p:sp>
      <p:sp>
        <p:nvSpPr>
          <p:cNvPr id="172047" name="AutoShape 15">
            <a:extLst>
              <a:ext uri="{FF2B5EF4-FFF2-40B4-BE49-F238E27FC236}">
                <a16:creationId xmlns:a16="http://schemas.microsoft.com/office/drawing/2014/main" id="{82FF093D-5518-4907-8E56-3E2B2B4FE9A0}"/>
              </a:ext>
            </a:extLst>
          </p:cNvPr>
          <p:cNvSpPr>
            <a:spLocks noChangeArrowheads="1"/>
          </p:cNvSpPr>
          <p:nvPr/>
        </p:nvSpPr>
        <p:spPr bwMode="auto">
          <a:xfrm rot="19598104" flipV="1">
            <a:off x="2514600" y="1905000"/>
            <a:ext cx="1295400" cy="381000"/>
          </a:xfrm>
          <a:prstGeom prst="rightArrow">
            <a:avLst>
              <a:gd name="adj1" fmla="val 74556"/>
              <a:gd name="adj2" fmla="val 14450"/>
            </a:avLst>
          </a:prstGeom>
          <a:solidFill>
            <a:srgbClr val="FFCC99"/>
          </a:solidFill>
          <a:ln w="28575">
            <a:solidFill>
              <a:srgbClr val="FFCC00"/>
            </a:solidFill>
            <a:miter lim="800000"/>
            <a:headEnd/>
            <a:tailEnd/>
          </a:ln>
          <a:effectLst/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look.0.0</a:t>
            </a:r>
          </a:p>
        </p:txBody>
      </p:sp>
      <p:sp>
        <p:nvSpPr>
          <p:cNvPr id="178189" name="AutoShape 16">
            <a:extLst>
              <a:ext uri="{FF2B5EF4-FFF2-40B4-BE49-F238E27FC236}">
                <a16:creationId xmlns:a16="http://schemas.microsoft.com/office/drawing/2014/main" id="{F873B7F0-9475-1BF6-948B-DED480B00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429000"/>
            <a:ext cx="485775" cy="1066800"/>
          </a:xfrm>
          <a:prstGeom prst="downArrow">
            <a:avLst>
              <a:gd name="adj1" fmla="val 50000"/>
              <a:gd name="adj2" fmla="val 54902"/>
            </a:avLst>
          </a:prstGeom>
          <a:solidFill>
            <a:srgbClr val="FFCC99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look1.0</a:t>
            </a:r>
          </a:p>
        </p:txBody>
      </p:sp>
      <p:sp>
        <p:nvSpPr>
          <p:cNvPr id="178190" name="AutoShape 17">
            <a:extLst>
              <a:ext uri="{FF2B5EF4-FFF2-40B4-BE49-F238E27FC236}">
                <a16:creationId xmlns:a16="http://schemas.microsoft.com/office/drawing/2014/main" id="{30D59433-F8AA-C185-431A-8CF1A2489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505200"/>
            <a:ext cx="485775" cy="1143000"/>
          </a:xfrm>
          <a:prstGeom prst="downArrow">
            <a:avLst>
              <a:gd name="adj1" fmla="val 50000"/>
              <a:gd name="adj2" fmla="val 58824"/>
            </a:avLst>
          </a:prstGeom>
          <a:solidFill>
            <a:srgbClr val="FFCC99"/>
          </a:solidFill>
          <a:ln w="38100">
            <a:solidFill>
              <a:srgbClr val="FFCC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look.2.2</a:t>
            </a:r>
          </a:p>
        </p:txBody>
      </p:sp>
      <p:sp>
        <p:nvSpPr>
          <p:cNvPr id="178191" name="AutoShape 18">
            <a:extLst>
              <a:ext uri="{FF2B5EF4-FFF2-40B4-BE49-F238E27FC236}">
                <a16:creationId xmlns:a16="http://schemas.microsoft.com/office/drawing/2014/main" id="{00604766-AA5A-5931-A3A7-1C61C857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981200"/>
            <a:ext cx="533400" cy="1295400"/>
          </a:xfrm>
          <a:prstGeom prst="upArrow">
            <a:avLst>
              <a:gd name="adj1" fmla="val 50000"/>
              <a:gd name="adj2" fmla="val 60714"/>
            </a:avLst>
          </a:prstGeom>
          <a:solidFill>
            <a:srgbClr val="FF99CC"/>
          </a:soli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pays.0</a:t>
            </a:r>
          </a:p>
        </p:txBody>
      </p:sp>
      <p:sp>
        <p:nvSpPr>
          <p:cNvPr id="178192" name="AutoShape 19">
            <a:extLst>
              <a:ext uri="{FF2B5EF4-FFF2-40B4-BE49-F238E27FC236}">
                <a16:creationId xmlns:a16="http://schemas.microsoft.com/office/drawing/2014/main" id="{BC6F6FC7-12D5-609F-C5D1-362AA48BE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981200"/>
            <a:ext cx="533400" cy="1295400"/>
          </a:xfrm>
          <a:prstGeom prst="upArrow">
            <a:avLst>
              <a:gd name="adj1" fmla="val 50000"/>
              <a:gd name="adj2" fmla="val 60714"/>
            </a:avLst>
          </a:prstGeom>
          <a:solidFill>
            <a:srgbClr val="FF99CC"/>
          </a:solidFill>
          <a:ln w="508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notPays.0</a:t>
            </a:r>
          </a:p>
        </p:txBody>
      </p:sp>
      <p:sp>
        <p:nvSpPr>
          <p:cNvPr id="178193" name="AutoShape 20">
            <a:extLst>
              <a:ext uri="{FF2B5EF4-FFF2-40B4-BE49-F238E27FC236}">
                <a16:creationId xmlns:a16="http://schemas.microsoft.com/office/drawing/2014/main" id="{17B69C65-9FBB-F55E-5270-89150A2AA92D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3009900" y="40894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pays.1</a:t>
            </a:r>
          </a:p>
        </p:txBody>
      </p:sp>
      <p:sp>
        <p:nvSpPr>
          <p:cNvPr id="178194" name="AutoShape 21">
            <a:extLst>
              <a:ext uri="{FF2B5EF4-FFF2-40B4-BE49-F238E27FC236}">
                <a16:creationId xmlns:a16="http://schemas.microsoft.com/office/drawing/2014/main" id="{A7A5B5E0-5712-8D89-7968-0473DD453FD0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2664618" y="3659982"/>
            <a:ext cx="538163" cy="1447800"/>
          </a:xfrm>
          <a:prstGeom prst="downArrow">
            <a:avLst>
              <a:gd name="adj1" fmla="val 50000"/>
              <a:gd name="adj2" fmla="val 67257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notPayy.1</a:t>
            </a:r>
          </a:p>
        </p:txBody>
      </p:sp>
      <p:sp>
        <p:nvSpPr>
          <p:cNvPr id="178195" name="AutoShape 22">
            <a:extLst>
              <a:ext uri="{FF2B5EF4-FFF2-40B4-BE49-F238E27FC236}">
                <a16:creationId xmlns:a16="http://schemas.microsoft.com/office/drawing/2014/main" id="{48A95F5D-5AE9-4BB3-5ADB-7E248A922DA5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5280025" y="3862388"/>
            <a:ext cx="457200" cy="1447800"/>
          </a:xfrm>
          <a:prstGeom prst="downArrow">
            <a:avLst>
              <a:gd name="adj1" fmla="val 50000"/>
              <a:gd name="adj2" fmla="val 79167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notPays.2</a:t>
            </a:r>
          </a:p>
        </p:txBody>
      </p:sp>
      <p:sp>
        <p:nvSpPr>
          <p:cNvPr id="178196" name="AutoShape 24">
            <a:extLst>
              <a:ext uri="{FF2B5EF4-FFF2-40B4-BE49-F238E27FC236}">
                <a16:creationId xmlns:a16="http://schemas.microsoft.com/office/drawing/2014/main" id="{43CC5604-BB11-FFA0-FA01-AED2D57698D6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4899025" y="4113213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99CC"/>
          </a:solidFill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pays.2</a:t>
            </a:r>
          </a:p>
        </p:txBody>
      </p:sp>
      <p:sp>
        <p:nvSpPr>
          <p:cNvPr id="178197" name="AutoShape 25">
            <a:extLst>
              <a:ext uri="{FF2B5EF4-FFF2-40B4-BE49-F238E27FC236}">
                <a16:creationId xmlns:a16="http://schemas.microsoft.com/office/drawing/2014/main" id="{39029E82-CF0E-C179-BE6F-E14FB0E4ACD4}"/>
              </a:ext>
            </a:extLst>
          </p:cNvPr>
          <p:cNvSpPr>
            <a:spLocks noChangeArrowheads="1"/>
          </p:cNvSpPr>
          <p:nvPr/>
        </p:nvSpPr>
        <p:spPr bwMode="auto">
          <a:xfrm rot="-2700000">
            <a:off x="7696200" y="51054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out.2</a:t>
            </a:r>
          </a:p>
        </p:txBody>
      </p:sp>
      <p:sp>
        <p:nvSpPr>
          <p:cNvPr id="178198" name="AutoShape 26">
            <a:extLst>
              <a:ext uri="{FF2B5EF4-FFF2-40B4-BE49-F238E27FC236}">
                <a16:creationId xmlns:a16="http://schemas.microsoft.com/office/drawing/2014/main" id="{32DA867D-E84E-295C-9CF7-7E0D858AC669}"/>
              </a:ext>
            </a:extLst>
          </p:cNvPr>
          <p:cNvSpPr>
            <a:spLocks noChangeArrowheads="1"/>
          </p:cNvSpPr>
          <p:nvPr/>
        </p:nvSpPr>
        <p:spPr bwMode="auto">
          <a:xfrm rot="2700000">
            <a:off x="469900" y="52451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Out.1</a:t>
            </a:r>
          </a:p>
        </p:txBody>
      </p:sp>
      <p:sp>
        <p:nvSpPr>
          <p:cNvPr id="178199" name="AutoShape 27">
            <a:extLst>
              <a:ext uri="{FF2B5EF4-FFF2-40B4-BE49-F238E27FC236}">
                <a16:creationId xmlns:a16="http://schemas.microsoft.com/office/drawing/2014/main" id="{941E50C0-8F1A-C20B-90CF-D9C9503CB60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346700" y="901700"/>
            <a:ext cx="508000" cy="1143000"/>
          </a:xfrm>
          <a:prstGeom prst="down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bg1"/>
                </a:solidFill>
              </a:rPr>
              <a:t>out.0</a:t>
            </a:r>
          </a:p>
        </p:txBody>
      </p:sp>
      <p:sp>
        <p:nvSpPr>
          <p:cNvPr id="178200" name="Rectangle 29">
            <a:extLst>
              <a:ext uri="{FF2B5EF4-FFF2-40B4-BE49-F238E27FC236}">
                <a16:creationId xmlns:a16="http://schemas.microsoft.com/office/drawing/2014/main" id="{593403CD-E533-B498-01CA-D86BDDB9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066800"/>
            <a:ext cx="19050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FF00"/>
                </a:solidFill>
              </a:rPr>
              <a:t>looki,j,x: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Cryptographer i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reads value x </a:t>
            </a:r>
          </a:p>
          <a:p>
            <a:pPr algn="r"/>
            <a:r>
              <a:rPr lang="en-US" altLang="en-US" sz="1800">
                <a:solidFill>
                  <a:srgbClr val="00FF00"/>
                </a:solidFill>
              </a:rPr>
              <a:t>from coin j</a:t>
            </a:r>
          </a:p>
        </p:txBody>
      </p:sp>
      <p:sp>
        <p:nvSpPr>
          <p:cNvPr id="178201" name="Freeform 30">
            <a:extLst>
              <a:ext uri="{FF2B5EF4-FFF2-40B4-BE49-F238E27FC236}">
                <a16:creationId xmlns:a16="http://schemas.microsoft.com/office/drawing/2014/main" id="{DCDF8E18-CC49-36FF-E69E-C690900F8B43}"/>
              </a:ext>
            </a:extLst>
          </p:cNvPr>
          <p:cNvSpPr>
            <a:spLocks/>
          </p:cNvSpPr>
          <p:nvPr/>
        </p:nvSpPr>
        <p:spPr bwMode="auto">
          <a:xfrm>
            <a:off x="1066800" y="1066800"/>
            <a:ext cx="4191000" cy="2362200"/>
          </a:xfrm>
          <a:custGeom>
            <a:avLst/>
            <a:gdLst>
              <a:gd name="T0" fmla="*/ 2147483647 w 2640"/>
              <a:gd name="T1" fmla="*/ 2147483647 h 1488"/>
              <a:gd name="T2" fmla="*/ 2147483647 w 2640"/>
              <a:gd name="T3" fmla="*/ 0 h 1488"/>
              <a:gd name="T4" fmla="*/ 2147483647 w 2640"/>
              <a:gd name="T5" fmla="*/ 2147483647 h 1488"/>
              <a:gd name="T6" fmla="*/ 2147483647 w 2640"/>
              <a:gd name="T7" fmla="*/ 2147483647 h 1488"/>
              <a:gd name="T8" fmla="*/ 0 w 2640"/>
              <a:gd name="T9" fmla="*/ 2147483647 h 1488"/>
              <a:gd name="T10" fmla="*/ 2147483647 w 2640"/>
              <a:gd name="T11" fmla="*/ 2147483647 h 1488"/>
              <a:gd name="T12" fmla="*/ 2147483647 w 2640"/>
              <a:gd name="T13" fmla="*/ 2147483647 h 1488"/>
              <a:gd name="T14" fmla="*/ 2147483647 w 2640"/>
              <a:gd name="T15" fmla="*/ 2147483647 h 1488"/>
              <a:gd name="T16" fmla="*/ 2147483647 w 2640"/>
              <a:gd name="T17" fmla="*/ 2147483647 h 1488"/>
              <a:gd name="T18" fmla="*/ 2147483647 w 2640"/>
              <a:gd name="T19" fmla="*/ 2147483647 h 1488"/>
              <a:gd name="T20" fmla="*/ 2147483647 w 2640"/>
              <a:gd name="T21" fmla="*/ 2147483647 h 1488"/>
              <a:gd name="T22" fmla="*/ 2147483647 w 2640"/>
              <a:gd name="T23" fmla="*/ 2147483647 h 1488"/>
              <a:gd name="T24" fmla="*/ 2147483647 w 2640"/>
              <a:gd name="T25" fmla="*/ 2147483647 h 1488"/>
              <a:gd name="T26" fmla="*/ 2147483647 w 2640"/>
              <a:gd name="T27" fmla="*/ 2147483647 h 1488"/>
              <a:gd name="T28" fmla="*/ 2147483647 w 2640"/>
              <a:gd name="T29" fmla="*/ 2147483647 h 1488"/>
              <a:gd name="T30" fmla="*/ 2147483647 w 2640"/>
              <a:gd name="T31" fmla="*/ 2147483647 h 148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2640"/>
              <a:gd name="T49" fmla="*/ 0 h 1488"/>
              <a:gd name="T50" fmla="*/ 2640 w 2640"/>
              <a:gd name="T51" fmla="*/ 1488 h 148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2640" h="1488">
                <a:moveTo>
                  <a:pt x="2256" y="48"/>
                </a:moveTo>
                <a:lnTo>
                  <a:pt x="1680" y="0"/>
                </a:lnTo>
                <a:lnTo>
                  <a:pt x="960" y="192"/>
                </a:lnTo>
                <a:lnTo>
                  <a:pt x="384" y="528"/>
                </a:lnTo>
                <a:lnTo>
                  <a:pt x="0" y="960"/>
                </a:lnTo>
                <a:lnTo>
                  <a:pt x="192" y="1344"/>
                </a:lnTo>
                <a:lnTo>
                  <a:pt x="720" y="1488"/>
                </a:lnTo>
                <a:lnTo>
                  <a:pt x="1104" y="1344"/>
                </a:lnTo>
                <a:lnTo>
                  <a:pt x="1440" y="1056"/>
                </a:lnTo>
                <a:lnTo>
                  <a:pt x="1680" y="720"/>
                </a:lnTo>
                <a:lnTo>
                  <a:pt x="1824" y="624"/>
                </a:lnTo>
                <a:lnTo>
                  <a:pt x="2208" y="576"/>
                </a:lnTo>
                <a:lnTo>
                  <a:pt x="2496" y="576"/>
                </a:lnTo>
                <a:lnTo>
                  <a:pt x="2592" y="240"/>
                </a:lnTo>
                <a:lnTo>
                  <a:pt x="2640" y="48"/>
                </a:lnTo>
                <a:lnTo>
                  <a:pt x="2208" y="4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8202" name="Freeform 31">
            <a:extLst>
              <a:ext uri="{FF2B5EF4-FFF2-40B4-BE49-F238E27FC236}">
                <a16:creationId xmlns:a16="http://schemas.microsoft.com/office/drawing/2014/main" id="{E1E3B471-E307-B410-B059-E97CF48E7243}"/>
              </a:ext>
            </a:extLst>
          </p:cNvPr>
          <p:cNvSpPr>
            <a:spLocks/>
          </p:cNvSpPr>
          <p:nvPr/>
        </p:nvSpPr>
        <p:spPr bwMode="auto">
          <a:xfrm>
            <a:off x="1193800" y="4330700"/>
            <a:ext cx="3924300" cy="2489200"/>
          </a:xfrm>
          <a:custGeom>
            <a:avLst/>
            <a:gdLst>
              <a:gd name="T0" fmla="*/ 2147483647 w 2472"/>
              <a:gd name="T1" fmla="*/ 2147483647 h 1568"/>
              <a:gd name="T2" fmla="*/ 2147483647 w 2472"/>
              <a:gd name="T3" fmla="*/ 2147483647 h 1568"/>
              <a:gd name="T4" fmla="*/ 2147483647 w 2472"/>
              <a:gd name="T5" fmla="*/ 2147483647 h 1568"/>
              <a:gd name="T6" fmla="*/ 2147483647 w 2472"/>
              <a:gd name="T7" fmla="*/ 2147483647 h 1568"/>
              <a:gd name="T8" fmla="*/ 2147483647 w 2472"/>
              <a:gd name="T9" fmla="*/ 2147483647 h 1568"/>
              <a:gd name="T10" fmla="*/ 2147483647 w 2472"/>
              <a:gd name="T11" fmla="*/ 2147483647 h 1568"/>
              <a:gd name="T12" fmla="*/ 2147483647 w 2472"/>
              <a:gd name="T13" fmla="*/ 2147483647 h 1568"/>
              <a:gd name="T14" fmla="*/ 2147483647 w 2472"/>
              <a:gd name="T15" fmla="*/ 2147483647 h 1568"/>
              <a:gd name="T16" fmla="*/ 2147483647 w 2472"/>
              <a:gd name="T17" fmla="*/ 2147483647 h 1568"/>
              <a:gd name="T18" fmla="*/ 2147483647 w 2472"/>
              <a:gd name="T19" fmla="*/ 2147483647 h 1568"/>
              <a:gd name="T20" fmla="*/ 2147483647 w 2472"/>
              <a:gd name="T21" fmla="*/ 2147483647 h 1568"/>
              <a:gd name="T22" fmla="*/ 2147483647 w 2472"/>
              <a:gd name="T23" fmla="*/ 2147483647 h 1568"/>
              <a:gd name="T24" fmla="*/ 2147483647 w 2472"/>
              <a:gd name="T25" fmla="*/ 2147483647 h 1568"/>
              <a:gd name="T26" fmla="*/ 2147483647 w 2472"/>
              <a:gd name="T27" fmla="*/ 2147483647 h 1568"/>
              <a:gd name="T28" fmla="*/ 2147483647 w 2472"/>
              <a:gd name="T29" fmla="*/ 2147483647 h 1568"/>
              <a:gd name="T30" fmla="*/ 2147483647 w 2472"/>
              <a:gd name="T31" fmla="*/ 2147483647 h 1568"/>
              <a:gd name="T32" fmla="*/ 2147483647 w 2472"/>
              <a:gd name="T33" fmla="*/ 2147483647 h 1568"/>
              <a:gd name="T34" fmla="*/ 2147483647 w 2472"/>
              <a:gd name="T35" fmla="*/ 2147483647 h 156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472"/>
              <a:gd name="T55" fmla="*/ 0 h 1568"/>
              <a:gd name="T56" fmla="*/ 2472 w 2472"/>
              <a:gd name="T57" fmla="*/ 1568 h 1568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472" h="1568">
                <a:moveTo>
                  <a:pt x="16" y="200"/>
                </a:moveTo>
                <a:cubicBezTo>
                  <a:pt x="24" y="296"/>
                  <a:pt x="16" y="560"/>
                  <a:pt x="64" y="680"/>
                </a:cubicBezTo>
                <a:cubicBezTo>
                  <a:pt x="112" y="800"/>
                  <a:pt x="200" y="840"/>
                  <a:pt x="304" y="920"/>
                </a:cubicBezTo>
                <a:cubicBezTo>
                  <a:pt x="408" y="1000"/>
                  <a:pt x="504" y="1072"/>
                  <a:pt x="688" y="1160"/>
                </a:cubicBezTo>
                <a:cubicBezTo>
                  <a:pt x="872" y="1248"/>
                  <a:pt x="1160" y="1384"/>
                  <a:pt x="1408" y="1448"/>
                </a:cubicBezTo>
                <a:cubicBezTo>
                  <a:pt x="1656" y="1512"/>
                  <a:pt x="2008" y="1568"/>
                  <a:pt x="2176" y="1544"/>
                </a:cubicBezTo>
                <a:cubicBezTo>
                  <a:pt x="2344" y="1520"/>
                  <a:pt x="2376" y="1408"/>
                  <a:pt x="2416" y="1304"/>
                </a:cubicBezTo>
                <a:cubicBezTo>
                  <a:pt x="2456" y="1200"/>
                  <a:pt x="2472" y="1032"/>
                  <a:pt x="2416" y="920"/>
                </a:cubicBezTo>
                <a:cubicBezTo>
                  <a:pt x="2360" y="808"/>
                  <a:pt x="2208" y="688"/>
                  <a:pt x="2080" y="632"/>
                </a:cubicBezTo>
                <a:cubicBezTo>
                  <a:pt x="1952" y="576"/>
                  <a:pt x="1800" y="608"/>
                  <a:pt x="1648" y="584"/>
                </a:cubicBezTo>
                <a:cubicBezTo>
                  <a:pt x="1496" y="560"/>
                  <a:pt x="1288" y="512"/>
                  <a:pt x="1168" y="488"/>
                </a:cubicBezTo>
                <a:cubicBezTo>
                  <a:pt x="1048" y="464"/>
                  <a:pt x="992" y="472"/>
                  <a:pt x="928" y="440"/>
                </a:cubicBezTo>
                <a:cubicBezTo>
                  <a:pt x="864" y="408"/>
                  <a:pt x="808" y="360"/>
                  <a:pt x="784" y="296"/>
                </a:cubicBezTo>
                <a:cubicBezTo>
                  <a:pt x="760" y="232"/>
                  <a:pt x="832" y="96"/>
                  <a:pt x="784" y="56"/>
                </a:cubicBezTo>
                <a:cubicBezTo>
                  <a:pt x="736" y="16"/>
                  <a:pt x="608" y="64"/>
                  <a:pt x="496" y="56"/>
                </a:cubicBezTo>
                <a:cubicBezTo>
                  <a:pt x="384" y="48"/>
                  <a:pt x="192" y="0"/>
                  <a:pt x="112" y="8"/>
                </a:cubicBezTo>
                <a:cubicBezTo>
                  <a:pt x="32" y="16"/>
                  <a:pt x="32" y="72"/>
                  <a:pt x="16" y="104"/>
                </a:cubicBezTo>
                <a:cubicBezTo>
                  <a:pt x="0" y="136"/>
                  <a:pt x="8" y="104"/>
                  <a:pt x="16" y="200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8203" name="Freeform 32">
            <a:extLst>
              <a:ext uri="{FF2B5EF4-FFF2-40B4-BE49-F238E27FC236}">
                <a16:creationId xmlns:a16="http://schemas.microsoft.com/office/drawing/2014/main" id="{43A9D7A4-97CD-1A43-9632-5EC8B90A9BCE}"/>
              </a:ext>
            </a:extLst>
          </p:cNvPr>
          <p:cNvSpPr>
            <a:spLocks/>
          </p:cNvSpPr>
          <p:nvPr/>
        </p:nvSpPr>
        <p:spPr bwMode="auto">
          <a:xfrm>
            <a:off x="6019800" y="2286000"/>
            <a:ext cx="1752600" cy="3352800"/>
          </a:xfrm>
          <a:custGeom>
            <a:avLst/>
            <a:gdLst>
              <a:gd name="T0" fmla="*/ 2147483647 w 1104"/>
              <a:gd name="T1" fmla="*/ 0 h 2112"/>
              <a:gd name="T2" fmla="*/ 2147483647 w 1104"/>
              <a:gd name="T3" fmla="*/ 2147483647 h 2112"/>
              <a:gd name="T4" fmla="*/ 0 w 1104"/>
              <a:gd name="T5" fmla="*/ 2147483647 h 2112"/>
              <a:gd name="T6" fmla="*/ 0 w 1104"/>
              <a:gd name="T7" fmla="*/ 2147483647 h 2112"/>
              <a:gd name="T8" fmla="*/ 2147483647 w 1104"/>
              <a:gd name="T9" fmla="*/ 2147483647 h 2112"/>
              <a:gd name="T10" fmla="*/ 2147483647 w 1104"/>
              <a:gd name="T11" fmla="*/ 2147483647 h 2112"/>
              <a:gd name="T12" fmla="*/ 2147483647 w 1104"/>
              <a:gd name="T13" fmla="*/ 2147483647 h 2112"/>
              <a:gd name="T14" fmla="*/ 2147483647 w 1104"/>
              <a:gd name="T15" fmla="*/ 2147483647 h 2112"/>
              <a:gd name="T16" fmla="*/ 2147483647 w 1104"/>
              <a:gd name="T17" fmla="*/ 2147483647 h 2112"/>
              <a:gd name="T18" fmla="*/ 2147483647 w 1104"/>
              <a:gd name="T19" fmla="*/ 2147483647 h 2112"/>
              <a:gd name="T20" fmla="*/ 2147483647 w 1104"/>
              <a:gd name="T21" fmla="*/ 2147483647 h 2112"/>
              <a:gd name="T22" fmla="*/ 2147483647 w 1104"/>
              <a:gd name="T23" fmla="*/ 2147483647 h 2112"/>
              <a:gd name="T24" fmla="*/ 2147483647 w 1104"/>
              <a:gd name="T25" fmla="*/ 2147483647 h 2112"/>
              <a:gd name="T26" fmla="*/ 2147483647 w 1104"/>
              <a:gd name="T27" fmla="*/ 2147483647 h 2112"/>
              <a:gd name="T28" fmla="*/ 2147483647 w 1104"/>
              <a:gd name="T29" fmla="*/ 2147483647 h 2112"/>
              <a:gd name="T30" fmla="*/ 2147483647 w 1104"/>
              <a:gd name="T31" fmla="*/ 0 h 2112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104"/>
              <a:gd name="T49" fmla="*/ 0 h 2112"/>
              <a:gd name="T50" fmla="*/ 1104 w 1104"/>
              <a:gd name="T51" fmla="*/ 2112 h 2112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104" h="2112">
                <a:moveTo>
                  <a:pt x="624" y="0"/>
                </a:moveTo>
                <a:lnTo>
                  <a:pt x="192" y="144"/>
                </a:lnTo>
                <a:lnTo>
                  <a:pt x="0" y="816"/>
                </a:lnTo>
                <a:lnTo>
                  <a:pt x="0" y="1248"/>
                </a:lnTo>
                <a:lnTo>
                  <a:pt x="48" y="1584"/>
                </a:lnTo>
                <a:lnTo>
                  <a:pt x="192" y="1872"/>
                </a:lnTo>
                <a:lnTo>
                  <a:pt x="336" y="2064"/>
                </a:lnTo>
                <a:lnTo>
                  <a:pt x="624" y="2112"/>
                </a:lnTo>
                <a:lnTo>
                  <a:pt x="768" y="2064"/>
                </a:lnTo>
                <a:lnTo>
                  <a:pt x="912" y="1824"/>
                </a:lnTo>
                <a:lnTo>
                  <a:pt x="1104" y="1392"/>
                </a:lnTo>
                <a:lnTo>
                  <a:pt x="1104" y="912"/>
                </a:lnTo>
                <a:lnTo>
                  <a:pt x="1008" y="528"/>
                </a:lnTo>
                <a:lnTo>
                  <a:pt x="864" y="240"/>
                </a:lnTo>
                <a:lnTo>
                  <a:pt x="720" y="96"/>
                </a:lnTo>
                <a:lnTo>
                  <a:pt x="624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Rectangle 2">
            <a:extLst>
              <a:ext uri="{FF2B5EF4-FFF2-40B4-BE49-F238E27FC236}">
                <a16:creationId xmlns:a16="http://schemas.microsoft.com/office/drawing/2014/main" id="{6E9E208F-F01B-CC44-B435-63B5C44F31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Master as a CSP Process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D693B9C2-C0EB-7D5F-A97E-23446E4F43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534400" cy="5334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Master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≡(</a:t>
            </a:r>
            <a:r>
              <a:rPr lang="el-GR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 sz="2800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i:Cryptnames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pays.i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→notPays.((i+1)mod 3)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		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notPays.((i+2) mod 3) 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→Stop)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      </a:t>
            </a:r>
            <a:r>
              <a:rPr lang="el-GR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(notPays.0 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notPays.1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notPays.2 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				</a:t>
            </a:r>
            <a:r>
              <a:rPr lang="en-US" altLang="en-US" sz="2800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 Stop))</a:t>
            </a:r>
          </a:p>
          <a:p>
            <a:pPr>
              <a:buFont typeface="Wingdings" pitchFamily="2" charset="2"/>
              <a:buNone/>
            </a:pPr>
            <a:r>
              <a:rPr lang="en-US" altLang="en-US" sz="28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Non-deterministically chooses to pay cryptographer i or not to pay either – implying host pays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2">
            <a:extLst>
              <a:ext uri="{FF2B5EF4-FFF2-40B4-BE49-F238E27FC236}">
                <a16:creationId xmlns:a16="http://schemas.microsoft.com/office/drawing/2014/main" id="{29A67B1F-3CA0-BF5A-5859-8514751EEA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4582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Cryptographer as a CSP process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AB6BC328-6B66-43F2-12BA-BE0F34B335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534400" cy="4876800"/>
          </a:xfrm>
        </p:spPr>
        <p:txBody>
          <a:bodyPr/>
          <a:lstStyle/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FFFF00"/>
                </a:solidFill>
                <a:effectLst/>
                <a:ea typeface="ＭＳ Ｐゴシック" charset="0"/>
                <a:cs typeface="ＭＳ Ｐゴシック" charset="0"/>
              </a:rPr>
              <a:t>Crypt(i)</a:t>
            </a:r>
            <a:r>
              <a:rPr lang="en-US" sz="2400">
                <a:effectLst/>
                <a:ea typeface="ＭＳ Ｐゴシック" charset="0"/>
                <a:cs typeface="ＭＳ Ｐゴシック" charset="0"/>
              </a:rPr>
              <a:t> </a:t>
            </a: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≡notPays.i→look.i.i.?x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→look.i.(i+1 mod 3).?y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 	→(if (x=y) then (out.i.agree →Stop)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else (out.i.disagree →Stop))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</a:t>
            </a:r>
            <a:r>
              <a:rPr lang="en-US" sz="2400">
                <a:effectLst/>
                <a:ea typeface="ＭＳ Ｐゴシック" charset="0"/>
                <a:cs typeface="Arial Unicode MS" charset="0"/>
              </a:rPr>
              <a:t>□(p</a:t>
            </a: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ays.i→look.i.i.?x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→look.i.(i+1 mod 3).?y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 	→(if (x=y) then (out.i.disagree →Stop)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effectLst/>
                <a:latin typeface="Arial Unicode MS" charset="0"/>
                <a:ea typeface="ＭＳ Ｐゴシック" charset="0"/>
                <a:cs typeface="Arial Unicode MS" charset="0"/>
              </a:rPr>
              <a:t>				else (out.i.agree →Stop))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endParaRPr lang="en-US" sz="2400">
              <a:effectLst/>
              <a:latin typeface="Arial Unicode MS" charset="0"/>
              <a:ea typeface="ＭＳ Ｐゴシック" charset="0"/>
              <a:cs typeface="Arial Unicode MS" charset="0"/>
            </a:endParaRP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If asked to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pay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and (x=y) say agree and else disagree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If asked </a:t>
            </a: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not to pay</a:t>
            </a:r>
            <a:r>
              <a:rPr lang="en-US" sz="2400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and (x=y) say disagree and else agree</a:t>
            </a:r>
          </a:p>
          <a:p>
            <a:pPr>
              <a:lnSpc>
                <a:spcPct val="80000"/>
              </a:lnSpc>
              <a:buFont typeface="Wingdings" charset="0"/>
              <a:buNone/>
              <a:defRPr/>
            </a:pPr>
            <a:r>
              <a:rPr 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look.i.j.x</a:t>
            </a:r>
            <a:r>
              <a:rPr lang="en-US" sz="2400" b="1">
                <a:solidFill>
                  <a:srgbClr val="00FF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charset="0"/>
                <a:ea typeface="ＭＳ Ｐゴシック" charset="0"/>
                <a:cs typeface="Arial Unicode MS" charset="0"/>
              </a:rPr>
              <a:t> </a:t>
            </a:r>
            <a:r>
              <a:rPr lang="en-US" sz="2400">
                <a:solidFill>
                  <a:srgbClr val="FF0000"/>
                </a:solidFill>
                <a:effectLst/>
                <a:latin typeface="Arial Unicode MS" charset="0"/>
                <a:ea typeface="ＭＳ Ｐゴシック" charset="0"/>
                <a:cs typeface="Arial Unicode MS" charset="0"/>
              </a:rPr>
              <a:t>≡cryptographer i reading value x from coin j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Rectangle 2">
            <a:extLst>
              <a:ext uri="{FF2B5EF4-FFF2-40B4-BE49-F238E27FC236}">
                <a16:creationId xmlns:a16="http://schemas.microsoft.com/office/drawing/2014/main" id="{810572FE-A0C3-1935-A32E-C22508AC28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Coin as a CSP Process</a:t>
            </a:r>
          </a:p>
        </p:txBody>
      </p:sp>
      <p:sp>
        <p:nvSpPr>
          <p:cNvPr id="184322" name="Rectangle 3">
            <a:extLst>
              <a:ext uri="{FF2B5EF4-FFF2-40B4-BE49-F238E27FC236}">
                <a16:creationId xmlns:a16="http://schemas.microsoft.com/office/drawing/2014/main" id="{108C0DB6-6AAD-4A37-20F4-49FF220F90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Coin(i)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Heads(i) </a:t>
            </a:r>
            <a:r>
              <a:rPr lang="el-GR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Π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Tails(i)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where 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Heads(i)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(look.i.i.heads→Heads(i)	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□ ( 	look(i-1 mod 3).i.heads 					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→Heads(i)	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Tails(i)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(look.i.i.tails→Tails(i) 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□ ( look(i-1 mod 3).i.tails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→Tails(i) 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Rectangle 2">
            <a:extLst>
              <a:ext uri="{FF2B5EF4-FFF2-40B4-BE49-F238E27FC236}">
                <a16:creationId xmlns:a16="http://schemas.microsoft.com/office/drawing/2014/main" id="{E11D4410-4E4E-A4D7-4A03-B9DBD5D8BA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Constructing the System</a:t>
            </a:r>
          </a:p>
        </p:txBody>
      </p:sp>
      <p:sp>
        <p:nvSpPr>
          <p:cNvPr id="186370" name="Rectangle 3">
            <a:extLst>
              <a:ext uri="{FF2B5EF4-FFF2-40B4-BE49-F238E27FC236}">
                <a16:creationId xmlns:a16="http://schemas.microsoft.com/office/drawing/2014/main" id="{F40D6539-8160-9A93-384A-C9C990DDBF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4582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Crypts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Crypt(0)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Crypt(1)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Crypt(2)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Coins 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≡ Coin(0)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Coin(1)</a:t>
            </a:r>
            <a:r>
              <a:rPr lang="en-US" altLang="en-US">
                <a:solidFill>
                  <a:srgbClr val="FF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|||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Coin(2)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Meal≡ ((Crypts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‖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Coins)     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‖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      Master)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			   </a:t>
            </a:r>
            <a:r>
              <a:rPr lang="en-US" altLang="en-US">
                <a:solidFill>
                  <a:schemeClr val="accent1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{|look|}</a:t>
            </a:r>
            <a:r>
              <a:rPr lang="en-US" altLang="en-US"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  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{|pays|}U{|notPays|}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Rectangle 2">
            <a:extLst>
              <a:ext uri="{FF2B5EF4-FFF2-40B4-BE49-F238E27FC236}">
                <a16:creationId xmlns:a16="http://schemas.microsoft.com/office/drawing/2014/main" id="{EF124FE9-C44B-932C-F031-B42F69D2A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</a:t>
            </a:r>
          </a:p>
        </p:txBody>
      </p:sp>
      <p:sp>
        <p:nvSpPr>
          <p:cNvPr id="188418" name="Rectangle 3">
            <a:extLst>
              <a:ext uri="{FF2B5EF4-FFF2-40B4-BE49-F238E27FC236}">
                <a16:creationId xmlns:a16="http://schemas.microsoft.com/office/drawing/2014/main" id="{6C5AE1A0-F31B-979A-68D5-7CFFB03DE4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19200"/>
            <a:ext cx="8458200" cy="4911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If anonymity is desired with respect to an observer of </a:t>
            </a: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(i.e. someone at the table)</a:t>
            </a:r>
          </a:p>
          <a:p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Such an observer should only see values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agree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disagree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announced on channel  </a:t>
            </a: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</a:t>
            </a:r>
          </a:p>
          <a:p>
            <a:pPr lvl="1"/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notPays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and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should be </a:t>
            </a:r>
            <a:r>
              <a:rPr lang="en-US" altLang="en-US" sz="24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abstracted.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Hence</a:t>
            </a:r>
            <a:endParaRPr lang="en-US" altLang="en-US" sz="24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 = { pays.i | 0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2} = {| pays |}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= { out.i | 0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i </a:t>
            </a:r>
            <a:r>
              <a:rPr lang="en-US" altLang="en-US" sz="2400" u="sng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2} = {| out |}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- all other events should be abstracted</a:t>
            </a:r>
          </a:p>
          <a:p>
            <a:pPr lvl="2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i.e. hidden – that is the observer will not even know whether or how often they occurred.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5" name="Rectangle 2">
            <a:extLst>
              <a:ext uri="{FF2B5EF4-FFF2-40B4-BE49-F238E27FC236}">
                <a16:creationId xmlns:a16="http://schemas.microsoft.com/office/drawing/2014/main" id="{5D857D2D-F5FA-1703-2753-C8E08B14B6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 -1</a:t>
            </a:r>
          </a:p>
        </p:txBody>
      </p:sp>
      <p:sp>
        <p:nvSpPr>
          <p:cNvPr id="190466" name="Rectangle 3">
            <a:extLst>
              <a:ext uri="{FF2B5EF4-FFF2-40B4-BE49-F238E27FC236}">
                <a16:creationId xmlns:a16="http://schemas.microsoft.com/office/drawing/2014/main" id="{A172BA16-A2A3-80F6-3618-CEE1A0A8C2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295400"/>
            <a:ext cx="8763000" cy="4835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System: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 \ { |look, notPays |}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requirement:</a:t>
            </a:r>
          </a:p>
          <a:p>
            <a:pPr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400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(Meal\{|look,notPays|})=Meal\{|look,notPays|}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That is, every permutation of events in Meal\{|look,notPays|} will result in the </a:t>
            </a:r>
            <a:r>
              <a:rPr lang="en-US" altLang="en-US" sz="24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same 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trace.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What other events are available? : {|out|}</a:t>
            </a:r>
          </a:p>
          <a:p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what does a trace consist of?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of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out.i.agree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or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out.i.disagree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events for 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0</a:t>
            </a:r>
            <a:r>
              <a:rPr lang="en-US" altLang="en-US" sz="2400" u="sng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  <a:r>
              <a:rPr lang="en-US" altLang="en-US" sz="2400" u="sng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&lt;</a:t>
            </a:r>
            <a:r>
              <a:rPr lang="en-US" altLang="en-US" sz="24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2</a:t>
            </a:r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: 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What does any permutation on {0,1,2} do?</a:t>
            </a:r>
          </a:p>
          <a:p>
            <a:pPr lvl="1"/>
            <a:r>
              <a:rPr lang="en-US" altLang="en-US" sz="24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Satisfying the anonymity requirement!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3" name="Rectangle 2">
            <a:extLst>
              <a:ext uri="{FF2B5EF4-FFF2-40B4-BE49-F238E27FC236}">
                <a16:creationId xmlns:a16="http://schemas.microsoft.com/office/drawing/2014/main" id="{C8E9D337-A31B-421C-AC1E-432C91896E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77813"/>
            <a:ext cx="87630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4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w.r.t. a Table Observer-2</a:t>
            </a:r>
          </a:p>
        </p:txBody>
      </p:sp>
      <p:sp>
        <p:nvSpPr>
          <p:cNvPr id="192514" name="Rectangle 3">
            <a:extLst>
              <a:ext uri="{FF2B5EF4-FFF2-40B4-BE49-F238E27FC236}">
                <a16:creationId xmlns:a16="http://schemas.microsoft.com/office/drawing/2014/main" id="{B4E9DDD5-E17B-C549-D637-8448041135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7630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Allowing more visible events: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Can allow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look.i.j.x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events to be visible but not their value:</a:t>
            </a:r>
          </a:p>
          <a:p>
            <a:pPr lvl="1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Let f</a:t>
            </a:r>
            <a:r>
              <a:rPr lang="en-US" altLang="en-US" baseline="-250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(look.i.j.x) = look.i.j – i.e. drop the value</a:t>
            </a:r>
          </a:p>
          <a:p>
            <a:pPr lvl="2"/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Erasing/hiding the data value!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New anonymity requirement:</a:t>
            </a:r>
          </a:p>
          <a:p>
            <a:pPr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(f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(Meal)\{|notPays|})=f</a:t>
            </a:r>
            <a:r>
              <a:rPr lang="en-US" altLang="en-US" baseline="-25000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look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(Meal)\{|notPays|}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Is it satisfied?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Rectangle 2">
            <a:extLst>
              <a:ext uri="{FF2B5EF4-FFF2-40B4-BE49-F238E27FC236}">
                <a16:creationId xmlns:a16="http://schemas.microsoft.com/office/drawing/2014/main" id="{ADCBAF0B-F00F-842F-791B-64296A78FF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</a:t>
            </a:r>
          </a:p>
        </p:txBody>
      </p:sp>
      <p:sp>
        <p:nvSpPr>
          <p:cNvPr id="194562" name="Rectangle 3">
            <a:extLst>
              <a:ext uri="{FF2B5EF4-FFF2-40B4-BE49-F238E27FC236}">
                <a16:creationId xmlns:a16="http://schemas.microsoft.com/office/drawing/2014/main" id="{8DA8CF05-CCB6-02DD-9CE8-03D151A5D6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Cryptographer (i+1) mod 3 and (i+2) mod 3 wants to remain anonymous from cryptographer i.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Take i=0 (others are similar)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Events indistinguishable by cryptographer i: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A= {pays.1, pays.2}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Events visible to cryptographer 0: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	B = {pays.0, notPays.0}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{|look.0|}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{|out|}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endParaRPr lang="el-GR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Rectangle 2">
            <a:extLst>
              <a:ext uri="{FF2B5EF4-FFF2-40B4-BE49-F238E27FC236}">
                <a16:creationId xmlns:a16="http://schemas.microsoft.com/office/drawing/2014/main" id="{BB629AA7-D715-6537-C1C5-242AC7FBF8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0-II</a:t>
            </a:r>
          </a:p>
        </p:txBody>
      </p:sp>
      <p:sp>
        <p:nvSpPr>
          <p:cNvPr id="196610" name="Rectangle 3">
            <a:extLst>
              <a:ext uri="{FF2B5EF4-FFF2-40B4-BE49-F238E27FC236}">
                <a16:creationId xmlns:a16="http://schemas.microsoft.com/office/drawing/2014/main" id="{9CD81747-4DEC-400E-1D3A-C79CFC597B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86800" cy="4530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Only one permutation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that satisfy </a:t>
            </a:r>
          </a:p>
          <a:p>
            <a:pPr algn="ctr">
              <a:buFont typeface="Wingdings" pitchFamily="2" charset="2"/>
              <a:buNone/>
            </a:pP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 = Meal\C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maps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pays.1 </a:t>
            </a:r>
            <a:r>
              <a:rPr lang="en-US" altLang="en-US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ＭＳ Ｐゴシック" panose="020B0600070205080204" pitchFamily="34" charset="-128"/>
              </a:rPr>
              <a:t>↔ </a:t>
            </a:r>
            <a:r>
              <a:rPr lang="en-US" altLang="en-US">
                <a:solidFill>
                  <a:srgbClr val="FF00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pays.2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Does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↔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 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hold?</a:t>
            </a:r>
            <a:endParaRPr lang="en-US" altLang="en-US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2">
            <a:extLst>
              <a:ext uri="{FF2B5EF4-FFF2-40B4-BE49-F238E27FC236}">
                <a16:creationId xmlns:a16="http://schemas.microsoft.com/office/drawing/2014/main" id="{4C613BF7-D603-0277-621B-245251CD39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7813"/>
            <a:ext cx="8534400" cy="1139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Anonymity of Cryptographer 0-III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C94058C6-DF55-8245-1620-7DB583014E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00200"/>
            <a:ext cx="8305800" cy="4876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Consider the case where Cryptographer 0 has access to the value of coin 2, i.e. look.2.2.x (i.e.  By eavesdropping on the transmission). Then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A= {pays.1, pays.2}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B = {pays.0, notPays.0}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{|out|}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			{|look.0,look.2.2|}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 = </a:t>
            </a:r>
            <a:r>
              <a:rPr lang="el-GR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Σ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\ (A U B)</a:t>
            </a:r>
            <a:endParaRPr lang="el-GR" altLang="en-US" sz="2800">
              <a:solidFill>
                <a:srgbClr val="00FF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Consider the trace: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 =&lt;pays.2, notpays.0, look.0.0.heads, look.0.1.heads, look.2.2.heads, out.2.disagree 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</a:t>
            </a:r>
            <a:r>
              <a:rPr lang="en-US" altLang="en-US" sz="2800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but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∉ 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sz="2800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 sz="28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(Meal\C).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		Violating anonymity!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5" name="Rectangle 2">
            <a:extLst>
              <a:ext uri="{FF2B5EF4-FFF2-40B4-BE49-F238E27FC236}">
                <a16:creationId xmlns:a16="http://schemas.microsoft.com/office/drawing/2014/main" id="{F9811DD4-EA6E-08B3-9075-C7C0E3D7A0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Analysis of a Violation</a:t>
            </a:r>
          </a:p>
        </p:txBody>
      </p:sp>
      <p:sp>
        <p:nvSpPr>
          <p:cNvPr id="200706" name="Rectangle 3">
            <a:extLst>
              <a:ext uri="{FF2B5EF4-FFF2-40B4-BE49-F238E27FC236}">
                <a16:creationId xmlns:a16="http://schemas.microsoft.com/office/drawing/2014/main" id="{FCAB0718-F9AC-81CA-D831-A032C8523E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Heads on all three coins are observed: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Hence out.2.disagree is consistent with pays.2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However not consistent with pays.2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So if pays.2 is replaced with pays.1, the rest of the trace is not consistent with that change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That is, </a:t>
            </a: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 rest of the trace contains sufficient information to distinguish pays.1 from pays.2 – violating anonymity!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2">
            <a:extLst>
              <a:ext uri="{FF2B5EF4-FFF2-40B4-BE49-F238E27FC236}">
                <a16:creationId xmlns:a16="http://schemas.microsoft.com/office/drawing/2014/main" id="{ADF4D2EE-AD42-94F3-4D91-BA903EEDD2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Correcting a Violation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529CB4A5-2853-D8AE-D408-7858AE4D54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Suppose look.2.2 is not available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Results in the trace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ja-JP" altLang="en-US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>
                <a:solidFill>
                  <a:srgbClr val="FF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 =&lt;pays.2, notpays.0, look.0.0.heads, look.0.1.heads, out.2.disagree &gt;</a:t>
            </a:r>
          </a:p>
          <a:p>
            <a:pPr>
              <a:lnSpc>
                <a:spcPct val="90000"/>
              </a:lnSpc>
            </a:pP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Then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Meal\C </a:t>
            </a:r>
            <a:r>
              <a:rPr lang="en-US" altLang="en-US"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and 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tr</a:t>
            </a:r>
            <a:r>
              <a:rPr lang="en-US" altLang="en-US">
                <a:solidFill>
                  <a:srgbClr val="00FF00"/>
                </a:solidFill>
                <a:effectLst/>
                <a:latin typeface="Arial Unicode MS" panose="020B0604020202020204" pitchFamily="34" charset="-128"/>
                <a:ea typeface="ＭＳ Ｐゴシック" panose="020B0600070205080204" pitchFamily="34" charset="-128"/>
              </a:rPr>
              <a:t>∈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p</a:t>
            </a:r>
            <a:r>
              <a:rPr lang="en-US" altLang="en-US" baseline="-25000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A</a:t>
            </a:r>
            <a:r>
              <a:rPr lang="en-US" altLang="en-US">
                <a:solidFill>
                  <a:srgbClr val="00FF00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</a:rPr>
              <a:t>(Meal\C)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Regaining anonymity!</a:t>
            </a:r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Conclusion:</a:t>
            </a:r>
            <a:r>
              <a:rPr lang="en-US" altLang="en-US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if the information about Coin(2) is not available, then anonymity is regained!</a:t>
            </a:r>
            <a:endParaRPr lang="en-US" altLang="en-US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rial Unicode MS" panose="020B0604020202020204" pitchFamily="34" charset="-128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rbit">
  <a:themeElements>
    <a:clrScheme name="Orbit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2_Orbi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rbit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Orbit</Template>
  <TotalTime>7920</TotalTime>
  <Words>8420</Words>
  <Application>Microsoft Macintosh PowerPoint</Application>
  <PresentationFormat>On-screen Show (4:3)</PresentationFormat>
  <Paragraphs>825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8" baseType="lpstr">
      <vt:lpstr>Arial Unicode MS</vt:lpstr>
      <vt:lpstr>Arial</vt:lpstr>
      <vt:lpstr>Comic Sans MS</vt:lpstr>
      <vt:lpstr>Symbol</vt:lpstr>
      <vt:lpstr>Tahoma</vt:lpstr>
      <vt:lpstr>Times New Roman</vt:lpstr>
      <vt:lpstr>Verdana</vt:lpstr>
      <vt:lpstr>Wingdings</vt:lpstr>
      <vt:lpstr>Wingdings 3</vt:lpstr>
      <vt:lpstr>2_Orbit</vt:lpstr>
      <vt:lpstr>Modeling Security Protocols  in CSP</vt:lpstr>
      <vt:lpstr>Example: The Yahalom Protocol</vt:lpstr>
      <vt:lpstr>Three Participants Views</vt:lpstr>
      <vt:lpstr>Objectives</vt:lpstr>
      <vt:lpstr>Encoding - I</vt:lpstr>
      <vt:lpstr>Encoding - II</vt:lpstr>
      <vt:lpstr>Initiator – the initial version</vt:lpstr>
      <vt:lpstr>Responder – the initial version</vt:lpstr>
      <vt:lpstr>The Server Jeeves</vt:lpstr>
      <vt:lpstr>Users</vt:lpstr>
      <vt:lpstr>Data Types</vt:lpstr>
      <vt:lpstr>The Intruder Process</vt:lpstr>
      <vt:lpstr>Proof Rules for Intruder Deductions</vt:lpstr>
      <vt:lpstr>Constructing the Network</vt:lpstr>
      <vt:lpstr>Network Connections</vt:lpstr>
      <vt:lpstr>Network Connections</vt:lpstr>
      <vt:lpstr>Network Connections</vt:lpstr>
      <vt:lpstr>A Sample Run - 1</vt:lpstr>
      <vt:lpstr>A Sample Run -2 </vt:lpstr>
      <vt:lpstr>Direct Communication</vt:lpstr>
      <vt:lpstr>Improved Network Connections</vt:lpstr>
      <vt:lpstr>Specifying Protocol Goals</vt:lpstr>
      <vt:lpstr>Protocol Security Objectives</vt:lpstr>
      <vt:lpstr>Secrecy</vt:lpstr>
      <vt:lpstr>Secrecy</vt:lpstr>
      <vt:lpstr>Secrecy of the Yahalom Protocol</vt:lpstr>
      <vt:lpstr>The Initiator with Signals</vt:lpstr>
      <vt:lpstr>Responder – the initial version</vt:lpstr>
      <vt:lpstr>The Leak Channel</vt:lpstr>
      <vt:lpstr>Where to insert the signal?</vt:lpstr>
      <vt:lpstr>Authentication</vt:lpstr>
      <vt:lpstr>Authentication in CSP</vt:lpstr>
      <vt:lpstr>Authentication</vt:lpstr>
      <vt:lpstr>Authentication in CSP</vt:lpstr>
      <vt:lpstr>Authentication in Yahalom</vt:lpstr>
      <vt:lpstr>Authenticating the Initiator - 1</vt:lpstr>
      <vt:lpstr>Authenticating the Initiator - 2</vt:lpstr>
      <vt:lpstr>Authenticating the Initiator - 3</vt:lpstr>
      <vt:lpstr>Authenticating the Responder -1</vt:lpstr>
      <vt:lpstr>Authenticating the Responder -2</vt:lpstr>
      <vt:lpstr>Authenticating the Responder-3</vt:lpstr>
      <vt:lpstr>Forms of Authentication Objectives</vt:lpstr>
      <vt:lpstr>Authentication Agreements</vt:lpstr>
      <vt:lpstr>Recall Trace Semantics</vt:lpstr>
      <vt:lpstr>Common Format for Specification</vt:lpstr>
      <vt:lpstr>Generalizing Authentication</vt:lpstr>
      <vt:lpstr>Generalizing Authentication - 2</vt:lpstr>
      <vt:lpstr>Fact on 1-1 Agreements</vt:lpstr>
      <vt:lpstr>Non-injective Agreements</vt:lpstr>
      <vt:lpstr>More properties of agreements</vt:lpstr>
      <vt:lpstr>A weaker version of non-injectivity</vt:lpstr>
      <vt:lpstr>Weak Agreements</vt:lpstr>
      <vt:lpstr>Weak vs. Non-injective</vt:lpstr>
      <vt:lpstr>Aliveness</vt:lpstr>
      <vt:lpstr>Aliveness vs. Weak-agreement</vt:lpstr>
      <vt:lpstr>Agreeing on the Protocol</vt:lpstr>
      <vt:lpstr>Recentness</vt:lpstr>
      <vt:lpstr>An Alternative: Timed Authentication</vt:lpstr>
      <vt:lpstr>Timed Authentication </vt:lpstr>
      <vt:lpstr>Clocks</vt:lpstr>
      <vt:lpstr>Timed Authentication</vt:lpstr>
      <vt:lpstr>Properties of timed Authentication</vt:lpstr>
      <vt:lpstr>Monotonicity of Timed Specs</vt:lpstr>
      <vt:lpstr>Un-timed vs. Timed Specs</vt:lpstr>
      <vt:lpstr>Non-repudiation</vt:lpstr>
      <vt:lpstr>Non-repudiation Objectives</vt:lpstr>
      <vt:lpstr>Signals and Arguments of Evidence</vt:lpstr>
      <vt:lpstr>Signals and Arguments of Evidence</vt:lpstr>
      <vt:lpstr>Sending and Agent Knowledge</vt:lpstr>
      <vt:lpstr>The Zhou-Gollmann Protocol -1</vt:lpstr>
      <vt:lpstr>The Zhou-Gollmann Protocol -2</vt:lpstr>
      <vt:lpstr>Properties of Zhou-Gollmann - 3</vt:lpstr>
      <vt:lpstr>The Zhou-Gollmann Protocol -3</vt:lpstr>
      <vt:lpstr>The Zhou-Gollmann Protocol -4</vt:lpstr>
      <vt:lpstr>The Zhou-Gollmann in CSP -1</vt:lpstr>
      <vt:lpstr>Zhou-Gollmann in CSP - 2</vt:lpstr>
      <vt:lpstr>Zhou-Gollmann in CSP - 3</vt:lpstr>
      <vt:lpstr>Anonymity in CSP</vt:lpstr>
      <vt:lpstr>Definitions</vt:lpstr>
      <vt:lpstr>CSP Formulation</vt:lpstr>
      <vt:lpstr>The Attacker Model</vt:lpstr>
      <vt:lpstr>Users and Observers</vt:lpstr>
      <vt:lpstr>Other Parameters</vt:lpstr>
      <vt:lpstr>The Dining Cryptographer’s Problem</vt:lpstr>
      <vt:lpstr>Dining Cryptographer’s Algorithm</vt:lpstr>
      <vt:lpstr>The Dining Cryptographers</vt:lpstr>
      <vt:lpstr>The Master as a CSP Process</vt:lpstr>
      <vt:lpstr>Cryptographer as a CSP process</vt:lpstr>
      <vt:lpstr>The Coin as a CSP Process</vt:lpstr>
      <vt:lpstr>Constructing the System</vt:lpstr>
      <vt:lpstr>Anonymity w.r.t. a Table Observer</vt:lpstr>
      <vt:lpstr>Anonymity w.r.t. a Table Observer -1</vt:lpstr>
      <vt:lpstr>Anonymity w.r.t. a Table Observer-2</vt:lpstr>
      <vt:lpstr>Anonymity of Cryptographer 0-I</vt:lpstr>
      <vt:lpstr>Anonymity of Cryptographer 0-II</vt:lpstr>
      <vt:lpstr>Anonymity of Cryptographer 0-III</vt:lpstr>
      <vt:lpstr>Analysis of a Violation</vt:lpstr>
      <vt:lpstr>Correcting a Violation</vt:lpstr>
    </vt:vector>
  </TitlesOfParts>
  <Company>ELTE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</dc:title>
  <dc:subject/>
  <dc:creator>Farkas János</dc:creator>
  <cp:lastModifiedBy>Duminda Wijesekera</cp:lastModifiedBy>
  <cp:revision>1137</cp:revision>
  <dcterms:created xsi:type="dcterms:W3CDTF">2008-11-11T19:34:58Z</dcterms:created>
  <dcterms:modified xsi:type="dcterms:W3CDTF">2026-01-09T17:00:43Z</dcterms:modified>
</cp:coreProperties>
</file>