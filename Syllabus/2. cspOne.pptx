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78"/>
  </p:notesMasterIdLst>
  <p:handoutMasterIdLst>
    <p:handoutMasterId r:id="rId79"/>
  </p:handoutMasterIdLst>
  <p:sldIdLst>
    <p:sldId id="256" r:id="rId2"/>
    <p:sldId id="315" r:id="rId3"/>
    <p:sldId id="351" r:id="rId4"/>
    <p:sldId id="331" r:id="rId5"/>
    <p:sldId id="352" r:id="rId6"/>
    <p:sldId id="353" r:id="rId7"/>
    <p:sldId id="354" r:id="rId8"/>
    <p:sldId id="332" r:id="rId9"/>
    <p:sldId id="333" r:id="rId10"/>
    <p:sldId id="334" r:id="rId11"/>
    <p:sldId id="335" r:id="rId12"/>
    <p:sldId id="336" r:id="rId13"/>
    <p:sldId id="340" r:id="rId14"/>
    <p:sldId id="337" r:id="rId15"/>
    <p:sldId id="338" r:id="rId16"/>
    <p:sldId id="341" r:id="rId17"/>
    <p:sldId id="342" r:id="rId18"/>
    <p:sldId id="343" r:id="rId19"/>
    <p:sldId id="344" r:id="rId20"/>
    <p:sldId id="345" r:id="rId21"/>
    <p:sldId id="348" r:id="rId22"/>
    <p:sldId id="355" r:id="rId23"/>
    <p:sldId id="349" r:id="rId24"/>
    <p:sldId id="358" r:id="rId25"/>
    <p:sldId id="357" r:id="rId26"/>
    <p:sldId id="363" r:id="rId27"/>
    <p:sldId id="362" r:id="rId28"/>
    <p:sldId id="364" r:id="rId29"/>
    <p:sldId id="360" r:id="rId30"/>
    <p:sldId id="350" r:id="rId31"/>
    <p:sldId id="365" r:id="rId32"/>
    <p:sldId id="361" r:id="rId33"/>
    <p:sldId id="366" r:id="rId34"/>
    <p:sldId id="373" r:id="rId35"/>
    <p:sldId id="367" r:id="rId36"/>
    <p:sldId id="374" r:id="rId37"/>
    <p:sldId id="375" r:id="rId38"/>
    <p:sldId id="368" r:id="rId39"/>
    <p:sldId id="369" r:id="rId40"/>
    <p:sldId id="377" r:id="rId41"/>
    <p:sldId id="370" r:id="rId42"/>
    <p:sldId id="371" r:id="rId43"/>
    <p:sldId id="376" r:id="rId44"/>
    <p:sldId id="378" r:id="rId45"/>
    <p:sldId id="372" r:id="rId46"/>
    <p:sldId id="379" r:id="rId47"/>
    <p:sldId id="380" r:id="rId48"/>
    <p:sldId id="381" r:id="rId49"/>
    <p:sldId id="382" r:id="rId50"/>
    <p:sldId id="385" r:id="rId51"/>
    <p:sldId id="384" r:id="rId52"/>
    <p:sldId id="386" r:id="rId53"/>
    <p:sldId id="383" r:id="rId54"/>
    <p:sldId id="405" r:id="rId55"/>
    <p:sldId id="391" r:id="rId56"/>
    <p:sldId id="393" r:id="rId57"/>
    <p:sldId id="408" r:id="rId58"/>
    <p:sldId id="406" r:id="rId59"/>
    <p:sldId id="407" r:id="rId60"/>
    <p:sldId id="392" r:id="rId61"/>
    <p:sldId id="409" r:id="rId62"/>
    <p:sldId id="396" r:id="rId63"/>
    <p:sldId id="397" r:id="rId64"/>
    <p:sldId id="398" r:id="rId65"/>
    <p:sldId id="399" r:id="rId66"/>
    <p:sldId id="410" r:id="rId67"/>
    <p:sldId id="401" r:id="rId68"/>
    <p:sldId id="387" r:id="rId69"/>
    <p:sldId id="388" r:id="rId70"/>
    <p:sldId id="389" r:id="rId71"/>
    <p:sldId id="390" r:id="rId72"/>
    <p:sldId id="394" r:id="rId73"/>
    <p:sldId id="395" r:id="rId74"/>
    <p:sldId id="402" r:id="rId75"/>
    <p:sldId id="403" r:id="rId76"/>
    <p:sldId id="404" r:id="rId7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1"/>
    <p:restoredTop sz="93299"/>
  </p:normalViewPr>
  <p:slideViewPr>
    <p:cSldViewPr>
      <p:cViewPr varScale="1">
        <p:scale>
          <a:sx n="71" d="100"/>
          <a:sy n="71" d="100"/>
        </p:scale>
        <p:origin x="12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38"/>
    </p:cViewPr>
  </p:sorterViewPr>
  <p:notesViewPr>
    <p:cSldViewPr>
      <p:cViewPr varScale="1">
        <p:scale>
          <a:sx n="33" d="100"/>
          <a:sy n="33" d="100"/>
        </p:scale>
        <p:origin x="-1162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1ABEE5-6A16-9B84-F946-D344669322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BE212-3E7F-FBD8-2841-7D10D373E7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AB39639-3CD2-9241-853E-36A615AF064D}" type="datetime1">
              <a:rPr lang="en-US" altLang="en-US"/>
              <a:pPr/>
              <a:t>2/12/26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34E7-197E-EE45-0A84-7EF980B6F9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73DCD-BD6B-A23F-5253-C4C359698D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F3069E6-F0CB-354B-B6F9-D37C7C11C6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11CC109-A881-5D76-4212-70E26E7BC9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5DDC4BC-A9D8-6F18-ECF5-79D0CA4B3D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897B343-166A-DF7F-214D-6A5DCAB644B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831F3E5E-C785-6395-43ED-23D54CE93E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 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21F8B48-4BA5-2A1D-4C60-BE9813B5FA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A730345-2BEE-6111-BF1B-F18D5257D9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29FC20ED-E696-4644-A546-F2455E8CB76A}" type="slidenum">
              <a:rPr lang="hu-HU" altLang="en-US"/>
              <a:pPr/>
              <a:t>‹#›</a:t>
            </a:fld>
            <a:endParaRPr lang="hu-H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1905E84B-4927-46D1-A037-C4172E1E5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630A4D-7CFD-3D43-B455-98A2B56404CB}" type="slidenum">
              <a:rPr lang="hu-HU" altLang="en-US" sz="1200">
                <a:latin typeface="Times New Roman" panose="02020603050405020304" pitchFamily="18" charset="0"/>
              </a:rPr>
              <a:pPr/>
              <a:t>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F7F17A7E-7327-3EB3-1E85-70E047B362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7BE8C93-D6E0-8C0D-0E4D-E61BD6327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E2346786-A39B-EB55-39E7-1D87B3A51F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D095FA0D-9788-3D24-1D98-235277114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A711D15C-8B96-B580-DF7D-B3A5054B6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D7C63A-4A7F-D446-8EEE-C816CEC875B8}" type="slidenum">
              <a:rPr lang="hu-HU" altLang="en-US" sz="1200">
                <a:latin typeface="Times New Roman" panose="02020603050405020304" pitchFamily="18" charset="0"/>
              </a:rPr>
              <a:pPr/>
              <a:t>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C61CF93F-8859-5572-C5BB-94B6849471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4E08A53A-90C0-FE73-D084-26BA0592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65DA04F9-8D09-AF8D-EBBA-3336AC80C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748A32F-C9B5-9945-9C43-82464FCC2965}" type="slidenum">
              <a:rPr lang="hu-HU" altLang="en-US" sz="1200">
                <a:latin typeface="Times New Roman" panose="02020603050405020304" pitchFamily="18" charset="0"/>
              </a:rPr>
              <a:pPr/>
              <a:t>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BD2934BB-3333-F6CD-4D26-BF1DDEA3D9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4315B527-C133-DB02-C88D-B0D26B0A8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D871BC29-8A40-C5B4-4906-EFE846A53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2FD8EF-07ED-184C-AA83-9F5A5E1888C9}" type="slidenum">
              <a:rPr lang="hu-HU" altLang="en-US" sz="1200">
                <a:latin typeface="Times New Roman" panose="02020603050405020304" pitchFamily="18" charset="0"/>
              </a:rPr>
              <a:pPr/>
              <a:t>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5DED6ADC-ADA9-3199-FC5D-89AED2B35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BE81A7FD-E378-20AD-3791-04F9D1D75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5D45CEC0-90CA-B03E-74EA-5B49BD979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2B6C8B-D5EA-0F43-BCDC-300F692ED5BC}" type="slidenum">
              <a:rPr lang="hu-HU" altLang="en-US" sz="1200">
                <a:latin typeface="Times New Roman" panose="02020603050405020304" pitchFamily="18" charset="0"/>
              </a:rPr>
              <a:pPr/>
              <a:t>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>
            <a:extLst>
              <a:ext uri="{FF2B5EF4-FFF2-40B4-BE49-F238E27FC236}">
                <a16:creationId xmlns:a16="http://schemas.microsoft.com/office/drawing/2014/main" id="{44DAEA4C-6481-80AB-AEBB-5077D3164B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0" name="Notes Placeholder 2">
            <a:extLst>
              <a:ext uri="{FF2B5EF4-FFF2-40B4-BE49-F238E27FC236}">
                <a16:creationId xmlns:a16="http://schemas.microsoft.com/office/drawing/2014/main" id="{023A8CF0-8F8F-07D0-AD2A-1083B32B2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642BAAD1-E54C-6476-2284-ADE114E21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F4A539-60D2-7347-B4F0-44F29E55D18D}" type="slidenum">
              <a:rPr lang="hu-HU" altLang="en-US" sz="1200">
                <a:latin typeface="Times New Roman" panose="02020603050405020304" pitchFamily="18" charset="0"/>
              </a:rPr>
              <a:pPr/>
              <a:t>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9942C0DE-9689-A547-21FB-A1CFEC71B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9D0A5990-DD78-DC85-5CA8-88D2B015B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3062E20-B1DD-BE24-5D59-9D335E104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79205CC-AA54-134D-AD11-6B627C968943}" type="slidenum">
              <a:rPr lang="hu-HU" altLang="en-US" sz="1200">
                <a:latin typeface="Times New Roman" panose="02020603050405020304" pitchFamily="18" charset="0"/>
              </a:rPr>
              <a:pPr/>
              <a:t>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92373CDE-1595-4381-03CA-BB977B9F52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BE23486-E275-9060-AB10-8B4D1B12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27655118-5ADE-587F-E596-BB7CD7CF4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938479-907F-6241-9CB6-E629EAF5DE9F}" type="slidenum">
              <a:rPr lang="hu-HU" altLang="en-US" sz="1200">
                <a:latin typeface="Times New Roman" panose="02020603050405020304" pitchFamily="18" charset="0"/>
              </a:rPr>
              <a:pPr/>
              <a:t>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A587B624-78BB-8318-4BC5-396BAB7726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354198C1-A4F2-0AA7-9EBC-6F94DBB9E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1C187BD4-306D-004B-12CC-1524B713F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9FA1C6-E5B3-724B-BEF9-009ECF99862B}" type="slidenum">
              <a:rPr lang="hu-HU" altLang="en-US" sz="1200">
                <a:latin typeface="Times New Roman" panose="02020603050405020304" pitchFamily="18" charset="0"/>
              </a:rPr>
              <a:pPr/>
              <a:t>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1DD47E9-3BC0-A337-F670-F001E411C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9B3C19E-88D9-2D3A-94DC-402E6623D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A2F027C-1A15-BD10-6B3E-941F142BB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4CF862-62BB-0145-AB39-B02D48C17EEC}" type="slidenum">
              <a:rPr lang="hu-HU" altLang="en-US" sz="1200">
                <a:latin typeface="Times New Roman" panose="02020603050405020304" pitchFamily="18" charset="0"/>
              </a:rPr>
              <a:pPr/>
              <a:t>10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D222D595-19E1-DFE1-39CC-919E3E75C6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FCF3801E-6301-0991-4995-09C6F9CE8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F3B9D2B5-161E-563B-6BC8-44FD2F5CA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2A6B5F-B48D-364C-B2F5-9C2CC8638AFB}" type="slidenum">
              <a:rPr lang="hu-HU" altLang="en-US" sz="1200">
                <a:latin typeface="Times New Roman" panose="02020603050405020304" pitchFamily="18" charset="0"/>
              </a:rPr>
              <a:pPr/>
              <a:t>11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ACC12DDF-CF13-75CE-7E0E-D0A5295796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8460FF55-0EF0-F522-8C8D-34A4D9B64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256407F8-4149-4A2E-BA89-A908B69D0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828009-D58A-D84A-8B0B-3DAFB1300B58}" type="slidenum">
              <a:rPr lang="hu-HU" altLang="en-US" sz="1200">
                <a:latin typeface="Times New Roman" panose="02020603050405020304" pitchFamily="18" charset="0"/>
              </a:rPr>
              <a:pPr/>
              <a:t>12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>
            <a:extLst>
              <a:ext uri="{FF2B5EF4-FFF2-40B4-BE49-F238E27FC236}">
                <a16:creationId xmlns:a16="http://schemas.microsoft.com/office/drawing/2014/main" id="{B639DC28-E1B6-4261-B9B4-93E5A260F7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6" name="Notes Placeholder 2">
            <a:extLst>
              <a:ext uri="{FF2B5EF4-FFF2-40B4-BE49-F238E27FC236}">
                <a16:creationId xmlns:a16="http://schemas.microsoft.com/office/drawing/2014/main" id="{5825C87E-37F2-8DA7-2348-F0574BCA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044449B9-6E52-BA58-4E91-5A024B2FF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DC9834-CD3F-694E-9485-59B883C12298}" type="slidenum">
              <a:rPr lang="hu-HU" altLang="en-US" sz="1200">
                <a:latin typeface="Times New Roman" panose="02020603050405020304" pitchFamily="18" charset="0"/>
              </a:rPr>
              <a:pPr/>
              <a:t>13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3EFE96B0-1F7D-269E-24B4-F1A833AD37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50AE5EC7-F30F-9A81-393B-EA50764CB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839CCC59-0253-DC87-A3D4-2409630BB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46ECAF-D876-9147-8C94-4A65691F22D3}" type="slidenum">
              <a:rPr lang="hu-HU" altLang="en-US" sz="1200">
                <a:latin typeface="Times New Roman" panose="02020603050405020304" pitchFamily="18" charset="0"/>
              </a:rPr>
              <a:pPr/>
              <a:t>14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>
            <a:extLst>
              <a:ext uri="{FF2B5EF4-FFF2-40B4-BE49-F238E27FC236}">
                <a16:creationId xmlns:a16="http://schemas.microsoft.com/office/drawing/2014/main" id="{DAA2F5BE-C9E8-0C2F-E925-DC73FE1862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2" name="Notes Placeholder 2">
            <a:extLst>
              <a:ext uri="{FF2B5EF4-FFF2-40B4-BE49-F238E27FC236}">
                <a16:creationId xmlns:a16="http://schemas.microsoft.com/office/drawing/2014/main" id="{730796F0-B475-5AA7-8E2E-2103628F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81FEFE0D-395F-486C-84AF-7B74D6082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E37526B-9EFE-9C42-B11E-B4DF58937D61}" type="slidenum">
              <a:rPr lang="hu-HU" altLang="en-US" sz="1200">
                <a:latin typeface="Times New Roman" panose="02020603050405020304" pitchFamily="18" charset="0"/>
              </a:rPr>
              <a:pPr/>
              <a:t>15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>
            <a:extLst>
              <a:ext uri="{FF2B5EF4-FFF2-40B4-BE49-F238E27FC236}">
                <a16:creationId xmlns:a16="http://schemas.microsoft.com/office/drawing/2014/main" id="{97A6C9A0-E168-1C8B-F289-443C3F6BC4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0" name="Notes Placeholder 2">
            <a:extLst>
              <a:ext uri="{FF2B5EF4-FFF2-40B4-BE49-F238E27FC236}">
                <a16:creationId xmlns:a16="http://schemas.microsoft.com/office/drawing/2014/main" id="{136E31E6-E7B6-CEC1-B321-43375CCF4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F70F6D8F-2698-62B0-433E-29798A954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A756E4-90C9-374C-9FCA-3EFD07B65199}" type="slidenum">
              <a:rPr lang="hu-HU" altLang="en-US" sz="1200">
                <a:latin typeface="Times New Roman" panose="02020603050405020304" pitchFamily="18" charset="0"/>
              </a:rPr>
              <a:pPr/>
              <a:t>16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>
            <a:extLst>
              <a:ext uri="{FF2B5EF4-FFF2-40B4-BE49-F238E27FC236}">
                <a16:creationId xmlns:a16="http://schemas.microsoft.com/office/drawing/2014/main" id="{7D6BDB3C-ED1E-4AE5-9814-8E473A106D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8" name="Notes Placeholder 2">
            <a:extLst>
              <a:ext uri="{FF2B5EF4-FFF2-40B4-BE49-F238E27FC236}">
                <a16:creationId xmlns:a16="http://schemas.microsoft.com/office/drawing/2014/main" id="{90C163FC-1A05-EAE5-B66F-F8F149D56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5E0207DE-DAEA-85CB-0672-D1AB0BC3D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BA67EC-D379-374B-AE89-C6561251DF86}" type="slidenum">
              <a:rPr lang="hu-HU" altLang="en-US" sz="1200">
                <a:latin typeface="Times New Roman" panose="02020603050405020304" pitchFamily="18" charset="0"/>
              </a:rPr>
              <a:pPr/>
              <a:t>17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>
            <a:extLst>
              <a:ext uri="{FF2B5EF4-FFF2-40B4-BE49-F238E27FC236}">
                <a16:creationId xmlns:a16="http://schemas.microsoft.com/office/drawing/2014/main" id="{E183A33C-0874-8F49-2064-CA3DC61A7B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6" name="Notes Placeholder 2">
            <a:extLst>
              <a:ext uri="{FF2B5EF4-FFF2-40B4-BE49-F238E27FC236}">
                <a16:creationId xmlns:a16="http://schemas.microsoft.com/office/drawing/2014/main" id="{4B9D3C0D-3C49-E066-413F-82E4C69C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F801BE2A-73B5-BE03-8603-BE75332AC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5F1C5C-F3F7-FC41-93FA-95BC7B029C27}" type="slidenum">
              <a:rPr lang="hu-HU" altLang="en-US" sz="1200">
                <a:latin typeface="Times New Roman" panose="02020603050405020304" pitchFamily="18" charset="0"/>
              </a:rPr>
              <a:pPr/>
              <a:t>18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35B55C29-B852-89D0-AB82-0AEFC90FA2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794FA0C6-8C48-4FBE-6753-C480A7291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C80DDA46-4363-23D9-64CD-82E6231FF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8F81505-F38C-0C40-A520-851ACC1F7899}" type="slidenum">
              <a:rPr lang="hu-HU" altLang="en-US" sz="1200">
                <a:latin typeface="Times New Roman" panose="02020603050405020304" pitchFamily="18" charset="0"/>
              </a:rPr>
              <a:pPr/>
              <a:t>19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>
            <a:extLst>
              <a:ext uri="{FF2B5EF4-FFF2-40B4-BE49-F238E27FC236}">
                <a16:creationId xmlns:a16="http://schemas.microsoft.com/office/drawing/2014/main" id="{F8335055-7DF4-2EC4-D5E2-F12C9A01AB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2" name="Notes Placeholder 2">
            <a:extLst>
              <a:ext uri="{FF2B5EF4-FFF2-40B4-BE49-F238E27FC236}">
                <a16:creationId xmlns:a16="http://schemas.microsoft.com/office/drawing/2014/main" id="{F0001150-925B-50BC-6E1E-D382F084F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6323" name="Slide Number Placeholder 3">
            <a:extLst>
              <a:ext uri="{FF2B5EF4-FFF2-40B4-BE49-F238E27FC236}">
                <a16:creationId xmlns:a16="http://schemas.microsoft.com/office/drawing/2014/main" id="{8F8FE3EB-B3C0-7B11-D1F2-F486D6D65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9067FA-9DCE-E746-888A-ADE00A80D415}" type="slidenum">
              <a:rPr lang="hu-HU" altLang="en-US" sz="1200">
                <a:latin typeface="Times New Roman" panose="02020603050405020304" pitchFamily="18" charset="0"/>
              </a:rPr>
              <a:pPr/>
              <a:t>20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>
            <a:extLst>
              <a:ext uri="{FF2B5EF4-FFF2-40B4-BE49-F238E27FC236}">
                <a16:creationId xmlns:a16="http://schemas.microsoft.com/office/drawing/2014/main" id="{0984CEF3-52D1-EC8A-52AD-4265877035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0" name="Notes Placeholder 2">
            <a:extLst>
              <a:ext uri="{FF2B5EF4-FFF2-40B4-BE49-F238E27FC236}">
                <a16:creationId xmlns:a16="http://schemas.microsoft.com/office/drawing/2014/main" id="{70EBFC5C-C060-C2E4-A218-96B7CB776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8371" name="Slide Number Placeholder 3">
            <a:extLst>
              <a:ext uri="{FF2B5EF4-FFF2-40B4-BE49-F238E27FC236}">
                <a16:creationId xmlns:a16="http://schemas.microsoft.com/office/drawing/2014/main" id="{3157BDF9-3711-050F-9AB7-27FAEF636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BC5E503-0D26-7143-AF22-F4BB8BBCC8AC}" type="slidenum">
              <a:rPr lang="hu-HU" altLang="en-US" sz="1200">
                <a:latin typeface="Times New Roman" panose="02020603050405020304" pitchFamily="18" charset="0"/>
              </a:rPr>
              <a:pPr/>
              <a:t>21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>
            <a:extLst>
              <a:ext uri="{FF2B5EF4-FFF2-40B4-BE49-F238E27FC236}">
                <a16:creationId xmlns:a16="http://schemas.microsoft.com/office/drawing/2014/main" id="{084D1BE7-42FE-7F85-7FC6-DF8BB9582D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>
            <a:extLst>
              <a:ext uri="{FF2B5EF4-FFF2-40B4-BE49-F238E27FC236}">
                <a16:creationId xmlns:a16="http://schemas.microsoft.com/office/drawing/2014/main" id="{DA98FEAE-197F-6568-79F5-F590A74A6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7DBFCE09-2ABF-F110-0BA5-609F31485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546416-55DC-C14B-A6A7-F4A36DCC5A63}" type="slidenum">
              <a:rPr lang="hu-HU" altLang="en-US" sz="1200">
                <a:latin typeface="Times New Roman" panose="02020603050405020304" pitchFamily="18" charset="0"/>
              </a:rPr>
              <a:pPr/>
              <a:t>22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>
            <a:extLst>
              <a:ext uri="{FF2B5EF4-FFF2-40B4-BE49-F238E27FC236}">
                <a16:creationId xmlns:a16="http://schemas.microsoft.com/office/drawing/2014/main" id="{B6B0E046-1842-6F36-0B00-CDBA8131AB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>
            <a:extLst>
              <a:ext uri="{FF2B5EF4-FFF2-40B4-BE49-F238E27FC236}">
                <a16:creationId xmlns:a16="http://schemas.microsoft.com/office/drawing/2014/main" id="{504E017E-7FB6-C115-4902-6412A0A0F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CF54CD7F-6BCA-6719-7789-BD256B003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9CCD068-4A2B-B142-B425-20998E9052FB}" type="slidenum">
              <a:rPr lang="hu-HU" altLang="en-US" sz="1200">
                <a:latin typeface="Times New Roman" panose="02020603050405020304" pitchFamily="18" charset="0"/>
              </a:rPr>
              <a:pPr/>
              <a:t>23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>
            <a:extLst>
              <a:ext uri="{FF2B5EF4-FFF2-40B4-BE49-F238E27FC236}">
                <a16:creationId xmlns:a16="http://schemas.microsoft.com/office/drawing/2014/main" id="{027340D5-E3AC-18BE-23AA-E1081A670E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4" name="Notes Placeholder 2">
            <a:extLst>
              <a:ext uri="{FF2B5EF4-FFF2-40B4-BE49-F238E27FC236}">
                <a16:creationId xmlns:a16="http://schemas.microsoft.com/office/drawing/2014/main" id="{7336B2A0-A84E-B894-8E91-DF069880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4515" name="Slide Number Placeholder 3">
            <a:extLst>
              <a:ext uri="{FF2B5EF4-FFF2-40B4-BE49-F238E27FC236}">
                <a16:creationId xmlns:a16="http://schemas.microsoft.com/office/drawing/2014/main" id="{36BE6E29-E1EC-0D1A-6D0D-18072C3C4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561E1B-7F5B-DA4B-A0A5-B5B80EB8EF32}" type="slidenum">
              <a:rPr lang="hu-HU" altLang="en-US" sz="1200">
                <a:latin typeface="Times New Roman" panose="02020603050405020304" pitchFamily="18" charset="0"/>
              </a:rPr>
              <a:pPr/>
              <a:t>24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>
            <a:extLst>
              <a:ext uri="{FF2B5EF4-FFF2-40B4-BE49-F238E27FC236}">
                <a16:creationId xmlns:a16="http://schemas.microsoft.com/office/drawing/2014/main" id="{F48A931D-C6DD-3E65-10F7-16E68E53A4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2" name="Notes Placeholder 2">
            <a:extLst>
              <a:ext uri="{FF2B5EF4-FFF2-40B4-BE49-F238E27FC236}">
                <a16:creationId xmlns:a16="http://schemas.microsoft.com/office/drawing/2014/main" id="{715A137E-3A0C-6BB5-D9F0-691C0F1E8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6563" name="Slide Number Placeholder 3">
            <a:extLst>
              <a:ext uri="{FF2B5EF4-FFF2-40B4-BE49-F238E27FC236}">
                <a16:creationId xmlns:a16="http://schemas.microsoft.com/office/drawing/2014/main" id="{12030412-4A59-4D4E-C565-DFDDC4CE8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477D15-A746-DB42-9236-29FF58E1D71C}" type="slidenum">
              <a:rPr lang="hu-HU" altLang="en-US" sz="1200">
                <a:latin typeface="Times New Roman" panose="02020603050405020304" pitchFamily="18" charset="0"/>
              </a:rPr>
              <a:pPr/>
              <a:t>25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>
            <a:extLst>
              <a:ext uri="{FF2B5EF4-FFF2-40B4-BE49-F238E27FC236}">
                <a16:creationId xmlns:a16="http://schemas.microsoft.com/office/drawing/2014/main" id="{F35AB848-6AF5-79C6-F19B-0D619A614F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0" name="Notes Placeholder 2">
            <a:extLst>
              <a:ext uri="{FF2B5EF4-FFF2-40B4-BE49-F238E27FC236}">
                <a16:creationId xmlns:a16="http://schemas.microsoft.com/office/drawing/2014/main" id="{44FBC94D-72C0-F178-544F-62163EBF1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8611" name="Slide Number Placeholder 3">
            <a:extLst>
              <a:ext uri="{FF2B5EF4-FFF2-40B4-BE49-F238E27FC236}">
                <a16:creationId xmlns:a16="http://schemas.microsoft.com/office/drawing/2014/main" id="{A70DA5C3-B6C4-5402-12F2-7EC3E1429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CF4D92-D3FB-BD4A-A8BD-DD7BB18CE7F5}" type="slidenum">
              <a:rPr lang="hu-HU" altLang="en-US" sz="1200">
                <a:latin typeface="Times New Roman" panose="02020603050405020304" pitchFamily="18" charset="0"/>
              </a:rPr>
              <a:pPr/>
              <a:t>26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>
            <a:extLst>
              <a:ext uri="{FF2B5EF4-FFF2-40B4-BE49-F238E27FC236}">
                <a16:creationId xmlns:a16="http://schemas.microsoft.com/office/drawing/2014/main" id="{1094EB13-451F-111C-F3D3-E1C6A0AE53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8" name="Notes Placeholder 2">
            <a:extLst>
              <a:ext uri="{FF2B5EF4-FFF2-40B4-BE49-F238E27FC236}">
                <a16:creationId xmlns:a16="http://schemas.microsoft.com/office/drawing/2014/main" id="{C1854625-DD8E-00B8-1ECA-66424A0D5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313A3B31-2A96-D9B4-2D19-ECE4F7C8E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1A0F22-5EE3-DD45-A7DC-6081AB417A20}" type="slidenum">
              <a:rPr lang="hu-HU" altLang="en-US" sz="1200">
                <a:latin typeface="Times New Roman" panose="02020603050405020304" pitchFamily="18" charset="0"/>
              </a:rPr>
              <a:pPr/>
              <a:t>27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>
            <a:extLst>
              <a:ext uri="{FF2B5EF4-FFF2-40B4-BE49-F238E27FC236}">
                <a16:creationId xmlns:a16="http://schemas.microsoft.com/office/drawing/2014/main" id="{B34BEAB3-16B8-1F71-F6B7-69C321E5D8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6" name="Notes Placeholder 2">
            <a:extLst>
              <a:ext uri="{FF2B5EF4-FFF2-40B4-BE49-F238E27FC236}">
                <a16:creationId xmlns:a16="http://schemas.microsoft.com/office/drawing/2014/main" id="{B60EE0D7-FF05-F9D1-F111-2F9B50BD5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2707" name="Slide Number Placeholder 3">
            <a:extLst>
              <a:ext uri="{FF2B5EF4-FFF2-40B4-BE49-F238E27FC236}">
                <a16:creationId xmlns:a16="http://schemas.microsoft.com/office/drawing/2014/main" id="{26A8DE8C-4B84-ED9A-2157-FAE375916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7E7C91-387E-2141-8983-E2EBFA3E5995}" type="slidenum">
              <a:rPr lang="hu-HU" altLang="en-US" sz="1200">
                <a:latin typeface="Times New Roman" panose="02020603050405020304" pitchFamily="18" charset="0"/>
              </a:rPr>
              <a:pPr/>
              <a:t>28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>
            <a:extLst>
              <a:ext uri="{FF2B5EF4-FFF2-40B4-BE49-F238E27FC236}">
                <a16:creationId xmlns:a16="http://schemas.microsoft.com/office/drawing/2014/main" id="{5633A4C5-DB80-8EA0-A47C-092B466777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4" name="Notes Placeholder 2">
            <a:extLst>
              <a:ext uri="{FF2B5EF4-FFF2-40B4-BE49-F238E27FC236}">
                <a16:creationId xmlns:a16="http://schemas.microsoft.com/office/drawing/2014/main" id="{D6743877-E811-3C23-C309-915DCEAEF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4755" name="Slide Number Placeholder 3">
            <a:extLst>
              <a:ext uri="{FF2B5EF4-FFF2-40B4-BE49-F238E27FC236}">
                <a16:creationId xmlns:a16="http://schemas.microsoft.com/office/drawing/2014/main" id="{C537AA97-81F7-A71B-2E6C-3FB563D7C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EFAB78-18DE-9147-952F-C593780365D7}" type="slidenum">
              <a:rPr lang="hu-HU" altLang="en-US" sz="1200">
                <a:latin typeface="Times New Roman" panose="02020603050405020304" pitchFamily="18" charset="0"/>
              </a:rPr>
              <a:pPr/>
              <a:t>29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>
            <a:extLst>
              <a:ext uri="{FF2B5EF4-FFF2-40B4-BE49-F238E27FC236}">
                <a16:creationId xmlns:a16="http://schemas.microsoft.com/office/drawing/2014/main" id="{44EB9715-7DA6-4B18-02CE-85F3B9C92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2" name="Notes Placeholder 2">
            <a:extLst>
              <a:ext uri="{FF2B5EF4-FFF2-40B4-BE49-F238E27FC236}">
                <a16:creationId xmlns:a16="http://schemas.microsoft.com/office/drawing/2014/main" id="{E3162A45-46DF-BE46-97DB-C18CCAD0F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6803" name="Slide Number Placeholder 3">
            <a:extLst>
              <a:ext uri="{FF2B5EF4-FFF2-40B4-BE49-F238E27FC236}">
                <a16:creationId xmlns:a16="http://schemas.microsoft.com/office/drawing/2014/main" id="{E58F2C6C-FBC9-CE8C-7D8D-8B945D33E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B88BAD-9068-9541-B3B3-1F710A6988F1}" type="slidenum">
              <a:rPr lang="hu-HU" altLang="en-US" sz="1200">
                <a:latin typeface="Times New Roman" panose="02020603050405020304" pitchFamily="18" charset="0"/>
              </a:rPr>
              <a:pPr/>
              <a:t>30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>
            <a:extLst>
              <a:ext uri="{FF2B5EF4-FFF2-40B4-BE49-F238E27FC236}">
                <a16:creationId xmlns:a16="http://schemas.microsoft.com/office/drawing/2014/main" id="{7A434918-748B-6B13-F273-7E331D788F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0" name="Notes Placeholder 2">
            <a:extLst>
              <a:ext uri="{FF2B5EF4-FFF2-40B4-BE49-F238E27FC236}">
                <a16:creationId xmlns:a16="http://schemas.microsoft.com/office/drawing/2014/main" id="{8B805FF8-3C65-447A-025A-B3DBB924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8851" name="Slide Number Placeholder 3">
            <a:extLst>
              <a:ext uri="{FF2B5EF4-FFF2-40B4-BE49-F238E27FC236}">
                <a16:creationId xmlns:a16="http://schemas.microsoft.com/office/drawing/2014/main" id="{E3211C41-2767-62DD-477B-98780A04F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D4C368-0BF5-7B48-88B4-8ACB9ED0A3DB}" type="slidenum">
              <a:rPr lang="hu-HU" altLang="en-US" sz="1200">
                <a:latin typeface="Times New Roman" panose="02020603050405020304" pitchFamily="18" charset="0"/>
              </a:rPr>
              <a:pPr/>
              <a:t>31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>
            <a:extLst>
              <a:ext uri="{FF2B5EF4-FFF2-40B4-BE49-F238E27FC236}">
                <a16:creationId xmlns:a16="http://schemas.microsoft.com/office/drawing/2014/main" id="{D8F0B168-E1BE-9D77-15C0-C922EF32B1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8" name="Notes Placeholder 2">
            <a:extLst>
              <a:ext uri="{FF2B5EF4-FFF2-40B4-BE49-F238E27FC236}">
                <a16:creationId xmlns:a16="http://schemas.microsoft.com/office/drawing/2014/main" id="{996011B1-771D-DDBE-4DA2-625D6F1B2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0899" name="Slide Number Placeholder 3">
            <a:extLst>
              <a:ext uri="{FF2B5EF4-FFF2-40B4-BE49-F238E27FC236}">
                <a16:creationId xmlns:a16="http://schemas.microsoft.com/office/drawing/2014/main" id="{66BE4B22-EFAD-B0AA-8D31-8C222C3A6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161BAB-6DFA-D94A-90CB-C781983D5D1F}" type="slidenum">
              <a:rPr lang="hu-HU" altLang="en-US" sz="1200">
                <a:latin typeface="Times New Roman" panose="02020603050405020304" pitchFamily="18" charset="0"/>
              </a:rPr>
              <a:pPr/>
              <a:t>32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>
            <a:extLst>
              <a:ext uri="{FF2B5EF4-FFF2-40B4-BE49-F238E27FC236}">
                <a16:creationId xmlns:a16="http://schemas.microsoft.com/office/drawing/2014/main" id="{A06450C7-14CA-5A9A-53C5-DF11AF6F03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6" name="Notes Placeholder 2">
            <a:extLst>
              <a:ext uri="{FF2B5EF4-FFF2-40B4-BE49-F238E27FC236}">
                <a16:creationId xmlns:a16="http://schemas.microsoft.com/office/drawing/2014/main" id="{C67D609B-CF23-3323-7694-7982DEA7D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2947" name="Slide Number Placeholder 3">
            <a:extLst>
              <a:ext uri="{FF2B5EF4-FFF2-40B4-BE49-F238E27FC236}">
                <a16:creationId xmlns:a16="http://schemas.microsoft.com/office/drawing/2014/main" id="{BF1E01FF-0A84-C44E-C341-59D400539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0D51DE-CFDB-7842-9539-6BFABDAEE74F}" type="slidenum">
              <a:rPr lang="hu-HU" altLang="en-US" sz="1200">
                <a:latin typeface="Times New Roman" panose="02020603050405020304" pitchFamily="18" charset="0"/>
              </a:rPr>
              <a:pPr/>
              <a:t>33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>
            <a:extLst>
              <a:ext uri="{FF2B5EF4-FFF2-40B4-BE49-F238E27FC236}">
                <a16:creationId xmlns:a16="http://schemas.microsoft.com/office/drawing/2014/main" id="{953E11FA-B56C-0425-6CE2-A44548F3BA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4" name="Notes Placeholder 2">
            <a:extLst>
              <a:ext uri="{FF2B5EF4-FFF2-40B4-BE49-F238E27FC236}">
                <a16:creationId xmlns:a16="http://schemas.microsoft.com/office/drawing/2014/main" id="{70624267-17B0-236E-D302-4012AC71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4995" name="Slide Number Placeholder 3">
            <a:extLst>
              <a:ext uri="{FF2B5EF4-FFF2-40B4-BE49-F238E27FC236}">
                <a16:creationId xmlns:a16="http://schemas.microsoft.com/office/drawing/2014/main" id="{50F53E86-EEC6-BB3E-5176-2BCDCCFA3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40B52D9-F53B-9A4B-862D-11858479FA17}" type="slidenum">
              <a:rPr lang="hu-HU" altLang="en-US" sz="1200">
                <a:latin typeface="Times New Roman" panose="02020603050405020304" pitchFamily="18" charset="0"/>
              </a:rPr>
              <a:pPr/>
              <a:t>34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>
            <a:extLst>
              <a:ext uri="{FF2B5EF4-FFF2-40B4-BE49-F238E27FC236}">
                <a16:creationId xmlns:a16="http://schemas.microsoft.com/office/drawing/2014/main" id="{153371B8-9C46-66FA-A0D9-D44B4E8E4B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2" name="Notes Placeholder 2">
            <a:extLst>
              <a:ext uri="{FF2B5EF4-FFF2-40B4-BE49-F238E27FC236}">
                <a16:creationId xmlns:a16="http://schemas.microsoft.com/office/drawing/2014/main" id="{A30E8174-52B4-8063-9F2D-C12BFFF1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7043" name="Slide Number Placeholder 3">
            <a:extLst>
              <a:ext uri="{FF2B5EF4-FFF2-40B4-BE49-F238E27FC236}">
                <a16:creationId xmlns:a16="http://schemas.microsoft.com/office/drawing/2014/main" id="{5DE8792E-CF7B-93A7-37E9-53ED4BC14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6D71AE-F8EC-FA45-A248-EF8755431FF2}" type="slidenum">
              <a:rPr lang="hu-HU" altLang="en-US" sz="1200">
                <a:latin typeface="Times New Roman" panose="02020603050405020304" pitchFamily="18" charset="0"/>
              </a:rPr>
              <a:pPr/>
              <a:t>35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>
            <a:extLst>
              <a:ext uri="{FF2B5EF4-FFF2-40B4-BE49-F238E27FC236}">
                <a16:creationId xmlns:a16="http://schemas.microsoft.com/office/drawing/2014/main" id="{7D270FC3-DFC7-DA7A-F6FD-E325B59423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0" name="Notes Placeholder 2">
            <a:extLst>
              <a:ext uri="{FF2B5EF4-FFF2-40B4-BE49-F238E27FC236}">
                <a16:creationId xmlns:a16="http://schemas.microsoft.com/office/drawing/2014/main" id="{73B880ED-5DA2-C487-7C98-971CB78EA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9091" name="Slide Number Placeholder 3">
            <a:extLst>
              <a:ext uri="{FF2B5EF4-FFF2-40B4-BE49-F238E27FC236}">
                <a16:creationId xmlns:a16="http://schemas.microsoft.com/office/drawing/2014/main" id="{6D7FCD5E-DA32-3190-EDC3-AD3B7F181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BC185C-B25E-F242-9CEA-E92054C013CC}" type="slidenum">
              <a:rPr lang="hu-HU" altLang="en-US" sz="1200">
                <a:latin typeface="Times New Roman" panose="02020603050405020304" pitchFamily="18" charset="0"/>
              </a:rPr>
              <a:pPr/>
              <a:t>36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>
            <a:extLst>
              <a:ext uri="{FF2B5EF4-FFF2-40B4-BE49-F238E27FC236}">
                <a16:creationId xmlns:a16="http://schemas.microsoft.com/office/drawing/2014/main" id="{D60837B3-5AFF-3686-466F-950685178F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8" name="Notes Placeholder 2">
            <a:extLst>
              <a:ext uri="{FF2B5EF4-FFF2-40B4-BE49-F238E27FC236}">
                <a16:creationId xmlns:a16="http://schemas.microsoft.com/office/drawing/2014/main" id="{DE2FE0F0-5CA9-3713-2896-4C2D0D78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1139" name="Slide Number Placeholder 3">
            <a:extLst>
              <a:ext uri="{FF2B5EF4-FFF2-40B4-BE49-F238E27FC236}">
                <a16:creationId xmlns:a16="http://schemas.microsoft.com/office/drawing/2014/main" id="{9FC8F0FA-E305-B47F-519C-D9A31238C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971ADF-DC19-2944-B265-E65278188619}" type="slidenum">
              <a:rPr lang="hu-HU" altLang="en-US" sz="1200">
                <a:latin typeface="Times New Roman" panose="02020603050405020304" pitchFamily="18" charset="0"/>
              </a:rPr>
              <a:pPr/>
              <a:t>37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>
            <a:extLst>
              <a:ext uri="{FF2B5EF4-FFF2-40B4-BE49-F238E27FC236}">
                <a16:creationId xmlns:a16="http://schemas.microsoft.com/office/drawing/2014/main" id="{EC37782F-7F8C-F33E-3F3F-0353D25FE3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6" name="Notes Placeholder 2">
            <a:extLst>
              <a:ext uri="{FF2B5EF4-FFF2-40B4-BE49-F238E27FC236}">
                <a16:creationId xmlns:a16="http://schemas.microsoft.com/office/drawing/2014/main" id="{B1A574E4-3F63-3AC9-EEB6-B080A82E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3187" name="Slide Number Placeholder 3">
            <a:extLst>
              <a:ext uri="{FF2B5EF4-FFF2-40B4-BE49-F238E27FC236}">
                <a16:creationId xmlns:a16="http://schemas.microsoft.com/office/drawing/2014/main" id="{12147ED3-3A49-EFAC-A69A-3CD9584A6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CE5E79C-7B81-834E-BF2A-7D32F41E597C}" type="slidenum">
              <a:rPr lang="hu-HU" altLang="en-US" sz="1200">
                <a:latin typeface="Times New Roman" panose="02020603050405020304" pitchFamily="18" charset="0"/>
              </a:rPr>
              <a:pPr/>
              <a:t>38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>
            <a:extLst>
              <a:ext uri="{FF2B5EF4-FFF2-40B4-BE49-F238E27FC236}">
                <a16:creationId xmlns:a16="http://schemas.microsoft.com/office/drawing/2014/main" id="{37A8265A-EC87-0F1B-2440-DCD626D82D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4" name="Notes Placeholder 2">
            <a:extLst>
              <a:ext uri="{FF2B5EF4-FFF2-40B4-BE49-F238E27FC236}">
                <a16:creationId xmlns:a16="http://schemas.microsoft.com/office/drawing/2014/main" id="{BC59DA2F-2B92-A416-ABE6-30B0BCAAD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5235" name="Slide Number Placeholder 3">
            <a:extLst>
              <a:ext uri="{FF2B5EF4-FFF2-40B4-BE49-F238E27FC236}">
                <a16:creationId xmlns:a16="http://schemas.microsoft.com/office/drawing/2014/main" id="{69609982-3142-CAE1-12F7-FE2CD951F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FF1FFC-554D-4347-9135-7E7A32D77CC4}" type="slidenum">
              <a:rPr lang="hu-HU" altLang="en-US" sz="1200">
                <a:latin typeface="Times New Roman" panose="02020603050405020304" pitchFamily="18" charset="0"/>
              </a:rPr>
              <a:pPr/>
              <a:t>39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>
            <a:extLst>
              <a:ext uri="{FF2B5EF4-FFF2-40B4-BE49-F238E27FC236}">
                <a16:creationId xmlns:a16="http://schemas.microsoft.com/office/drawing/2014/main" id="{7B099C04-1B53-8C89-97EF-B8CFF09A8C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2" name="Notes Placeholder 2">
            <a:extLst>
              <a:ext uri="{FF2B5EF4-FFF2-40B4-BE49-F238E27FC236}">
                <a16:creationId xmlns:a16="http://schemas.microsoft.com/office/drawing/2014/main" id="{5A5943A0-8DF0-60D0-59C8-E59B162BD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7283" name="Slide Number Placeholder 3">
            <a:extLst>
              <a:ext uri="{FF2B5EF4-FFF2-40B4-BE49-F238E27FC236}">
                <a16:creationId xmlns:a16="http://schemas.microsoft.com/office/drawing/2014/main" id="{FCD40272-F058-3F94-0D01-C540EAFB4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F6DCE6-5BDF-1247-BF71-27A5FA22B5A0}" type="slidenum">
              <a:rPr lang="hu-HU" altLang="en-US" sz="1200">
                <a:latin typeface="Times New Roman" panose="02020603050405020304" pitchFamily="18" charset="0"/>
              </a:rPr>
              <a:pPr/>
              <a:t>40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>
            <a:extLst>
              <a:ext uri="{FF2B5EF4-FFF2-40B4-BE49-F238E27FC236}">
                <a16:creationId xmlns:a16="http://schemas.microsoft.com/office/drawing/2014/main" id="{7898016D-83CD-56CF-4EC2-9B27BB12AF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0" name="Notes Placeholder 2">
            <a:extLst>
              <a:ext uri="{FF2B5EF4-FFF2-40B4-BE49-F238E27FC236}">
                <a16:creationId xmlns:a16="http://schemas.microsoft.com/office/drawing/2014/main" id="{AF2C101D-0CFB-5787-7DE4-872E502C5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9331" name="Slide Number Placeholder 3">
            <a:extLst>
              <a:ext uri="{FF2B5EF4-FFF2-40B4-BE49-F238E27FC236}">
                <a16:creationId xmlns:a16="http://schemas.microsoft.com/office/drawing/2014/main" id="{2203528C-E14C-E89B-23F8-E170F990E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EF14A81-E5D1-974C-912A-22982708D35C}" type="slidenum">
              <a:rPr lang="hu-HU" altLang="en-US" sz="1200">
                <a:latin typeface="Times New Roman" panose="02020603050405020304" pitchFamily="18" charset="0"/>
              </a:rPr>
              <a:pPr/>
              <a:t>41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>
            <a:extLst>
              <a:ext uri="{FF2B5EF4-FFF2-40B4-BE49-F238E27FC236}">
                <a16:creationId xmlns:a16="http://schemas.microsoft.com/office/drawing/2014/main" id="{C09CB939-959D-D796-D143-498B2277D3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8" name="Notes Placeholder 2">
            <a:extLst>
              <a:ext uri="{FF2B5EF4-FFF2-40B4-BE49-F238E27FC236}">
                <a16:creationId xmlns:a16="http://schemas.microsoft.com/office/drawing/2014/main" id="{F42EDC90-49C3-7EE0-278F-1A93481FF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1379" name="Slide Number Placeholder 3">
            <a:extLst>
              <a:ext uri="{FF2B5EF4-FFF2-40B4-BE49-F238E27FC236}">
                <a16:creationId xmlns:a16="http://schemas.microsoft.com/office/drawing/2014/main" id="{A99473B3-908B-BCF0-C33E-84EBB1556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6373A4-6916-6447-A1EF-A72A35548FB7}" type="slidenum">
              <a:rPr lang="hu-HU" altLang="en-US" sz="1200">
                <a:latin typeface="Times New Roman" panose="02020603050405020304" pitchFamily="18" charset="0"/>
              </a:rPr>
              <a:pPr/>
              <a:t>42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>
            <a:extLst>
              <a:ext uri="{FF2B5EF4-FFF2-40B4-BE49-F238E27FC236}">
                <a16:creationId xmlns:a16="http://schemas.microsoft.com/office/drawing/2014/main" id="{200C43CA-A7D1-2DCE-FD30-090128ABE1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6" name="Notes Placeholder 2">
            <a:extLst>
              <a:ext uri="{FF2B5EF4-FFF2-40B4-BE49-F238E27FC236}">
                <a16:creationId xmlns:a16="http://schemas.microsoft.com/office/drawing/2014/main" id="{46298E6F-C5CD-7AF9-716C-20B392D99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3427" name="Slide Number Placeholder 3">
            <a:extLst>
              <a:ext uri="{FF2B5EF4-FFF2-40B4-BE49-F238E27FC236}">
                <a16:creationId xmlns:a16="http://schemas.microsoft.com/office/drawing/2014/main" id="{0661E6CB-F23C-BCCC-1B98-A27E1FB14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1D8D30D-B038-BD4D-A7FA-500FBB9C956D}" type="slidenum">
              <a:rPr lang="hu-HU" altLang="en-US" sz="1200">
                <a:latin typeface="Times New Roman" panose="02020603050405020304" pitchFamily="18" charset="0"/>
              </a:rPr>
              <a:pPr/>
              <a:t>43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1A70AAA2-FD66-A692-F550-81487E95FA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043BEBE2-BA8B-010A-7818-8020B533E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>
            <a:extLst>
              <a:ext uri="{FF2B5EF4-FFF2-40B4-BE49-F238E27FC236}">
                <a16:creationId xmlns:a16="http://schemas.microsoft.com/office/drawing/2014/main" id="{F432435B-4B1D-E03F-8E99-440F8CDC46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2" name="Notes Placeholder 2">
            <a:extLst>
              <a:ext uri="{FF2B5EF4-FFF2-40B4-BE49-F238E27FC236}">
                <a16:creationId xmlns:a16="http://schemas.microsoft.com/office/drawing/2014/main" id="{547F4768-8CA3-D01B-F9B1-49CCA776D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7523" name="Slide Number Placeholder 3">
            <a:extLst>
              <a:ext uri="{FF2B5EF4-FFF2-40B4-BE49-F238E27FC236}">
                <a16:creationId xmlns:a16="http://schemas.microsoft.com/office/drawing/2014/main" id="{F93BD2D2-1C71-38FC-C91F-9FECC2401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1A0B1D-8CEF-0940-91C1-ADB61C8034A1}" type="slidenum">
              <a:rPr lang="hu-HU" altLang="en-US" sz="1200">
                <a:latin typeface="Times New Roman" panose="02020603050405020304" pitchFamily="18" charset="0"/>
              </a:rPr>
              <a:pPr/>
              <a:t>45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3E1F61C5-CECB-C541-3DC3-4CC56F6462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6565F768-0B04-8869-D1FD-1F5AEDE80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FCD1F00B-4B71-C860-A790-F9D02A9F5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A95824B4-3AEF-865F-84F9-05CD595E1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50550B34-C094-01B2-0C91-A3F1537FE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5817C649-BDC4-A59D-3DC7-6656E5BCF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20A697BB-7AFC-1A72-B9BE-5EF07A2306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006ACF04-950F-64BC-DCBB-8E78BA042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8B7ABE8A-FDD5-CB5D-BA26-F756A879E9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4FD0AC0E-15A7-4458-0828-6709A8F19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C20E57BA-2792-1AAF-EA7D-12407F7360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C064EA3A-FF6D-C1B4-C564-EEEFABF16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D29C708A-939F-AC07-E518-7E87AFB86B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29A72595-1DC8-4BCA-580C-B8B6AB0C3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>
            <a:extLst>
              <a:ext uri="{FF2B5EF4-FFF2-40B4-BE49-F238E27FC236}">
                <a16:creationId xmlns:a16="http://schemas.microsoft.com/office/drawing/2014/main" id="{63A7365B-81D4-8972-5DAB-4856D357E8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95DDFE87-64E1-5034-3E00-C76BD3398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141E0E89-05FD-F7A1-A7D3-388F44472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>
            <a:extLst>
              <a:ext uri="{FF2B5EF4-FFF2-40B4-BE49-F238E27FC236}">
                <a16:creationId xmlns:a16="http://schemas.microsoft.com/office/drawing/2014/main" id="{F8F3AD84-BC15-5D91-A0AA-F9DACA2C7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5B97B72D-CC9F-0853-F712-032C3FA676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E3742289-1129-A300-0CB8-6358A8717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74CDB16E-204F-7AA1-3A7E-AEFCF9C8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FAF34027-ACDD-B8D2-7F37-9F3B5FD14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53983424-22C1-BE78-9D89-9BA483487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6BABEDE8-FBD0-2568-3CF6-4DFE22735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0917FE10-E6CE-1B65-EC24-E77E198CB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C45862EE-40B1-E3A2-ABA6-ECCC895F6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62BB1BC5-465F-9E3B-AB21-6E1A07163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61CAB377-BD6D-B4E8-5621-EFA6AA5AC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AAC404AD-0065-917C-8E3A-B99D03654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6A5003BE-FE47-6C38-2EAE-A398241BE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5808E9AD-EF7B-3D36-2E54-A90D785AC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914390B8-A617-0EE4-9455-163EAAC01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39435C11-4B0C-28F0-8797-E5F1443A7B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2C6CCBB7-49C6-DA93-28A7-EC4F26D7B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025C3A51-39C1-2394-229F-6F01B7580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C6D81584-8FBC-F03B-41E2-223CC4E0B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F7B5E7C4-2781-7EB8-1E13-3E160A5E3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9D3945B6-7FFD-5CAD-FA4A-5C94BD181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333792B1-86E2-8074-86F7-9632FEA02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342E21D9-040F-27D1-5226-623119266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DEFC7266-3C20-7030-430B-899E9F4C57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49F4C1E0-A5CE-AA76-27A2-F34FC8E36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>
            <a:extLst>
              <a:ext uri="{FF2B5EF4-FFF2-40B4-BE49-F238E27FC236}">
                <a16:creationId xmlns:a16="http://schemas.microsoft.com/office/drawing/2014/main" id="{192F854C-D2DF-7995-78A5-3E91F2127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8" name="Rectangle 3">
            <a:extLst>
              <a:ext uri="{FF2B5EF4-FFF2-40B4-BE49-F238E27FC236}">
                <a16:creationId xmlns:a16="http://schemas.microsoft.com/office/drawing/2014/main" id="{98D6D25C-6844-2BB5-D9EB-E7193D09C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>
            <a:extLst>
              <a:ext uri="{FF2B5EF4-FFF2-40B4-BE49-F238E27FC236}">
                <a16:creationId xmlns:a16="http://schemas.microsoft.com/office/drawing/2014/main" id="{F27CA03A-8453-EE1D-1F68-3CADCA9C8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6" name="Rectangle 3">
            <a:extLst>
              <a:ext uri="{FF2B5EF4-FFF2-40B4-BE49-F238E27FC236}">
                <a16:creationId xmlns:a16="http://schemas.microsoft.com/office/drawing/2014/main" id="{4FC393C1-2068-DECB-50FB-85D6CA9D8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>
            <a:extLst>
              <a:ext uri="{FF2B5EF4-FFF2-40B4-BE49-F238E27FC236}">
                <a16:creationId xmlns:a16="http://schemas.microsoft.com/office/drawing/2014/main" id="{FCEE6FB4-2EB1-85C3-2563-8DFC3E31DD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4" name="Rectangle 3">
            <a:extLst>
              <a:ext uri="{FF2B5EF4-FFF2-40B4-BE49-F238E27FC236}">
                <a16:creationId xmlns:a16="http://schemas.microsoft.com/office/drawing/2014/main" id="{12911C85-FDC2-0B1D-90DC-A1503A766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>
            <a:extLst>
              <a:ext uri="{FF2B5EF4-FFF2-40B4-BE49-F238E27FC236}">
                <a16:creationId xmlns:a16="http://schemas.microsoft.com/office/drawing/2014/main" id="{42A4AA17-8055-EFAB-5C43-F0634AAAC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2" name="Rectangle 3">
            <a:extLst>
              <a:ext uri="{FF2B5EF4-FFF2-40B4-BE49-F238E27FC236}">
                <a16:creationId xmlns:a16="http://schemas.microsoft.com/office/drawing/2014/main" id="{6F8F3AEE-EFEB-8044-A31E-4AA18EBF5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Slide Image Placeholder 1">
            <a:extLst>
              <a:ext uri="{FF2B5EF4-FFF2-40B4-BE49-F238E27FC236}">
                <a16:creationId xmlns:a16="http://schemas.microsoft.com/office/drawing/2014/main" id="{DDC61FC8-8C41-906E-CF97-43F4B58054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0" name="Notes Placeholder 2">
            <a:extLst>
              <a:ext uri="{FF2B5EF4-FFF2-40B4-BE49-F238E27FC236}">
                <a16:creationId xmlns:a16="http://schemas.microsoft.com/office/drawing/2014/main" id="{04C0CDBC-333A-71B0-372C-178EDB7F1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0771" name="Slide Number Placeholder 3">
            <a:extLst>
              <a:ext uri="{FF2B5EF4-FFF2-40B4-BE49-F238E27FC236}">
                <a16:creationId xmlns:a16="http://schemas.microsoft.com/office/drawing/2014/main" id="{902243BF-44FE-915E-BF34-5D1744A634B4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8ECA9B90-BB49-F044-9AC2-4506342585E5}" type="slidenum">
              <a:rPr lang="hu-HU" altLang="en-US" sz="1200">
                <a:latin typeface="Times New Roman" panose="02020603050405020304" pitchFamily="18" charset="0"/>
              </a:rPr>
              <a:pPr algn="r"/>
              <a:t>71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2">
            <a:extLst>
              <a:ext uri="{FF2B5EF4-FFF2-40B4-BE49-F238E27FC236}">
                <a16:creationId xmlns:a16="http://schemas.microsoft.com/office/drawing/2014/main" id="{CF3FCCF2-B7C6-03FE-DDB3-3E4C926DC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8" name="Rectangle 3">
            <a:extLst>
              <a:ext uri="{FF2B5EF4-FFF2-40B4-BE49-F238E27FC236}">
                <a16:creationId xmlns:a16="http://schemas.microsoft.com/office/drawing/2014/main" id="{5BE3C682-4818-DC34-3501-9F94AF8AA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>
            <a:extLst>
              <a:ext uri="{FF2B5EF4-FFF2-40B4-BE49-F238E27FC236}">
                <a16:creationId xmlns:a16="http://schemas.microsoft.com/office/drawing/2014/main" id="{A9BE136F-407D-FE99-01D8-10C052259F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6" name="Rectangle 3">
            <a:extLst>
              <a:ext uri="{FF2B5EF4-FFF2-40B4-BE49-F238E27FC236}">
                <a16:creationId xmlns:a16="http://schemas.microsoft.com/office/drawing/2014/main" id="{543B973F-4DC0-EEFE-8528-7D54BA1F4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>
            <a:extLst>
              <a:ext uri="{FF2B5EF4-FFF2-40B4-BE49-F238E27FC236}">
                <a16:creationId xmlns:a16="http://schemas.microsoft.com/office/drawing/2014/main" id="{CE2CD30C-E075-161F-9917-53B6D61091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4" name="Rectangle 3">
            <a:extLst>
              <a:ext uri="{FF2B5EF4-FFF2-40B4-BE49-F238E27FC236}">
                <a16:creationId xmlns:a16="http://schemas.microsoft.com/office/drawing/2014/main" id="{32CA6BF8-F866-00E4-CA06-D40E5D2DE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>
            <a:extLst>
              <a:ext uri="{FF2B5EF4-FFF2-40B4-BE49-F238E27FC236}">
                <a16:creationId xmlns:a16="http://schemas.microsoft.com/office/drawing/2014/main" id="{2B6D5BE4-EBD3-B885-B8D4-2EFEBCB72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2" name="Rectangle 3">
            <a:extLst>
              <a:ext uri="{FF2B5EF4-FFF2-40B4-BE49-F238E27FC236}">
                <a16:creationId xmlns:a16="http://schemas.microsoft.com/office/drawing/2014/main" id="{0259DC83-B8DD-E784-10FA-085FD7488C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2">
            <a:extLst>
              <a:ext uri="{FF2B5EF4-FFF2-40B4-BE49-F238E27FC236}">
                <a16:creationId xmlns:a16="http://schemas.microsoft.com/office/drawing/2014/main" id="{C05B31C6-2A3F-A15D-46A9-7B9C82C130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0" name="Rectangle 3">
            <a:extLst>
              <a:ext uri="{FF2B5EF4-FFF2-40B4-BE49-F238E27FC236}">
                <a16:creationId xmlns:a16="http://schemas.microsoft.com/office/drawing/2014/main" id="{55A98656-D401-1932-398C-B4917F9A8A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BC9DE0B-6C86-23BB-DE8A-4FFDFB6E9680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B9331D-9BFC-5209-F985-3D46845C6C6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3FB31E-1D95-20DF-C6AC-9A50F082C0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2547284-189B-0E4D-EB5B-2876013664A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478550-6CC3-5087-5D09-9CF61A76886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8874564E-DC0F-D1B0-076C-239329465ED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0A076EDC-A698-7112-393E-5CAC8010D99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4C1F59E1-30CE-435B-426A-54D4A8DA5E5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4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561C0A85-43BE-AEC7-7627-64F8942850C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9623FBBA-57F0-FFFB-C5E1-25E3E2B72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99B643E-0A6C-9037-2B36-5C21C3C8CA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FB21F-D5DF-AA44-9DE1-8D648FB8E5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89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150A4A1-56DD-0583-16E2-5F4E4F551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24E142B-233F-31DE-8FFD-649F4B0B9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6B1163A-B0DE-8755-2602-76401E7FF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C1B574-50C8-324D-97B7-DA6A718150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73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20400AA-4C4A-480A-957D-C8A6FB1692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E3AD770-1A90-B73E-1F35-0586C9C60B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4B7F74B-F856-4CC8-F53E-944B359EDD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915B85-16EF-D941-B117-093BB55D78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404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65D4B7F-59E6-E8B1-37CA-F60CF6FC4A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6AA58DB-E87B-1259-C152-84ADF0AD75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DCBF2E45-AD23-B170-DA8B-24F27189E0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8F9496-3C52-7441-AEB6-562DC36719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17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683D31F-25D8-BEF0-8D87-4FCEC2DB7D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A186733-CA8B-37C1-8E93-A26D1E046F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473FD20-58DE-4570-C40C-E3B0F00D7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07B33-B0B7-0B4A-A893-9812FAB88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49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D26C5A0-D777-1FAC-AA90-CC1A06AE0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2723D80-1525-37CB-F0DC-B0EB354A5D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A50D9AD6-8391-1E29-EFCC-EDFD7F49D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61621-7D82-1345-9D06-BBC145B036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47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60BB6468-CD42-7DD1-6FD6-CA51480190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B3D0846D-3359-BA12-00C8-477A14CEDB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D1EFE8F2-EFAA-675E-EDEC-355F38DC58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16526B-C09B-9A4B-9D07-278D96757F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92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FE46986-6A49-BA60-ACF7-2DF09B3CC7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841A7AC-2BC0-2880-871A-08C389CA97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505F773-2A3F-A3BA-8048-2479E9214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7413C4-403E-034A-BF48-A881CA2020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921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EFE4C4-21F4-FFEE-49DF-87C6E7BBBC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22E23E9-A908-17CE-558D-3D1E64E7FB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81C7D204-C2B9-0525-08F6-26F43E53B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777B27-BE32-AD47-9B80-20F43FA790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31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7F4971A-D58C-BF54-9196-4F9A9AEA0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1AC9A24-F0A4-A2D7-B3ED-86639D621F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9D65834-E507-F0C2-967B-0F2E23683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B748FB-E811-9544-99A0-8DF22726B3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92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E622FCD-6ADD-C189-076C-903686D870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43B58EE-3E10-C39F-0C56-287921879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6727EEC-A07D-288E-3161-F53A21E95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4C33E-9A55-0040-9544-5676072236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819FFA9-B508-6086-2C62-C5A77DC09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01C95E-4E80-B846-7055-81A7E18368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F6B8023-271F-27FD-60E5-11C39E19D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743EB-91E4-254D-BC31-24A9209CB0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48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8CE60D07-A7EC-7AB0-11C6-D948B58DB3C1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83299" name="Freeform 3">
              <a:extLst>
                <a:ext uri="{FF2B5EF4-FFF2-40B4-BE49-F238E27FC236}">
                  <a16:creationId xmlns:a16="http://schemas.microsoft.com/office/drawing/2014/main" id="{C590DC97-D2C9-6133-73AD-49A501746BD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83300" name="Freeform 4">
              <a:extLst>
                <a:ext uri="{FF2B5EF4-FFF2-40B4-BE49-F238E27FC236}">
                  <a16:creationId xmlns:a16="http://schemas.microsoft.com/office/drawing/2014/main" id="{B4473621-040E-8819-8EEE-0B12989FB6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83301" name="Freeform 5">
              <a:extLst>
                <a:ext uri="{FF2B5EF4-FFF2-40B4-BE49-F238E27FC236}">
                  <a16:creationId xmlns:a16="http://schemas.microsoft.com/office/drawing/2014/main" id="{34A47805-9DE0-AE24-25EE-2409638CDD4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83302" name="Freeform 6">
              <a:extLst>
                <a:ext uri="{FF2B5EF4-FFF2-40B4-BE49-F238E27FC236}">
                  <a16:creationId xmlns:a16="http://schemas.microsoft.com/office/drawing/2014/main" id="{F1633FCB-8026-4B66-66C2-CC131B9FAC6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992BD3E9-58E9-07E1-73FB-826CC5202BC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C00BA2CF-3506-488C-7260-4959DB84389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7385351F-3A52-6555-6433-769D19351E9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3306" name="Rectangle 10">
            <a:extLst>
              <a:ext uri="{FF2B5EF4-FFF2-40B4-BE49-F238E27FC236}">
                <a16:creationId xmlns:a16="http://schemas.microsoft.com/office/drawing/2014/main" id="{1718FBE2-995E-13C5-A37D-84A42E125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E3F0EF8A-5BAE-8BD3-DFEB-628AC64EF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3308" name="Rectangle 12">
            <a:extLst>
              <a:ext uri="{FF2B5EF4-FFF2-40B4-BE49-F238E27FC236}">
                <a16:creationId xmlns:a16="http://schemas.microsoft.com/office/drawing/2014/main" id="{6BDB2724-E98B-7665-D38E-C73BCDDE0B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EF1318E0-E898-88C0-9157-1E8622A520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smtClean="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83310" name="Rectangle 14">
            <a:extLst>
              <a:ext uri="{FF2B5EF4-FFF2-40B4-BE49-F238E27FC236}">
                <a16:creationId xmlns:a16="http://schemas.microsoft.com/office/drawing/2014/main" id="{8F9C5C03-23BB-0836-24A3-726C799655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E25A8A19-E689-4140-A3F4-47DD12763D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8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0473E53-7E69-EAB5-B463-FC038C809B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295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/>
              <a:t>Communicating Sequential Processes (CSP)</a:t>
            </a:r>
            <a:endParaRPr lang="hu-HU" sz="4400"/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18E5B5C5-1091-C5B9-7920-12743CA79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048000"/>
            <a:ext cx="525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CYSE 750- Spring 2026</a:t>
            </a:r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E7B74022-13AA-DD63-8FEB-9AC34AD19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7543800" cy="228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-112" charset="-128"/>
              </a:rPr>
              <a:t>I acknowledge the contributions of the following resources in </a:t>
            </a:r>
          </a:p>
          <a:p>
            <a:pPr marL="342900" indent="-342900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-112" charset="-128"/>
              </a:rPr>
              <a:t>constructing these notes.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>
                <a:latin typeface="Arial" charset="0"/>
                <a:ea typeface="ＭＳ Ｐゴシック" pitchFamily="-112" charset="-128"/>
              </a:rPr>
              <a:t>Modeling and analysis of security protocols by Ryan and Schneider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>
                <a:latin typeface="Arial" charset="0"/>
                <a:ea typeface="ＭＳ Ｐゴシック" pitchFamily="-112" charset="-128"/>
              </a:rPr>
              <a:t>Communicating Sequential Processes by C.A.R. Hoare.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>
                <a:latin typeface="Arial" charset="0"/>
                <a:ea typeface="ＭＳ Ｐゴシック" pitchFamily="-112" charset="-128"/>
              </a:rPr>
              <a:t>Communication and Mobile systems: the </a:t>
            </a:r>
            <a:r>
              <a:rPr lang="en-US">
                <a:latin typeface="Symbol" pitchFamily="-112" charset="2"/>
                <a:ea typeface="ＭＳ Ｐゴシック" pitchFamily="-112" charset="-128"/>
              </a:rPr>
              <a:t>p</a:t>
            </a:r>
            <a:r>
              <a:rPr lang="en-US">
                <a:latin typeface="Arial" charset="0"/>
                <a:ea typeface="ＭＳ Ｐゴシック" pitchFamily="-112" charset="-128"/>
              </a:rPr>
              <a:t> calculus by Robin Milner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204093A-C433-2E45-70AB-3F399B7ABB5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8EEDC2D-2727-05F7-0679-EAA2B134ED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 Fall 2012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BA85CBF-FFC9-CAB1-C179-566D86C6F9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3901C3C-790D-494D-AFBF-34618357B20B}" type="slidenum">
              <a:rPr lang="en-US" altLang="en-US" sz="1000"/>
              <a:pPr/>
              <a:t>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E0AA-6C63-B8E8-DAAF-718F14B92E6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F545E-46C5-399C-7141-66D30256870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D990085-8649-744B-8D49-FEF95E21CC0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A1FDFF8A-D9B9-570C-A603-16CD7E331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Many References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581FFB4-6115-E968-D262-52E28A2A9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Communicating Sequential processes by C.A.R Hoare – Prentice Hall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Communication and concurrency, by Robin Milner – Prentice Hall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Communicating and mobile systems: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the </a:t>
            </a:r>
            <a:r>
              <a:rPr lang="en-US" altLang="en-US">
                <a:latin typeface="Symbol" pitchFamily="2" charset="2"/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 calculus by Robin Milner -Cambridge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Modeling and analysis of security protocols, by Peter Ryan and Steve Schneider – Addison Wesley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85B7454-0972-6B6A-03A7-F71C0E76230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A357309-030B-259D-E53F-42A3539269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9044B95-8E71-C7DD-A4EA-BE820D102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6586A0-D2C1-644B-9675-F451CFCAE8CE}" type="slidenum">
              <a:rPr lang="en-US" altLang="en-US" sz="1000"/>
              <a:pPr/>
              <a:t>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5D19-D40C-6B21-F445-9CB2DA5C15B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4B9FA-0EAC-5BA8-AECF-470FB5BEF07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A4B66-581C-1D2E-7AD0-CCE467F2BEC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B26B4118-C3CF-0141-8469-0C08182D6685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6130" name="Rectangle 2">
            <a:extLst>
              <a:ext uri="{FF2B5EF4-FFF2-40B4-BE49-F238E27FC236}">
                <a16:creationId xmlns:a16="http://schemas.microsoft.com/office/drawing/2014/main" id="{538118A6-DA0A-E96F-70C5-72EFFAE68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Objectives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AFA61C56-6535-47C4-8093-953D3970F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Model Interactions between processes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Support synchronizations, concurrency and many constructs used in interleaved series parallel computations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Provides a notation for a system of sequential and parallel agents to communicate by passing messages between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1101380-7332-139A-1FD2-74DD6857D29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8FC90AA-283F-49A5-D30E-C13474751E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4F5E60D0-2EF6-7644-E0A6-27D7CE8EA1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2DB8A3-4607-A345-85FC-EA6220611A6D}" type="slidenum">
              <a:rPr lang="en-US" altLang="en-US" sz="1000"/>
              <a:pPr/>
              <a:t>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2B20-8E1B-0B65-FF51-3E59C34E76B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6A93B-50A4-8C63-38F0-EC63BAA8B6E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9705-9A75-E0ED-5EA5-919E176C93B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5803E4A-64B7-9B4A-B34A-0378C695642B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925AF371-EC5E-EB0B-7821-1FEF0E8F7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Components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8A4F2A65-A8C3-1AFE-293D-76F7C73CC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Processes: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process constants and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Operators: </a:t>
            </a:r>
            <a:r>
              <a:rPr lang="en-US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defined as we go along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Events: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, set of event constants, and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One distinguished (invisible=internal) event: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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The basic model: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A process executes an event (action) and becomes another process.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Example: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→ P,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means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the process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(a → P)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executes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a 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and becomes the process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Communication:</a:t>
            </a:r>
            <a:r>
              <a:rPr lang="en-US" altLang="en-US" sz="2800">
                <a:ea typeface="ＭＳ Ｐゴシック" panose="020B0600070205080204" pitchFamily="34" charset="-128"/>
              </a:rPr>
              <a:t> through message passing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Notation: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  <a:r>
              <a:rPr lang="el-GR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α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 is the event set used in process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endParaRPr lang="el-GR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CB594A73-7B31-528B-C359-68E76756F83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342DE35-4239-FAB4-CB5D-4430AB1658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84B90D7-964C-1F8B-953A-5960EA45A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2BF40-EA7D-AF40-851E-7E19C597A36C}" type="slidenum">
              <a:rPr lang="en-US" altLang="en-US" sz="1000"/>
              <a:pPr/>
              <a:t>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C493B-93D9-E616-53C8-A51E1549DF3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A2EA7-6830-33B9-BEF8-4F200760A18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A701B-852A-64A5-B7E4-98ABE24498E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D05F499-1190-2E4E-8FEA-CC511C26282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2F6633FA-4024-3648-97B3-5E2ED1931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The Message Passing Paradigm used in CSP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49B869F3-CBA3-5CC2-2464-21C350DD2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 buffered input/output:</a:t>
            </a:r>
            <a:r>
              <a:rPr lang="en-US" altLang="en-US">
                <a:ea typeface="ＭＳ Ｐゴシック" panose="020B0600070205080204" pitchFamily="34" charset="-128"/>
              </a:rPr>
              <a:t> sending and receiving data are non-buffered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Synchronous:</a:t>
            </a:r>
            <a:r>
              <a:rPr lang="en-US" altLang="en-US">
                <a:ea typeface="ＭＳ Ｐゴシック" panose="020B0600070205080204" pitchFamily="34" charset="-128"/>
              </a:rPr>
              <a:t> both processes must be ready to communicate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Instantaneous communication:</a:t>
            </a:r>
            <a:r>
              <a:rPr lang="en-US" altLang="en-US">
                <a:ea typeface="ＭＳ Ｐゴシック" panose="020B0600070205080204" pitchFamily="34" charset="-128"/>
              </a:rPr>
              <a:t> no communication delays directly modeled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Explicitly naming:</a:t>
            </a:r>
            <a:r>
              <a:rPr lang="en-US" altLang="en-US">
                <a:ea typeface="ＭＳ Ｐゴシック" panose="020B0600070205080204" pitchFamily="34" charset="-128"/>
              </a:rPr>
              <a:t> of senders and receivers. No wildcard addressing or group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2FF1E1B-2823-0CA7-203E-B455FF08212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6669389-05E9-B8C8-D0F4-0BEFB0B8EF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6C09E66-09C0-D463-63B8-C35B55F55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0B1F8B-91D0-1B4B-BD93-BF05A176D11D}" type="slidenum">
              <a:rPr lang="en-US" altLang="en-US" sz="1000"/>
              <a:pPr/>
              <a:t>6</a:t>
            </a:fld>
            <a:endParaRPr lang="en-US" altLang="en-US" sz="100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8889A11-0255-B77F-875D-3B8E1B3D798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5135C3E-335C-5D3F-F22A-D5D6403B249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017FA5-B2CF-6E17-3666-B401BC56D62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AF7F5493-0AE2-8049-B677-E0EABB2598D4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8178" name="Rectangle 2">
            <a:extLst>
              <a:ext uri="{FF2B5EF4-FFF2-40B4-BE49-F238E27FC236}">
                <a16:creationId xmlns:a16="http://schemas.microsoft.com/office/drawing/2014/main" id="{01F348C5-3C84-6813-229B-0FA6D1F60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Messages</a:t>
            </a:r>
          </a:p>
        </p:txBody>
      </p:sp>
      <p:sp>
        <p:nvSpPr>
          <p:cNvPr id="178180" name="Rectangle 4">
            <a:extLst>
              <a:ext uri="{FF2B5EF4-FFF2-40B4-BE49-F238E27FC236}">
                <a16:creationId xmlns:a16="http://schemas.microsoft.com/office/drawing/2014/main" id="{70943697-F061-0FF5-520C-3CB339D52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048000"/>
            <a:ext cx="12954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Process A</a:t>
            </a:r>
          </a:p>
        </p:txBody>
      </p:sp>
      <p:sp>
        <p:nvSpPr>
          <p:cNvPr id="178183" name="Rectangle 7">
            <a:extLst>
              <a:ext uri="{FF2B5EF4-FFF2-40B4-BE49-F238E27FC236}">
                <a16:creationId xmlns:a16="http://schemas.microsoft.com/office/drawing/2014/main" id="{33163865-13A1-8F98-E409-07974DA7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048000"/>
            <a:ext cx="1295400" cy="1524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Process B</a:t>
            </a:r>
          </a:p>
        </p:txBody>
      </p:sp>
      <p:sp>
        <p:nvSpPr>
          <p:cNvPr id="26634" name="Line 8">
            <a:extLst>
              <a:ext uri="{FF2B5EF4-FFF2-40B4-BE49-F238E27FC236}">
                <a16:creationId xmlns:a16="http://schemas.microsoft.com/office/drawing/2014/main" id="{BDCDEE7D-6F2C-D144-2959-01C659FD2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886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5" name="Text Box 9">
            <a:extLst>
              <a:ext uri="{FF2B5EF4-FFF2-40B4-BE49-F238E27FC236}">
                <a16:creationId xmlns:a16="http://schemas.microsoft.com/office/drawing/2014/main" id="{248F41D5-060B-3DA6-454A-1450B6229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327275"/>
            <a:ext cx="2482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FF00"/>
                </a:solidFill>
                <a:latin typeface="Times New Roman" panose="02020603050405020304" pitchFamily="18" charset="0"/>
              </a:rPr>
              <a:t>Send (C, message)</a:t>
            </a:r>
          </a:p>
        </p:txBody>
      </p:sp>
      <p:sp>
        <p:nvSpPr>
          <p:cNvPr id="26636" name="Text Box 10">
            <a:extLst>
              <a:ext uri="{FF2B5EF4-FFF2-40B4-BE49-F238E27FC236}">
                <a16:creationId xmlns:a16="http://schemas.microsoft.com/office/drawing/2014/main" id="{756C2F70-3C02-3F80-FD32-C0A559E0D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2327275"/>
            <a:ext cx="283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FF00"/>
                </a:solidFill>
                <a:latin typeface="Times New Roman" panose="02020603050405020304" pitchFamily="18" charset="0"/>
              </a:rPr>
              <a:t>Receive (C, message)</a:t>
            </a:r>
          </a:p>
        </p:txBody>
      </p:sp>
      <p:sp>
        <p:nvSpPr>
          <p:cNvPr id="178187" name="Text Box 11">
            <a:extLst>
              <a:ext uri="{FF2B5EF4-FFF2-40B4-BE49-F238E27FC236}">
                <a16:creationId xmlns:a16="http://schemas.microsoft.com/office/drawing/2014/main" id="{0C6F31AB-F125-9CC7-310B-B07912388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724400"/>
            <a:ext cx="8264525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0" dirty="0">
                <a:solidFill>
                  <a:srgbClr val="00FF00"/>
                </a:solidFill>
                <a:latin typeface="Times New Roman" pitchFamily="-112" charset="0"/>
                <a:ea typeface="ＭＳ Ｐゴシック" pitchFamily="-112" charset="-128"/>
              </a:rPr>
              <a:t>Input command:</a:t>
            </a:r>
            <a:r>
              <a:rPr lang="en-US" sz="2400" dirty="0">
                <a:solidFill>
                  <a:srgbClr val="00B050"/>
                </a:solidFill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&lt;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source-channel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&gt;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solidFill>
                  <a:srgbClr val="00FF00"/>
                </a:solidFill>
                <a:latin typeface="Times New Roman" pitchFamily="-112" charset="0"/>
                <a:ea typeface="ＭＳ Ｐゴシック" pitchFamily="-112" charset="-128"/>
              </a:rPr>
              <a:t>?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&lt;target value&gt;:&lt;type&gt;</a:t>
            </a:r>
          </a:p>
          <a:p>
            <a:pPr eaLnBrk="1" hangingPunct="1">
              <a:defRPr/>
            </a:pP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	e.g.,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keyboard?m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OR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keyboard?m:Character</a:t>
            </a:r>
            <a:endParaRPr lang="en-US" sz="2400" i="1" dirty="0">
              <a:latin typeface="Times New Roman" pitchFamily="-112" charset="0"/>
              <a:ea typeface="ＭＳ Ｐゴシック" pitchFamily="-112" charset="-128"/>
            </a:endParaRPr>
          </a:p>
          <a:p>
            <a:pPr eaLnBrk="1" hangingPunct="1">
              <a:defRPr/>
            </a:pPr>
            <a:r>
              <a:rPr lang="en-US" sz="2400" dirty="0">
                <a:solidFill>
                  <a:srgbClr val="FFFF00"/>
                </a:solidFill>
                <a:latin typeface="Times New Roman" pitchFamily="-112" charset="0"/>
                <a:ea typeface="ＭＳ Ｐゴシック" pitchFamily="-112" charset="-128"/>
              </a:rPr>
              <a:t>Output command: </a:t>
            </a:r>
            <a:r>
              <a:rPr lang="en-US" sz="2400" dirty="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&lt;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destination -channel</a:t>
            </a:r>
            <a:r>
              <a:rPr lang="en-US" sz="2400" dirty="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-112" charset="0"/>
                <a:ea typeface="ＭＳ Ｐゴシック" pitchFamily="-112" charset="-128"/>
              </a:rPr>
              <a:t>&gt;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Times New Roman" pitchFamily="-112" charset="0"/>
                <a:ea typeface="ＭＳ Ｐゴシック" pitchFamily="-112" charset="-128"/>
              </a:rPr>
              <a:t>!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&lt;target value&gt;:&lt;type&gt;</a:t>
            </a:r>
          </a:p>
          <a:p>
            <a:pPr eaLnBrk="1" hangingPunct="1">
              <a:defRPr/>
            </a:pP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	e.g.,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screen!average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dirty="0">
                <a:latin typeface="Times New Roman" pitchFamily="-112" charset="0"/>
                <a:ea typeface="ＭＳ Ｐゴシック" pitchFamily="-112" charset="-128"/>
              </a:rPr>
              <a:t>OR</a:t>
            </a:r>
            <a:r>
              <a:rPr lang="en-US" sz="2400" i="1" dirty="0">
                <a:latin typeface="Times New Roman" pitchFamily="-112" charset="0"/>
                <a:ea typeface="ＭＳ Ｐゴシック" pitchFamily="-112" charset="-128"/>
              </a:rPr>
              <a:t> </a:t>
            </a:r>
            <a:r>
              <a:rPr lang="en-US" sz="2400" i="1" dirty="0" err="1">
                <a:latin typeface="Times New Roman" pitchFamily="-112" charset="0"/>
                <a:ea typeface="ＭＳ Ｐゴシック" pitchFamily="-112" charset="-128"/>
              </a:rPr>
              <a:t>screen!average:Integer</a:t>
            </a:r>
            <a:endParaRPr lang="en-US" sz="2400" i="1" dirty="0">
              <a:latin typeface="Times New Roman" pitchFamily="-112" charset="0"/>
              <a:ea typeface="ＭＳ Ｐゴシック" pitchFamily="-112" charset="-128"/>
            </a:endParaRPr>
          </a:p>
          <a:p>
            <a:pPr eaLnBrk="1" hangingPunct="1">
              <a:defRPr/>
            </a:pPr>
            <a:endParaRPr lang="en-US" sz="2400" dirty="0">
              <a:latin typeface="Times New Roman" pitchFamily="-112" charset="0"/>
              <a:ea typeface="ＭＳ Ｐゴシック" pitchFamily="-112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9E684-0826-1356-E629-4840622775A9}"/>
              </a:ext>
            </a:extLst>
          </p:cNvPr>
          <p:cNvSpPr txBox="1"/>
          <p:nvPr/>
        </p:nvSpPr>
        <p:spPr>
          <a:xfrm>
            <a:off x="3352800" y="3429000"/>
            <a:ext cx="137160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legacyWireframe"/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  <a:latin typeface="Arial" charset="0"/>
                <a:ea typeface="ＭＳ Ｐゴシック" pitchFamily="-112" charset="-128"/>
              </a:rPr>
              <a:t>Channel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7D12B21-B63F-ED73-6DCF-0C97A8998B7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5CE5A6D-68A1-4CA4-6AC2-2E1850AC7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AEF62DE-1C93-E576-540E-C4770F001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7D6A02-6237-4B49-B7D9-93399E9378BB}" type="slidenum">
              <a:rPr lang="en-US" altLang="en-US" sz="1000"/>
              <a:pPr/>
              <a:t>7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158C-D177-7D43-F948-B6D0190A2C2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78F95-74A2-92CB-3871-9804195AFA5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956FA-20D1-CFA4-5234-F8A020445DA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E547FCD-9BAD-6048-AF8D-383D17C41054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9202" name="Rectangle 2">
            <a:extLst>
              <a:ext uri="{FF2B5EF4-FFF2-40B4-BE49-F238E27FC236}">
                <a16:creationId xmlns:a16="http://schemas.microsoft.com/office/drawing/2014/main" id="{C015F01A-7EDC-F154-CBE2-6CB297053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7BE8151D-6DD2-3700-0148-31B9AED09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A executes an output command specifying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channel C</a:t>
            </a:r>
            <a:r>
              <a:rPr lang="en-US" altLang="en-US">
                <a:ea typeface="ＭＳ Ｐゴシック" panose="020B0600070205080204" pitchFamily="34" charset="-128"/>
              </a:rPr>
              <a:t> as its destination AND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B executes and input command specifying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channel C</a:t>
            </a:r>
            <a:r>
              <a:rPr lang="en-US" altLang="en-US">
                <a:ea typeface="ＭＳ Ｐゴシック" panose="020B0600070205080204" pitchFamily="34" charset="-128"/>
              </a:rPr>
              <a:t> as its source AND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target channel name (variable or constant) in the input statement matches the channel name in the output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F5F1DBD-AD58-24E5-86DA-6DA90343338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0B6AD82-6AA0-A8A5-86AE-93339B6975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1000B1F-8DE4-040E-CB55-CF6A57A5C9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A94C02-96BD-CA47-B39A-E436EDB88195}" type="slidenum">
              <a:rPr lang="en-US" altLang="en-US" sz="1000"/>
              <a:pPr/>
              <a:t>8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E58BB-C86C-3D9C-6068-56B6057CAAE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B538-095C-B287-FDB6-67D1569B05D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240E-960F-E29B-E5CC-62234740466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5813D161-9A89-C54F-B544-3D652F00F902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CB4D994C-A3D8-09FF-570F-6E4A3F88F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Program Equivalence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4D95582A-9CF2-4E74-D81B-3BD551C49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30725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programs P1 and P2 are equivalent if they produce patterns of </a:t>
            </a:r>
            <a:r>
              <a:rPr lang="en-US" altLang="en-US">
                <a:solidFill>
                  <a:srgbClr val="ADCA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visible actions that cannot be distinguished by an observer</a:t>
            </a:r>
            <a:r>
              <a:rPr lang="en-US" altLang="en-US">
                <a:ea typeface="ＭＳ Ｐゴシック" panose="020B0600070205080204" pitchFamily="34" charset="-128"/>
              </a:rPr>
              <a:t> –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to be made precise later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Only the communication skeleton of a program matters! </a:t>
            </a:r>
            <a:r>
              <a:rPr lang="en-US" altLang="en-US" i="1">
                <a:solidFill>
                  <a:srgbClr val="ADCA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– not the internal actions!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9BD0D392-0C63-9D26-1E8D-9D9B911765A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179C7D2-8F4F-07AB-1769-E723FD79A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311F1AF-A40A-9E3E-509E-B9041CE4F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9E21357-4F6F-3F4E-B578-E0DEC1E275E6}" type="slidenum">
              <a:rPr lang="en-US" altLang="en-US" sz="1000"/>
              <a:pPr/>
              <a:t>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DAD58-63A9-99E7-E0A7-B9576CD0CFF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2FC43-B0BD-A836-8726-955C0BB7D34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7676-605F-1EF6-991A-323F35D95B1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0A5026D-5E19-AD4A-89E6-76BDFCE95CE1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7698" name="Rectangle 2">
            <a:extLst>
              <a:ext uri="{FF2B5EF4-FFF2-40B4-BE49-F238E27FC236}">
                <a16:creationId xmlns:a16="http://schemas.microsoft.com/office/drawing/2014/main" id="{F217D62B-E733-C82C-7A12-FB2783E5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5257800" cy="12192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Communication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77D97CDF-884C-33F6-30F8-9F5BDB764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Prefix: given a process P and a communication </a:t>
            </a:r>
            <a:r>
              <a:rPr lang="en-US" altLang="en-US" i="1"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,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is a process that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Performs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a typeface="ＭＳ Ｐゴシック" panose="020B0600070205080204" pitchFamily="34" charset="-128"/>
              </a:rPr>
              <a:t> then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Behaves as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Given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in, out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 what is 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in → out → 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Process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stop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: no observable action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Given </a:t>
            </a:r>
            <a:r>
              <a:rPr lang="en-US" altLang="en-US" i="1">
                <a:ea typeface="ＭＳ Ｐゴシック" panose="020B0600070205080204" pitchFamily="34" charset="-128"/>
              </a:rPr>
              <a:t>a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 what is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→ 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85FD0C5-1029-4CA3-414E-4500BC55A8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D6AA64B-B1E9-1A4D-18BE-FE45F103C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71F9CB1-6034-65BF-1E20-14DE4DB0FF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9F91C2-D52B-AD47-AE39-3BA6533BA4CF}" type="slidenum">
              <a:rPr lang="en-US" altLang="en-US" sz="1000"/>
              <a:pPr/>
              <a:t>10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F3BC-0A62-CEE4-1CC9-D76B3B41626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374D-91C3-5B49-1F7B-3FF96DC2735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56128-0DAD-DAD9-F00E-E2046727098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501C6F7-7BD2-284C-AACA-99DE6C02BC7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0A0FC4B9-0DD7-AEC4-5889-7B2FE3070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Building Basic Processes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D4F39CC9-C0B7-7AD8-7E6A-D62AF0EE6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basic construct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Given </a:t>
            </a:r>
            <a:r>
              <a:rPr lang="en-US" altLang="en-US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a,b,c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 </a:t>
            </a:r>
          </a:p>
          <a:p>
            <a:pPr lvl="1" eaLnBrk="1" hangingPunct="1"/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Proc = a → b → c → stop</a:t>
            </a:r>
            <a:endParaRPr lang="en-US" altLang="en-US" dirty="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Proc: finite succession of choices before stopping 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</a:t>
            </a:r>
            <a:r>
              <a:rPr lang="en-US" altLang="en-US" i="1" dirty="0">
                <a:ea typeface="ＭＳ Ｐゴシック" panose="020B0600070205080204" pitchFamily="34" charset="-128"/>
              </a:rPr>
              <a:t> e</a:t>
            </a:r>
            <a:r>
              <a:rPr lang="en-US" altLang="en-US" dirty="0">
                <a:ea typeface="ＭＳ Ｐゴシック" panose="020B0600070205080204" pitchFamily="34" charset="-128"/>
              </a:rPr>
              <a:t>nvironment might choose not to accept any of </a:t>
            </a:r>
            <a:r>
              <a:rPr lang="en-US" altLang="en-US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a,b,c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 so it might get stuck before </a:t>
            </a:r>
            <a:r>
              <a:rPr lang="en-US" altLang="en-US" dirty="0">
                <a:solidFill>
                  <a:srgbClr val="FF5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95421B1D-EB39-B401-C6EB-B0FCBBCCE07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6657A8A-1C6C-A120-3435-BAE4D1DCC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9D977E2-79D5-79F8-7188-A0EC83BD6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7965672-702C-7D40-9DB1-AED4791638E4}" type="slidenum">
              <a:rPr lang="en-US" altLang="en-US" sz="1000"/>
              <a:pPr/>
              <a:t>11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B311B-074C-E8BD-6815-928CC76028A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B09EF-F71B-1FFB-6C05-A504D3075A4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ED63A-0D95-D16F-1564-8DF0B5436B1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CF52146-0048-E64E-9B34-CDDF35D2F34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59746" name="Rectangle 2">
            <a:extLst>
              <a:ext uri="{FF2B5EF4-FFF2-40B4-BE49-F238E27FC236}">
                <a16:creationId xmlns:a16="http://schemas.microsoft.com/office/drawing/2014/main" id="{37308441-B284-6F61-DF36-272862AEC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Building Recursive Processes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059E86BD-2041-7D81-0C39-0A088E894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Recursion:</a:t>
            </a:r>
            <a:r>
              <a:rPr lang="en-US" sz="2800"/>
              <a:t> processes </a:t>
            </a:r>
            <a:r>
              <a:rPr 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go on forever</a:t>
            </a:r>
          </a:p>
          <a:p>
            <a:pPr marL="609600" indent="-609600" eaLnBrk="1" hangingPunct="1">
              <a:buFont typeface="Wingdings" pitchFamily="-112" charset="2"/>
              <a:buChar char="l"/>
              <a:defRPr/>
            </a:pPr>
            <a:r>
              <a:rPr lang="en-US" sz="2800"/>
              <a:t>Looping back to a state they have been before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Alt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Alt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Dalt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 Dalt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Malt1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Malt2 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Malt2 = from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Malt1</a:t>
            </a:r>
          </a:p>
          <a:p>
            <a:pPr marL="990600" lvl="1" indent="-533400" eaLnBrk="1" hangingPunct="1">
              <a:buFontTx/>
              <a:buAutoNum type="arabicPeriod"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Nalt = to 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from → Dalt</a:t>
            </a:r>
          </a:p>
          <a:p>
            <a:pPr marL="609600" indent="-609600" eaLnBrk="1" hangingPunct="1">
              <a:buFontTx/>
              <a:buChar char="–"/>
              <a:defRPr/>
            </a:pPr>
            <a:r>
              <a:rPr lang="en-US" sz="2800">
                <a:cs typeface="Times New Roman" pitchFamily="-112" charset="0"/>
                <a:sym typeface="Symbol" pitchFamily="-112" charset="2"/>
              </a:rPr>
              <a:t>1, 2, 5, and (3,4) are equivalent programs</a:t>
            </a:r>
          </a:p>
          <a:p>
            <a:pPr marL="609600" indent="-609600" eaLnBrk="1" hangingPunct="1">
              <a:buFontTx/>
              <a:buChar char="–"/>
              <a:defRPr/>
            </a:pPr>
            <a:r>
              <a:rPr 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Will be discussed formally later</a:t>
            </a:r>
          </a:p>
          <a:p>
            <a:pPr marL="990600" lvl="1" indent="-533400" eaLnBrk="1" hangingPunct="1">
              <a:buFont typeface="Wingdings" pitchFamily="-112" charset="2"/>
              <a:buChar char="l"/>
              <a:defRPr/>
            </a:pPr>
            <a:endParaRPr lang="en-US" sz="2400" i="1">
              <a:solidFill>
                <a:schemeClr val="accent1"/>
              </a:solidFill>
              <a:effectLst>
                <a:outerShdw blurRad="38100" dist="38100" dir="2700000" algn="tl">
                  <a:srgbClr val="FFFFFF"/>
                </a:outerShdw>
              </a:effectLst>
              <a:cs typeface="Times New Roman" pitchFamily="-112" charset="0"/>
              <a:sym typeface="Symbol" pitchFamily="-112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D125A523-EC6F-8E90-0761-DBCFA49728F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94DC1C1-75E6-BB29-6B9D-AD14876271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502F7AB-5E2C-9FD6-E33A-3012DB6B4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9627BD-D588-634D-A90B-24875C7D0C77}" type="slidenum">
              <a:rPr lang="en-US" altLang="en-US" sz="1000"/>
              <a:pPr/>
              <a:t>12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EB3D9-05D8-076A-D1FC-C9952504E64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41858-3CF5-91AA-53D7-0F28C8D4650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2B60-684A-95BC-B69C-32D5B4FACDE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AB740E9-759B-F041-9442-DE5AF33D3191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47CD738E-1C97-50F6-5216-83342F232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Parametric Processes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B993E322-E971-D99B-9EFA-40F7E659D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Parametric Input:</a:t>
            </a:r>
            <a:r>
              <a:rPr lang="en-US" altLang="en-US">
                <a:ea typeface="ＭＳ Ｐゴシック" panose="020B0600070205080204" pitchFamily="34" charset="-128"/>
              </a:rPr>
              <a:t> any set of visible actions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A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 ,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?x : 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P(x)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represents a parametrized process where;</a:t>
            </a:r>
          </a:p>
          <a:p>
            <a:pPr lvl="1" eaLnBrk="1" hangingPunct="1"/>
            <a:r>
              <a:rPr lang="en-US" altLang="en-US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x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is a </a:t>
            </a:r>
            <a:r>
              <a:rPr lang="en-US" altLang="en-US" u="sng">
                <a:ea typeface="ＭＳ Ｐゴシック" panose="020B0600070205080204" pitchFamily="34" charset="-128"/>
                <a:sym typeface="Symbol" pitchFamily="2" charset="2"/>
              </a:rPr>
              <a:t>parameter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of P(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x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When aA is chosen,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P(x)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behaves like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P(a)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always prepared to offer any event from </a:t>
            </a:r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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 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RUN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=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?x:A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RUN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D437110-0903-88EC-DD36-F98C5E91144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E7F0377-338D-4D83-3C5F-CE41D80E3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A8090A0-B15C-3925-DF62-BD7FC3A8E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C53EE-EBB2-2342-9D1E-FC126A0AF392}" type="slidenum">
              <a:rPr lang="en-US" altLang="en-US" sz="1000"/>
              <a:pPr/>
              <a:t>13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0703-171F-24EB-B25B-26A5F1A0BE5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1ED81-6DDE-30B9-4D5E-7010D18CF63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6EFB-FD31-ED2A-8143-12A82B0EF62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86063E36-886A-044B-B5C6-E58692F8E343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1257A89B-621E-76F2-7E3C-24DE0A449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Compound Events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CC330361-3A9F-DD59-F56D-07B87C930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Coding Machine example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CM1(s) = ?x:L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{off}→CM1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‘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CM1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(s,off)=Stop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CM1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 = encrypt(s,x)→CM1(newstate(s,x))      </a:t>
            </a:r>
            <a:r>
              <a:rPr lang="en-US" altLang="ja-JP" sz="2400">
                <a:ea typeface="ＭＳ Ｐゴシック" panose="020B0600070205080204" pitchFamily="34" charset="-128"/>
                <a:sym typeface="Symbol" pitchFamily="2" charset="2"/>
              </a:rPr>
              <a:t>where xL.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Action:</a:t>
            </a:r>
            <a:r>
              <a:rPr lang="en-US" altLang="en-US" sz="2800">
                <a:ea typeface="ＭＳ Ｐゴシック" panose="020B0600070205080204" pitchFamily="34" charset="-128"/>
              </a:rPr>
              <a:t> channel name followed by zero or more data components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Coding Machine example without </a:t>
            </a:r>
            <a:r>
              <a:rPr lang="en-US" altLang="en-US" sz="2800" i="1">
                <a:ea typeface="ＭＳ Ｐゴシック" panose="020B0600070205080204" pitchFamily="34" charset="-128"/>
              </a:rPr>
              <a:t>off</a:t>
            </a:r>
          </a:p>
          <a:p>
            <a:pPr lvl="1" eaLnBrk="1" hangingPunct="1"/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CM2(s) = in</a:t>
            </a:r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x → out</a:t>
            </a:r>
            <a:r>
              <a:rPr lang="en-US" altLang="en-US" sz="2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!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encrypt(s,x) → CM2(newstate(s,x))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Deterministic finite state machine over finite 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 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= ?X:A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</a:t>
            </a:r>
            <a:r>
              <a:rPr lang="en-US" altLang="ja-JP" sz="24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endParaRPr lang="en-US" altLang="en-US" sz="2400" i="1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34B4F46-E986-20B0-A7E1-19D7E9F45B1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53B3DF5A-63B0-DC17-09BF-26E7950111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34692C8-EA62-4226-AAB8-289F586090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038055-1A5D-5249-B581-A3D55BE4C58F}" type="slidenum">
              <a:rPr lang="en-US" altLang="en-US" sz="1000"/>
              <a:pPr/>
              <a:t>14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26EAF-F294-4FE5-4243-87528D76880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900A-B065-4293-D5EC-6D89F59C1AB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6D6FC-E658-7F1E-089B-E13A8326611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9AE626F-615C-434E-BC58-19766BA09E59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14FD0187-AF80-732F-4151-B3503AEA1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Binary Choice Operator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BF06FB52-E3DD-D738-79B9-06315A91B8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610600" cy="4114800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Choice operator =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Gives two alternatives to choose from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Then the process behaves like the chosen alternative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if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= BC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3600"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A→P(x)=(?x:B → P(x))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(?x:C → P(x))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12FE1CF8-2F2F-17A0-78F2-4B9AA66184E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90ED925-8C44-7D6D-735F-600AECB8E4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97E8F09-01F3-A98D-C43D-F9D412D43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66C548-5A05-694D-82B8-79D35E171E1C}" type="slidenum">
              <a:rPr lang="en-US" altLang="en-US" sz="1000"/>
              <a:pPr/>
              <a:t>15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AE7E-5A2E-8B39-4368-F2FF9EC86E7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A207E-366B-9C9B-1832-4EFA290CFA5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5B5D9-07C5-3FFA-279B-F9E638D7A2D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B9AF4D0-D436-ED4F-88B4-177ACA1CE9C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FA44CCFF-7420-DBE9-74F8-24F001130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Stop and process equivalence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6035CC7C-7D54-4F2D-9CEE-16F04858F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077200" cy="4114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Stop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process equivalence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if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= B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Ø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then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3200"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?x:A → P(x) = (?x:A → P(x))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stop</a:t>
            </a:r>
            <a:r>
              <a:rPr lang="en-US" altLang="en-US">
                <a:ea typeface="ＭＳ Ｐゴシック" panose="020B0600070205080204" pitchFamily="34" charset="-128"/>
              </a:rPr>
              <a:t>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that is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 P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stop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B= Ø</a:t>
            </a:r>
            <a:r>
              <a:rPr lang="en-US" altLang="en-US">
                <a:ea typeface="ＭＳ Ｐゴシック" panose="020B0600070205080204" pitchFamily="34" charset="-128"/>
              </a:rPr>
              <a:t> then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?x:B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P(x)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 Stop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7E2FBDB-0035-C3BF-E3C9-7C35B072709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C690889-CA1C-A8AD-DF2F-1EE69EABE7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83B525C-8E90-70B0-27AA-03152310E4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7BB595-8560-3343-A81E-8620405D57A7}" type="slidenum">
              <a:rPr lang="en-US" altLang="en-US" sz="1000"/>
              <a:pPr/>
              <a:t>16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0CAF-D04C-C44A-9623-B6F8B3D6F317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27CCD-38BA-1141-BC16-47A37D38FED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8C6C9-166D-1FC1-F5EC-4AFCC8CBE11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EF75E2FE-97A8-7046-A8A5-D76DC6C3EAE2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CA46CAFB-2803-4A65-D880-9C12E174A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Choice Operator - details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55D45F6E-3CF6-A85C-8623-15F95E8AE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Revisit: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if A = BC then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 → P(x) = (?x:B → P(x))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(?x:C → P(x) 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If B and C are disjoint:</a:t>
            </a:r>
            <a:r>
              <a:rPr lang="en-US" altLang="en-US" sz="2600">
                <a:ea typeface="ＭＳ Ｐゴシック" panose="020B0600070205080204" pitchFamily="34" charset="-128"/>
                <a:sym typeface="Symbol" pitchFamily="2" charset="2"/>
              </a:rPr>
              <a:t> together they give all the choices in 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What happens if B and C overlap?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Given processes P</a:t>
            </a:r>
            <a:r>
              <a:rPr lang="en-US" altLang="en-US" sz="22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and Q, what does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Q</a:t>
            </a: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 mean?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Choosing an action x  B  C what is the result of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200" i="1"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(?x:B → P(x))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(?x:C → Q(x) 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CSP allows the </a:t>
            </a:r>
            <a:r>
              <a:rPr lang="en-US" altLang="en-US" sz="22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implementer to make a choice</a:t>
            </a: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 between the two sides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  <a:sym typeface="Symbol" pitchFamily="2" charset="2"/>
              </a:rPr>
              <a:t>After action x, the process may behave as P(x) or Q(x), the environment has no control over it.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9FA0CE4-361A-32F9-1884-34768B2C50B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09A0E49-BE9E-D6FF-1890-C83F1EA952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790F7212-1915-1260-9035-62EB20105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0E2279-44CC-9F48-888D-CB19EC89171F}" type="slidenum">
              <a:rPr lang="en-US" altLang="en-US" sz="1000"/>
              <a:pPr/>
              <a:t>17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7F115-42A4-1F00-9ED0-BA7926D3D2E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3FD41-03F2-FBCE-BEA2-C57D12948A6A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856B9-1027-16F2-8A09-5BCAC8703F5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1DE047D-5600-C14D-BB5C-9156FDFCAF1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414EEFEC-6B82-E176-3E05-5C2B131DF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Non-determinism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82F808C-547E-7FA5-1194-8E8524F17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Program acts non-deterministically if it is unpredictable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 program is allowed to make internal decision that affect how it behaves as viewed from the outside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Implementation is allowed to choose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Example: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(a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a → stop)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(a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b → stop)</a:t>
            </a:r>
            <a:r>
              <a:rPr lang="en-US" altLang="en-US" sz="30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F9EF75BF-BC33-A789-6F96-1982C69C1C0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6FC3D80-04A1-5504-1E02-D206DEBFC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02287057-0C43-57CA-0537-0E57E806F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C719B0-9B06-2143-AF71-516689FB7BB4}" type="slidenum">
              <a:rPr lang="en-US" altLang="en-US" sz="1000"/>
              <a:pPr/>
              <a:t>18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34F29-97AF-0330-F746-A90E9B4DF58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1A7D-8DB2-A5E3-2B9B-F720D95FE4C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53E93-8241-6AAD-FE36-D369F31F8FD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BF670935-2675-3A47-90F8-3882BC8282B3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5E0F2300-D00D-A4F7-73D9-D34848291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Non-Deterministic Choice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6267C57C-D7E7-D2E3-1E75-B90101578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l-GR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Q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behaves like P or like Q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User has no control over which component is chosen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Can be implemented using two internal actions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Implementer is not required to implement this way (can choose either P or Q)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Useful for modeling a degree of unpredictability, like communication medium that transmits data correctly or loose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4910093B-9D9F-91F2-F390-7E4DEE544DD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6E1D565-EF98-37BB-8C09-E1DC979A5C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749040F-07F0-2814-B7F7-E51F20F24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F1F54F9-735A-0142-A5F2-9AA3585D6A40}" type="slidenum">
              <a:rPr lang="en-US" altLang="en-US" sz="1000"/>
              <a:pPr/>
              <a:t>19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F5F1-4C62-CDDF-9A5A-6FBE5D7C567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79B2B-1075-8D13-A4D3-525B0D721CB4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B4E8-8CAE-9545-B55E-E94A4F99C90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179675B7-9A42-704D-BB0B-0C0BDFC6F829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19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4EC41EFF-20A0-E7FC-52E7-2E79A1F36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Non-Deterministic Choice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D2C98DE6-862A-07F1-3F0F-BEA9113D4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l-GR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Q</a:t>
            </a:r>
            <a:r>
              <a:rPr lang="en-US" altLang="en-US" dirty="0">
                <a:ea typeface="ＭＳ Ｐゴシック" panose="020B0600070205080204" pitchFamily="34" charset="-128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Q</a:t>
            </a:r>
            <a:r>
              <a:rPr lang="en-US" altLang="en-US" dirty="0"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have identical traces: sequences of visible communications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So observation alone cannot determine which construct was used.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What is the difference between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(a </a:t>
            </a:r>
            <a:r>
              <a:rPr lang="en-US" altLang="en-US" sz="3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P)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Stop and (a </a:t>
            </a:r>
            <a:r>
              <a:rPr lang="en-US" altLang="en-US" sz="3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P) </a:t>
            </a:r>
            <a:r>
              <a:rPr lang="el-GR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stop</a:t>
            </a:r>
            <a:r>
              <a:rPr lang="en-US" altLang="en-US" dirty="0">
                <a:ea typeface="ＭＳ Ｐゴシック" panose="020B0600070205080204" pitchFamily="34" charset="-128"/>
              </a:rPr>
              <a:t> 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The second may deadlock!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D56E0D1D-8C25-4098-EF5A-1FD123A0C1C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877C2E7-F03B-433B-404C-C5F8B38A9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6B98A8F2-6718-0468-3BD5-1D970657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1766589-0F7E-5B4F-8F92-C47CADE459CE}" type="slidenum">
              <a:rPr lang="en-US" altLang="en-US" sz="1000"/>
              <a:pPr/>
              <a:t>20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AE37A-647D-6C8C-FB20-0FFACDED200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641D9-3578-0953-C9A0-EB21AF1F0F5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2878B-C99D-866D-A862-6E1EF78F4EB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DA51C311-DE03-E04A-94CA-9AED11BE4686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6AAE6AEB-F8CC-FC0C-FE98-FE21ABA39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Lockstep Parallel Operator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||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7A3B1D2C-3A6D-20EE-CB69-CAC612109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Used to construct sequential processes that execute in parallel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Synchronize all visible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|| Q</a:t>
            </a:r>
            <a:r>
              <a:rPr lang="en-US" altLang="en-US">
                <a:ea typeface="ＭＳ Ｐゴシック" panose="020B0600070205080204" pitchFamily="34" charset="-128"/>
              </a:rPr>
              <a:t> can perform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a  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 only when P and Q can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(?x : A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P(x)) ||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(?x : B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Q(x))  =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?x : A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 B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(P(x) || Q(x))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Like 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co-begin co-end</a:t>
            </a:r>
            <a:r>
              <a:rPr lang="en-US" altLang="en-US">
                <a:ea typeface="ＭＳ Ｐゴシック" panose="020B0600070205080204" pitchFamily="34" charset="-128"/>
              </a:rPr>
              <a:t> pair in parallel languages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D31F051-6428-7E60-7FB9-9F634BDFF6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9F932A2-39F1-5D45-E3D0-7459DB5DD2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4719D42-2E22-11C4-9151-67F51F06F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3E2ACC-285E-8043-A9F4-2C2EF2B9719B}" type="slidenum">
              <a:rPr lang="en-US" altLang="en-US" sz="1000"/>
              <a:pPr/>
              <a:t>21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383A1-47A8-E82F-502B-3CBBD8581AF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AC17-7585-4B2C-2052-B94F49A1E344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D538-EDB5-4B6A-F8FD-274156B2AF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88B1B18-DCF0-EA48-AD87-D177198BFF09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BA2EC1FF-1AA4-9071-E6F2-F79BE8BA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/>
              <a:t>Interface parallel operator </a:t>
            </a:r>
            <a:r>
              <a:rPr lang="en-US" sz="4000">
                <a:solidFill>
                  <a:srgbClr val="FF0000"/>
                </a:solidFill>
              </a:rPr>
              <a:t>||</a:t>
            </a:r>
            <a:r>
              <a:rPr lang="en-US" sz="4000" baseline="-25000">
                <a:solidFill>
                  <a:srgbClr val="FF0000"/>
                </a:solidFill>
              </a:rPr>
              <a:t>X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ACFDB798-F596-7E2F-E0D0-89556A507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Synchronize all events in X, but can perform events outside of X freely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=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 → P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Q =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B → Q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</a:t>
            </a:r>
          </a:p>
          <a:p>
            <a:pPr lvl="1" eaLnBrk="1" hangingPunct="1"/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||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Q =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X  A  B → (P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 || Q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(x))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endParaRPr lang="en-US" altLang="ja-JP" sz="24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sym typeface="Symbol" pitchFamily="2" charset="2"/>
            </a:endParaRPr>
          </a:p>
          <a:p>
            <a:pPr lvl="4" eaLnBrk="1" hangingPunct="1">
              <a:buFont typeface="Wingdings" pitchFamily="2" charset="2"/>
              <a:buNone/>
            </a:pP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A \ X → (P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 ||</a:t>
            </a:r>
            <a:r>
              <a:rPr lang="en-US" altLang="ja-JP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Q) 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endParaRPr lang="en-US" altLang="ja-JP" sz="24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sym typeface="Symbol" pitchFamily="2" charset="2"/>
            </a:endParaRPr>
          </a:p>
          <a:p>
            <a:pPr lvl="3" eaLnBrk="1" hangingPunct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		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?x : B \ X → (P||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Q</a:t>
            </a:r>
            <a:r>
              <a:rPr lang="ja-JP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(x))</a:t>
            </a:r>
          </a:p>
          <a:p>
            <a:pPr lvl="3"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>
            <a:extLst>
              <a:ext uri="{FF2B5EF4-FFF2-40B4-BE49-F238E27FC236}">
                <a16:creationId xmlns:a16="http://schemas.microsoft.com/office/drawing/2014/main" id="{558808AD-DF5C-250C-738D-43CE311B8BB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3EAA77C-5B9C-704F-9980-E0A5BDB769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29589821-8563-140B-E5ED-3C68CF0D5A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C18E9FA-EADF-BF4B-A76C-4D62AC60105C}" type="slidenum">
              <a:rPr lang="en-US" altLang="en-US" sz="1000"/>
              <a:pPr/>
              <a:t>22</a:t>
            </a:fld>
            <a:endParaRPr lang="en-US" altLang="en-US" sz="100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55DCD5-98DB-D0CA-89CD-C619E02525D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C9390EE-49B3-4303-CF21-E1DBCE514BF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A3C7B3D-FE51-EEAE-F3CA-8DDF7A828C9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823D840-7305-2F4C-8BF6-6A6EFEF7A365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7858E410-21D5-6789-3B9A-8B9683672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Example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5B0D99EB-DE52-D9E1-ADBE-A0DDDED19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BA= left? 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mid! X → BA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BB = mid? X </a:t>
            </a:r>
            <a:r>
              <a:rPr lang="en-US" sz="2800" i="1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right! X </a:t>
            </a:r>
            <a:r>
              <a:rPr lang="en-US" sz="2800" i="1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 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BB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B2= BA || </a:t>
            </a:r>
            <a:r>
              <a:rPr lang="en-US" sz="2800" baseline="-25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{mid}</a:t>
            </a:r>
            <a:r>
              <a:rPr lang="en-US" sz="2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 BB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 dirty="0">
                <a:cs typeface="Times New Roman" pitchFamily="-112" charset="0"/>
                <a:sym typeface="Symbol" pitchFamily="-112" charset="2"/>
              </a:rPr>
              <a:t>What is the example about?</a:t>
            </a:r>
          </a:p>
          <a:p>
            <a:pPr eaLnBrk="1" hangingPunct="1">
              <a:buFont typeface="Wingdings" pitchFamily="-112" charset="2"/>
              <a:buNone/>
              <a:defRPr/>
            </a:pPr>
            <a:endParaRPr lang="en-US" sz="2800" dirty="0">
              <a:cs typeface="Times New Roman" pitchFamily="-112" charset="0"/>
              <a:sym typeface="Symbol" pitchFamily="-112" charset="2"/>
            </a:endParaRPr>
          </a:p>
        </p:txBody>
      </p:sp>
      <p:sp>
        <p:nvSpPr>
          <p:cNvPr id="59401" name="Rectangle 4">
            <a:extLst>
              <a:ext uri="{FF2B5EF4-FFF2-40B4-BE49-F238E27FC236}">
                <a16:creationId xmlns:a16="http://schemas.microsoft.com/office/drawing/2014/main" id="{9CCDF2AB-0446-DCB7-B81E-40AEF13DA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Left</a:t>
            </a:r>
          </a:p>
        </p:txBody>
      </p:sp>
      <p:sp>
        <p:nvSpPr>
          <p:cNvPr id="59402" name="Rectangle 5">
            <a:extLst>
              <a:ext uri="{FF2B5EF4-FFF2-40B4-BE49-F238E27FC236}">
                <a16:creationId xmlns:a16="http://schemas.microsoft.com/office/drawing/2014/main" id="{65EFAF2A-7FDF-997E-C482-EA369DC7E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Mid</a:t>
            </a:r>
          </a:p>
        </p:txBody>
      </p:sp>
      <p:sp>
        <p:nvSpPr>
          <p:cNvPr id="59403" name="Rectangle 6">
            <a:extLst>
              <a:ext uri="{FF2B5EF4-FFF2-40B4-BE49-F238E27FC236}">
                <a16:creationId xmlns:a16="http://schemas.microsoft.com/office/drawing/2014/main" id="{3709BFAA-AB78-89EA-5752-1510A0D98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right</a:t>
            </a:r>
          </a:p>
        </p:txBody>
      </p:sp>
      <p:sp>
        <p:nvSpPr>
          <p:cNvPr id="59404" name="Freeform 7">
            <a:extLst>
              <a:ext uri="{FF2B5EF4-FFF2-40B4-BE49-F238E27FC236}">
                <a16:creationId xmlns:a16="http://schemas.microsoft.com/office/drawing/2014/main" id="{59996921-53CD-FED0-F884-C2753FD82133}"/>
              </a:ext>
            </a:extLst>
          </p:cNvPr>
          <p:cNvSpPr>
            <a:spLocks/>
          </p:cNvSpPr>
          <p:nvPr/>
        </p:nvSpPr>
        <p:spPr bwMode="auto">
          <a:xfrm>
            <a:off x="2209800" y="4394200"/>
            <a:ext cx="1905000" cy="1778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5" name="Rectangle 8">
            <a:extLst>
              <a:ext uri="{FF2B5EF4-FFF2-40B4-BE49-F238E27FC236}">
                <a16:creationId xmlns:a16="http://schemas.microsoft.com/office/drawing/2014/main" id="{BEB5259F-2D06-E1C6-84DB-F5A669D22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X</a:t>
            </a:r>
          </a:p>
        </p:txBody>
      </p:sp>
      <p:sp>
        <p:nvSpPr>
          <p:cNvPr id="59406" name="Rectangle 9">
            <a:extLst>
              <a:ext uri="{FF2B5EF4-FFF2-40B4-BE49-F238E27FC236}">
                <a16:creationId xmlns:a16="http://schemas.microsoft.com/office/drawing/2014/main" id="{92E22FC3-C46F-58D1-E7E4-CBC7F3359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4864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Process BA</a:t>
            </a:r>
          </a:p>
        </p:txBody>
      </p:sp>
      <p:sp>
        <p:nvSpPr>
          <p:cNvPr id="59407" name="Rectangle 10">
            <a:extLst>
              <a:ext uri="{FF2B5EF4-FFF2-40B4-BE49-F238E27FC236}">
                <a16:creationId xmlns:a16="http://schemas.microsoft.com/office/drawing/2014/main" id="{9AA479FC-A92C-1F90-D34C-F00ECB962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5626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Process BB</a:t>
            </a:r>
          </a:p>
        </p:txBody>
      </p:sp>
      <p:sp>
        <p:nvSpPr>
          <p:cNvPr id="59408" name="Freeform 11">
            <a:extLst>
              <a:ext uri="{FF2B5EF4-FFF2-40B4-BE49-F238E27FC236}">
                <a16:creationId xmlns:a16="http://schemas.microsoft.com/office/drawing/2014/main" id="{568EF177-C522-A62A-9BA6-3C978CBF528C}"/>
              </a:ext>
            </a:extLst>
          </p:cNvPr>
          <p:cNvSpPr>
            <a:spLocks/>
          </p:cNvSpPr>
          <p:nvPr/>
        </p:nvSpPr>
        <p:spPr bwMode="auto">
          <a:xfrm>
            <a:off x="5029200" y="4449762"/>
            <a:ext cx="2057400" cy="274638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409" name="Rectangle 12">
            <a:extLst>
              <a:ext uri="{FF2B5EF4-FFF2-40B4-BE49-F238E27FC236}">
                <a16:creationId xmlns:a16="http://schemas.microsoft.com/office/drawing/2014/main" id="{4483F4F8-F71F-216F-6EC6-F30C579C5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7244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9DE3F705-DF73-1FD9-90B6-3462EFF90F9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D67D17EF-04B0-4E7E-CA55-2AFAB18C95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00F4AC6-F572-E22B-30D7-DAF8E0CCFF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47A90FA-067A-6647-9CE9-AD2F00B2CBC6}" type="slidenum">
              <a:rPr lang="en-US" altLang="en-US" sz="1000"/>
              <a:pPr/>
              <a:t>23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066C-1A6D-58F0-B890-FC4538BD802C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6F10-EE0F-9BCA-6902-E1392B7CF5E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76C93-221A-4161-4C73-E2AA6E5C26C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B50EE29-A657-AA47-94E4-0E6B3CA148F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4082" name="Rectangle 2">
            <a:extLst>
              <a:ext uri="{FF2B5EF4-FFF2-40B4-BE49-F238E27FC236}">
                <a16:creationId xmlns:a16="http://schemas.microsoft.com/office/drawing/2014/main" id="{AD934FDE-FDC0-B4D3-C260-03F4F827B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Synchronizing Parallel Construct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010FEAD8-6DDF-F5AF-B788-B5922E04A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 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||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Y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Q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process is given control of a particular set of events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 process is ever permitted to communicate outside of its own alphabet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Interface between two processes: intersection of their alphabets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B68C2FC0-6CF2-B1DD-77B0-35B22341B68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83AF6B6-BA73-9F69-DB52-3DEE96646B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0F589CD-50A4-7538-A353-A98B21CD5A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F9451A-1A51-6E4E-9509-33C4FAFFB623}" type="slidenum">
              <a:rPr lang="en-US" altLang="en-US" sz="1000"/>
              <a:pPr/>
              <a:t>24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4EDC1-3A9E-523E-EFBA-B4A8A5FFFD0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B47D1-A285-0A35-2853-9C729DF9C2D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6AA7D-1070-EF2F-F715-C6AC426822B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89C941C5-62A1-6748-A0C2-627AC7D8CE2E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3538" name="Rectangle 2">
            <a:extLst>
              <a:ext uri="{FF2B5EF4-FFF2-40B4-BE49-F238E27FC236}">
                <a16:creationId xmlns:a16="http://schemas.microsoft.com/office/drawing/2014/main" id="{CA229D1E-8B82-CB5F-4977-CC888E823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Additional operators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C3212C8B-96BC-410F-6FD4-9AB5783CA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Sequential composition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P;Q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Does whatever P does until terminates and then does what Q does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Process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skip</a:t>
            </a:r>
            <a:r>
              <a:rPr lang="en-US" altLang="en-US" sz="2800" i="1"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</a:rPr>
              <a:t>: no-op, successfully terminates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Special event: 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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 -- always the final event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b → skip</a:t>
            </a:r>
            <a:r>
              <a:rPr lang="en-US" altLang="en-US" i="1">
                <a:ea typeface="ＭＳ Ｐゴシック" panose="020B0600070205080204" pitchFamily="34" charset="-128"/>
                <a:sym typeface="Symbol" pitchFamily="2" charset="2"/>
              </a:rPr>
              <a:t>,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terminates successfully after events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and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skip);P</a:t>
            </a:r>
            <a:r>
              <a:rPr lang="en-US" altLang="en-US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400">
                <a:ea typeface="ＭＳ Ｐゴシック" panose="020B0600070205080204" pitchFamily="34" charset="-128"/>
                <a:sym typeface="Symbol" pitchFamily="2" charset="2"/>
              </a:rPr>
              <a:t>same external behavior as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EDD7A22-A758-DF6A-9801-BF2FF1B0587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458D7B4-F077-FF6E-E877-8B6922690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E4269F8-B56E-A0C6-C24F-DEBA533965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16AA57-DF12-1C47-A770-37ABED6D660E}" type="slidenum">
              <a:rPr lang="en-US" altLang="en-US" sz="1000"/>
              <a:pPr/>
              <a:t>25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A5E5C-DE3B-75E1-4FC0-B75B3D2BD0A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1B7E-4B99-CD15-9D0E-3A1B4001546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2E355-C740-7423-747A-16FAC37EE93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27E631E-90E0-924D-B49B-0610CF399BC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20F1DD9E-9957-6B86-92E8-8A7B91D6C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Hiding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449D4176-25A0-37A6-2AC1-031866996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77200" cy="4724400"/>
          </a:xfrm>
        </p:spPr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3500"/>
              <a:t>Internal details are not visible to outsiders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3500"/>
              <a:t>If X </a:t>
            </a:r>
            <a:r>
              <a:rPr lang="en-US">
                <a:sym typeface="Symbol" pitchFamily="-112" charset="2"/>
              </a:rPr>
              <a:t></a:t>
            </a:r>
            <a:r>
              <a:rPr lang="en-US" sz="3500"/>
              <a:t> </a:t>
            </a:r>
            <a:r>
              <a:rPr lang="en-US" sz="3500">
                <a:sym typeface="Symbol" pitchFamily="-112" charset="2"/>
              </a:rPr>
              <a:t> and P is a process than </a:t>
            </a:r>
            <a:r>
              <a:rPr lang="en-US" sz="35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P \ X</a:t>
            </a:r>
            <a:r>
              <a:rPr lang="en-US" sz="3500">
                <a:sym typeface="Symbol" pitchFamily="-112" charset="2"/>
              </a:rPr>
              <a:t> behaves like P but all events in </a:t>
            </a:r>
            <a:r>
              <a:rPr lang="en-US" sz="35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-112" charset="2"/>
              </a:rPr>
              <a:t>X</a:t>
            </a:r>
            <a:r>
              <a:rPr lang="en-US" sz="3500">
                <a:sym typeface="Symbol" pitchFamily="-112" charset="2"/>
              </a:rPr>
              <a:t> are hidden (turned into invisible actions)</a:t>
            </a:r>
          </a:p>
          <a:p>
            <a:pPr lvl="1" eaLnBrk="1" hangingPunct="1">
              <a:buFont typeface="Wingdings" pitchFamily="-112" charset="2"/>
              <a:buNone/>
              <a:defRPr/>
            </a:pPr>
            <a:endParaRPr lang="en-US" sz="3100">
              <a:sym typeface="Symbol" pitchFamily="-112" charset="2"/>
            </a:endParaRPr>
          </a:p>
          <a:p>
            <a:pPr eaLnBrk="1" hangingPunct="1">
              <a:buFont typeface="Wingdings" pitchFamily="-112" charset="2"/>
              <a:buChar char="l"/>
              <a:defRPr/>
            </a:pPr>
            <a:endParaRPr lang="en-US" sz="3600">
              <a:sym typeface="Symbol" pitchFamily="-112" charset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C5D2E80-4E49-AF85-0719-65E18E2278B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5698F4B-3EA1-692A-8EAF-DF2EE53A3D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952AE4A-D74B-DCC4-8FB7-D94EC56C9B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44870A-EAFE-7443-A9D8-0A3B787CA6F3}" type="slidenum">
              <a:rPr lang="en-US" altLang="en-US" sz="1000"/>
              <a:pPr/>
              <a:t>26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CD20-AFAA-C6E6-D81E-FF365A71696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4D2E-CF80-EEB4-4B45-E8179C3DAE6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0F12D-D689-BE99-9FBE-C88BEB3D09F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A75434C5-8A2E-8A42-90DA-BF12B042612B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6A7D50D1-07D3-493C-D120-586BBC5A6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Hiding Example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73103F39-A080-652C-1628-5CA21DF98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05800" cy="4683125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BA= left?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3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mid! X → BA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BB = mid? X </a:t>
            </a:r>
            <a:r>
              <a:rPr lang="en-US" altLang="en-US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right! X </a:t>
            </a:r>
            <a:r>
              <a:rPr lang="en-US" altLang="en-US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BB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B2= BA || </a:t>
            </a:r>
            <a:r>
              <a:rPr lang="en-US" altLang="en-US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{mid}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BB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External interfaces = {|left, right|}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Internal interface={|mid|}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B2\{ |mid| } hides the internal details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Will show later how to construct this process to be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B=(left? x → right! x→ B)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9A87219-F8F7-9BA0-48F5-95CCB8F1966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C58D5EA-ED28-1611-D89B-E245ADE0E6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8F19D0B-B673-152F-4DAF-4490C242A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580ED39-B0A2-244B-AC33-23DB01D24BDC}" type="slidenum">
              <a:rPr lang="en-US" altLang="en-US" sz="1000"/>
              <a:pPr/>
              <a:t>27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A422-8FD2-1D05-FD7E-CBFF276230F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1ECB3-F7FF-2A16-FFB3-4D159DF6CB8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F1F1E-4577-7A05-7864-9EDD62D98FF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9C1BC525-E4DD-2C48-A721-B70086FE8EE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7634" name="Rectangle 2">
            <a:extLst>
              <a:ext uri="{FF2B5EF4-FFF2-40B4-BE49-F238E27FC236}">
                <a16:creationId xmlns:a16="http://schemas.microsoft.com/office/drawing/2014/main" id="{315DD66C-5870-4B17-9D73-54C515CC6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Renaming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59D9A8CB-A0C4-BB2F-2417-6CAC69453C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53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Alphabet replacement (relation i.e. substitution)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P[[R]]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behaves like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but all visible events a from P are renamed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by whatever R associates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with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Use to make copies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P[[</a:t>
            </a:r>
            <a:r>
              <a:rPr lang="en-US" altLang="en-US" sz="2800" baseline="30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a,a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/</a:t>
            </a:r>
            <a:r>
              <a:rPr lang="en-US" altLang="en-US" sz="28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b,c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]]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– both b and c are mapped to 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e.g.,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P[[</a:t>
            </a:r>
            <a:r>
              <a:rPr lang="en-US" altLang="en-US" sz="2800" baseline="30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b,c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/</a:t>
            </a:r>
            <a:r>
              <a:rPr lang="en-US" altLang="en-US" sz="28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]]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– a is mapped to b and c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offers the choice of b and c to the environment but the state after either of these choices is the same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Can show that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(a → P)[b.c/a]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has the same behavior as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(b → P[b.c/a])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(c → P[b.c/a])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endParaRPr lang="ar-SA" altLang="en-US" sz="2800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2">
            <a:extLst>
              <a:ext uri="{FF2B5EF4-FFF2-40B4-BE49-F238E27FC236}">
                <a16:creationId xmlns:a16="http://schemas.microsoft.com/office/drawing/2014/main" id="{C94EA8A0-D74D-A53C-4BD5-A5A6355E20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C84DE399-0AE2-A456-DC01-390D2CCAB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D258706F-059D-7957-FE71-01EF4A4CEC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98FA4B-FB2B-4243-BD58-6A0471593EF9}" type="slidenum">
              <a:rPr lang="en-US" altLang="en-US" sz="1000"/>
              <a:pPr/>
              <a:t>28</a:t>
            </a:fld>
            <a:endParaRPr lang="en-US" altLang="en-US" sz="100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F5DF42C-AC31-87F7-E8F4-CEA24E2ABBFA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A79132E-967C-6B90-67C8-6EE6E54366B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15BE52-E8E4-8F71-B439-AB91F61DF07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1AA41F1-59B4-6946-AF7C-989AE9FA4CBA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AA440046-0E99-9F8F-A08A-EE434048B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Renaming Example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17269984-52A2-F81A-F19D-BDB461859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Let 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B1(in,out)</a:t>
            </a:r>
            <a:r>
              <a:rPr 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in?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→out!x→B1(in,out)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Then, 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B1[left,mid/in,out]</a:t>
            </a:r>
            <a:r>
              <a:rPr 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left?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→mid!X→B1[left,mid]= BA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cs typeface="Times New Roman" pitchFamily="-112" charset="0"/>
                <a:sym typeface="Symbol" pitchFamily="-112" charset="2"/>
              </a:rPr>
              <a:t>And 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B1[mid,right/in,out]= mid?X</a:t>
            </a:r>
            <a:r>
              <a:rPr 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right!X</a:t>
            </a:r>
            <a:r>
              <a:rPr 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→</a:t>
            </a:r>
            <a:r>
              <a:rPr 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B1[mid,right/in,out] = BB</a:t>
            </a:r>
          </a:p>
          <a:p>
            <a:pPr eaLnBrk="1" hangingPunct="1">
              <a:buFont typeface="Wingdings" pitchFamily="-112" charset="2"/>
              <a:buNone/>
              <a:defRPr/>
            </a:pPr>
            <a:endParaRPr lang="en-US" sz="2800">
              <a:cs typeface="Times New Roman" pitchFamily="-112" charset="0"/>
              <a:sym typeface="Symbol" pitchFamily="-112" charset="2"/>
            </a:endParaRPr>
          </a:p>
        </p:txBody>
      </p:sp>
      <p:sp>
        <p:nvSpPr>
          <p:cNvPr id="71689" name="Rectangle 4">
            <a:extLst>
              <a:ext uri="{FF2B5EF4-FFF2-40B4-BE49-F238E27FC236}">
                <a16:creationId xmlns:a16="http://schemas.microsoft.com/office/drawing/2014/main" id="{C74328BD-047F-322D-1548-1588A2826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left/in</a:t>
            </a:r>
          </a:p>
        </p:txBody>
      </p:sp>
      <p:sp>
        <p:nvSpPr>
          <p:cNvPr id="71690" name="Rectangle 5">
            <a:extLst>
              <a:ext uri="{FF2B5EF4-FFF2-40B4-BE49-F238E27FC236}">
                <a16:creationId xmlns:a16="http://schemas.microsoft.com/office/drawing/2014/main" id="{5DE1330F-E215-C2C4-0ED6-0751B6D14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343400"/>
            <a:ext cx="2057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mid/out         mid/in</a:t>
            </a:r>
          </a:p>
        </p:txBody>
      </p:sp>
      <p:sp>
        <p:nvSpPr>
          <p:cNvPr id="71691" name="Rectangle 6">
            <a:extLst>
              <a:ext uri="{FF2B5EF4-FFF2-40B4-BE49-F238E27FC236}">
                <a16:creationId xmlns:a16="http://schemas.microsoft.com/office/drawing/2014/main" id="{CA23E82F-C2D7-9874-77F5-F39FAA2F4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2672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right</a:t>
            </a:r>
          </a:p>
        </p:txBody>
      </p:sp>
      <p:sp>
        <p:nvSpPr>
          <p:cNvPr id="71692" name="Freeform 7">
            <a:extLst>
              <a:ext uri="{FF2B5EF4-FFF2-40B4-BE49-F238E27FC236}">
                <a16:creationId xmlns:a16="http://schemas.microsoft.com/office/drawing/2014/main" id="{8AEEAEEB-32CE-31F1-18E0-A929897BFCD8}"/>
              </a:ext>
            </a:extLst>
          </p:cNvPr>
          <p:cNvSpPr>
            <a:spLocks/>
          </p:cNvSpPr>
          <p:nvPr/>
        </p:nvSpPr>
        <p:spPr bwMode="auto">
          <a:xfrm>
            <a:off x="2209800" y="4343400"/>
            <a:ext cx="1600200" cy="2286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693" name="Rectangle 8">
            <a:extLst>
              <a:ext uri="{FF2B5EF4-FFF2-40B4-BE49-F238E27FC236}">
                <a16:creationId xmlns:a16="http://schemas.microsoft.com/office/drawing/2014/main" id="{73EFDEC8-F168-1029-81F5-DE1B1D8D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X</a:t>
            </a:r>
          </a:p>
        </p:txBody>
      </p:sp>
      <p:sp>
        <p:nvSpPr>
          <p:cNvPr id="71694" name="Rectangle 9">
            <a:extLst>
              <a:ext uri="{FF2B5EF4-FFF2-40B4-BE49-F238E27FC236}">
                <a16:creationId xmlns:a16="http://schemas.microsoft.com/office/drawing/2014/main" id="{D10D950C-F9A8-A8D9-25F6-519A2551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486400"/>
            <a:ext cx="3429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Process BA=B1[L,M/I,O]</a:t>
            </a:r>
          </a:p>
        </p:txBody>
      </p:sp>
      <p:sp>
        <p:nvSpPr>
          <p:cNvPr id="71695" name="Rectangle 10">
            <a:extLst>
              <a:ext uri="{FF2B5EF4-FFF2-40B4-BE49-F238E27FC236}">
                <a16:creationId xmlns:a16="http://schemas.microsoft.com/office/drawing/2014/main" id="{692768F4-3B8E-E7B5-80FA-C6A2726CD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86400"/>
            <a:ext cx="2971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Process BB=B1[M,R/I,O]</a:t>
            </a:r>
          </a:p>
        </p:txBody>
      </p:sp>
      <p:sp>
        <p:nvSpPr>
          <p:cNvPr id="71696" name="Freeform 11">
            <a:extLst>
              <a:ext uri="{FF2B5EF4-FFF2-40B4-BE49-F238E27FC236}">
                <a16:creationId xmlns:a16="http://schemas.microsoft.com/office/drawing/2014/main" id="{5175A787-7C74-057F-6381-C5EAF2BAC59E}"/>
              </a:ext>
            </a:extLst>
          </p:cNvPr>
          <p:cNvSpPr>
            <a:spLocks/>
          </p:cNvSpPr>
          <p:nvPr/>
        </p:nvSpPr>
        <p:spPr bwMode="auto">
          <a:xfrm>
            <a:off x="5867400" y="4343400"/>
            <a:ext cx="1524000" cy="3048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697" name="Rectangle 12">
            <a:extLst>
              <a:ext uri="{FF2B5EF4-FFF2-40B4-BE49-F238E27FC236}">
                <a16:creationId xmlns:a16="http://schemas.microsoft.com/office/drawing/2014/main" id="{5348A9D0-9A1E-1188-D719-1193E70D4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7244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X</a:t>
            </a:r>
          </a:p>
        </p:txBody>
      </p:sp>
      <p:sp>
        <p:nvSpPr>
          <p:cNvPr id="71698" name="Line 13">
            <a:extLst>
              <a:ext uri="{FF2B5EF4-FFF2-40B4-BE49-F238E27FC236}">
                <a16:creationId xmlns:a16="http://schemas.microsoft.com/office/drawing/2014/main" id="{D1973EEC-EB0E-7808-28E5-D279C067E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419600"/>
            <a:ext cx="0" cy="76200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AF87178-7E00-A4FE-23D5-13828B0A97F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A8FDAC8-B5A2-8D48-F228-A5BBA0C923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91E29DE-4C79-7ABC-175F-9A815946F6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0A79D9-BE8C-014B-B2BF-9E08224EFF81}" type="slidenum">
              <a:rPr lang="en-US" altLang="en-US" sz="1000"/>
              <a:pPr/>
              <a:t>29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DE04A-B9B6-F8E7-B6D9-A8C32A61F08B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DEC28-919D-226B-E420-3D4E6D35B45F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D72F-47E7-6DC9-B82D-2D6C48D332F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6522B33F-C07E-D94D-AB8B-3F22351FA5DA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29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5586" name="Rectangle 2">
            <a:extLst>
              <a:ext uri="{FF2B5EF4-FFF2-40B4-BE49-F238E27FC236}">
                <a16:creationId xmlns:a16="http://schemas.microsoft.com/office/drawing/2014/main" id="{4F5D5A6C-F096-EE0D-ED36-886F8CAD1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Behavior - informal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9FE5DE69-49B9-0F1B-AD84-954D06933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Concurrent processes may lead to: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Deadlock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</a:t>
            </a:r>
            <a:r>
              <a:rPr lang="en-US" altLang="en-US" sz="2800">
                <a:ea typeface="ＭＳ Ｐゴシック" panose="020B0600070205080204" pitchFamily="34" charset="-128"/>
              </a:rPr>
              <a:t> each process is willing to do something but the entire system cannot agree on any action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Livelock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</a:t>
            </a:r>
            <a:r>
              <a:rPr lang="en-US" altLang="en-US" sz="2800">
                <a:ea typeface="ＭＳ Ｐゴシック" panose="020B0600070205080204" pitchFamily="34" charset="-128"/>
              </a:rPr>
              <a:t> infinite sequence of internal (hidden) communication occur between the components. External appearance similar to deadlock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Non-determinism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</a:t>
            </a:r>
            <a:r>
              <a:rPr lang="en-US" altLang="en-US" sz="2800">
                <a:ea typeface="ＭＳ Ｐゴシック" panose="020B0600070205080204" pitchFamily="34" charset="-128"/>
              </a:rPr>
              <a:t> both processes P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ea typeface="ＭＳ Ｐゴシック" panose="020B0600070205080204" pitchFamily="34" charset="-128"/>
              </a:rPr>
              <a:t> and P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ea typeface="ＭＳ Ｐゴシック" panose="020B0600070205080204" pitchFamily="34" charset="-128"/>
              </a:rPr>
              <a:t> are willing to talk to a third one Q  which has to make a choice.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F01F7C5-702C-051F-C44F-C142D6BDC97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A9AA24D4-561E-CEF9-1FEF-93B709C400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01766C2-D4CF-D2D5-063F-825B3496E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856B8A6-1B1C-1A4F-A150-1A23F049823A}" type="slidenum">
              <a:rPr lang="en-US" altLang="en-US" sz="1000"/>
              <a:pPr/>
              <a:t>30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1D4E-8D89-FDC1-AF8E-1B589219AB50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E742-E69D-A3D7-7FC8-EDCB18823FEE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6660-4C33-C6A3-7FA1-BB20B04DB64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294F764-08B8-D64D-B7A5-A8F68A21B4A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C4DDD3C8-44DA-5AF3-3B0A-FA8C319AD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CSP Operators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C4C3A09E-48CC-D581-8267-0F1D52243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Stop		process does nothing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a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 P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		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event prefix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?x:A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 P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	        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event prefix choice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</a:t>
            </a:r>
            <a:r>
              <a:rPr lang="en-US" altLang="en-US" sz="2400"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400">
                <a:ea typeface="ＭＳ Ｐゴシック" panose="020B0600070205080204" pitchFamily="34" charset="-128"/>
              </a:rPr>
              <a:t>Q		nondeterministic choice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</a:t>
            </a:r>
            <a:r>
              <a:rPr lang="el-GR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400">
                <a:ea typeface="ＭＳ Ｐゴシック" panose="020B0600070205080204" pitchFamily="34" charset="-128"/>
              </a:rPr>
              <a:t> Q		Internal choice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|| Q		lockstep parallel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||</a:t>
            </a:r>
            <a:r>
              <a:rPr lang="en-US" altLang="en-US" sz="2400" baseline="-25000"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ea typeface="ＭＳ Ｐゴシック" panose="020B0600070205080204" pitchFamily="34" charset="-128"/>
              </a:rPr>
              <a:t> Q		interface parallel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</a:t>
            </a:r>
            <a:r>
              <a:rPr lang="en-US" altLang="en-US" sz="2400" baseline="-25000">
                <a:ea typeface="ＭＳ Ｐゴシック" panose="020B0600070205080204" pitchFamily="34" charset="-128"/>
              </a:rPr>
              <a:t>X</a:t>
            </a:r>
            <a:r>
              <a:rPr lang="en-US" altLang="en-US" sz="2400">
                <a:ea typeface="ＭＳ Ｐゴシック" panose="020B0600070205080204" pitchFamily="34" charset="-128"/>
              </a:rPr>
              <a:t> ||</a:t>
            </a:r>
            <a:r>
              <a:rPr lang="en-US" altLang="en-US" sz="2400" baseline="-25000">
                <a:ea typeface="ＭＳ Ｐゴシック" panose="020B0600070205080204" pitchFamily="34" charset="-128"/>
              </a:rPr>
              <a:t>Y</a:t>
            </a:r>
            <a:r>
              <a:rPr lang="en-US" altLang="en-US" sz="2400">
                <a:ea typeface="ＭＳ Ｐゴシック" panose="020B0600070205080204" pitchFamily="34" charset="-128"/>
              </a:rPr>
              <a:t> Q		synchronizing parallel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 \ X                    event hiding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P[[R]]                  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process relation</a:t>
            </a:r>
            <a:r>
              <a:rPr lang="en-US" altLang="en-US" sz="2800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renaming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Skip                    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successful termination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P</a:t>
            </a:r>
            <a:r>
              <a:rPr lang="en-US" altLang="en-US" sz="2100">
                <a:ea typeface="ＭＳ Ｐゴシック" panose="020B0600070205080204" pitchFamily="34" charset="-128"/>
                <a:sym typeface="Symbol" pitchFamily="2" charset="2"/>
              </a:rPr>
              <a:t>;</a:t>
            </a:r>
            <a:r>
              <a:rPr lang="en-US" altLang="en-US" sz="2400">
                <a:ea typeface="ＭＳ Ｐゴシック" panose="020B0600070205080204" pitchFamily="34" charset="-128"/>
              </a:rPr>
              <a:t>Q                    </a:t>
            </a:r>
            <a:r>
              <a:rPr lang="en-US" altLang="en-US" sz="2800">
                <a:ea typeface="ＭＳ Ｐゴシック" panose="020B0600070205080204" pitchFamily="34" charset="-128"/>
              </a:rPr>
              <a:t>sequential composition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7BC52426-2273-B3EB-0AEF-89B41158309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7EF50C8-7DAB-30EB-4E6C-825F3BB99A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B864C8F-0270-FED9-896B-3FF314FFEE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EFC328-AB34-5D4E-9A7F-CC74BE2DDAC8}" type="slidenum">
              <a:rPr lang="en-US" altLang="en-US" sz="1000"/>
              <a:pPr/>
              <a:t>31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230AC-DF85-00FE-34B3-111A054059F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8FB69-C530-EDFA-3244-239B0CDBF5B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0531-DE51-BA23-DB49-5A949407CAF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A5E0EA82-3E37-0344-94ED-5EEBE1B407EB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397F350C-50C0-5E8C-BA5D-6DEEF5EE7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 Semantics for CSP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E1B1B609-5D1D-30EA-BE41-790DA2CD9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382000" cy="4191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ea typeface="ＭＳ Ｐゴシック" pitchFamily="34" charset="-128"/>
              </a:rPr>
              <a:t>The semantics of a CSP process is its traces.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ea typeface="ＭＳ Ｐゴシック" pitchFamily="34" charset="-128"/>
              </a:rPr>
              <a:t>Examples: (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18" charset="2"/>
                <a:ea typeface="ＭＳ Ｐゴシック" pitchFamily="34" charset="-128"/>
              </a:rPr>
              <a:t>L </a:t>
            </a:r>
            <a:r>
              <a:rPr lang="en-US" sz="2400" dirty="0">
                <a:ea typeface="ＭＳ Ｐゴシック" pitchFamily="34" charset="-128"/>
              </a:rPr>
              <a:t>is string concatenation)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>
                <a:ea typeface="ＭＳ Ｐゴシック" pitchFamily="34" charset="-128"/>
              </a:rPr>
              <a:t>traces(Stop) =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{ &lt; &gt; }, </a:t>
            </a:r>
            <a:r>
              <a:rPr lang="en-US" sz="2400" dirty="0">
                <a:ea typeface="ＭＳ Ｐゴシック" pitchFamily="34" charset="-128"/>
              </a:rPr>
              <a:t>the empty set (trace)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>
                <a:ea typeface="ＭＳ Ｐゴシック" pitchFamily="34" charset="-128"/>
              </a:rPr>
              <a:t>traces(P) where P is defined as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P=(a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→ 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S Gothic" pitchFamily="49" charset="-128"/>
                <a:ea typeface="MS Gothic" pitchFamily="49" charset="-128"/>
                <a:sym typeface="Symbol" pitchFamily="18" charset="2"/>
              </a:rPr>
              <a:t>☐</a:t>
            </a: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b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 → skip)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ea typeface="ＭＳ Ｐゴシック" pitchFamily="34" charset="-128"/>
              </a:rPr>
              <a:t>=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		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{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,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18" charset="2"/>
                <a:ea typeface="ＭＳ Ｐゴシック" pitchFamily="34" charset="-128"/>
              </a:rPr>
              <a:t>L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&lt;b &gt;,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^&lt;b,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sym typeface="Symbol" pitchFamily="18" charset="2"/>
              </a:rPr>
              <a:t>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 &gt;}</a:t>
            </a:r>
            <a:r>
              <a:rPr lang="en-US" sz="2400" dirty="0">
                <a:ea typeface="ＭＳ Ｐゴシック" pitchFamily="34" charset="-128"/>
              </a:rPr>
              <a:t> where </a:t>
            </a:r>
            <a:r>
              <a:rPr lang="en-US" sz="2400" dirty="0" err="1">
                <a:ea typeface="ＭＳ Ｐゴシック" pitchFamily="34" charset="-128"/>
              </a:rPr>
              <a:t>n</a:t>
            </a:r>
            <a:r>
              <a:rPr lang="en-US" sz="2400" dirty="0" err="1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</a:t>
            </a:r>
            <a:r>
              <a:rPr lang="en-US" sz="2400" dirty="0" err="1">
                <a:ea typeface="ＭＳ Ｐゴシック" pitchFamily="34" charset="-128"/>
              </a:rPr>
              <a:t>N</a:t>
            </a:r>
            <a:endParaRPr lang="en-US" sz="2400" dirty="0">
              <a:ea typeface="ＭＳ Ｐゴシック" pitchFamily="34" charset="-128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	Example trace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{ 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1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, ….,&lt;a &gt; </a:t>
            </a:r>
            <a:r>
              <a:rPr lang="en-US" sz="2400" baseline="300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n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18" charset="2"/>
                <a:ea typeface="ＭＳ Ｐゴシック" pitchFamily="34" charset="-128"/>
              </a:rPr>
              <a:t>,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b,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sym typeface="Symbol" pitchFamily="18" charset="2"/>
              </a:rPr>
              <a:t>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 }</a:t>
            </a:r>
            <a:r>
              <a:rPr lang="en-US" sz="2400" dirty="0">
                <a:ea typeface="ＭＳ Ｐゴシック" pitchFamily="34" charset="-128"/>
              </a:rPr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ea typeface="ＭＳ Ｐゴシック" pitchFamily="34" charset="-128"/>
              </a:rPr>
              <a:t>We formally define traces models for CSP processes. That is,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traces(P</a:t>
            </a:r>
            <a:r>
              <a:rPr lang="en-US" sz="2800" dirty="0">
                <a:ea typeface="ＭＳ Ｐゴシック" pitchFamily="34" charset="-128"/>
              </a:rPr>
              <a:t>) for any process P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</a:rPr>
              <a:t>Properties of trace models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>
                <a:ea typeface="ＭＳ Ｐゴシック" pitchFamily="34" charset="-128"/>
              </a:rPr>
              <a:t>Nonempty-ness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>
                <a:ea typeface="ＭＳ Ｐゴシック" pitchFamily="34" charset="-128"/>
              </a:rPr>
              <a:t>Prefix closed (that is, if </a:t>
            </a:r>
            <a:r>
              <a:rPr lang="en-US" dirty="0" err="1">
                <a:ea typeface="ＭＳ Ｐゴシック" pitchFamily="34" charset="-128"/>
              </a:rPr>
              <a:t>s</a:t>
            </a:r>
            <a:r>
              <a:rPr lang="en-US" sz="2400" dirty="0" err="1">
                <a:ea typeface="ＭＳ Ｐゴシック" pitchFamily="34" charset="-128"/>
              </a:rPr>
              <a:t>^</a:t>
            </a:r>
            <a:r>
              <a:rPr lang="en-US" dirty="0" err="1">
                <a:ea typeface="ＭＳ Ｐゴシック" pitchFamily="34" charset="-128"/>
              </a:rPr>
              <a:t>t</a:t>
            </a:r>
            <a:r>
              <a:rPr lang="en-US" dirty="0">
                <a:ea typeface="ＭＳ Ｐゴシック" pitchFamily="34" charset="-128"/>
              </a:rPr>
              <a:t> is in trace, so is </a:t>
            </a:r>
            <a:r>
              <a:rPr lang="en-US" i="1" dirty="0">
                <a:ea typeface="ＭＳ Ｐゴシック" pitchFamily="34" charset="-128"/>
              </a:rPr>
              <a:t>s</a:t>
            </a:r>
            <a:r>
              <a:rPr lang="en-US" dirty="0">
                <a:ea typeface="ＭＳ Ｐゴシック" pitchFamily="34" charset="-128"/>
              </a:rPr>
              <a:t>)</a:t>
            </a:r>
            <a:endParaRPr lang="en-US" sz="24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B9CA4F21-2453-4FEE-9C6B-B0A2E0704C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CE2F9EE-D341-BF11-A42F-811CB83F6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ADDF4B1-BEA8-72FE-1997-7C98CB38A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C55310-7E7D-BA4A-8F0B-BCA9B2ABF3B1}" type="slidenum">
              <a:rPr lang="en-US" altLang="en-US" sz="1000"/>
              <a:pPr/>
              <a:t>32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6B58-759E-FABC-C7F1-42DD5F9537F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576A6-74F3-3B1A-2B01-39A80C05F1E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C573B-A559-170E-778F-4167C75C0B4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8AFFA8C1-C2D1-AB4D-800A-6E84A0F2F2D7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96610" name="Rectangle 2">
            <a:extLst>
              <a:ext uri="{FF2B5EF4-FFF2-40B4-BE49-F238E27FC236}">
                <a16:creationId xmlns:a16="http://schemas.microsoft.com/office/drawing/2014/main" id="{9C63FBA2-CDB3-3BE5-C81E-1FAF3A608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Trace Semantics - 1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616660AE-CEE1-5EA1-D840-9442F3CEE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traces(stop)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{&lt;&gt;}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{&lt;&gt;}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{&lt;a&gt;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 |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traces(?x:A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{&lt;&gt;}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{&lt;a&gt;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 | a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A and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traces(P[a/x])}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the initial event is now chosen from a set.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traces(c?x:A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→P)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{&lt;&gt;}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{&lt;c,a&gt;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 | a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A and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traces(P[a/x])}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similar except the channel name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</a:t>
            </a:r>
            <a:r>
              <a:rPr lang="en-US" altLang="en-US" sz="2800">
                <a:latin typeface="MS Gothic" panose="020B0609070205080204" pitchFamily="49" charset="-128"/>
                <a:ea typeface="MS Gothic" panose="020B0609070205080204" pitchFamily="49" charset="-128"/>
                <a:sym typeface="Symbol" pitchFamily="2" charset="2"/>
              </a:rPr>
              <a:t>☐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Q)=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traces(P)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traces(Q)</a:t>
            </a:r>
            <a:endParaRPr lang="en-US" altLang="en-US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</a:t>
            </a:r>
            <a:r>
              <a:rPr lang="el-GR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800">
                <a:ea typeface="ＭＳ Ｐゴシック" panose="020B0600070205080204" pitchFamily="34" charset="-128"/>
              </a:rPr>
              <a:t>Q 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)=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traces(P)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traces(Q)</a:t>
            </a:r>
            <a:endParaRPr lang="en-US" altLang="en-US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50267A07-6152-FB70-3A10-768658B2718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9C336FB-5EA7-5107-2877-B8BDC33DF6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96B2D6-EE92-3641-4970-E9D10047F1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7D0B7A9-C1B6-5A4F-9174-70F90E60A2D7}" type="slidenum">
              <a:rPr lang="en-US" altLang="en-US" sz="1000"/>
              <a:pPr/>
              <a:t>33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4CFD8-BCE7-2216-8EAB-E5D3FA759718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E7FA-5F99-8F2B-59C1-D06F549BD4A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84F0-0CCA-3580-5BB9-71DE0DF4DB4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903B4F4-25FE-6547-A429-CA83B97FE92F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1276A8A8-99F1-43AD-AE82-D44ED51F8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Trace Semantics - 2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55CF8625-81EA-0BC1-5420-832B1B596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traces(P||Q)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∩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traces(Q)</a:t>
            </a:r>
            <a:endParaRPr lang="en-US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ea typeface="ＭＳ Ｐゴシック" panose="020B0600070205080204" pitchFamily="34" charset="-128"/>
              </a:rPr>
              <a:t>||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y</a:t>
            </a:r>
            <a:r>
              <a:rPr lang="en-US" altLang="en-US" sz="2800">
                <a:ea typeface="ＭＳ Ｐゴシック" panose="020B0600070205080204" pitchFamily="34" charset="-128"/>
              </a:rPr>
              <a:t>Q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(xy)*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| s↑x√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and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s↑y√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traces(Q) } </a:t>
            </a:r>
            <a:r>
              <a:rPr lang="en-US" altLang="en-US" sz="2800">
                <a:ea typeface="ＭＳ Ｐゴシック" panose="020B0600070205080204" pitchFamily="34" charset="-128"/>
              </a:rPr>
              <a:t>where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x√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is x {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√} and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s↑x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is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s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restricted to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x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P must perform all events in X and Q must perform all events in Y and </a:t>
            </a:r>
            <a:r>
              <a:rPr lang="en-US" altLang="en-US"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ea typeface="ＭＳ Ｐゴシック" panose="020B0600070205080204" pitchFamily="34" charset="-128"/>
              </a:rPr>
              <a:t>y</a:t>
            </a:r>
            <a:r>
              <a:rPr lang="en-US" altLang="en-US">
                <a:ea typeface="ＭＳ Ｐゴシック" panose="020B0600070205080204" pitchFamily="34" charset="-128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terminates when both P and Q terminate.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traces(P||</a:t>
            </a:r>
            <a:r>
              <a:rPr lang="en-US" altLang="en-US" sz="2800" baseline="-25000">
                <a:ea typeface="ＭＳ Ｐゴシック" panose="020B0600070205080204" pitchFamily="34" charset="-128"/>
              </a:rPr>
              <a:t>{x}</a:t>
            </a:r>
            <a:r>
              <a:rPr lang="en-US" altLang="en-US" sz="2800">
                <a:ea typeface="ＭＳ Ｐゴシック" panose="020B0600070205080204" pitchFamily="34" charset="-128"/>
              </a:rPr>
              <a:t>Q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{s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||</a:t>
            </a:r>
            <a:r>
              <a:rPr lang="en-US" altLang="en-US" sz="28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{x}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 |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and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traces(Q) }.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This set is 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Ø unless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s↑x√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 = t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↑x√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=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  <a:endParaRPr lang="en-US" altLang="en-US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the initial event is now chosen from a set.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D09F940F-5779-115A-0DBC-8A6318B2573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CCE2632-92D0-1566-EEC6-1B37D66AC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445A8B7-BF1E-8858-8A46-86D4B5A7D0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8A2033-E8AF-2546-AC00-9F768BAB993C}" type="slidenum">
              <a:rPr lang="en-US" altLang="en-US" sz="1000"/>
              <a:pPr/>
              <a:t>34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FF0E4-237C-2423-8EC3-DE2D716A1C01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D3A2-97E1-63E7-EE3D-AB8B8C7D0706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19C5F-D809-40C7-34F7-D69D111787B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1D8CAF87-DBF4-8041-B874-E66C02F5286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34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7C14EC9A-4C96-89B5-D75D-308F7E01C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CSP Trace Semantics - 3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932926BD-4022-1513-2B19-82F8F67BC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</a:t>
            </a:r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P\X) 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{s\X |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s\X = s↑(</a:t>
            </a:r>
            <a:r>
              <a:rPr lang="en-US" altLang="en-US"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\X)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Define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traces(P[[R]]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)= {t | s R* t for some trace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} </a:t>
            </a:r>
            <a:r>
              <a:rPr lang="en-US" altLang="en-US" sz="2800">
                <a:ea typeface="ＭＳ Ｐゴシック" panose="020B0600070205080204" pitchFamily="34" charset="-128"/>
              </a:rPr>
              <a:t>where R* is the relation between two traces are equal in length and every element of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ea typeface="ＭＳ Ｐゴシック" panose="020B0600070205080204" pitchFamily="34" charset="-128"/>
              </a:rPr>
              <a:t> is related to an element of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</a:t>
            </a:r>
            <a:r>
              <a:rPr lang="en-US" altLang="en-US" sz="2800">
                <a:ea typeface="ＭＳ Ｐゴシック" panose="020B0600070205080204" pitchFamily="34" charset="-128"/>
              </a:rPr>
              <a:t> by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{(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√,√)}</a:t>
            </a:r>
            <a:endParaRPr lang="en-US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traces(Skip</a:t>
            </a:r>
            <a:r>
              <a:rPr lang="en-US" altLang="en-US" sz="2800">
                <a:latin typeface="StarSymbol" pitchFamily="2" charset="0"/>
                <a:ea typeface="ＭＳ Ｐゴシック" panose="020B0600070205080204" pitchFamily="34" charset="-128"/>
              </a:rPr>
              <a:t>)=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{(&lt;&gt;,&lt;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√&gt;)}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traces(P;Q)=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(traces(P)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∩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S*)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 {s^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 | 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^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tarSymbol" pitchFamily="2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√&gt;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traces(P) and t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traces(Q)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4970D45B-6A30-192C-38C2-25E3E44A899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70BD390-A18E-B5DB-7B83-8685070BD3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EA55808-3CCA-927E-24C5-A5F48F4DF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4277467-F121-BC4E-B5EB-D1D5349CB1B7}" type="slidenum">
              <a:rPr lang="en-US" altLang="en-US" sz="1000"/>
              <a:pPr/>
              <a:t>35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60407-5930-CB7C-80DA-601814F59DA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1368-8382-0C10-941C-35A9DD3788D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BA628-8516-D212-04C4-B1EE41E6290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1B28B62-4B55-9643-8249-0DE448245424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AFD66651-4FD5-81CD-BFC2-34A8C027C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Recursion in CSP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027FE5F7-8812-C857-2640-169EBA716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Back to a recursive definition: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B1(in,out)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= in?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→out!x→B1(in,out)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What does this mean?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Solving the equation to find the value of B1(in,out)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What is meant is the </a:t>
            </a:r>
            <a:r>
              <a:rPr lang="en-US" altLang="en-US" sz="2800">
                <a:solidFill>
                  <a:srgbClr val="2B2BFE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least</a:t>
            </a:r>
            <a:r>
              <a:rPr lang="en-US" altLang="en-US" sz="2800">
                <a:ea typeface="ＭＳ Ｐゴシック" panose="020B0600070205080204" pitchFamily="34" charset="-128"/>
              </a:rPr>
              <a:t> solution for the equation, formally specified as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 B1(in,out) [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B1(in,out)=in?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→out!x→B1(in,out)]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The general form: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µP F(P) where F is an equation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2C606BC-287C-BD34-2451-9D9E631BBBA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F2A88B0-1EAF-8298-9372-D73FFA7E5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A2A71CC-01B5-3057-1CFF-E19AE4A1D4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E7A15C-6BD6-4948-A1B8-00691A926002}" type="slidenum">
              <a:rPr lang="en-US" altLang="en-US" sz="1000"/>
              <a:pPr/>
              <a:t>36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B3F90-3269-911B-4D2F-8340BD7C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Well-formed recursive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ED1CD-3DDA-F2C7-A36A-8E1028C2E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process in CSP can be written in the form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F(x))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Recursive process can be written as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μ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 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F(x,X)) </a:t>
            </a:r>
            <a:r>
              <a:rPr lang="en-US" altLang="en-US">
                <a:ea typeface="ＭＳ Ｐゴシック" panose="020B0600070205080204" pitchFamily="34" charset="-128"/>
                <a:sym typeface="Symbol" pitchFamily="2" charset="2"/>
              </a:rPr>
              <a:t>- </a:t>
            </a:r>
            <a:r>
              <a:rPr lang="en-US" altLang="en-US">
                <a:ea typeface="ＭＳ Ｐゴシック" panose="020B0600070205080204" pitchFamily="34" charset="-128"/>
              </a:rPr>
              <a:t>can be written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F(x,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μ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 (x:B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F(x,X)) )) </a:t>
            </a:r>
          </a:p>
          <a:p>
            <a:pPr eaLnBrk="1" hangingPunct="1"/>
            <a:r>
              <a:rPr lang="en-US" altLang="en-US">
                <a:effectLst/>
                <a:ea typeface="ＭＳ Ｐゴシック" panose="020B0600070205080204" pitchFamily="34" charset="-128"/>
                <a:sym typeface="Symbol" pitchFamily="2" charset="2"/>
              </a:rPr>
              <a:t>Hence every process can be written as a function with domain B.</a:t>
            </a:r>
            <a:endParaRPr lang="en-US" altLang="en-US"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2516-8C7A-90A7-7004-6FE88F4AFD79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D08E-43F3-0976-4CF6-91A57B01B095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2E7B1-428A-7C01-C5E2-436EA439193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5117F88-2585-D44B-98CC-38FA3C48881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36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975D4DC-EF74-975E-799D-9BDD9398457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2CA0D9D-0774-C539-B425-6942D273D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6243D16F-AAED-9881-202A-CA666D5E1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5596F7-AD9F-E544-8E12-0E7D21FAC522}" type="slidenum">
              <a:rPr lang="en-US" altLang="en-US" sz="1000"/>
              <a:pPr/>
              <a:t>37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ACE6D-F96E-3918-95FC-A2BF0DAC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Well-formed recursive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B5B7-D8EE-00E2-30E7-F4F1B0652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sz="2400" dirty="0">
                <a:effectLst/>
                <a:cs typeface="Times New Roman" pitchFamily="-112" charset="0"/>
                <a:sym typeface="Symbol" pitchFamily="-112" charset="2"/>
              </a:rPr>
              <a:t>A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 </a:t>
            </a:r>
            <a:r>
              <a:rPr lang="en-US" sz="2400" dirty="0">
                <a:effectLst/>
                <a:cs typeface="Times New Roman" pitchFamily="-112" charset="0"/>
                <a:sym typeface="Symbol" pitchFamily="-112" charset="2"/>
              </a:rPr>
              <a:t>set of simultaneous equations in more than one unknown defines CSP processes provided that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Right hand side is guarded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Each unknown process must appear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exactly once</a:t>
            </a: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 on the left hand of one equation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effectLst/>
                <a:cs typeface="Times New Roman" pitchFamily="-112" charset="0"/>
                <a:sym typeface="Symbol" pitchFamily="-112" charset="2"/>
              </a:rPr>
              <a:t>The defining equation should not contain the hiding operator</a:t>
            </a:r>
          </a:p>
          <a:p>
            <a:pPr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Example:</a:t>
            </a:r>
            <a:r>
              <a:rPr lang="en-US" dirty="0">
                <a:solidFill>
                  <a:srgbClr val="FF0000"/>
                </a:solidFill>
                <a:effectLst/>
                <a:cs typeface="Times New Roman" pitchFamily="-112" charset="0"/>
                <a:sym typeface="Symbol" pitchFamily="-112" charset="2"/>
              </a:rPr>
              <a:t> 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DD=(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orange→G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)□(lemon →W)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G=(coin →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orange→G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)□(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lemon→W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</a:t>
            </a:r>
          </a:p>
          <a:p>
            <a:pPr lvl="1" eaLnBrk="1" hangingPunct="1">
              <a:spcBef>
                <a:spcPts val="0"/>
              </a:spcBef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W=(coin →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lemon→W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)□(</a:t>
            </a:r>
            <a:r>
              <a:rPr lang="en-US" dirty="0" err="1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orange→G</a:t>
            </a:r>
            <a:r>
              <a:rPr lang="en-US" dirty="0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)</a:t>
            </a:r>
            <a:endParaRPr lang="en-US" dirty="0">
              <a:effectLst/>
              <a:cs typeface="Times New Roman" pitchFamily="-112" charset="0"/>
              <a:sym typeface="Symbol" pitchFamily="-11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17321-10AE-FD23-1253-84891457121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3CA9-BED9-4F09-B358-B9C6BCAEBC73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4431E-B5DB-D436-8259-AF30F7F0F8A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55D8019-0703-9E4F-BDA5-5BE04F0DA3DD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37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F12CE935-B6F3-4FD8-D2BF-5BFBC77891A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01A69C4-F8CD-9142-6557-3CC78A7D7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F69108D3-C9F2-BACB-7BCC-3838B3FB2C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6ED2C2-C641-2748-AD12-DEEDF204D53E}" type="slidenum">
              <a:rPr lang="en-US" altLang="en-US" sz="1000"/>
              <a:pPr/>
              <a:t>38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66610-AA5F-82AB-75C6-99EE3426DD3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2EDF0-3133-3382-2AA2-1CEC1564B5F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26B8-0DBD-C54F-83AF-993AAD1CFA8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3EE04912-7949-7E42-9C9E-7DD44465A400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38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870D9F9E-741B-68D1-98B3-C7E8C5CCD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Traces semantics for recursion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AE647528-0775-733B-D3E9-890FEBBBD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</a:rPr>
              <a:t>What is the meaning of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µP: P= F(P) </a:t>
            </a:r>
            <a:endParaRPr lang="en-US" altLang="en-US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Looking for some kind of a </a:t>
            </a:r>
            <a:r>
              <a:rPr lang="en-US" altLang="en-US" sz="2800">
                <a:solidFill>
                  <a:srgbClr val="2B2BFE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fixed point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Example:</a:t>
            </a:r>
            <a:endParaRPr lang="en-US" altLang="en-US" sz="2800">
              <a:solidFill>
                <a:srgbClr val="00FF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µB1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: B1(in,out)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= in?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→out!x→B1(in,out)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Defines a </a:t>
            </a:r>
            <a:r>
              <a:rPr lang="en-US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perpetual process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that read X from the input channel and writes it to the output channel (and runs) for ever.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So the trace should include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the first, the second run, …the n</a:t>
            </a:r>
            <a:r>
              <a:rPr lang="en-US" altLang="en-US" sz="2400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run,  (n+1)</a:t>
            </a:r>
            <a:r>
              <a:rPr lang="en-US" altLang="en-US" sz="2400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run 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So adding one more round of a trace will not alter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it 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(whatever we come up with!)</a:t>
            </a:r>
            <a:endParaRPr lang="en-US" altLang="en-US" sz="28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6219C46E-BEA5-A297-487D-A4F406797AD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D2CE1BBC-6BB6-B87F-56D0-3FA9EE0740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868D777-AA3A-7F16-F2B4-04435C1F53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E58B63-3B92-6F4A-9CB8-22B6CD539B0C}" type="slidenum">
              <a:rPr lang="en-US" altLang="en-US" sz="1000"/>
              <a:pPr/>
              <a:t>39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449E-C7CB-B9E8-990B-2AB54486D853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C364A-9C9F-C492-8B7E-36D7B086A5BB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A2FF7-5207-5962-95A0-FB1C252D0EE1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16A8262-C57C-6942-B110-4DD6D402E0C8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39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D32F9709-9E89-2714-EEF7-ACD785C49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definition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98F1A884-C7EB-42BC-74E4-6EE2905AD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trace(P) =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 {traces(F</a:t>
            </a:r>
            <a:r>
              <a:rPr lang="en-US" sz="2800" baseline="30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(Stop) | n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itchFamily="-112" charset="0"/>
                <a:sym typeface="Symbol" pitchFamily="-112" charset="2"/>
              </a:rPr>
              <a:t>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N}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/>
              <a:t>Can show that this is a fixed point. 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 idea:</a:t>
            </a:r>
            <a:r>
              <a:rPr lang="en-US" sz="2800"/>
              <a:t> This definition satisfy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If </a:t>
            </a:r>
            <a:r>
              <a:rPr lang="en-US" sz="2400">
                <a:sym typeface="Symbol" pitchFamily="-112" charset="2"/>
              </a:rPr>
              <a:t>trace(Q1)  trace(Q2), then trace(F(Q1))  trace(F(Q2))</a:t>
            </a:r>
          </a:p>
          <a:p>
            <a:pPr lvl="2" eaLnBrk="1" hangingPunct="1">
              <a:buFont typeface="Wingdings" pitchFamily="-112" charset="2"/>
              <a:buChar char="l"/>
              <a:defRPr/>
            </a:pPr>
            <a:r>
              <a:rPr lang="en-US" sz="2000">
                <a:sym typeface="Symbol" pitchFamily="-112" charset="2"/>
              </a:rPr>
              <a:t>that is, F is monotonic on the space of traces </a:t>
            </a:r>
            <a:r>
              <a:rPr lang="en-US" sz="2000">
                <a:latin typeface="Blackadder ITC" pitchFamily="82" charset="0"/>
                <a:sym typeface="Symbol" pitchFamily="-112" charset="2"/>
              </a:rPr>
              <a:t>T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>
                <a:sym typeface="Symbol" pitchFamily="-112" charset="2"/>
              </a:rPr>
              <a:t>The space of traces forms a complete Lattice.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>
                <a:sym typeface="Symbol" pitchFamily="-112" charset="2"/>
              </a:rPr>
              <a:t>By Knaster-Tarski theorem it has a least fixed point.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ym typeface="Symbol" pitchFamily="-112" charset="2"/>
              </a:rPr>
              <a:t>Provides a denotational semantics for CSP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endParaRPr lang="en-US" sz="2400">
              <a:sym typeface="Symbol" pitchFamily="-112" charset="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87BA7034-253B-F6D9-BC84-B7E284E57BF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9278BDD-8D75-AFAD-1468-5CFCDC5987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CDD807FB-E382-F708-6F76-C4967C5C1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996B6F-9100-FB48-B241-E69DCF1E54B6}" type="slidenum">
              <a:rPr lang="en-US" altLang="en-US" sz="1000"/>
              <a:pPr/>
              <a:t>40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3F7B3-D47F-6B0D-8490-5A0F8A8D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8AAAC-2F46-31ED-E62F-3CAD511C1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Traces are sequences of events experienced by processes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They can be used to specify properties of the process or inter-process communication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FAFFB-F627-9859-DBA4-FD6E99EEB12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2A972-2A98-A169-AADE-5D9297C1D8B8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2F00D-7107-95FB-EFBA-6AD976316F6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5DF04584-3090-1640-9A76-78C614ED07C3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40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4AB33D4B-6C01-2FCB-630F-FA02286938C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219DEAC-7E43-E33F-AF65-3169689876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6B9B051D-9A82-0D39-8298-6698CAFDE5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F1DDA0-8504-404B-A319-D41C290DB098}" type="slidenum">
              <a:rPr lang="en-US" altLang="en-US" sz="1000"/>
              <a:pPr/>
              <a:t>41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0EF30-CE86-3ABE-DFC7-80C7F0D27B24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48F19-50B9-CC06-6A8A-F9ED65C1EAA7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E6C26-812D-8478-7D44-AA0A8ED0CF9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BAE11240-C24B-BA44-AC30-BED1854D19B5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C525958A-BD21-FC59-AB7D-015C4C1F7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Trace Properties -1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2062770B-7DC8-C3D5-BFD7-CFB243B1D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Property:</a:t>
            </a:r>
            <a:r>
              <a:rPr lang="en-US" altLang="en-US" dirty="0">
                <a:ea typeface="ＭＳ Ｐゴシック" panose="020B0600070205080204" pitchFamily="34" charset="-128"/>
              </a:rPr>
              <a:t> The output sequence appearing on the right channel are always a prefix of the input sequence and the process performs no actions through other channels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Specification: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( tr↓ right </a:t>
            </a:r>
            <a:r>
              <a:rPr lang="en-US" altLang="en-US" u="sng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tr↓ left) /\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(tr = tr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↑ {</a:t>
            </a:r>
            <a:r>
              <a:rPr lang="en-US" altLang="en-US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left,right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})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	here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tr↓ a</a:t>
            </a: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 are the values communicated along channel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 in trace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tr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↑ is </a:t>
            </a:r>
            <a:r>
              <a:rPr lang="en-US" alt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filterting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Hence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↑ {</a:t>
            </a:r>
            <a:r>
              <a:rPr lang="en-US" altLang="en-US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left,right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} </a:t>
            </a: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is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tr </a:t>
            </a: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limited to communication on 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left </a:t>
            </a: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right </a:t>
            </a: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channels</a:t>
            </a:r>
            <a:r>
              <a:rPr lang="en-US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		</a:t>
            </a:r>
            <a:endParaRPr lang="en-US" altLang="en-US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0D4E6E65-5794-3A53-B13F-00209C0AC33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EE4F877-1572-CAD0-CA0E-721F7157B4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E532CEE-9377-AC2B-62B0-ADBCB40B7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47C420-5CE8-DA4D-8AC1-0BF2582D4DF4}" type="slidenum">
              <a:rPr lang="en-US" altLang="en-US" sz="1000"/>
              <a:pPr/>
              <a:t>42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8217-55AE-3FE1-C335-F7C19989341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65BC-236C-3DEE-5C3A-060DDCDF537D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8D67-5862-15E4-20D2-7137FBE66FF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2BF5D8B0-142B-AD47-98D1-CA481AEC9D4F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42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EF3A23D9-C0FB-BF84-9DFB-583B709EB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Trace Properties -2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93D5FBD5-0830-33BD-D6A4-EC640E6AA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Property:</a:t>
            </a:r>
            <a:r>
              <a:rPr lang="en-US" altLang="en-US">
                <a:ea typeface="ＭＳ Ｐゴシック" panose="020B0600070205080204" pitchFamily="34" charset="-128"/>
              </a:rPr>
              <a:t> Each occurrence of a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commit event</a:t>
            </a:r>
            <a:r>
              <a:rPr lang="en-US" altLang="en-US">
                <a:ea typeface="ＭＳ Ｐゴシック" panose="020B0600070205080204" pitchFamily="34" charset="-128"/>
              </a:rPr>
              <a:t> is preceded by a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start event</a:t>
            </a:r>
            <a:r>
              <a:rPr lang="en-US" altLang="en-US">
                <a:ea typeface="ＭＳ Ｐゴシック" panose="020B0600070205080204" pitchFamily="34" charset="-128"/>
              </a:rPr>
              <a:t> followed by a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running event</a:t>
            </a:r>
            <a:r>
              <a:rPr lang="en-US" altLang="en-US">
                <a:ea typeface="ＭＳ Ｐゴシック" panose="020B0600070205080204" pitchFamily="34" charset="-128"/>
              </a:rPr>
              <a:t> - both occurring after the last commit event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Specification: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(tr=tr</a:t>
            </a:r>
            <a:r>
              <a:rPr lang="ja-JP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&lt;commit&gt;)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ja-JP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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tr1,tr2</a:t>
            </a:r>
            <a:r>
              <a:rPr lang="en-US" altLang="ja-JP" sz="28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(tr</a:t>
            </a:r>
            <a:r>
              <a:rPr lang="ja-JP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= tr1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ja-JP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tr2) /\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&lt;start,running&gt; </a:t>
            </a:r>
            <a:r>
              <a:rPr lang="en-US" altLang="en-US" sz="2800" u="sng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tr2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↑ {start,running}  /\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	tr2 ↑ {commit} = &lt;&gt;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8105D7E-57AE-1123-B265-AFD5DB170D2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7CA72026-CD2C-0663-6895-64F27EA59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01F0755A-D769-05D0-6532-46E42EA9C6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1B9A7A2-52EB-824C-A40D-0072EF8470CD}" type="slidenum">
              <a:rPr lang="en-US" altLang="en-US" sz="1000"/>
              <a:pPr/>
              <a:t>43</a:t>
            </a:fld>
            <a:endParaRPr lang="en-US" alt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FB3FE-EC04-44D9-BB9E-3780B111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Trace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8448-711B-774E-D0C2-44B798205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768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Traces are constructed from 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 variables: </a:t>
            </a:r>
            <a:r>
              <a:rPr lang="en-US" altLang="en-US" sz="2400">
                <a:ea typeface="ＭＳ Ｐゴシック" panose="020B0600070205080204" pitchFamily="34" charset="-128"/>
              </a:rPr>
              <a:t>lower case letters – eg., s, t, u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 constants: </a:t>
            </a:r>
            <a:r>
              <a:rPr lang="en-US" altLang="en-US" sz="2400">
                <a:ea typeface="ＭＳ Ｐゴシック" panose="020B0600070205080204" pitchFamily="34" charset="-128"/>
              </a:rPr>
              <a:t>upper case letters- eg., S, T, U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Functions: </a:t>
            </a:r>
            <a:r>
              <a:rPr lang="en-US" altLang="en-US" sz="2400">
                <a:ea typeface="ＭＳ Ｐゴシック" panose="020B0600070205080204" pitchFamily="34" charset="-128"/>
              </a:rPr>
              <a:t>(function constants) f, g, h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Operations on traces: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Concatenation: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Taking Head and Tail: 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head = first element, tail =rest of the trace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Star: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tr*</a:t>
            </a:r>
            <a:r>
              <a:rPr lang="en-US" altLang="en-US" sz="2400">
                <a:ea typeface="ＭＳ Ｐゴシック" panose="020B0600070205080204" pitchFamily="34" charset="-128"/>
              </a:rPr>
              <a:t>,</a:t>
            </a: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taking finitely many concatenations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Trace relations:</a:t>
            </a:r>
            <a:r>
              <a:rPr lang="en-US" altLang="en-US" sz="24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sub-traces </a:t>
            </a:r>
            <a:r>
              <a:rPr lang="en-US" altLang="en-US" sz="24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&lt;</a:t>
            </a:r>
          </a:p>
          <a:p>
            <a:pPr lvl="1" eaLnBrk="1" hangingPunct="1"/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Filtering traces:</a:t>
            </a:r>
            <a:r>
              <a:rPr lang="en-US" altLang="en-US" sz="24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CCC21-BAF6-8D2B-5A6B-E45C7FFE0E86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2591F-E34B-3D7D-4189-114A7EDBB600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B2D2D-7E6B-872B-8104-81D02B4DA88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C2CEBD70-E238-9C46-8C05-8B93CF36F61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43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BFCD7A4A-F87C-4016-0AAC-6FEA3F10B82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EC1BE8B-1D9B-87ED-404C-26FE9E2058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9DE423B-9A5F-30DC-8A0A-D5A4802E9D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E168AC-9BC4-4C41-891C-B5742D5C0938}" type="slidenum">
              <a:rPr lang="en-US" altLang="en-US" sz="1000"/>
              <a:pPr/>
              <a:t>44</a:t>
            </a:fld>
            <a:endParaRPr lang="en-US" altLang="en-US" sz="10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70B36CD2-13F9-CAE1-5094-C2DE693FF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Trace Operations -  2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5530FF5-9524-5F99-8E5D-4A8C38E2C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More trace operations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Changing symbols: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Suppose f: A 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Wingdings" pitchFamily="2" charset="2"/>
              </a:rPr>
              <a:t> B is a function that maps symbols from A to symbols in B. Then extend f to f* on traces as: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f*(&lt;&gt;)= &lt;&gt;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f*(&lt;x&gt;)=&lt;f(x)&gt;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f*(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t)= f*(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s)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f</a:t>
            </a:r>
            <a:r>
              <a:rPr lang="en-US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*(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t)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Interleaving: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 interleaving elements from traces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ea typeface="ＭＳ Ｐゴシック" panose="020B0600070205080204" pitchFamily="34" charset="-128"/>
              </a:rPr>
              <a:t>(a recursive definition)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&lt;&gt; interleaves(t,u) iff (t=&lt;&gt;)/\(u=&lt;&gt;)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interleaves(t,u) iff s interleaves (u,t)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(&lt;x&gt; 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s)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interleaves(t,u) iff (t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≠&lt;&gt;)/\(t</a:t>
            </a:r>
            <a:r>
              <a:rPr lang="en-US" altLang="en-US" sz="20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=x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interleaves(t’,u) \/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	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(u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≠&lt;&gt;)/\(u</a:t>
            </a:r>
            <a:r>
              <a:rPr lang="en-US" altLang="en-US" sz="20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=x</a:t>
            </a:r>
            <a:r>
              <a:rPr lang="en-US" altLang="en-US" sz="20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interleaves(t,u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</a:t>
            </a:r>
            <a:r>
              <a:rPr lang="en-US" altLang="ja-JP" sz="2000">
                <a:effectLst/>
                <a:ea typeface="ＭＳ Ｐゴシック" panose="020B0600070205080204" pitchFamily="34" charset="-128"/>
              </a:rPr>
              <a:t> </a:t>
            </a:r>
            <a:endParaRPr lang="en-US" altLang="en-US" sz="2000">
              <a:effectLst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AF3C3639-144F-D813-7E91-100E655A502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1A21820-6828-45AF-4CBE-37C7DEC9F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B7065B7-EABF-5A76-D1D6-66FA40637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E7F4B9-F9F6-EA49-B49D-DC766C503DA9}" type="slidenum">
              <a:rPr lang="en-US" altLang="en-US" sz="1000"/>
              <a:pPr/>
              <a:t>45</a:t>
            </a:fld>
            <a:endParaRPr lang="en-US" alt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1C5B4-C1C1-132F-5F52-4EC2A8CC031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B9523-5A10-C295-BBF4-2E9DB561E0C1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A38D9-1D48-6DFD-B9BE-2C8A9C03411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5AE2994B-52FA-B346-BC93-E58F365C276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45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E1611582-1189-3A47-3BAA-3E258AFB4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Specifying Trace Properties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EA65A397-E9CC-3543-9D37-0A0E23177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86800" cy="4530725"/>
          </a:xfrm>
        </p:spPr>
        <p:txBody>
          <a:bodyPr/>
          <a:lstStyle/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 trace expression:</a:t>
            </a:r>
            <a:r>
              <a:rPr lang="en-US" sz="2800"/>
              <a:t> An expression constructed from 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trace variables, constants, 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element variables and constants, 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specified operations and</a:t>
            </a:r>
          </a:p>
          <a:p>
            <a:pPr lvl="1" eaLnBrk="1" hangingPunct="1">
              <a:buFont typeface="Wingdings" pitchFamily="-112" charset="2"/>
              <a:buChar char="l"/>
              <a:defRPr/>
            </a:pPr>
            <a:r>
              <a:rPr lang="en-US" sz="2400"/>
              <a:t>Logical connectives of predicate logic</a:t>
            </a:r>
          </a:p>
          <a:p>
            <a:pPr lvl="1" eaLnBrk="1" hangingPunct="1">
              <a:buFont typeface="Wingdings" pitchFamily="-112" charset="2"/>
              <a:buNone/>
              <a:defRPr/>
            </a:pPr>
            <a:r>
              <a:rPr lang="en-US" sz="2400"/>
              <a:t>is said to be a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trace expression</a:t>
            </a:r>
          </a:p>
          <a:p>
            <a:pPr eaLnBrk="1" hangingPunct="1">
              <a:buFont typeface="Wingdings" pitchFamily="-11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 sat S(tr):</a:t>
            </a:r>
            <a:r>
              <a:rPr lang="en-US" sz="2800"/>
              <a:t> Suppose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lang="en-US" sz="2800"/>
              <a:t> is a process and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S(tr)</a:t>
            </a:r>
            <a:r>
              <a:rPr lang="en-US" sz="2800"/>
              <a:t> is a trace expression. If all traces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tr</a:t>
            </a:r>
            <a:r>
              <a:rPr lang="en-US" sz="2800"/>
              <a:t> of P satisfy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S(tr),</a:t>
            </a:r>
            <a:r>
              <a:rPr lang="en-US" sz="2800"/>
              <a:t> then we say that 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 sat S(tr)</a:t>
            </a:r>
            <a:endParaRPr lang="en-US" sz="2800"/>
          </a:p>
          <a:p>
            <a:pPr eaLnBrk="1" hangingPunct="1">
              <a:buFont typeface="Wingdings" pitchFamily="-112" charset="2"/>
              <a:buChar char="l"/>
              <a:defRPr/>
            </a:pPr>
            <a:endParaRPr lang="en-US"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A2F92C3-EF2A-B86A-2F58-88D3B1A1956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B6B0435-B14B-D3B3-E950-98C238650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91E96BE-29FE-4B17-5820-BF026BE22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466015-316D-CD43-A6E9-9E800597091B}" type="slidenum">
              <a:rPr lang="en-US" altLang="en-US" sz="1000"/>
              <a:pPr/>
              <a:t>46</a:t>
            </a:fld>
            <a:endParaRPr lang="en-US" altLang="en-US" sz="10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1B5856BE-9C95-9C24-E0A5-9BE1722F6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Properties of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S(tr)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A0EAC0F-83E8-B676-CD9C-D03E3160B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true(Tr)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If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T(Tr)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S(tr),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</a:rPr>
              <a:t>	then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(T(Tr) /\ S(Tr))</a:t>
            </a:r>
          </a:p>
          <a:p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T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then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T(Tr)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Why bother?: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Show the processes satisfy some properties, such as those in Gavin Lowe</a:t>
            </a:r>
            <a:r>
              <a:rPr lang="ja-JP" altLang="en-US" sz="2800"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effectLst/>
                <a:ea typeface="ＭＳ Ｐゴシック" panose="020B0600070205080204" pitchFamily="34" charset="-128"/>
              </a:rPr>
              <a:t>s paper!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Two ways to verify that a process satisfy properties: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</a:rPr>
              <a:t>Directly check all traces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</a:rPr>
              <a:t>Use a compositional proof system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4EF3B6B1-D152-82A8-BB56-9235E866D84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B80A3A5-B992-22F8-645D-4768EDA0F2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F3BC8F3E-E345-9FC7-15C4-7404C397F8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CB7010-C119-A34E-9FFA-CA0ABAB0F842}" type="slidenum">
              <a:rPr lang="en-US" altLang="en-US" sz="1000"/>
              <a:pPr/>
              <a:t>47</a:t>
            </a:fld>
            <a:endParaRPr lang="en-US" altLang="en-US" sz="1000"/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0C6D95C5-3AC7-AFCC-FF6E-B8E11D983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Nature of Compositional Proofs</a:t>
            </a:r>
          </a:p>
        </p:txBody>
      </p:sp>
      <p:sp>
        <p:nvSpPr>
          <p:cNvPr id="110597" name="Rectangle 3">
            <a:extLst>
              <a:ext uri="{FF2B5EF4-FFF2-40B4-BE49-F238E27FC236}">
                <a16:creationId xmlns:a16="http://schemas.microsoft.com/office/drawing/2014/main" id="{5338EBAD-6639-77D0-9E9F-60581691F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Natural Deduction style proof trees, possibly with side conditions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Graft them to construct a proof.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proof rule looks like: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premise-1, premise-2, …….., premise-n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				conclusion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Typically use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statements in premises and conclusions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2B99411D-7E72-C3F7-675C-D9C49B1D5A3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8ABEE7C3-B948-CEDC-3D72-88C2E2078F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80CF2314-538C-B40A-15C7-61D16F3E2B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6DCDE7-78B0-3F45-8381-D08E90F6D447}" type="slidenum">
              <a:rPr lang="en-US" altLang="en-US" sz="1000"/>
              <a:pPr/>
              <a:t>48</a:t>
            </a:fld>
            <a:endParaRPr lang="en-US" altLang="en-US" sz="10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5E0363AA-80D8-F980-2609-1DCA5AF6B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8581B80-D25A-AD09-9768-D15A43848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r>
              <a:rPr lang="en-US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1:</a:t>
            </a:r>
            <a:r>
              <a:rPr lang="en-US" altLang="en-US" sz="2800" dirty="0"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 dirty="0" err="1">
                <a:effectLst/>
                <a:ea typeface="ＭＳ Ｐゴシック" panose="020B0600070205080204" pitchFamily="34" charset="-128"/>
              </a:rPr>
              <a:t>sat.stop</a:t>
            </a:r>
            <a:r>
              <a:rPr lang="en-US" altLang="en-US" sz="2800" dirty="0">
                <a:effectLst/>
                <a:ea typeface="ＭＳ Ｐゴシック" panose="020B0600070205080204" pitchFamily="34" charset="-128"/>
              </a:rPr>
              <a:t>    </a:t>
            </a:r>
            <a:r>
              <a:rPr lang="en-US" altLang="en-US" sz="2800" u="sng" dirty="0">
                <a:effectLst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 dirty="0">
                <a:effectLst/>
                <a:ea typeface="ＭＳ Ｐゴシック" panose="020B0600070205080204" pitchFamily="34" charset="-128"/>
              </a:rPr>
              <a:t>					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stop sat tr=&lt;&gt;</a:t>
            </a:r>
          </a:p>
          <a:p>
            <a:r>
              <a:rPr lang="en-US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2: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 dirty="0" err="1">
                <a:effectLst/>
                <a:ea typeface="ＭＳ Ｐゴシック" panose="020B0600070205080204" pitchFamily="34" charset="-128"/>
              </a:rPr>
              <a:t>sat.prefix</a:t>
            </a:r>
            <a:r>
              <a:rPr lang="en-US" altLang="en-US" sz="2800" dirty="0">
                <a:effectLst/>
                <a:ea typeface="ＭＳ Ｐゴシック" panose="020B0600070205080204" pitchFamily="34" charset="-128"/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altLang="en-US" sz="2800" dirty="0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	(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a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 sat [tr=&lt;&gt; \/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([tr=&lt;a&gt;</a:t>
            </a:r>
            <a:r>
              <a:rPr lang="en-US" altLang="en-US" sz="2800" dirty="0" err="1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L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tr</a:t>
            </a:r>
            <a:r>
              <a:rPr lang="ja-JP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]/\ S(tr</a:t>
            </a:r>
            <a:r>
              <a:rPr lang="ja-JP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’</a:t>
            </a:r>
            <a:r>
              <a:rPr lang="en-US" altLang="ja-JP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))]</a:t>
            </a:r>
          </a:p>
          <a:p>
            <a:r>
              <a:rPr lang="en-US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3: </a:t>
            </a:r>
            <a:r>
              <a:rPr lang="en-US" altLang="en-US" sz="2800" dirty="0">
                <a:latin typeface="Symbol" pitchFamily="2" charset="2"/>
                <a:ea typeface="ＭＳ Ｐゴシック" panose="020B0600070205080204" pitchFamily="34" charset="-128"/>
              </a:rPr>
              <a:t>A </a:t>
            </a:r>
            <a:r>
              <a:rPr lang="en-US" altLang="en-US" sz="2800" dirty="0">
                <a:ea typeface="ＭＳ Ｐゴシック" panose="020B0600070205080204" pitchFamily="34" charset="-128"/>
              </a:rPr>
              <a:t>consequence</a:t>
            </a:r>
            <a:r>
              <a:rPr lang="en-US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 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sat S(tr)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  (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c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→d→P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 sat [tr </a:t>
            </a:r>
            <a:r>
              <a:rPr lang="en-US" altLang="en-US" sz="2800" u="sng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&lt;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&lt;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c,d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&gt; \/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(tr </a:t>
            </a:r>
            <a:r>
              <a:rPr lang="en-US" altLang="en-US" sz="2800" u="sng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&gt;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&lt;</a:t>
            </a:r>
            <a:r>
              <a:rPr lang="en-US" altLang="en-US" sz="2800" dirty="0" err="1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c,d</a:t>
            </a:r>
            <a:r>
              <a:rPr lang="en-US" altLang="en-US" sz="2800" dirty="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&gt;/\ S(tr”))]</a:t>
            </a:r>
          </a:p>
          <a:p>
            <a:pPr>
              <a:buFont typeface="Wingdings" pitchFamily="2" charset="2"/>
              <a:buNone/>
            </a:pPr>
            <a:endParaRPr lang="en-US" altLang="en-US" sz="2800" dirty="0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112646" name="Line 4">
            <a:extLst>
              <a:ext uri="{FF2B5EF4-FFF2-40B4-BE49-F238E27FC236}">
                <a16:creationId xmlns:a16="http://schemas.microsoft.com/office/drawing/2014/main" id="{4D541B11-12AC-5F30-E420-E4390A5C2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905000"/>
            <a:ext cx="29718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647" name="Line 5">
            <a:extLst>
              <a:ext uri="{FF2B5EF4-FFF2-40B4-BE49-F238E27FC236}">
                <a16:creationId xmlns:a16="http://schemas.microsoft.com/office/drawing/2014/main" id="{59FFE66E-6C91-6930-3529-0467F9E3D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352800"/>
            <a:ext cx="69342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648" name="Line 6">
            <a:extLst>
              <a:ext uri="{FF2B5EF4-FFF2-40B4-BE49-F238E27FC236}">
                <a16:creationId xmlns:a16="http://schemas.microsoft.com/office/drawing/2014/main" id="{97558785-FD50-49F4-6D54-C9C853894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876800"/>
            <a:ext cx="69342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95F4C594-E57D-D515-9FC2-0D3B496F062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4748BCB-C937-0736-0FAF-108EE44B4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66ACDC5-3994-44F7-F125-0D62657A7C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E429B4-77EC-DF46-8EB8-43C00D2BEEE0}" type="slidenum">
              <a:rPr lang="en-US" altLang="en-US" sz="1000"/>
              <a:pPr/>
              <a:t>49</a:t>
            </a:fld>
            <a:endParaRPr lang="en-US" altLang="en-US" sz="10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EA474D1E-05C4-8362-9F58-9CA09B5E5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-2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87D71C7A-E064-8F9F-E1CE-F550CC913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4:</a:t>
            </a:r>
            <a:r>
              <a:rPr lang="en-US">
                <a:effectLst/>
              </a:rPr>
              <a:t> sat.true: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True</a:t>
            </a:r>
            <a:endParaRPr lang="en-US">
              <a:solidFill>
                <a:srgbClr val="00FF00"/>
              </a:solidFill>
              <a:effectLst/>
            </a:endParaRPr>
          </a:p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5:</a:t>
            </a:r>
            <a:r>
              <a:rPr lang="en-US">
                <a:solidFill>
                  <a:srgbClr val="00FF00"/>
                </a:solidFill>
                <a:effectLst/>
              </a:rPr>
              <a:t> </a:t>
            </a:r>
            <a:r>
              <a:rPr lang="en-US">
                <a:effectLst/>
              </a:rPr>
              <a:t>sat.and: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S(tr), P sat T(tr)</a:t>
            </a:r>
            <a:endParaRPr lang="en-US">
              <a:effectLst/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>
                <a:effectLst/>
              </a:rPr>
              <a:t>	 				</a:t>
            </a:r>
            <a:r>
              <a:rPr lang="en-US">
                <a:solidFill>
                  <a:srgbClr val="00FF00"/>
                </a:solidFill>
                <a:effectLst/>
              </a:rPr>
              <a:t>P sat [S(tr)/\T(tr)]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6: </a:t>
            </a:r>
            <a:r>
              <a:rPr lang="en-US"/>
              <a:t>sat.forall:</a:t>
            </a: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n</a:t>
            </a:r>
            <a:r>
              <a:rPr lang="en-US">
                <a:effectLst/>
                <a:cs typeface="Times New Roman" pitchFamily="-112" charset="0"/>
                <a:sym typeface="Symbol" pitchFamily="-112" charset="2"/>
              </a:rPr>
              <a:t>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S(tr) </a:t>
            </a:r>
            <a:endParaRPr lang="en-US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	 	       			</a:t>
            </a:r>
            <a:r>
              <a:rPr lang="en-US">
                <a:solidFill>
                  <a:srgbClr val="00FF00"/>
                </a:solidFill>
                <a:effectLst/>
              </a:rPr>
              <a:t>P sat </a:t>
            </a:r>
            <a:r>
              <a:rPr lang="en-US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n</a:t>
            </a:r>
            <a:r>
              <a:rPr lang="en-US">
                <a:effectLst/>
                <a:cs typeface="Times New Roman" pitchFamily="-112" charset="0"/>
                <a:sym typeface="Symbol" pitchFamily="-112" charset="2"/>
              </a:rPr>
              <a:t> </a:t>
            </a:r>
            <a:r>
              <a:rPr lang="en-US">
                <a:solidFill>
                  <a:srgbClr val="00FF00"/>
                </a:solidFill>
                <a:effectLst/>
              </a:rPr>
              <a:t>S(tr)</a:t>
            </a:r>
          </a:p>
          <a:p>
            <a:pPr>
              <a:buFont typeface="Wingdings" pitchFamily="-112" charset="2"/>
              <a:buNone/>
              <a:defRPr/>
            </a:pPr>
            <a:r>
              <a:rPr lang="en-US">
                <a:solidFill>
                  <a:srgbClr val="00FF00"/>
                </a:solidFill>
                <a:effectLst/>
              </a:rPr>
              <a:t>	</a:t>
            </a:r>
            <a:r>
              <a:rPr lang="en-US">
                <a:effectLst/>
              </a:rPr>
              <a:t>where P does not depend on n</a:t>
            </a:r>
            <a:endParaRPr lang="en-US">
              <a:effectLst/>
              <a:cs typeface="Times New Roman" pitchFamily="-112" charset="0"/>
              <a:sym typeface="Symbol" pitchFamily="-112" charset="2"/>
            </a:endParaRPr>
          </a:p>
          <a:p>
            <a:pPr>
              <a:buFont typeface="Wingdings" pitchFamily="-112" charset="2"/>
              <a:buChar char="l"/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Rule 7:</a:t>
            </a:r>
            <a:r>
              <a:rPr lang="en-US">
                <a:solidFill>
                  <a:srgbClr val="00FF00"/>
                </a:solidFill>
                <a:effectLst/>
              </a:rPr>
              <a:t> </a:t>
            </a:r>
            <a:r>
              <a:rPr lang="en-US">
                <a:effectLst/>
              </a:rPr>
              <a:t>sat.implies: 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Symbol" pitchFamily="-112" charset="2"/>
              </a:rPr>
              <a:t>P sat S(tr), S(tr)</a:t>
            </a:r>
            <a:r>
              <a:rPr lang="en-US" u="sng">
                <a:solidFill>
                  <a:srgbClr val="00FF00"/>
                </a:solidFill>
                <a:effectLst/>
                <a:cs typeface="Times New Roman" pitchFamily="-112" charset="0"/>
                <a:sym typeface="Wingdings" pitchFamily="-112" charset="2"/>
              </a:rPr>
              <a:t>T(tr)</a:t>
            </a:r>
            <a:endParaRPr lang="en-US">
              <a:effectLst/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>
                <a:solidFill>
                  <a:srgbClr val="00FF00"/>
                </a:solidFill>
                <a:effectLst/>
              </a:rPr>
              <a:t>  						P sat </a:t>
            </a:r>
            <a:r>
              <a:rPr lang="en-US">
                <a:solidFill>
                  <a:srgbClr val="00FF00"/>
                </a:solidFill>
                <a:effectLst/>
                <a:cs typeface="Arial" charset="0"/>
              </a:rPr>
              <a:t>T(tr)</a:t>
            </a:r>
            <a:endParaRPr lang="en-US">
              <a:solidFill>
                <a:srgbClr val="00FF00"/>
              </a:solidFill>
              <a:effectLst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E57A8E43-B220-E3CD-325E-9C573825105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5DBE54F-FC20-26E2-6E65-032BBB2D3A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98F6A51-42A9-B56E-7189-C673252A3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3FA0E2F-F499-1D4F-A3E0-D7351D630484}" type="slidenum">
              <a:rPr lang="en-US" altLang="en-US" sz="1000"/>
              <a:pPr/>
              <a:t>50</a:t>
            </a:fld>
            <a:endParaRPr lang="en-US" altLang="en-US" sz="1000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A66502E9-0F9A-5353-6814-9BCAE9DDF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-3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33F0B6FF-03CE-FD58-7FD2-F5EFC661D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8: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sat.ext-choice: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S(tr)</a:t>
            </a:r>
            <a:endParaRPr lang="en-US" altLang="en-US" sz="2800" u="sng">
              <a:effectLst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				                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□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Q sat S(tr)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9: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sat.parallel: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T(tr)</a:t>
            </a:r>
            <a:endParaRPr lang="en-US" altLang="en-US" sz="2800">
              <a:effectLst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 				       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P||Q sat S(tr)/\T(tr)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10: </a:t>
            </a:r>
            <a:r>
              <a:rPr lang="en-US" altLang="en-US" sz="2800">
                <a:ea typeface="ＭＳ Ｐゴシック" panose="020B0600070205080204" pitchFamily="34" charset="-128"/>
              </a:rPr>
              <a:t>sat.interleave: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T(tr)</a:t>
            </a:r>
            <a:endParaRPr lang="en-US" altLang="en-US" sz="28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	 	      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||</a:t>
            </a:r>
            <a:r>
              <a:rPr lang="en-US" altLang="en-US" sz="2800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Y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Q sat S(tr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↑X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)/\ T(tr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↑Y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)/\ 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(XUY)*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Rule 11: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sat.interleave: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sat S(tr), Q sat S(tr)</a:t>
            </a:r>
            <a:endParaRPr lang="en-US" altLang="en-US" sz="2800">
              <a:effectLst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 				P|||Q sat S(tr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(P))/\T(tr↑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(Q)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Where 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(P)∩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(Q) =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Ø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44BDBE47-38B0-85EA-26B9-8E6FABD7B00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F355915-1C5B-59E1-60E6-1EEB9C8B9A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09D594F0-F5A6-C711-7EE2-501B8E0931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83BD4B-59C4-6040-8A75-4142F2F3724A}" type="slidenum">
              <a:rPr lang="en-US" altLang="en-US" sz="1000"/>
              <a:pPr/>
              <a:t>51</a:t>
            </a:fld>
            <a:endParaRPr lang="en-US" altLang="en-US" sz="1000"/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3ABA510C-DA77-9F42-2A7C-14CDA613B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Proof Rules for </a:t>
            </a:r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P sat T(Tr) </a:t>
            </a:r>
            <a:r>
              <a:rPr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010199"/>
                  </a:outerShdw>
                </a:effectLst>
                <a:ea typeface="ＭＳ Ｐゴシック" panose="020B0600070205080204" pitchFamily="34" charset="-128"/>
              </a:rPr>
              <a:t>-4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CFF036B-25B0-375A-CD3C-3517A9F2E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5029200"/>
          </a:xfrm>
        </p:spPr>
        <p:txBody>
          <a:bodyPr/>
          <a:lstStyle/>
          <a:p>
            <a:pPr marL="533400" indent="-533400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Recursion 12: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en-US">
                <a:effectLst/>
                <a:ea typeface="ＭＳ Ｐゴシック" panose="020B0600070205080204" pitchFamily="34" charset="-128"/>
                <a:sym typeface="Symbol" pitchFamily="2" charset="2"/>
              </a:rPr>
              <a:t>  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F(X) is guarded, Stop sat S, (X sat S)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(F(X) sat S)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			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        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µX.F(X) sat S</a:t>
            </a:r>
            <a:endParaRPr lang="en-US" altLang="en-US">
              <a:solidFill>
                <a:srgbClr val="00FF00"/>
              </a:solidFill>
              <a:effectLst/>
              <a:ea typeface="ＭＳ Ｐゴシック" panose="020B0600070205080204" pitchFamily="34" charset="-128"/>
              <a:sym typeface="Wingdings" pitchFamily="2" charset="2"/>
            </a:endParaRPr>
          </a:p>
          <a:p>
            <a:pPr marL="533400" indent="-533400">
              <a:buFont typeface="Wingdings" pitchFamily="2" charset="2"/>
              <a:buNone/>
            </a:pPr>
            <a:endParaRPr lang="en-US" altLang="en-US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3C6BE80C-12FB-5D5B-DF65-BC8DB2FA918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D825E62-5CB8-6468-A036-6560BEC079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7697BBF-14C1-A2EB-A888-C0A4731686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CC0607-02DD-914E-8765-3E776568EA07}" type="slidenum">
              <a:rPr lang="en-US" altLang="en-US" sz="1000"/>
              <a:pPr/>
              <a:t>52</a:t>
            </a:fld>
            <a:endParaRPr lang="en-US" altLang="en-US" sz="1000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9AC9589B-17D7-0156-1D56-65834B1CC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/>
              </a:rPr>
              <a:t>An Example Proof</a:t>
            </a:r>
            <a:endParaRPr lang="en-US">
              <a:solidFill>
                <a:schemeClr val="tx1"/>
              </a:solidFill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A9D0899A-413A-E8A1-DC0E-466254DB3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Vending machine definition: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vms=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µX:{coin,coke}. (coin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→(coke →X))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Properties of the vending machine:</a:t>
            </a:r>
          </a:p>
          <a:p>
            <a:pPr lvl="1">
              <a:lnSpc>
                <a:spcPct val="90000"/>
              </a:lnSpc>
            </a:pPr>
            <a:r>
              <a:rPr lang="en-US" altLang="en-US" sz="2400" u="sng">
                <a:solidFill>
                  <a:srgbClr val="FF505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NoLoss:</a:t>
            </a:r>
            <a:r>
              <a:rPr lang="en-US" altLang="en-US" sz="24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(#(tr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↑{coke} </a:t>
            </a:r>
            <a:r>
              <a:rPr lang="en-US" altLang="en-US" sz="24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#tr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↑{coin})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The # of dispensed cokes are always less than or equal to the # of inserted coins</a:t>
            </a:r>
          </a:p>
          <a:p>
            <a:pPr lvl="1">
              <a:lnSpc>
                <a:spcPct val="90000"/>
              </a:lnSpc>
            </a:pPr>
            <a:r>
              <a:rPr lang="en-US" altLang="en-US" sz="2400" u="sng">
                <a:solidFill>
                  <a:srgbClr val="FF505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Fair1: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#(tr↑coin) </a:t>
            </a:r>
            <a:r>
              <a:rPr lang="en-US" altLang="en-US" sz="24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#(tr↑coke) + 1)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does not absorb any coins unless the coke is dispensed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Let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VmSpec= NoLoss /\ Fair1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Want to prove: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VMS sat VmSpec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BE5D816B-52C9-AAF0-374C-0FD09B8A1AF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B84D4AD-C138-2DB6-9F2C-6FD97E928C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C73379B7-3CF0-A992-FF8D-4A5037266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4F080C4-9F32-7E40-9E5B-FB1E663C42E7}" type="slidenum">
              <a:rPr lang="en-US" altLang="en-US" sz="1000"/>
              <a:pPr/>
              <a:t>53</a:t>
            </a:fld>
            <a:endParaRPr lang="en-US" altLang="en-US" sz="10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C3F51E3E-DCBA-1C13-B585-04605E9A5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/>
              </a:rPr>
              <a:t>An Example Proof -1</a:t>
            </a:r>
            <a:endParaRPr lang="en-US">
              <a:solidFill>
                <a:schemeClr val="tx1"/>
              </a:solidFill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22885" name="Rectangle 3">
            <a:extLst>
              <a:ext uri="{FF2B5EF4-FFF2-40B4-BE49-F238E27FC236}">
                <a16:creationId xmlns:a16="http://schemas.microsoft.com/office/drawing/2014/main" id="{2F913195-A5EB-EE4B-2880-3243D0BB6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7630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Claim: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Stop sat (0</a:t>
            </a:r>
            <a:r>
              <a:rPr lang="en-US" altLang="en-US" sz="2800" u="sng">
                <a:effectLst/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#(tr↑coin)-#(tr↑coke))</a:t>
            </a:r>
            <a:r>
              <a:rPr lang="en-US" altLang="en-US" sz="2800" u="sng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Stop sat tr=&lt;&gt;, (&lt;&gt;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 = #(&lt;&gt;↑coke)=0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stop sat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(0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#(&lt;&gt;↑coin)- #(&lt;&gt;↑coke))</a:t>
            </a:r>
            <a:r>
              <a:rPr lang="en-US" altLang="en-US" sz="28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2800">
              <a:solidFill>
                <a:srgbClr val="00FF00"/>
              </a:solidFill>
              <a:effectLst/>
              <a:ea typeface="ＭＳ Ｐゴシック" panose="020B0600070205080204" pitchFamily="34" charset="-128"/>
              <a:sym typeface="Symbol" pitchFamily="2" charset="2"/>
            </a:endParaRPr>
          </a:p>
          <a:p>
            <a:r>
              <a:rPr lang="en-US" altLang="en-US" sz="2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Induction step:</a:t>
            </a:r>
          </a:p>
          <a:p>
            <a:pPr>
              <a:buFont typeface="Wingdings" pitchFamily="2" charset="2"/>
              <a:buNone/>
            </a:pP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X sat 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(0&lt;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 #(tr↑coin)-#(tr↑coke))&lt;1)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 </a:t>
            </a:r>
            <a:r>
              <a:rPr lang="en-US" altLang="en-US" sz="2000">
                <a:solidFill>
                  <a:schemeClr val="accent1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[Rule 3]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(coin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→(coke →X)) sat (tr 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&lt;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&lt;coin.coke&gt;) \/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                                      (tr </a:t>
            </a:r>
            <a:r>
              <a:rPr lang="en-US" altLang="en-US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&gt;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&lt;coin,coke&gt;)/\0&lt;(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↑coin)- 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↑coke))</a:t>
            </a:r>
            <a:r>
              <a:rPr lang="en-US" altLang="ja-JP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ja-JP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			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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0&lt;(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↑coin)- 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↑coke))</a:t>
            </a:r>
            <a:r>
              <a:rPr lang="en-US" altLang="ja-JP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ja-JP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2000">
                <a:solidFill>
                  <a:schemeClr val="accent1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[Rule 7]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vms=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µX:F(X) sat 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0&lt;(</a:t>
            </a:r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↑coin)- #(tr</a:t>
            </a:r>
            <a:r>
              <a:rPr lang="ja-JP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↑coke))</a:t>
            </a:r>
            <a:r>
              <a:rPr lang="en-US" altLang="ja-JP" sz="2000" u="sng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&lt;</a:t>
            </a:r>
            <a:r>
              <a:rPr lang="en-US" altLang="ja-JP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1)</a:t>
            </a:r>
            <a:r>
              <a:rPr lang="en-US" altLang="ja-JP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ja-JP" sz="2000">
                <a:solidFill>
                  <a:schemeClr val="accent1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[Rule 12]</a:t>
            </a:r>
            <a:endParaRPr lang="en-US" altLang="en-US" sz="2000">
              <a:solidFill>
                <a:schemeClr val="accent1"/>
              </a:solidFill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2886" name="Line 6">
            <a:extLst>
              <a:ext uri="{FF2B5EF4-FFF2-40B4-BE49-F238E27FC236}">
                <a16:creationId xmlns:a16="http://schemas.microsoft.com/office/drawing/2014/main" id="{E93E101B-5772-F2F8-2A53-8A33CA457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4495800"/>
            <a:ext cx="8305800" cy="762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7" name="Line 8">
            <a:extLst>
              <a:ext uri="{FF2B5EF4-FFF2-40B4-BE49-F238E27FC236}">
                <a16:creationId xmlns:a16="http://schemas.microsoft.com/office/drawing/2014/main" id="{2BCFFD14-1013-B6B0-D47D-796EC52E3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5257800"/>
            <a:ext cx="8305800" cy="762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0CE05C-36AC-3AB6-9B3A-FA1CB8190BDA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Trace Refinement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5E38AFB-7993-21B0-EEDF-6441A7C2F862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838200" y="3886200"/>
            <a:ext cx="7772400" cy="1752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Another way to specify trace properties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216A96B-6471-0FAF-1C72-502491529E4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9C186FF-DE74-4279-E2B8-FB623887E2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CFA0F41-ADDE-B497-76E3-57B3F0FCF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37D135-5853-F340-AC21-ACED9C1B91DC}" type="slidenum">
              <a:rPr lang="en-US" altLang="en-US" sz="1000"/>
              <a:pPr/>
              <a:t>55</a:t>
            </a:fld>
            <a:endParaRPr lang="en-US" altLang="en-US" sz="1000"/>
          </a:p>
        </p:txBody>
      </p:sp>
      <p:sp>
        <p:nvSpPr>
          <p:cNvPr id="126980" name="Rectangle 2">
            <a:extLst>
              <a:ext uri="{FF2B5EF4-FFF2-40B4-BE49-F238E27FC236}">
                <a16:creationId xmlns:a16="http://schemas.microsoft.com/office/drawing/2014/main" id="{40165168-C9F7-BF92-427F-F3EE82E5E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Trace Refinement</a:t>
            </a:r>
          </a:p>
        </p:txBody>
      </p:sp>
      <p:sp>
        <p:nvSpPr>
          <p:cNvPr id="126981" name="Rectangle 3">
            <a:extLst>
              <a:ext uri="{FF2B5EF4-FFF2-40B4-BE49-F238E27FC236}">
                <a16:creationId xmlns:a16="http://schemas.microsoft.com/office/drawing/2014/main" id="{E78BE075-F67A-70CF-6035-CC750AFEA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Informally a process P is said to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refine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a process Q iff P is </a:t>
            </a:r>
            <a:r>
              <a:rPr lang="en-US" altLang="en-US">
                <a:solidFill>
                  <a:srgbClr val="FFFF00"/>
                </a:solidFill>
                <a:effectLst/>
                <a:ea typeface="ＭＳ Ｐゴシック" panose="020B0600070205080204" pitchFamily="34" charset="-128"/>
              </a:rPr>
              <a:t>more deterministic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than Q and </a:t>
            </a:r>
            <a:r>
              <a:rPr lang="en-US" altLang="en-US">
                <a:solidFill>
                  <a:srgbClr val="FFFF00"/>
                </a:solidFill>
                <a:effectLst/>
                <a:ea typeface="ＭＳ Ｐゴシック" panose="020B0600070205080204" pitchFamily="34" charset="-128"/>
              </a:rPr>
              <a:t>satisfy the same specification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process gets refined by having fewer traces.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Notation=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P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Q read as </a:t>
            </a:r>
            <a:r>
              <a:rPr lang="ja-JP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Q refines P</a:t>
            </a:r>
            <a:r>
              <a:rPr lang="ja-JP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”</a:t>
            </a:r>
            <a:endParaRPr lang="en-US" altLang="ja-JP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So if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Q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then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traces(Q)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 traces (P)</a:t>
            </a:r>
            <a:endParaRPr lang="en-US" altLang="en-US">
              <a:solidFill>
                <a:srgbClr val="00FF00"/>
              </a:solidFill>
              <a:effectLst/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  stop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for all processes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FF54098E-601D-E3ED-EDA6-6D4CCD15497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03D7291-9C66-6990-6F16-A26801426B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2D5CD2A-27A4-7671-25CF-75A3EF0654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DB8C4-0DE9-5945-A163-7224E3B542DA}" type="slidenum">
              <a:rPr lang="en-US" altLang="en-US" sz="1000"/>
              <a:pPr/>
              <a:t>56</a:t>
            </a:fld>
            <a:endParaRPr lang="en-US" altLang="en-US" sz="1000"/>
          </a:p>
        </p:txBody>
      </p:sp>
      <p:sp>
        <p:nvSpPr>
          <p:cNvPr id="129028" name="Rectangle 2">
            <a:extLst>
              <a:ext uri="{FF2B5EF4-FFF2-40B4-BE49-F238E27FC236}">
                <a16:creationId xmlns:a16="http://schemas.microsoft.com/office/drawing/2014/main" id="{C2AA793A-CA56-BEFB-2020-E4C939097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Properties of Refinements</a:t>
            </a:r>
          </a:p>
        </p:txBody>
      </p:sp>
      <p:sp>
        <p:nvSpPr>
          <p:cNvPr id="129029" name="Rectangle 3">
            <a:extLst>
              <a:ext uri="{FF2B5EF4-FFF2-40B4-BE49-F238E27FC236}">
                <a16:creationId xmlns:a16="http://schemas.microsoft.com/office/drawing/2014/main" id="{3A4248A2-9F28-FAC8-2CDE-1F94309260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Char char="l"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Transitivity: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 P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Q and Q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R </a:t>
            </a:r>
            <a:r>
              <a:rPr lang="en-US" dirty="0">
                <a:effectLst/>
                <a:ea typeface="ＭＳ Ｐゴシック" charset="0"/>
                <a:cs typeface="ＭＳ Ｐゴシック" charset="0"/>
                <a:sym typeface="Wingdings" charset="0"/>
              </a:rPr>
              <a:t> P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  <a:cs typeface="ＭＳ Ｐゴシック" charset="0"/>
                <a:sym typeface="Wingdings" charset="0"/>
              </a:rPr>
              <a:t>R</a:t>
            </a:r>
          </a:p>
          <a:p>
            <a:pPr>
              <a:buFont typeface="Wingdings" charset="0"/>
              <a:buChar char="l"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  <a:sym typeface="Wingdings" charset="0"/>
              </a:rPr>
              <a:t>Monotonicity:</a:t>
            </a:r>
            <a:r>
              <a:rPr lang="en-US" dirty="0">
                <a:effectLst/>
                <a:ea typeface="ＭＳ Ｐゴシック" charset="0"/>
                <a:cs typeface="ＭＳ Ｐゴシック" charset="0"/>
                <a:sym typeface="Wingdings" charset="0"/>
              </a:rPr>
              <a:t> </a:t>
            </a:r>
          </a:p>
          <a:p>
            <a:pPr lvl="1"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sym typeface="Wingdings" charset="0"/>
              </a:rPr>
              <a:t>If F(X) is a process with process variable X and </a:t>
            </a:r>
          </a:p>
          <a:p>
            <a:pPr lvl="1"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sym typeface="Wingdings" charset="0"/>
              </a:rPr>
              <a:t>P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="1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b="1" dirty="0">
                <a:effectLst/>
                <a:ea typeface="ＭＳ Ｐゴシック" charset="0"/>
                <a:sym typeface="Wingdings" charset="0"/>
              </a:rPr>
              <a:t>Q </a:t>
            </a:r>
            <a:r>
              <a:rPr lang="en-US" dirty="0">
                <a:effectLst/>
                <a:ea typeface="ＭＳ Ｐゴシック" charset="0"/>
                <a:sym typeface="Wingdings" charset="0"/>
              </a:rPr>
              <a:t>then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effectLst/>
                <a:ea typeface="ＭＳ Ｐゴシック" charset="0"/>
              </a:rPr>
              <a:t>F(P/X)</a:t>
            </a:r>
            <a:r>
              <a:rPr lang="en-US" b="1" dirty="0">
                <a:solidFill>
                  <a:srgbClr val="00FF00"/>
                </a:solidFill>
              </a:rPr>
              <a:t>⊑</a:t>
            </a:r>
            <a:r>
              <a:rPr lang="en-US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effectLst/>
                <a:ea typeface="ＭＳ Ｐゴシック" charset="0"/>
              </a:rPr>
              <a:t>F(Q/X)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CD2-C4E7-A06D-6F48-98803035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Specifications and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44B9-A532-DDD9-6298-896D051C1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530725"/>
          </a:xfrm>
        </p:spPr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A process can be used as a 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specification</a:t>
            </a:r>
            <a:r>
              <a:rPr lang="en-US" sz="2800" dirty="0"/>
              <a:t>.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Then an 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implementation</a:t>
            </a:r>
            <a:r>
              <a:rPr lang="en-US" sz="2800" dirty="0"/>
              <a:t> can </a:t>
            </a:r>
            <a:r>
              <a:rPr lang="en-US" sz="2800" dirty="0">
                <a:solidFill>
                  <a:srgbClr val="FF0000"/>
                </a:solidFill>
              </a:rPr>
              <a:t>refine</a:t>
            </a:r>
            <a:r>
              <a:rPr lang="en-US" sz="2800" dirty="0"/>
              <a:t> the process. </a:t>
            </a:r>
          </a:p>
          <a:p>
            <a:pPr lvl="1">
              <a:buFont typeface="Wingdings" pitchFamily="-112" charset="2"/>
              <a:buChar char="l"/>
              <a:defRPr/>
            </a:pPr>
            <a:r>
              <a:rPr lang="en-US" dirty="0"/>
              <a:t>Because, then the implementation satisfy the properties of the specification!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In symbols, </a:t>
            </a:r>
            <a:r>
              <a:rPr lang="en-US" sz="2800" dirty="0">
                <a:solidFill>
                  <a:srgbClr val="00FF00"/>
                </a:solidFill>
              </a:rPr>
              <a:t>Spec </a:t>
            </a:r>
            <a:r>
              <a:rPr lang="en-US" sz="2800" b="1" dirty="0">
                <a:solidFill>
                  <a:srgbClr val="00FF00"/>
                </a:solidFill>
              </a:rPr>
              <a:t>⊑</a:t>
            </a:r>
            <a:r>
              <a:rPr lang="en-US" sz="2800" b="1" baseline="-25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T </a:t>
            </a:r>
            <a:r>
              <a:rPr lang="en-US" sz="2800" dirty="0">
                <a:solidFill>
                  <a:srgbClr val="00FF00"/>
                </a:solidFill>
              </a:rPr>
              <a:t>Implementation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/>
              <a:t>That is </a:t>
            </a:r>
            <a:r>
              <a:rPr lang="en-US" sz="2800" dirty="0">
                <a:solidFill>
                  <a:srgbClr val="00FF00"/>
                </a:solidFill>
              </a:rPr>
              <a:t>traces(Implementation) </a:t>
            </a:r>
            <a:r>
              <a:rPr lang="en-US" sz="2800" dirty="0">
                <a:solidFill>
                  <a:srgbClr val="00FF00"/>
                </a:solidFill>
                <a:effectLst/>
                <a:sym typeface="Symbol" pitchFamily="-112" charset="2"/>
              </a:rPr>
              <a:t> traces (Spec)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  <a:sym typeface="Symbol" pitchFamily="-112" charset="2"/>
              </a:rPr>
              <a:t>So the idea is to specify </a:t>
            </a:r>
            <a:r>
              <a:rPr lang="en-US" sz="2800" dirty="0">
                <a:solidFill>
                  <a:srgbClr val="FFFF00"/>
                </a:solidFill>
                <a:effectLst/>
                <a:sym typeface="Symbol" pitchFamily="-112" charset="2"/>
              </a:rPr>
              <a:t>an ideal process as the specification</a:t>
            </a:r>
            <a:r>
              <a:rPr lang="en-US" sz="2800" dirty="0">
                <a:effectLst/>
                <a:sym typeface="Symbol" pitchFamily="-112" charset="2"/>
              </a:rPr>
              <a:t> (called the </a:t>
            </a:r>
            <a:r>
              <a:rPr lang="en-US" sz="2800" dirty="0">
                <a:solidFill>
                  <a:srgbClr val="FFC000"/>
                </a:solidFill>
                <a:effectLst/>
                <a:sym typeface="Symbol" pitchFamily="-112" charset="2"/>
              </a:rPr>
              <a:t>characteristic process</a:t>
            </a:r>
            <a:r>
              <a:rPr lang="en-US" sz="2800" dirty="0">
                <a:effectLst/>
                <a:sym typeface="Symbol" pitchFamily="-112" charset="2"/>
              </a:rPr>
              <a:t>)</a:t>
            </a:r>
          </a:p>
          <a:p>
            <a:pPr lvl="1">
              <a:buFont typeface="Wingdings" pitchFamily="-112" charset="2"/>
              <a:buChar char="l"/>
              <a:defRPr/>
            </a:pPr>
            <a:r>
              <a:rPr lang="en-US" sz="2400" dirty="0">
                <a:effectLst/>
                <a:sym typeface="Symbol" pitchFamily="-112" charset="2"/>
              </a:rPr>
              <a:t>And </a:t>
            </a:r>
            <a:r>
              <a:rPr lang="en-US" sz="2400" dirty="0">
                <a:solidFill>
                  <a:srgbClr val="FFFF00"/>
                </a:solidFill>
                <a:effectLst/>
                <a:sym typeface="Symbol" pitchFamily="-112" charset="2"/>
              </a:rPr>
              <a:t>Show that implementations refine the specification</a:t>
            </a:r>
            <a:r>
              <a:rPr lang="en-US" sz="2400" dirty="0">
                <a:effectLst/>
                <a:sym typeface="Symbol" pitchFamily="-112" charset="2"/>
              </a:rPr>
              <a:t>!</a:t>
            </a:r>
          </a:p>
          <a:p>
            <a:pPr lvl="1">
              <a:buFont typeface="Wingdings" pitchFamily="-112" charset="2"/>
              <a:buChar char="l"/>
              <a:defRPr/>
            </a:pPr>
            <a:endParaRPr lang="en-US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08B4F-2DB7-D452-8854-05F2B67170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F9A61-FC35-9D7E-AB2A-5E4F7D37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C76EB-FEB4-C224-A950-BDA7C53B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19172F-CA17-2745-97E2-CC7EB05741D6}" type="slidenum">
              <a:rPr lang="en-US" altLang="en-US" sz="1000"/>
              <a:pPr/>
              <a:t>57</a:t>
            </a:fld>
            <a:endParaRPr lang="en-US" altLang="en-US"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BF02-8F92-436F-7FCF-C6384EC1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Three Sample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4F122-D533-CA4D-8781-DE539686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ea typeface="ＭＳ Ｐゴシック" panose="020B0600070205080204" pitchFamily="34" charset="-128"/>
              </a:rPr>
              <a:t>The outputs values occurring on the right channel are always a prefix of the input channel and the process performs no other action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ea typeface="ＭＳ Ｐゴシック" panose="020B0600070205080204" pitchFamily="34" charset="-128"/>
              </a:rPr>
              <a:t>Each occurrence of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commit</a:t>
            </a:r>
            <a:r>
              <a:rPr lang="en-US" altLang="en-US">
                <a:ea typeface="ＭＳ Ｐゴシック" panose="020B0600070205080204" pitchFamily="34" charset="-128"/>
              </a:rPr>
              <a:t> event is preceded by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start</a:t>
            </a:r>
            <a:r>
              <a:rPr lang="en-US" altLang="en-US">
                <a:ea typeface="ＭＳ Ｐゴシック" panose="020B0600070205080204" pitchFamily="34" charset="-128"/>
              </a:rPr>
              <a:t> event followed by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running</a:t>
            </a:r>
            <a:r>
              <a:rPr lang="en-US" altLang="en-US">
                <a:ea typeface="ＭＳ Ｐゴシック" panose="020B0600070205080204" pitchFamily="34" charset="-128"/>
              </a:rPr>
              <a:t> event, both occurs after the last commit event.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error</a:t>
            </a:r>
            <a:r>
              <a:rPr lang="en-US" altLang="en-US">
                <a:ea typeface="ＭＳ Ｐゴシック" panose="020B0600070205080204" pitchFamily="34" charset="-128"/>
              </a:rPr>
              <a:t> event never occurs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35173-4D8B-B12E-0A70-D8ADE97475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CA6AF-80F2-687E-101A-EC1E9381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2F35D-AB50-50E4-5ECA-7292AB1D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29A832-24E1-FD42-8714-4265CBFFE8FC}" type="slidenum">
              <a:rPr lang="en-US" altLang="en-US" sz="1000"/>
              <a:pPr/>
              <a:t>58</a:t>
            </a:fld>
            <a:endParaRPr lang="en-US" altLang="en-US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2509-D62F-6CFC-2FC3-2952871C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7813"/>
            <a:ext cx="8763000" cy="1139825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Example1: A </a:t>
            </a:r>
            <a:r>
              <a:rPr lang="en-US" altLang="en-US" sz="4000">
                <a:ea typeface="ＭＳ Ｐゴシック" panose="020B0600070205080204" pitchFamily="34" charset="-128"/>
              </a:rPr>
              <a:t>Trace  Property and its Characteristic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4C7B-DF45-9C98-0FB9-3620490E6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  <a:defRPr/>
            </a:pP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Trace Specification:</a:t>
            </a:r>
          </a:p>
          <a:p>
            <a:pPr marL="914400" lvl="1" indent="-514350">
              <a:buFont typeface="Wingdings" charset="0"/>
              <a:buNone/>
              <a:defRPr/>
            </a:pP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  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=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 ↑{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left,right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} /\ 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↓right </a:t>
            </a:r>
            <a:r>
              <a:rPr lang="en-US" dirty="0">
                <a:solidFill>
                  <a:srgbClr val="FF6600"/>
                </a:solidFill>
                <a:effectLst/>
                <a:sym typeface="Symbol" pitchFamily="-112" charset="2"/>
              </a:rPr>
              <a:t></a:t>
            </a:r>
            <a:r>
              <a:rPr lang="en-US" dirty="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 </a:t>
            </a:r>
            <a:r>
              <a:rPr lang="en-US" dirty="0" err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Arial" charset="0"/>
              </a:rPr>
              <a:t>tr</a:t>
            </a:r>
            <a:r>
              <a:rPr lang="en-US" dirty="0">
                <a:solidFill>
                  <a:srgbClr val="FF66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↓left</a:t>
            </a:r>
          </a:p>
          <a:p>
            <a:pPr marL="514350" indent="-514350">
              <a:buFont typeface="Wingdings" charset="0"/>
              <a:buNone/>
              <a:defRPr/>
            </a:pPr>
            <a:r>
              <a:rPr lang="en-US" dirty="0">
                <a:solidFill>
                  <a:srgbClr val="00FF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2. The Characteristic Process</a:t>
            </a:r>
          </a:p>
          <a:p>
            <a:pPr marL="514350" indent="-514350"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	</a:t>
            </a:r>
            <a:r>
              <a:rPr lang="en-US" sz="2800" dirty="0">
                <a:effectLst/>
                <a:ea typeface="ＭＳ Ｐゴシック" charset="0"/>
                <a:cs typeface="Times New Roman" charset="0"/>
                <a:sym typeface="Symbol" charset="0"/>
              </a:rPr>
              <a:t>The infinite Buffer process</a:t>
            </a:r>
          </a:p>
          <a:p>
            <a:pPr marL="514350" indent="-514350">
              <a:buFont typeface="Wingdings" charset="0"/>
              <a:buNone/>
              <a:defRPr/>
            </a:pP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	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&lt;&gt;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=</a:t>
            </a:r>
            <a:r>
              <a:rPr lang="en-US" sz="2800" dirty="0" err="1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left?x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→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&lt;x&gt;</a:t>
            </a:r>
            <a:endParaRPr lang="en-US" sz="2800" dirty="0">
              <a:solidFill>
                <a:srgbClr val="FFC000"/>
              </a:solidFill>
              <a:effectLst/>
              <a:ea typeface="ＭＳ Ｐゴシック" charset="0"/>
              <a:cs typeface="Times New Roman" charset="0"/>
              <a:sym typeface="Symbol" charset="0"/>
            </a:endParaRPr>
          </a:p>
          <a:p>
            <a:pPr marL="514350" indent="-514350">
              <a:buFont typeface="Wingdings" charset="0"/>
              <a:buNone/>
              <a:defRPr/>
            </a:pP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	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s^&lt;x&gt;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=</a:t>
            </a:r>
            <a:r>
              <a:rPr lang="en-US" sz="2800" dirty="0" err="1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left?y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→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&lt;y&gt;^s^&lt;x&gt;</a:t>
            </a:r>
            <a:r>
              <a:rPr lang="en-US" sz="2800" dirty="0">
                <a:solidFill>
                  <a:srgbClr val="00FF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□ </a:t>
            </a:r>
            <a:r>
              <a:rPr lang="en-US" sz="2800" dirty="0" err="1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right!x</a:t>
            </a:r>
            <a:r>
              <a:rPr lang="en-US" sz="28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 → B</a:t>
            </a:r>
            <a:r>
              <a:rPr lang="en-US" sz="2800" baseline="30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∞</a:t>
            </a:r>
            <a:r>
              <a:rPr lang="en-US" sz="2800" baseline="-25000" dirty="0">
                <a:solidFill>
                  <a:srgbClr val="FFC000"/>
                </a:solidFill>
                <a:effectLst/>
                <a:ea typeface="ＭＳ Ｐゴシック" charset="0"/>
                <a:cs typeface="Times New Roman" charset="0"/>
                <a:sym typeface="Symbol" charset="0"/>
              </a:rPr>
              <a:t>s</a:t>
            </a:r>
            <a:endParaRPr lang="en-US" sz="2800" dirty="0">
              <a:solidFill>
                <a:srgbClr val="FFC000"/>
              </a:solidFill>
              <a:effectLst/>
              <a:ea typeface="ＭＳ Ｐゴシック" charset="0"/>
              <a:cs typeface="Times New Roman" charset="0"/>
              <a:sym typeface="Symbol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3EF04-5A75-FEB1-FEB3-4BE55F2D9C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EB419-BCFE-0F1C-0EF3-BFD7AC91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AB81-1890-8CC5-4153-934B6F5B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76B160-0690-0045-B8A2-85B1813808E4}" type="slidenum">
              <a:rPr lang="en-US" altLang="en-US" sz="1000"/>
              <a:pPr/>
              <a:t>59</a:t>
            </a:fld>
            <a:endParaRPr lang="en-US" altLang="en-US"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9C7A6F4-F6B3-B39A-63D9-B043588449D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D6110B8-46A5-0241-5E88-421D20F2B6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D70860F-94C9-D192-780D-9A2671FDB7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0F8D5F-17B2-CF4F-93CF-6715A55693B6}" type="slidenum">
              <a:rPr lang="en-US" altLang="en-US" sz="1000"/>
              <a:pPr/>
              <a:t>60</a:t>
            </a:fld>
            <a:endParaRPr lang="en-US" altLang="en-US" sz="1000"/>
          </a:p>
        </p:txBody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E7EE3093-42DA-411B-36FC-658978153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Example 2: A Trace Property and its Characteristic Process</a:t>
            </a:r>
          </a:p>
        </p:txBody>
      </p:sp>
      <p:sp>
        <p:nvSpPr>
          <p:cNvPr id="65542" name="Rectangle 3">
            <a:extLst>
              <a:ext uri="{FF2B5EF4-FFF2-40B4-BE49-F238E27FC236}">
                <a16:creationId xmlns:a16="http://schemas.microsoft.com/office/drawing/2014/main" id="{690193D3-D562-9DF4-FF8F-99203E743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30725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Trace property</a:t>
            </a:r>
          </a:p>
          <a:p>
            <a:pPr marL="914400" lvl="1" indent="-514350">
              <a:buFont typeface="Wingdings" pitchFamily="2" charset="2"/>
              <a:buNone/>
            </a:pPr>
            <a:r>
              <a:rPr lang="en-US" altLang="en-US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tr= tr</a:t>
            </a:r>
            <a:r>
              <a:rPr lang="ja-JP" altLang="en-US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^&lt;commit&gt;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  <a:sym typeface="Symbol" pitchFamily="2" charset="2"/>
              </a:rPr>
              <a:t> 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tr1,tr2 tr</a:t>
            </a:r>
            <a:r>
              <a:rPr lang="ja-JP" altLang="en-US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=tr1^tr2 /\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	&lt;start,running&gt; 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≤ tr2</a:t>
            </a:r>
            <a:r>
              <a:rPr lang="en-US" altLang="en-US" sz="28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↑{start,running}  /\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		tr2 ↑{commit} = &lt;&gt;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3. The Process</a:t>
            </a:r>
            <a:endParaRPr lang="en-US" altLang="en-US">
              <a:effectLst/>
              <a:ea typeface="ＭＳ Ｐゴシック" panose="020B0600070205080204" pitchFamily="34" charset="-128"/>
            </a:endParaRPr>
          </a:p>
          <a:p>
            <a:pPr marL="514350" indent="-514350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0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= (?x: </a:t>
            </a:r>
            <a:r>
              <a:rPr lang="en-US" altLang="en-US" sz="2800">
                <a:solidFill>
                  <a:srgbClr val="FFC0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\{start,commit}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□(start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1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1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=(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?x:</a:t>
            </a:r>
            <a:r>
              <a:rPr lang="en-US" altLang="en-US" sz="2800">
                <a:solidFill>
                  <a:srgbClr val="FFC0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\{running,commit}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→P1)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□(running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2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	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2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= (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?x:</a:t>
            </a:r>
            <a:r>
              <a:rPr lang="en-US" altLang="en-US" sz="2800">
                <a:solidFill>
                  <a:srgbClr val="FFC0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</a:rPr>
              <a:t>\{commit}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→P2)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□(commit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</a:t>
            </a:r>
            <a:r>
              <a:rPr lang="en-US" altLang="en-US" sz="2800" baseline="-250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0</a:t>
            </a:r>
            <a:r>
              <a:rPr lang="en-US" altLang="en-US" sz="2800">
                <a:solidFill>
                  <a:srgbClr val="FFC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6771-B97F-FE00-FE6B-65740277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/>
              </a:rPr>
              <a:t>Example 3: A Trace Property and its Characteristic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765B-E2AD-3AAF-4E1C-62A9722D6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</a:rPr>
              <a:t>The Trace property</a:t>
            </a:r>
          </a:p>
          <a:p>
            <a:pPr lvl="1">
              <a:buFont typeface="Wingdings" pitchFamily="-112" charset="2"/>
              <a:buNone/>
              <a:defRPr/>
            </a:pPr>
            <a:r>
              <a:rPr lang="en-US" dirty="0">
                <a:solidFill>
                  <a:srgbClr val="FFC000"/>
                </a:solidFill>
              </a:rPr>
              <a:t>The error event never occurs</a:t>
            </a:r>
          </a:p>
          <a:p>
            <a:pPr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00FF00"/>
                </a:solidFill>
              </a:rPr>
              <a:t>The Characteristic Process</a:t>
            </a:r>
          </a:p>
          <a:p>
            <a:pPr lvl="1">
              <a:buFont typeface="Wingdings" pitchFamily="-112" charset="2"/>
              <a:buChar char="l"/>
              <a:defRPr/>
            </a:pPr>
            <a:r>
              <a:rPr lang="en-US" dirty="0">
                <a:solidFill>
                  <a:srgbClr val="FFC000"/>
                </a:solidFill>
              </a:rPr>
              <a:t>Run</a:t>
            </a:r>
            <a:r>
              <a:rPr lang="en-US" baseline="-25000" dirty="0">
                <a:solidFill>
                  <a:srgbClr val="FFC000"/>
                </a:solidFill>
              </a:rPr>
              <a:t>∑\{error}</a:t>
            </a:r>
          </a:p>
          <a:p>
            <a:pPr lvl="1">
              <a:buFont typeface="Wingdings" pitchFamily="-112" charset="2"/>
              <a:buNone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E473-220B-A018-8255-193CBAB193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F9CF-0AE4-275B-2927-6DD5E062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059CE-05D3-FC92-5599-D15B7E70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062013-6CF3-C045-A57B-5931B97D9CF3}" type="slidenum">
              <a:rPr lang="en-US" altLang="en-US" sz="1000"/>
              <a:pPr/>
              <a:t>61</a:t>
            </a:fld>
            <a:endParaRPr lang="en-US" altLang="en-US"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2">
            <a:extLst>
              <a:ext uri="{FF2B5EF4-FFF2-40B4-BE49-F238E27FC236}">
                <a16:creationId xmlns:a16="http://schemas.microsoft.com/office/drawing/2014/main" id="{88A6F4F9-3AD1-5591-334F-E39883724DF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649A73D-81F9-A41C-E342-E90B200BC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8FDD04-78C2-DCD5-E736-F43278A551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270DF91-E11C-064B-86BA-54F5B422F3AD}" type="slidenum">
              <a:rPr lang="en-US" altLang="en-US" sz="1000"/>
              <a:pPr/>
              <a:t>62</a:t>
            </a:fld>
            <a:endParaRPr lang="en-US" altLang="en-US" sz="1000"/>
          </a:p>
        </p:txBody>
      </p:sp>
      <p:sp>
        <p:nvSpPr>
          <p:cNvPr id="141316" name="Rectangle 2">
            <a:extLst>
              <a:ext uri="{FF2B5EF4-FFF2-40B4-BE49-F238E27FC236}">
                <a16:creationId xmlns:a16="http://schemas.microsoft.com/office/drawing/2014/main" id="{61633A17-5513-496B-1D89-D408A6C8D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Traces Refinement</a:t>
            </a:r>
          </a:p>
        </p:txBody>
      </p:sp>
      <p:grpSp>
        <p:nvGrpSpPr>
          <p:cNvPr id="141317" name="Group 3">
            <a:extLst>
              <a:ext uri="{FF2B5EF4-FFF2-40B4-BE49-F238E27FC236}">
                <a16:creationId xmlns:a16="http://schemas.microsoft.com/office/drawing/2014/main" id="{218B81E6-7CFD-27C8-02A6-8DF50831B67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514600"/>
            <a:ext cx="7543800" cy="2895600"/>
            <a:chOff x="720" y="1584"/>
            <a:chExt cx="4752" cy="1824"/>
          </a:xfrm>
        </p:grpSpPr>
        <p:sp>
          <p:nvSpPr>
            <p:cNvPr id="141318" name="Oval 4">
              <a:extLst>
                <a:ext uri="{FF2B5EF4-FFF2-40B4-BE49-F238E27FC236}">
                  <a16:creationId xmlns:a16="http://schemas.microsoft.com/office/drawing/2014/main" id="{F3AEFD86-184F-7C33-6520-79A2689F0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84"/>
              <a:ext cx="1901" cy="56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Specification (S)</a:t>
              </a:r>
            </a:p>
          </p:txBody>
        </p:sp>
        <p:sp>
          <p:nvSpPr>
            <p:cNvPr id="141319" name="Oval 5">
              <a:extLst>
                <a:ext uri="{FF2B5EF4-FFF2-40B4-BE49-F238E27FC236}">
                  <a16:creationId xmlns:a16="http://schemas.microsoft.com/office/drawing/2014/main" id="{73C71412-870E-48FB-74ED-47BA755CA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847"/>
              <a:ext cx="1901" cy="561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Implementation (I)</a:t>
              </a:r>
            </a:p>
          </p:txBody>
        </p:sp>
        <p:sp>
          <p:nvSpPr>
            <p:cNvPr id="141320" name="AutoShape 6">
              <a:extLst>
                <a:ext uri="{FF2B5EF4-FFF2-40B4-BE49-F238E27FC236}">
                  <a16:creationId xmlns:a16="http://schemas.microsoft.com/office/drawing/2014/main" id="{5DEA8731-51A7-4D2C-9130-383C34E29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2215"/>
              <a:ext cx="356" cy="562"/>
            </a:xfrm>
            <a:prstGeom prst="downArrow">
              <a:avLst>
                <a:gd name="adj1" fmla="val 50000"/>
                <a:gd name="adj2" fmla="val 39466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1321" name="Text Box 7">
              <a:extLst>
                <a:ext uri="{FF2B5EF4-FFF2-40B4-BE49-F238E27FC236}">
                  <a16:creationId xmlns:a16="http://schemas.microsoft.com/office/drawing/2014/main" id="{1AEC6444-6682-1DF5-1D44-0688CFBFD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2253"/>
              <a:ext cx="10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Refinement</a:t>
              </a:r>
            </a:p>
          </p:txBody>
        </p:sp>
        <p:sp>
          <p:nvSpPr>
            <p:cNvPr id="141322" name="Oval 8">
              <a:extLst>
                <a:ext uri="{FF2B5EF4-FFF2-40B4-BE49-F238E27FC236}">
                  <a16:creationId xmlns:a16="http://schemas.microsoft.com/office/drawing/2014/main" id="{50A81C41-7B1E-D32F-FE8E-8162798B7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920"/>
              <a:ext cx="1968" cy="1344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1323" name="Text Box 9">
              <a:extLst>
                <a:ext uri="{FF2B5EF4-FFF2-40B4-BE49-F238E27FC236}">
                  <a16:creationId xmlns:a16="http://schemas.microsoft.com/office/drawing/2014/main" id="{8C3DDAC5-1DB4-82DF-A64E-256C39D44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16"/>
              <a:ext cx="7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traces(S)</a:t>
              </a:r>
            </a:p>
          </p:txBody>
        </p:sp>
        <p:sp>
          <p:nvSpPr>
            <p:cNvPr id="141324" name="Oval 10">
              <a:extLst>
                <a:ext uri="{FF2B5EF4-FFF2-40B4-BE49-F238E27FC236}">
                  <a16:creationId xmlns:a16="http://schemas.microsoft.com/office/drawing/2014/main" id="{7F533EA3-5F8B-1812-F208-1E5B94208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496"/>
              <a:ext cx="1056" cy="432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41325" name="Text Box 11">
              <a:extLst>
                <a:ext uri="{FF2B5EF4-FFF2-40B4-BE49-F238E27FC236}">
                  <a16:creationId xmlns:a16="http://schemas.microsoft.com/office/drawing/2014/main" id="{47BF0EB2-A180-5EA6-0EA4-FEBB32850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92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bg2"/>
                  </a:solidFill>
                  <a:latin typeface="Times New Roman" panose="02020603050405020304" pitchFamily="18" charset="0"/>
                </a:rPr>
                <a:t>traces(I)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FDE6BADA-DD05-E83E-0AF9-4C26B985A78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D0FBA88-1AE6-F28A-EC97-4053F8114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F4016AC-8BA2-46C1-B15E-CC9DEBE6AA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990909-D2F7-0241-9FDB-D55E4A293B69}" type="slidenum">
              <a:rPr lang="en-US" altLang="en-US" sz="1000"/>
              <a:pPr/>
              <a:t>63</a:t>
            </a:fld>
            <a:endParaRPr lang="en-US" altLang="en-US" sz="1000"/>
          </a:p>
        </p:txBody>
      </p:sp>
      <p:sp>
        <p:nvSpPr>
          <p:cNvPr id="143364" name="Rectangle 2">
            <a:extLst>
              <a:ext uri="{FF2B5EF4-FFF2-40B4-BE49-F238E27FC236}">
                <a16:creationId xmlns:a16="http://schemas.microsoft.com/office/drawing/2014/main" id="{9C1EF8C2-26C8-D032-85FA-738D4DD46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4000">
                <a:effectLst/>
                <a:ea typeface="ＭＳ Ｐゴシック" panose="020B0600070205080204" pitchFamily="34" charset="-128"/>
              </a:rPr>
              <a:t>Operational Semantics for CSP</a:t>
            </a:r>
          </a:p>
        </p:txBody>
      </p:sp>
      <p:sp>
        <p:nvSpPr>
          <p:cNvPr id="143365" name="Rectangle 3">
            <a:extLst>
              <a:ext uri="{FF2B5EF4-FFF2-40B4-BE49-F238E27FC236}">
                <a16:creationId xmlns:a16="http://schemas.microsoft.com/office/drawing/2014/main" id="{EC25BEE5-1C57-37EB-D504-59A495C03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Labeled transition system (LTS)</a:t>
            </a:r>
          </a:p>
          <a:p>
            <a:pPr lvl="1"/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Nodes: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state of the process</a:t>
            </a:r>
          </a:p>
          <a:p>
            <a:pPr lvl="1"/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Directed edges: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visible events of internal actions</a:t>
            </a:r>
          </a:p>
          <a:p>
            <a:pPr lvl="1"/>
            <a:r>
              <a:rPr lang="en-US" altLang="en-US">
                <a:effectLst/>
                <a:ea typeface="ＭＳ Ｐゴシック" panose="020B0600070205080204" pitchFamily="34" charset="-128"/>
              </a:rPr>
              <a:t>Describes state transition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E24A2823-F876-2E6C-CB25-8392BB2E33C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C32FE76-AF4F-CE59-63B9-21154DFED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0B460707-C272-2EF0-6E7F-3252F59D6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7A6CFC-9830-FD4F-9FB3-F9BF1D890A59}" type="slidenum">
              <a:rPr lang="en-US" altLang="en-US" sz="1000"/>
              <a:pPr/>
              <a:t>64</a:t>
            </a:fld>
            <a:endParaRPr lang="en-US" altLang="en-US" sz="1000"/>
          </a:p>
        </p:txBody>
      </p:sp>
      <p:sp>
        <p:nvSpPr>
          <p:cNvPr id="145412" name="Rectangle 2">
            <a:extLst>
              <a:ext uri="{FF2B5EF4-FFF2-40B4-BE49-F238E27FC236}">
                <a16:creationId xmlns:a16="http://schemas.microsoft.com/office/drawing/2014/main" id="{CC04260F-B78D-E370-45D4-0F6C710DD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Specification in terms of the Characteristic Process</a:t>
            </a:r>
          </a:p>
        </p:txBody>
      </p:sp>
      <p:pic>
        <p:nvPicPr>
          <p:cNvPr id="145413" name="Picture 3">
            <a:extLst>
              <a:ext uri="{FF2B5EF4-FFF2-40B4-BE49-F238E27FC236}">
                <a16:creationId xmlns:a16="http://schemas.microsoft.com/office/drawing/2014/main" id="{809B8072-E7A1-6FD6-DE29-F4F3D2B94A6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2057400"/>
            <a:ext cx="7772400" cy="4114800"/>
          </a:xfrm>
        </p:spPr>
      </p:pic>
      <p:sp>
        <p:nvSpPr>
          <p:cNvPr id="145414" name="Text Box 4">
            <a:extLst>
              <a:ext uri="{FF2B5EF4-FFF2-40B4-BE49-F238E27FC236}">
                <a16:creationId xmlns:a16="http://schemas.microsoft.com/office/drawing/2014/main" id="{15934A77-D2D8-C2E1-C6ED-ED7547A68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641475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Specification:</a:t>
            </a:r>
          </a:p>
        </p:txBody>
      </p:sp>
      <p:sp>
        <p:nvSpPr>
          <p:cNvPr id="145415" name="Text Box 5">
            <a:extLst>
              <a:ext uri="{FF2B5EF4-FFF2-40B4-BE49-F238E27FC236}">
                <a16:creationId xmlns:a16="http://schemas.microsoft.com/office/drawing/2014/main" id="{9F9631B6-D109-0ABE-A126-06FF43020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7912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bg2"/>
                </a:solidFill>
                <a:latin typeface="Times New Roman" panose="02020603050405020304" pitchFamily="18" charset="0"/>
              </a:rPr>
              <a:t>Image from M. Morgenthal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623FF59-F248-A437-06DF-5A70AF45A9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956E69D-8499-92F4-D82D-F3B53E8D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9992127-261E-D58F-9ACA-CBA26D3F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CAAFBA-DB17-924E-BAB1-2F0D3552F571}" type="slidenum">
              <a:rPr lang="en-US" altLang="en-US" sz="1000"/>
              <a:pPr/>
              <a:t>65</a:t>
            </a:fld>
            <a:endParaRPr lang="en-US" altLang="en-US" sz="1000"/>
          </a:p>
        </p:txBody>
      </p:sp>
      <p:sp>
        <p:nvSpPr>
          <p:cNvPr id="147460" name="Rectangle 2">
            <a:extLst>
              <a:ext uri="{FF2B5EF4-FFF2-40B4-BE49-F238E27FC236}">
                <a16:creationId xmlns:a16="http://schemas.microsoft.com/office/drawing/2014/main" id="{EA2E8844-0A95-0439-C136-5AC29CBC2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An Implementation</a:t>
            </a:r>
          </a:p>
        </p:txBody>
      </p:sp>
      <p:sp>
        <p:nvSpPr>
          <p:cNvPr id="147461" name="Rectangle 3">
            <a:extLst>
              <a:ext uri="{FF2B5EF4-FFF2-40B4-BE49-F238E27FC236}">
                <a16:creationId xmlns:a16="http://schemas.microsoft.com/office/drawing/2014/main" id="{D289628B-DD85-CADE-5F8F-98D810F7C6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01038" cy="4835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Implementation: A ||| B where`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</a:rPr>
              <a:t>AB = a </a:t>
            </a:r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 b  AB  and  AC = a  c  AC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State Correspondences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AA is AB|||AC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BA is b→AB|||AC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AC is AB|||c → AC</a:t>
            </a:r>
          </a:p>
          <a:p>
            <a:pPr lvl="1"/>
            <a:r>
              <a:rPr lang="en-US" altLang="en-US" sz="2400">
                <a:effectLst/>
                <a:ea typeface="ＭＳ Ｐゴシック" panose="020B0600070205080204" pitchFamily="34" charset="-128"/>
                <a:sym typeface="Wingdings" pitchFamily="2" charset="2"/>
              </a:rPr>
              <a:t>BC is b→AB|||c→AC</a:t>
            </a:r>
            <a:endParaRPr lang="en-US" altLang="en-US">
              <a:effectLst/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400">
              <a:effectLst/>
              <a:ea typeface="ＭＳ Ｐゴシック" panose="020B0600070205080204" pitchFamily="34" charset="-128"/>
              <a:sym typeface="Wingdings" pitchFamily="2" charset="2"/>
            </a:endParaRPr>
          </a:p>
          <a:p>
            <a:pPr lvl="1"/>
            <a:endParaRPr lang="en-US" altLang="en-US" sz="2400"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147462" name="Text Box 5">
            <a:extLst>
              <a:ext uri="{FF2B5EF4-FFF2-40B4-BE49-F238E27FC236}">
                <a16:creationId xmlns:a16="http://schemas.microsoft.com/office/drawing/2014/main" id="{91100710-8346-B986-2B33-442C0B56A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9436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Image from M. Morgenthal</a:t>
            </a:r>
          </a:p>
        </p:txBody>
      </p:sp>
      <p:pic>
        <p:nvPicPr>
          <p:cNvPr id="147463" name="Picture 3">
            <a:extLst>
              <a:ext uri="{FF2B5EF4-FFF2-40B4-BE49-F238E27FC236}">
                <a16:creationId xmlns:a16="http://schemas.microsoft.com/office/drawing/2014/main" id="{9C81CC07-5E1D-9A14-FBE6-E6956C23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438400"/>
            <a:ext cx="3868738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0D60-1213-AAF0-2866-C6BB6BDC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Checking if an Implementation Refines a Specification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461EE-9ED3-D795-0C74-EC6E9AC91F4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r>
              <a:rPr lang="en-US" altLang="en-US" sz="3000">
                <a:ea typeface="ＭＳ Ｐゴシック" panose="020B0600070205080204" pitchFamily="34" charset="-128"/>
              </a:rPr>
              <a:t>Get a correspondence between the states of the specification and the state of the implementation.</a:t>
            </a:r>
          </a:p>
          <a:p>
            <a:r>
              <a:rPr lang="en-US" altLang="en-US" sz="3000">
                <a:ea typeface="ＭＳ Ｐゴシック" panose="020B0600070205080204" pitchFamily="34" charset="-128"/>
              </a:rPr>
              <a:t>Then fire each event to see where they take in the two state charts: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Implementation State Chart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Specification State Chart</a:t>
            </a:r>
          </a:p>
          <a:p>
            <a:r>
              <a:rPr lang="en-US" altLang="en-US" sz="3000">
                <a:ea typeface="ＭＳ Ｐゴシック" panose="020B0600070205080204" pitchFamily="34" charset="-128"/>
              </a:rPr>
              <a:t>If all generated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request are covered</a:t>
            </a:r>
            <a:r>
              <a:rPr lang="en-US" altLang="en-US" sz="3000">
                <a:ea typeface="ＭＳ Ｐゴシック" panose="020B0600070205080204" pitchFamily="34" charset="-128"/>
              </a:rPr>
              <a:t>, then the </a:t>
            </a:r>
            <a:r>
              <a:rPr lang="en-US" altLang="en-US" sz="3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refinement holds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B402D-5C97-17E9-C09C-09C47C637B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1805D-53E1-0520-FBA9-EA978EAF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C73D3-426C-2A14-C3D2-94BA79FB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8B03DB-629E-2E43-B6F2-C88628C9E734}" type="slidenum">
              <a:rPr lang="en-US" altLang="en-US" sz="1000"/>
              <a:pPr/>
              <a:t>66</a:t>
            </a:fld>
            <a:endParaRPr lang="en-US" altLang="en-US"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E0228596-2A65-8B9D-DD42-110BF90CFC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84518F7-78C2-E74B-B5CC-CB5EF3B4A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E1D80E6-6533-E60E-3117-D749B55A8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7FA9F7-EC04-9149-AE80-102C242ECA71}" type="slidenum">
              <a:rPr lang="en-US" altLang="en-US" sz="1000"/>
              <a:pPr/>
              <a:t>67</a:t>
            </a:fld>
            <a:endParaRPr lang="en-US" altLang="en-US" sz="1000"/>
          </a:p>
        </p:txBody>
      </p:sp>
      <p:sp>
        <p:nvSpPr>
          <p:cNvPr id="151556" name="Rectangle 2">
            <a:extLst>
              <a:ext uri="{FF2B5EF4-FFF2-40B4-BE49-F238E27FC236}">
                <a16:creationId xmlns:a16="http://schemas.microsoft.com/office/drawing/2014/main" id="{54C98DAE-CEA3-EBFB-F76F-43D0F3F19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4000">
                <a:effectLst/>
                <a:ea typeface="ＭＳ Ｐゴシック" panose="020B0600070205080204" pitchFamily="34" charset="-128"/>
              </a:rPr>
              <a:t>Traces Refinement Check</a:t>
            </a:r>
          </a:p>
        </p:txBody>
      </p:sp>
      <p:pic>
        <p:nvPicPr>
          <p:cNvPr id="151557" name="Picture 3">
            <a:extLst>
              <a:ext uri="{FF2B5EF4-FFF2-40B4-BE49-F238E27FC236}">
                <a16:creationId xmlns:a16="http://schemas.microsoft.com/office/drawing/2014/main" id="{109DEE4F-3E33-9D17-F1F4-C615C35DF102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47800"/>
            <a:ext cx="7924800" cy="4648200"/>
          </a:xfrm>
        </p:spPr>
      </p:pic>
      <p:sp>
        <p:nvSpPr>
          <p:cNvPr id="151558" name="Text Box 4">
            <a:extLst>
              <a:ext uri="{FF2B5EF4-FFF2-40B4-BE49-F238E27FC236}">
                <a16:creationId xmlns:a16="http://schemas.microsoft.com/office/drawing/2014/main" id="{9A9A2D57-D15A-55B4-CD7E-8E93A60F5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943600"/>
            <a:ext cx="297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>
                <a:solidFill>
                  <a:schemeClr val="bg2"/>
                </a:solidFill>
                <a:latin typeface="Times New Roman" panose="02020603050405020304" pitchFamily="18" charset="0"/>
              </a:rPr>
              <a:t>Image from M. Morgenthal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89F78E05-011C-2916-130C-159A18DB9CF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5617ADF-B7E5-1B3D-1ED6-F6D0D30FD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7936A80-9B9F-C7DB-20BA-E5F62E5A56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36FE1A-47F2-594E-B1FE-74E3EEC9DE2B}" type="slidenum">
              <a:rPr lang="en-US" altLang="en-US" sz="1000"/>
              <a:pPr/>
              <a:t>68</a:t>
            </a:fld>
            <a:endParaRPr lang="en-US" altLang="en-US" sz="1000"/>
          </a:p>
        </p:txBody>
      </p:sp>
      <p:sp>
        <p:nvSpPr>
          <p:cNvPr id="153604" name="Rectangle 2">
            <a:extLst>
              <a:ext uri="{FF2B5EF4-FFF2-40B4-BE49-F238E27FC236}">
                <a16:creationId xmlns:a16="http://schemas.microsoft.com/office/drawing/2014/main" id="{E8D48A87-FE98-700A-0B5F-9AE65027D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Limitations of Trace Semantics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2A2D4DB-2ED7-1470-E3F2-4F7C6CF4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Can determine what a process will not communicate, but cannot prove that a process will definitely accept some event.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chemeClr val="accent1"/>
                </a:solidFill>
                <a:effectLst/>
                <a:ea typeface="ＭＳ Ｐゴシック" panose="020B0600070205080204" pitchFamily="34" charset="-128"/>
              </a:rPr>
              <a:t>Good for safety, </a:t>
            </a:r>
            <a:r>
              <a:rPr lang="en-US" altLang="en-US" sz="2400" b="1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but not liveliness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Example: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l-GR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stop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can halt by choosing stop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P ||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Chaos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r>
              <a:rPr lang="en-US" altLang="en-US" sz="2400">
                <a:ea typeface="ＭＳ Ｐゴシック" panose="020B0600070205080204" pitchFamily="34" charset="-128"/>
                <a:cs typeface="Arial" panose="020B0604020202020204" pitchFamily="34" charset="0"/>
              </a:rPr>
              <a:t> synchronizing with the last process can stop further communication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The basic problem is the inability to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 reason in the presence of non-determinism.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Trace semantics does not distinguish between internal choice </a:t>
            </a:r>
            <a:r>
              <a:rPr lang="el-GR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</a:rPr>
              <a:t> and external choice </a:t>
            </a:r>
            <a:r>
              <a:rPr lang="en-US" altLang="en-US" sz="4000"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2A1268A2-3A2A-23EC-D546-279B3045D1B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55F8770-064C-F004-88F8-E0C7B4776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9A3C501-A5E5-484D-C851-4DF80F42AD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01BD85-36D4-F74B-BBDD-D638A0493B22}" type="slidenum">
              <a:rPr lang="en-US" altLang="en-US" sz="1000"/>
              <a:pPr/>
              <a:t>69</a:t>
            </a:fld>
            <a:endParaRPr lang="en-US" altLang="en-US" sz="1000"/>
          </a:p>
        </p:txBody>
      </p:sp>
      <p:sp>
        <p:nvSpPr>
          <p:cNvPr id="155652" name="Rectangle 2">
            <a:extLst>
              <a:ext uri="{FF2B5EF4-FFF2-40B4-BE49-F238E27FC236}">
                <a16:creationId xmlns:a16="http://schemas.microsoft.com/office/drawing/2014/main" id="{D9F9E646-980E-1098-D54F-DB8217962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Failure Semantics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9B11A987-FBC3-22F6-C92A-158930AA2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ea typeface="ＭＳ Ｐゴシック" panose="020B0600070205080204" pitchFamily="34" charset="-128"/>
              </a:rPr>
              <a:t>As a solution add </a:t>
            </a:r>
            <a:r>
              <a:rPr lang="en-US" altLang="en-US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failure 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to a trace.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ea typeface="ＭＳ Ｐゴシック" panose="020B0600070205080204" pitchFamily="34" charset="-128"/>
              </a:rPr>
              <a:t>(tr,X) where X </a:t>
            </a:r>
            <a:r>
              <a:rPr lang="en-US" altLang="en-US">
                <a:effectLst/>
                <a:ea typeface="ＭＳ Ｐゴシック" panose="020B0600070205080204" pitchFamily="34" charset="-128"/>
                <a:sym typeface="Symbol" pitchFamily="2" charset="2"/>
              </a:rPr>
              <a:t>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means that the process can </a:t>
            </a:r>
            <a:r>
              <a:rPr lang="en-US" alt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permanently refuse to process any event from X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P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 stop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contains the trace   (&lt;&gt;, </a:t>
            </a:r>
            <a:r>
              <a:rPr lang="en-US" altLang="en-US"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)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Failure annotated traces of process P are denoted by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failure(P)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There are proof rules for failure semantics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0070071-D2C7-C0C2-2163-A27E8B22F14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4045B24-958F-61EA-104D-6DFCDE8764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0253392A-8BBD-0EB5-8A87-ECEFB549B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609117-B098-2D40-87CE-F03D9A95DA5E}" type="slidenum">
              <a:rPr lang="en-US" altLang="en-US" sz="1000"/>
              <a:pPr/>
              <a:t>70</a:t>
            </a:fld>
            <a:endParaRPr lang="en-US" altLang="en-US" sz="10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4D0ABA46-E74A-370B-382E-62760D370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Making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</a:t>
            </a:r>
            <a:r>
              <a:rPr lang="el-GR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sz="6000"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 different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472DABA-A2FD-4227-6713-DC2F6C9A9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Failure semantics:</a:t>
            </a:r>
          </a:p>
          <a:p>
            <a:r>
              <a:rPr lang="en-US" altLang="en-US">
                <a:solidFill>
                  <a:srgbClr val="FFFF00"/>
                </a:solidFill>
                <a:effectLst/>
                <a:ea typeface="ＭＳ Ｐゴシック" panose="020B0600070205080204" pitchFamily="34" charset="-128"/>
              </a:rPr>
              <a:t>(&lt;&gt;,{a}), (&lt;&gt;,{b})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are traces in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</a:t>
            </a:r>
            <a:r>
              <a:rPr lang="el-GR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Π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(b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→stop), 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Symbol" pitchFamily="2" charset="2"/>
              </a:rPr>
              <a:t>but not in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(a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</a:t>
            </a:r>
            <a:r>
              <a:rPr lang="en-US" altLang="en-US" sz="4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(b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→stop)</a:t>
            </a:r>
          </a:p>
          <a:p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Defining Deadlock Freedom: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Symbol" pitchFamily="2" charset="2"/>
              </a:rPr>
              <a:t> A process is deadlock free if there is no trace 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(s,</a:t>
            </a:r>
            <a:r>
              <a:rPr lang="en-US" altLang="en-US" sz="2800">
                <a:effectLst/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√)</a:t>
            </a:r>
            <a:r>
              <a:rPr lang="en-US" altLang="en-US" sz="2800">
                <a:effectLst/>
                <a:ea typeface="ＭＳ Ｐゴシック" panose="020B0600070205080204" pitchFamily="34" charset="-128"/>
                <a:sym typeface="Symbol" pitchFamily="2" charset="2"/>
              </a:rPr>
              <a:t>failure(P) where 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is not the last symbol of 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>
            <a:extLst>
              <a:ext uri="{FF2B5EF4-FFF2-40B4-BE49-F238E27FC236}">
                <a16:creationId xmlns:a16="http://schemas.microsoft.com/office/drawing/2014/main" id="{206B7DB2-BC17-B8F0-AD8D-AC8955ED534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C110094-9848-7DD7-AC32-67F3F4C1C6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19E0198-7245-D64F-F8A1-C556F4F9E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AF1D93-248E-5B4F-B36C-2BC6588C561C}" type="slidenum">
              <a:rPr lang="en-US" altLang="en-US" sz="1000"/>
              <a:pPr/>
              <a:t>71</a:t>
            </a:fld>
            <a:endParaRPr lang="en-US" altLang="en-US" sz="100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802F76D-97C7-D380-9716-400EF72FE71E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hu-HU"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ea typeface="ＭＳ Ｐゴシック" pitchFamily="-112" charset="-128"/>
              </a:rPr>
              <a:t>Duminda Wijesekera</a:t>
            </a:r>
            <a:endParaRPr lang="en-US" sz="1000">
              <a:effectLst>
                <a:outerShdw blurRad="38100" dist="38100" dir="2700000" algn="tl">
                  <a:srgbClr val="010199"/>
                </a:outerShdw>
              </a:effectLst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62150F1-AD32-F61F-DE98-814A16634CC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t>ISA 763 Fall 2007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E272F3-4254-74A2-A552-195000F34A8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170B547-3F79-AE41-9D4D-BB94EAA5AC4C}" type="slidenum">
              <a:rPr lang="en-US" altLang="en-US" sz="1000">
                <a:effectLst>
                  <a:outerShdw blurRad="38100" dist="38100" dir="2700000" algn="tl">
                    <a:srgbClr val="010199"/>
                  </a:outerShdw>
                </a:effectLst>
              </a:rPr>
              <a:pPr algn="r" eaLnBrk="1" hangingPunct="1"/>
              <a:t>71</a:t>
            </a:fld>
            <a:endParaRPr lang="en-US" altLang="en-US" sz="1000">
              <a:effectLst>
                <a:outerShdw blurRad="38100" dist="38100" dir="2700000" algn="tl">
                  <a:srgbClr val="010199"/>
                </a:outerShdw>
              </a:effectLst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5BC2D5CC-0404-908D-7C44-E19D99113B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The producer-consumer example in failure semantics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B00904EB-904E-4EAA-301E-3F4E028E7B8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A=left?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 mid!x→A, B=mid?x</a:t>
            </a:r>
            <a:r>
              <a:rPr lang="en-US" alt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right!x</a:t>
            </a:r>
            <a:r>
              <a:rPr lang="en-US" altLang="en-US" sz="2800" i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→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B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  <a:sym typeface="Symbol" pitchFamily="2" charset="2"/>
              </a:rPr>
              <a:t>Empty buffer must accept any input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failure(B)/\ s↓right= s↓left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X∩{|left|}= </a:t>
            </a:r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</a:p>
          <a:p>
            <a:pPr lvl="1" eaLnBrk="1" hangingPunct="1"/>
            <a:r>
              <a:rPr lang="en-US" altLang="en-US" sz="1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Here </a:t>
            </a:r>
            <a:r>
              <a:rPr lang="en-US" altLang="en-US" sz="1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s↓right and s↓left are the values communicated along the left and the right channels respectively</a:t>
            </a:r>
            <a:endParaRPr lang="en-US" altLang="en-US" sz="1800">
              <a:solidFill>
                <a:srgbClr val="00FF00"/>
              </a:solidFill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Nonempty buffer cannot refuse output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(s,X)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failure(B)/\ s↓right&lt; s↓left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 </a:t>
            </a:r>
            <a:r>
              <a:rPr lang="en-US" altLang="en-US" sz="2400">
                <a:solidFill>
                  <a:srgbClr val="00FF00"/>
                </a:solidFill>
                <a:effectLst/>
                <a:latin typeface="Verdana" panose="020B0604030504040204" pitchFamily="34" charset="0"/>
                <a:ea typeface="ＭＳ Ｐゴシック" panose="020B0600070205080204" pitchFamily="34" charset="-128"/>
                <a:sym typeface="Wingdings" pitchFamily="2" charset="2"/>
              </a:rPr>
              <a:t>¬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Wingdings" pitchFamily="2" charset="2"/>
              </a:rPr>
              <a:t>({|left|}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X)</a:t>
            </a:r>
          </a:p>
        </p:txBody>
      </p:sp>
      <p:sp>
        <p:nvSpPr>
          <p:cNvPr id="159753" name="Rectangle 4">
            <a:extLst>
              <a:ext uri="{FF2B5EF4-FFF2-40B4-BE49-F238E27FC236}">
                <a16:creationId xmlns:a16="http://schemas.microsoft.com/office/drawing/2014/main" id="{132636C1-074B-9FD1-F736-F5AB79936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Left</a:t>
            </a:r>
          </a:p>
        </p:txBody>
      </p:sp>
      <p:sp>
        <p:nvSpPr>
          <p:cNvPr id="159754" name="Rectangle 5">
            <a:extLst>
              <a:ext uri="{FF2B5EF4-FFF2-40B4-BE49-F238E27FC236}">
                <a16:creationId xmlns:a16="http://schemas.microsoft.com/office/drawing/2014/main" id="{61DC42D5-5F05-F0A6-65F5-B40ADCC8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7244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Mid</a:t>
            </a:r>
          </a:p>
        </p:txBody>
      </p:sp>
      <p:sp>
        <p:nvSpPr>
          <p:cNvPr id="159755" name="Rectangle 6">
            <a:extLst>
              <a:ext uri="{FF2B5EF4-FFF2-40B4-BE49-F238E27FC236}">
                <a16:creationId xmlns:a16="http://schemas.microsoft.com/office/drawing/2014/main" id="{EBCFCFE0-9666-F4D2-02D4-252422118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006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right</a:t>
            </a:r>
          </a:p>
        </p:txBody>
      </p:sp>
      <p:sp>
        <p:nvSpPr>
          <p:cNvPr id="159756" name="Freeform 7">
            <a:extLst>
              <a:ext uri="{FF2B5EF4-FFF2-40B4-BE49-F238E27FC236}">
                <a16:creationId xmlns:a16="http://schemas.microsoft.com/office/drawing/2014/main" id="{702C7BBB-9896-698F-DB42-29FC88925533}"/>
              </a:ext>
            </a:extLst>
          </p:cNvPr>
          <p:cNvSpPr>
            <a:spLocks/>
          </p:cNvSpPr>
          <p:nvPr/>
        </p:nvSpPr>
        <p:spPr bwMode="auto">
          <a:xfrm>
            <a:off x="2209800" y="5105400"/>
            <a:ext cx="1905000" cy="1778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7" name="Rectangle 8">
            <a:extLst>
              <a:ext uri="{FF2B5EF4-FFF2-40B4-BE49-F238E27FC236}">
                <a16:creationId xmlns:a16="http://schemas.microsoft.com/office/drawing/2014/main" id="{1E525347-F16E-59B5-A9E8-0D0758624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25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X</a:t>
            </a:r>
          </a:p>
        </p:txBody>
      </p:sp>
      <p:sp>
        <p:nvSpPr>
          <p:cNvPr id="159758" name="Rectangle 9">
            <a:extLst>
              <a:ext uri="{FF2B5EF4-FFF2-40B4-BE49-F238E27FC236}">
                <a16:creationId xmlns:a16="http://schemas.microsoft.com/office/drawing/2014/main" id="{65161DA2-860A-3904-3C22-AD2CAEF08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8674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FF5050"/>
                </a:solidFill>
              </a:rPr>
              <a:t>Process A</a:t>
            </a:r>
          </a:p>
        </p:txBody>
      </p:sp>
      <p:sp>
        <p:nvSpPr>
          <p:cNvPr id="159759" name="Rectangle 10">
            <a:extLst>
              <a:ext uri="{FF2B5EF4-FFF2-40B4-BE49-F238E27FC236}">
                <a16:creationId xmlns:a16="http://schemas.microsoft.com/office/drawing/2014/main" id="{EF21BBC0-D27F-C2D0-B1DE-47D53E2EA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867400"/>
            <a:ext cx="1676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Process B</a:t>
            </a:r>
          </a:p>
        </p:txBody>
      </p:sp>
      <p:sp>
        <p:nvSpPr>
          <p:cNvPr id="159760" name="Freeform 11">
            <a:extLst>
              <a:ext uri="{FF2B5EF4-FFF2-40B4-BE49-F238E27FC236}">
                <a16:creationId xmlns:a16="http://schemas.microsoft.com/office/drawing/2014/main" id="{7D09222B-A062-ACFA-F52D-BABE67EE91C1}"/>
              </a:ext>
            </a:extLst>
          </p:cNvPr>
          <p:cNvSpPr>
            <a:spLocks/>
          </p:cNvSpPr>
          <p:nvPr/>
        </p:nvSpPr>
        <p:spPr bwMode="auto">
          <a:xfrm>
            <a:off x="5029200" y="5029200"/>
            <a:ext cx="2057400" cy="76200"/>
          </a:xfrm>
          <a:custGeom>
            <a:avLst/>
            <a:gdLst>
              <a:gd name="T0" fmla="*/ 0 w 1200"/>
              <a:gd name="T1" fmla="*/ 2147483647 h 112"/>
              <a:gd name="T2" fmla="*/ 2147483647 w 1200"/>
              <a:gd name="T3" fmla="*/ 2147483647 h 112"/>
              <a:gd name="T4" fmla="*/ 2147483647 w 1200"/>
              <a:gd name="T5" fmla="*/ 2147483647 h 112"/>
              <a:gd name="T6" fmla="*/ 2147483647 w 1200"/>
              <a:gd name="T7" fmla="*/ 2147483647 h 112"/>
              <a:gd name="T8" fmla="*/ 2147483647 w 1200"/>
              <a:gd name="T9" fmla="*/ 2147483647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112"/>
              <a:gd name="T17" fmla="*/ 1200 w 1200"/>
              <a:gd name="T18" fmla="*/ 112 h 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112">
                <a:moveTo>
                  <a:pt x="0" y="112"/>
                </a:moveTo>
                <a:cubicBezTo>
                  <a:pt x="92" y="72"/>
                  <a:pt x="184" y="32"/>
                  <a:pt x="288" y="16"/>
                </a:cubicBezTo>
                <a:cubicBezTo>
                  <a:pt x="392" y="0"/>
                  <a:pt x="504" y="8"/>
                  <a:pt x="624" y="16"/>
                </a:cubicBezTo>
                <a:cubicBezTo>
                  <a:pt x="744" y="24"/>
                  <a:pt x="912" y="48"/>
                  <a:pt x="1008" y="64"/>
                </a:cubicBezTo>
                <a:cubicBezTo>
                  <a:pt x="1104" y="80"/>
                  <a:pt x="1168" y="104"/>
                  <a:pt x="1200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1" name="Rectangle 12">
            <a:extLst>
              <a:ext uri="{FF2B5EF4-FFF2-40B4-BE49-F238E27FC236}">
                <a16:creationId xmlns:a16="http://schemas.microsoft.com/office/drawing/2014/main" id="{B2EF439C-FCBF-89DC-1227-CB6E569CA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1816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FF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9203F13-C745-90FC-774F-602FD23AF97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1250121-AF4F-CF46-4CB5-1595432EDA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F970DB2-E54E-D1E2-EE6E-0C5FA1EC36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6FB5E2-9679-A744-9483-E2C5A9B9D8A9}" type="slidenum">
              <a:rPr lang="en-US" altLang="en-US" sz="1000"/>
              <a:pPr/>
              <a:t>72</a:t>
            </a:fld>
            <a:endParaRPr lang="en-US" altLang="en-US" sz="1000"/>
          </a:p>
        </p:txBody>
      </p:sp>
      <p:sp>
        <p:nvSpPr>
          <p:cNvPr id="161796" name="Rectangle 2">
            <a:extLst>
              <a:ext uri="{FF2B5EF4-FFF2-40B4-BE49-F238E27FC236}">
                <a16:creationId xmlns:a16="http://schemas.microsoft.com/office/drawing/2014/main" id="{3E98F141-A7DB-500D-DDCB-898F513C6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Failure Refinement</a:t>
            </a:r>
          </a:p>
        </p:txBody>
      </p:sp>
      <p:sp>
        <p:nvSpPr>
          <p:cNvPr id="161797" name="Rectangle 3">
            <a:extLst>
              <a:ext uri="{FF2B5EF4-FFF2-40B4-BE49-F238E27FC236}">
                <a16:creationId xmlns:a16="http://schemas.microsoft.com/office/drawing/2014/main" id="{39494154-FE55-1B51-A9BB-14DCBB9EB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Refinement applies to failure(P) as well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That is 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Q </a:t>
            </a:r>
            <a:r>
              <a:rPr lang="en-US" altLang="en-US" sz="28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sz="2800" baseline="-250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F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 P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iff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failure(P)</a:t>
            </a:r>
            <a:r>
              <a:rPr lang="en-US" altLang="en-US" sz="2400">
                <a:effectLst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 failure(Q) and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traces(P)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 traces (Q)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Why the second clause?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ea typeface="ＭＳ Ｐゴシック" panose="020B0600070205080204" pitchFamily="34" charset="-128"/>
              </a:rPr>
              <a:t>A process can diverge in between communications due to an infinite loop in its internal actions.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Example: Let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div= (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µp.a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→p)\{a}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effectLst/>
                <a:ea typeface="ＭＳ Ｐゴシック" panose="020B0600070205080204" pitchFamily="34" charset="-128"/>
                <a:sym typeface="Symbol" pitchFamily="2" charset="2"/>
              </a:rPr>
              <a:t>Runs for ever, but not externally visible!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P </a:t>
            </a:r>
            <a:r>
              <a:rPr lang="en-US" altLang="en-US" sz="20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⊑</a:t>
            </a:r>
            <a:r>
              <a:rPr lang="en-US" altLang="en-US" sz="2000" baseline="-25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F</a:t>
            </a:r>
            <a:r>
              <a:rPr lang="en-US" altLang="en-US" sz="2000">
                <a:solidFill>
                  <a:srgbClr val="FF00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 div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So refinement doesn</a:t>
            </a:r>
            <a:r>
              <a:rPr lang="ja-JP" altLang="en-US" sz="2400">
                <a:solidFill>
                  <a:srgbClr val="FF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ea typeface="ＭＳ Ｐゴシック" panose="020B0600070205080204" pitchFamily="34" charset="-128"/>
                <a:sym typeface="Symbol" pitchFamily="2" charset="2"/>
              </a:rPr>
              <a:t>t always produce a better process!</a:t>
            </a:r>
            <a:endParaRPr lang="en-US" altLang="en-US" sz="2400">
              <a:solidFill>
                <a:srgbClr val="FFFF00"/>
              </a:solidFill>
              <a:effectLst/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3FD77E26-29CB-F353-8778-E190D9FB88B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C49A6F4-3E2A-3F11-DDDF-9A5E6327C7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B4AD6A5-D8D6-35B3-CD86-80CA4FD2AE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09DD22-331C-EE49-AA42-3A1F51AAEA5A}" type="slidenum">
              <a:rPr lang="en-US" altLang="en-US" sz="1000"/>
              <a:pPr/>
              <a:t>73</a:t>
            </a:fld>
            <a:endParaRPr lang="en-US" altLang="en-US" sz="1000"/>
          </a:p>
        </p:txBody>
      </p:sp>
      <p:sp>
        <p:nvSpPr>
          <p:cNvPr id="163844" name="Rectangle 2">
            <a:extLst>
              <a:ext uri="{FF2B5EF4-FFF2-40B4-BE49-F238E27FC236}">
                <a16:creationId xmlns:a16="http://schemas.microsoft.com/office/drawing/2014/main" id="{8D73EA4E-7780-6EC1-87ED-02CD188A2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Divergence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6BDD3735-289B-8B6F-466B-0BF098EDE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106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CSP does not care about processes that diverge!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That is, divergence(P) are the diverging traces of the process P. They satisfy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divergence(P)/\ 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Lt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S*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 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</a:t>
            </a: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						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Lt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 divergence(P)	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traces</a:t>
            </a:r>
            <a:r>
              <a:rPr lang="en-US" altLang="en-US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┴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(P)=trace(P) U divergance(P)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failure</a:t>
            </a:r>
            <a:r>
              <a:rPr lang="en-US" altLang="en-US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┴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(P)=failure(P) U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			{(s,X): s</a:t>
            </a:r>
            <a:r>
              <a:rPr lang="en-US" altLang="en-US" sz="2800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Symbol" pitchFamily="2" charset="2"/>
              </a:rPr>
              <a:t>divergance(P) /\ X 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ymbol" pitchFamily="2" charset="2"/>
                <a:ea typeface="ＭＳ Ｐゴシック" panose="020B0600070205080204" pitchFamily="34" charset="-128"/>
              </a:rPr>
              <a:t>S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√}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a typeface="ＭＳ Ｐゴシック" panose="020B0600070205080204" pitchFamily="34" charset="-128"/>
                <a:cs typeface="Arial" panose="020B0604020202020204" pitchFamily="34" charset="0"/>
                <a:sym typeface="Symbol" pitchFamily="2" charset="2"/>
              </a:rPr>
              <a:t>Divergence refinement can be defined as before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3613B67E-9097-2FBE-7F6C-BC6114E25F8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61E0E5C-5919-3F7F-2E7D-2B1A665F6D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A562CE3-E3CF-F352-F082-B65CDBB58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7354EA9-31E5-B14F-84E5-147AEDE33E68}" type="slidenum">
              <a:rPr lang="en-US" altLang="en-US" sz="1000"/>
              <a:pPr/>
              <a:t>74</a:t>
            </a:fld>
            <a:endParaRPr lang="en-US" altLang="en-US" sz="1000"/>
          </a:p>
        </p:txBody>
      </p:sp>
      <p:sp>
        <p:nvSpPr>
          <p:cNvPr id="165892" name="Rectangle 2">
            <a:extLst>
              <a:ext uri="{FF2B5EF4-FFF2-40B4-BE49-F238E27FC236}">
                <a16:creationId xmlns:a16="http://schemas.microsoft.com/office/drawing/2014/main" id="{0EDE2D2E-BB5C-74E2-DFA5-D98EFE896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Adding time to CSP</a:t>
            </a:r>
          </a:p>
        </p:txBody>
      </p:sp>
      <p:sp>
        <p:nvSpPr>
          <p:cNvPr id="165893" name="Rectangle 3">
            <a:extLst>
              <a:ext uri="{FF2B5EF4-FFF2-40B4-BE49-F238E27FC236}">
                <a16:creationId xmlns:a16="http://schemas.microsoft.com/office/drawing/2014/main" id="{1999C1E0-F25C-E2D3-D55D-65172F01C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Two approaches to adding time to CSP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Timed CSP: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attaches a non-negative real number to every event in the trace. 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Records </a:t>
            </a:r>
            <a:r>
              <a:rPr lang="en-US" altLang="en-US" i="1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exactly</a:t>
            </a:r>
            <a:r>
              <a:rPr lang="en-US" altLang="en-US">
                <a:effectLst/>
                <a:ea typeface="ＭＳ Ｐゴシック" panose="020B0600070205080204" pitchFamily="34" charset="-128"/>
              </a:rPr>
              <a:t> when an event occurs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Complicates the theory</a:t>
            </a:r>
          </a:p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Difficult to build automated tools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5570DA74-A0DB-1656-D99F-BFFDC8E9013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E53B22E-77B5-CDFA-1B30-528C14CC86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32C9619-2C27-EBDB-7716-1672680737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F4787D1-BD7C-6D4A-8C5A-B05F71C06C6C}" type="slidenum">
              <a:rPr lang="en-US" altLang="en-US" sz="1000"/>
              <a:pPr/>
              <a:t>75</a:t>
            </a:fld>
            <a:endParaRPr lang="en-US" altLang="en-US" sz="1000"/>
          </a:p>
        </p:txBody>
      </p:sp>
      <p:sp>
        <p:nvSpPr>
          <p:cNvPr id="167940" name="Rectangle 2">
            <a:extLst>
              <a:ext uri="{FF2B5EF4-FFF2-40B4-BE49-F238E27FC236}">
                <a16:creationId xmlns:a16="http://schemas.microsoft.com/office/drawing/2014/main" id="{469B97B7-8DA7-0D88-7526-2F4679B47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A Simpler Approach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88E4822B-3558-B7FD-1963-FEE2C003A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Add an extra event 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tock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to the event set </a:t>
            </a:r>
            <a:r>
              <a:rPr lang="en-US" altLang="en-US" sz="28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∑</a:t>
            </a:r>
            <a:endParaRPr lang="en-US" altLang="en-US" sz="2800">
              <a:effectLst/>
              <a:latin typeface="Symbol" pitchFamily="2" charset="2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Assume </a:t>
            </a:r>
            <a:r>
              <a:rPr lang="en-US" altLang="en-US" sz="2800">
                <a:solidFill>
                  <a:srgbClr val="FF0000"/>
                </a:solidFill>
                <a:effectLst/>
                <a:ea typeface="ＭＳ Ｐゴシック" panose="020B0600070205080204" pitchFamily="34" charset="-128"/>
              </a:rPr>
              <a:t>tock</a:t>
            </a:r>
            <a:r>
              <a:rPr lang="en-US" altLang="en-US" sz="2800">
                <a:effectLst/>
                <a:ea typeface="ＭＳ Ｐゴシック" panose="020B0600070205080204" pitchFamily="34" charset="-128"/>
              </a:rPr>
              <a:t> happens </a:t>
            </a:r>
            <a:r>
              <a:rPr lang="en-US" altLang="en-US" sz="28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at regular intervals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Use tock to demarcate events to fall in between advances of time.</a:t>
            </a:r>
          </a:p>
          <a:p>
            <a:r>
              <a:rPr lang="en-US" altLang="en-US" sz="2800">
                <a:effectLst/>
                <a:ea typeface="ＭＳ Ｐゴシック" panose="020B0600070205080204" pitchFamily="34" charset="-128"/>
              </a:rPr>
              <a:t>Example: 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T1= a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→tock →T1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occurs during every time unit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T2=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→tock →T2)</a:t>
            </a:r>
            <a:r>
              <a:rPr lang="en-US" altLang="en-US" sz="24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40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4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cs typeface="Arial" panose="020B0604020202020204" pitchFamily="34" charset="0"/>
              </a:rPr>
              <a:t>(tock</a:t>
            </a:r>
            <a:r>
              <a:rPr lang="en-US" altLang="en-US" sz="24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→T2) </a:t>
            </a:r>
          </a:p>
          <a:p>
            <a:pPr lvl="2"/>
            <a:r>
              <a:rPr lang="en-US" altLang="en-US" sz="2000">
                <a:solidFill>
                  <a:srgbClr val="00FF00"/>
                </a:solidFill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2000">
                <a:effectLst/>
                <a:ea typeface="ＭＳ Ｐゴシック" panose="020B0600070205080204" pitchFamily="34" charset="-128"/>
                <a:cs typeface="Arial" panose="020B0604020202020204" pitchFamily="34" charset="0"/>
              </a:rPr>
              <a:t>may or may not occur in every time unit</a:t>
            </a:r>
            <a:endParaRPr lang="en-US" altLang="en-US" sz="2000">
              <a:solidFill>
                <a:srgbClr val="00FF00"/>
              </a:solidFill>
              <a:effectLst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F88D609A-476F-B4BE-799F-6E2270713E3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9D08353-60BE-25F3-2480-4FC4B237A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da-DK"/>
              <a:t>ISA 763 Fall 2012</a:t>
            </a:r>
            <a:endParaRPr lang="en-U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FC25D46-F454-586A-F66A-14DC29D811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625D0F-CD6E-C640-8B02-7B9FE3DCDDB3}" type="slidenum">
              <a:rPr lang="en-US" altLang="en-US" sz="1000"/>
              <a:pPr/>
              <a:t>76</a:t>
            </a:fld>
            <a:endParaRPr lang="en-US" altLang="en-US" sz="1000"/>
          </a:p>
        </p:txBody>
      </p:sp>
      <p:sp>
        <p:nvSpPr>
          <p:cNvPr id="169988" name="Rectangle 2">
            <a:extLst>
              <a:ext uri="{FF2B5EF4-FFF2-40B4-BE49-F238E27FC236}">
                <a16:creationId xmlns:a16="http://schemas.microsoft.com/office/drawing/2014/main" id="{432657BB-AF55-48FC-CF85-06B16CD5C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  <a:ea typeface="ＭＳ Ｐゴシック" panose="020B0600070205080204" pitchFamily="34" charset="-128"/>
              </a:rPr>
              <a:t>Example: timed buffer process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D9C8339B-BD1E-15AE-F5A8-1F2C5BF85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-112" charset="2"/>
              <a:buChar char="l"/>
              <a:defRPr/>
            </a:pPr>
            <a:r>
              <a:rPr lang="en-US" dirty="0" err="1">
                <a:solidFill>
                  <a:srgbClr val="00FF00"/>
                </a:solidFill>
                <a:effectLst/>
              </a:rPr>
              <a:t>Tcopy</a:t>
            </a:r>
            <a:r>
              <a:rPr lang="en-US" dirty="0">
                <a:solidFill>
                  <a:srgbClr val="00FF00"/>
                </a:solidFill>
                <a:effectLst/>
              </a:rPr>
              <a:t>=</a:t>
            </a:r>
            <a:r>
              <a:rPr lang="en-US" dirty="0" err="1">
                <a:solidFill>
                  <a:srgbClr val="00FF00"/>
                </a:solidFill>
                <a:effectLst/>
              </a:rPr>
              <a:t>left?x</a:t>
            </a:r>
            <a:r>
              <a:rPr lang="en-US" dirty="0" err="1">
                <a:solidFill>
                  <a:srgbClr val="00FF00"/>
                </a:solidFill>
                <a:effectLst/>
                <a:cs typeface="Arial" charset="0"/>
              </a:rPr>
              <a:t>→tock→right!x→tock→Tcopy</a:t>
            </a:r>
            <a:endParaRPr lang="en-US" dirty="0">
              <a:solidFill>
                <a:srgbClr val="00FF00"/>
              </a:solidFill>
              <a:effectLst/>
              <a:cs typeface="Arial" charset="0"/>
            </a:endParaRPr>
          </a:p>
          <a:p>
            <a:pPr>
              <a:buFont typeface="Wingdings" pitchFamily="-112" charset="2"/>
              <a:buNone/>
              <a:defRPr/>
            </a:pPr>
            <a:r>
              <a:rPr lang="en-US" dirty="0">
                <a:solidFill>
                  <a:srgbClr val="00FF00"/>
                </a:solidFill>
                <a:effectLst/>
                <a:cs typeface="Arial" charset="0"/>
              </a:rPr>
              <a:t>			 </a:t>
            </a:r>
            <a:r>
              <a:rPr lang="en-US" sz="48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Arial" charset="0"/>
              </a:rPr>
              <a:t>□ </a:t>
            </a:r>
            <a:r>
              <a:rPr lang="en-US" dirty="0">
                <a:solidFill>
                  <a:srgbClr val="00FF00"/>
                </a:solidFill>
                <a:effectLst/>
                <a:cs typeface="Arial" charset="0"/>
              </a:rPr>
              <a:t>(</a:t>
            </a:r>
            <a:r>
              <a:rPr lang="en-US" dirty="0" err="1">
                <a:solidFill>
                  <a:srgbClr val="00FF00"/>
                </a:solidFill>
                <a:effectLst/>
                <a:cs typeface="Arial" charset="0"/>
              </a:rPr>
              <a:t>tock→Tcopy</a:t>
            </a:r>
            <a:r>
              <a:rPr lang="en-US" dirty="0">
                <a:solidFill>
                  <a:srgbClr val="00FF00"/>
                </a:solidFill>
                <a:effectLst/>
                <a:cs typeface="Arial" charset="0"/>
              </a:rPr>
              <a:t>) </a:t>
            </a:r>
          </a:p>
          <a:p>
            <a:pPr>
              <a:buFont typeface="Wingdings" pitchFamily="-112" charset="2"/>
              <a:buChar char="l"/>
              <a:defRPr/>
            </a:pPr>
            <a:endParaRPr lang="en-US" dirty="0">
              <a:effectLst/>
              <a:cs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4702</TotalTime>
  <Words>6851</Words>
  <Application>Microsoft Macintosh PowerPoint</Application>
  <PresentationFormat>On-screen Show (4:3)</PresentationFormat>
  <Paragraphs>954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Arial Unicode MS</vt:lpstr>
      <vt:lpstr>MS Gothic</vt:lpstr>
      <vt:lpstr>Arial</vt:lpstr>
      <vt:lpstr>Blackadder ITC</vt:lpstr>
      <vt:lpstr>StarSymbol</vt:lpstr>
      <vt:lpstr>Symbol</vt:lpstr>
      <vt:lpstr>Times New Roman</vt:lpstr>
      <vt:lpstr>Verdana</vt:lpstr>
      <vt:lpstr>Wingdings</vt:lpstr>
      <vt:lpstr>Orbit</vt:lpstr>
      <vt:lpstr>Communicating Sequential Processes (CSP)</vt:lpstr>
      <vt:lpstr>Many References</vt:lpstr>
      <vt:lpstr>CSP Objectives</vt:lpstr>
      <vt:lpstr>CSP Components</vt:lpstr>
      <vt:lpstr>The Message Passing Paradigm used in CSP</vt:lpstr>
      <vt:lpstr>Messages</vt:lpstr>
      <vt:lpstr>Communication</vt:lpstr>
      <vt:lpstr>Program Equivalence</vt:lpstr>
      <vt:lpstr>Communication</vt:lpstr>
      <vt:lpstr>Building Basic Processes</vt:lpstr>
      <vt:lpstr>Building Recursive Processes</vt:lpstr>
      <vt:lpstr>Parametric Processes</vt:lpstr>
      <vt:lpstr>Compound Events</vt:lpstr>
      <vt:lpstr>The Binary Choice Operator</vt:lpstr>
      <vt:lpstr>Stop and process equivalence</vt:lpstr>
      <vt:lpstr>The Choice Operator - details</vt:lpstr>
      <vt:lpstr>Non-determinism</vt:lpstr>
      <vt:lpstr>Non-Deterministic Choice</vt:lpstr>
      <vt:lpstr>Non-Deterministic Choice</vt:lpstr>
      <vt:lpstr>Lockstep Parallel Operator ||</vt:lpstr>
      <vt:lpstr>Interface parallel operator ||X</vt:lpstr>
      <vt:lpstr>An Example</vt:lpstr>
      <vt:lpstr>Synchronizing Parallel Construct</vt:lpstr>
      <vt:lpstr>Additional operators</vt:lpstr>
      <vt:lpstr>Hiding</vt:lpstr>
      <vt:lpstr>Hiding Example</vt:lpstr>
      <vt:lpstr>Renaming</vt:lpstr>
      <vt:lpstr>Renaming Example</vt:lpstr>
      <vt:lpstr>Process Behavior - informal</vt:lpstr>
      <vt:lpstr>Some CSP Operators</vt:lpstr>
      <vt:lpstr>Trace Semantics for CSP</vt:lpstr>
      <vt:lpstr>CSP Trace Semantics - 1</vt:lpstr>
      <vt:lpstr>CSP Trace Semantics - 2</vt:lpstr>
      <vt:lpstr>CSP Trace Semantics - 3</vt:lpstr>
      <vt:lpstr>Recursion in CSP</vt:lpstr>
      <vt:lpstr>Well-formed recursive definitions</vt:lpstr>
      <vt:lpstr>Well-formed recursive definitions</vt:lpstr>
      <vt:lpstr>Traces semantics for recursion</vt:lpstr>
      <vt:lpstr>The definition</vt:lpstr>
      <vt:lpstr>Trace Properties</vt:lpstr>
      <vt:lpstr>Example Trace Properties -1</vt:lpstr>
      <vt:lpstr>Example Trace Properties -2</vt:lpstr>
      <vt:lpstr>Trace Operations</vt:lpstr>
      <vt:lpstr>Trace Operations -  2</vt:lpstr>
      <vt:lpstr>Specifying Trace Properties</vt:lpstr>
      <vt:lpstr>Properties of P sat S(tr)</vt:lpstr>
      <vt:lpstr>Nature of Compositional Proofs</vt:lpstr>
      <vt:lpstr>Proof Rules for P sat T(Tr)</vt:lpstr>
      <vt:lpstr>Proof Rules for P sat T(Tr) -2</vt:lpstr>
      <vt:lpstr>Proof Rules for P sat T(Tr) -3</vt:lpstr>
      <vt:lpstr>Proof Rules for P sat T(Tr) -4</vt:lpstr>
      <vt:lpstr>An Example Proof</vt:lpstr>
      <vt:lpstr>An Example Proof -1</vt:lpstr>
      <vt:lpstr>Trace Refinement</vt:lpstr>
      <vt:lpstr>Trace Refinement</vt:lpstr>
      <vt:lpstr>Properties of Refinements</vt:lpstr>
      <vt:lpstr>Specifications and Implementations</vt:lpstr>
      <vt:lpstr>Three Sample Specifications</vt:lpstr>
      <vt:lpstr>Example1: A Trace  Property and its Characteristic Processes</vt:lpstr>
      <vt:lpstr>Example 2: A Trace Property and its Characteristic Process</vt:lpstr>
      <vt:lpstr>Example 3: A Trace Property and its Characteristic Process</vt:lpstr>
      <vt:lpstr>Traces Refinement</vt:lpstr>
      <vt:lpstr>Operational Semantics for CSP</vt:lpstr>
      <vt:lpstr>A Specification in terms of the Characteristic Process</vt:lpstr>
      <vt:lpstr>An Implementation</vt:lpstr>
      <vt:lpstr>Checking if an Implementation Refines a Specification Process</vt:lpstr>
      <vt:lpstr>Traces Refinement Check</vt:lpstr>
      <vt:lpstr>Limitations of Trace Semantics</vt:lpstr>
      <vt:lpstr>Failure Semantics</vt:lpstr>
      <vt:lpstr>Making Π and □ different</vt:lpstr>
      <vt:lpstr>The producer-consumer example in failure semantics</vt:lpstr>
      <vt:lpstr>Failure Refinement</vt:lpstr>
      <vt:lpstr>Divergence</vt:lpstr>
      <vt:lpstr>Adding time to CSP</vt:lpstr>
      <vt:lpstr>A Simpler Approach</vt:lpstr>
      <vt:lpstr>Example: timed buffer process</vt:lpstr>
    </vt:vector>
  </TitlesOfParts>
  <Company>ELTE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</dc:title>
  <dc:subject/>
  <dc:creator>Farkas János</dc:creator>
  <cp:lastModifiedBy>Duminda Wijesekera</cp:lastModifiedBy>
  <cp:revision>614</cp:revision>
  <dcterms:created xsi:type="dcterms:W3CDTF">2009-10-20T21:40:05Z</dcterms:created>
  <dcterms:modified xsi:type="dcterms:W3CDTF">2026-02-12T23:54:28Z</dcterms:modified>
</cp:coreProperties>
</file>