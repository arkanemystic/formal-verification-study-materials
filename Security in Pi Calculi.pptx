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315" r:id="rId2"/>
    <p:sldId id="356" r:id="rId3"/>
    <p:sldId id="524" r:id="rId4"/>
    <p:sldId id="525" r:id="rId5"/>
    <p:sldId id="558" r:id="rId6"/>
    <p:sldId id="559" r:id="rId7"/>
    <p:sldId id="560" r:id="rId8"/>
    <p:sldId id="561" r:id="rId9"/>
    <p:sldId id="562" r:id="rId10"/>
    <p:sldId id="563" r:id="rId11"/>
    <p:sldId id="553" r:id="rId12"/>
    <p:sldId id="583" r:id="rId13"/>
    <p:sldId id="564" r:id="rId14"/>
    <p:sldId id="565" r:id="rId15"/>
    <p:sldId id="566" r:id="rId16"/>
    <p:sldId id="567" r:id="rId17"/>
    <p:sldId id="568" r:id="rId18"/>
    <p:sldId id="569" r:id="rId19"/>
    <p:sldId id="580" r:id="rId20"/>
    <p:sldId id="581" r:id="rId21"/>
    <p:sldId id="575" r:id="rId22"/>
    <p:sldId id="576" r:id="rId23"/>
    <p:sldId id="577" r:id="rId24"/>
    <p:sldId id="578" r:id="rId25"/>
    <p:sldId id="570" r:id="rId26"/>
    <p:sldId id="579" r:id="rId27"/>
    <p:sldId id="527" r:id="rId28"/>
    <p:sldId id="582" r:id="rId29"/>
    <p:sldId id="536" r:id="rId30"/>
    <p:sldId id="584" r:id="rId31"/>
  </p:sldIdLst>
  <p:sldSz cx="9144000" cy="6858000" type="screen4x3"/>
  <p:notesSz cx="6985000" cy="9283700"/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Clr>
        <a:schemeClr val="accent2"/>
      </a:buClr>
      <a:buChar char="•"/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Clr>
        <a:schemeClr val="accent2"/>
      </a:buClr>
      <a:buChar char="•"/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Clr>
        <a:schemeClr val="accent2"/>
      </a:buClr>
      <a:buChar char="•"/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Clr>
        <a:schemeClr val="accent2"/>
      </a:buClr>
      <a:buChar char="•"/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Clr>
        <a:schemeClr val="accent2"/>
      </a:buClr>
      <a:buChar char="•"/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2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2">
          <p15:clr>
            <a:srgbClr val="A4A3A4"/>
          </p15:clr>
        </p15:guide>
        <p15:guide id="2" pos="219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15659" autoAdjust="0"/>
    <p:restoredTop sz="99676" autoAdjust="0"/>
  </p:normalViewPr>
  <p:slideViewPr>
    <p:cSldViewPr snapToObjects="1">
      <p:cViewPr>
        <p:scale>
          <a:sx n="75" d="100"/>
          <a:sy n="75" d="100"/>
        </p:scale>
        <p:origin x="-720" y="-46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-1914" y="-96"/>
      </p:cViewPr>
      <p:guideLst>
        <p:guide orient="horz" pos="2922"/>
        <p:guide pos="219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6881FE7-D7FF-2224-9E05-0A7EF3D819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t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59553EF-496C-F5CC-BBDD-8C9B8DB394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9225" y="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t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13D12C2B-F99D-B74C-79B7-5541337589F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b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20FA0A0-BD50-97AE-CC7F-A3967C38A11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9225" y="882015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b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20D1E16B-9041-1F4F-ADC4-AAEEFCCCD73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F4042F4-3D91-3828-5B22-A01A1DD3C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t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EDD1C2D-1653-BE71-90FB-752BE3A706A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9225" y="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t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34AE2D47-106C-7C15-3BC9-5F94D2E7541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3163" y="696913"/>
            <a:ext cx="4641850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0DE193B9-BBFF-8C7D-8055-0CA69FF1E6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4408488"/>
            <a:ext cx="5124450" cy="417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28ADB85B-F20C-78FD-F710-D5D15A9D58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b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2D1B5A16-D6A7-E4B7-CE93-9859F11B8C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9225" y="8820150"/>
            <a:ext cx="30257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29" tIns="46466" rIns="92929" bIns="46466" numCol="1" anchor="b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494BB1EE-D248-EF45-996A-8A16A4B1D9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F4D2BD7-D547-2128-1F66-9F56528B89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219200"/>
            <a:ext cx="7721600" cy="1600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5DAA73-617F-DB18-0F31-52F7339D50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19200" y="363855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D9E7BBA-633B-0C49-9531-A108A7EB7F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ECFF35F-D5EE-7C4E-49A8-DCB3BA40B1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C8A028E-CF12-5B73-CE4E-C9366895F4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5977C999-99CF-6B43-9246-EB05BD349FF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83" name="AutoShape 11">
            <a:extLst>
              <a:ext uri="{FF2B5EF4-FFF2-40B4-BE49-F238E27FC236}">
                <a16:creationId xmlns:a16="http://schemas.microsoft.com/office/drawing/2014/main" id="{75BEA0C6-D330-1D47-12CF-D9339F3E4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71800"/>
            <a:ext cx="7620000" cy="762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7D05-4282-5C7C-037B-1942D31B3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AB2F6-9EBC-9343-5887-4D35C800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20A6-A486-4506-3EA1-20D8D505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BDBA-4F7A-0421-88B7-5FBEA5E9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D9001-0FC1-2802-ACFE-D5AFC7C1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C3A46-9AE2-D444-A2AF-3F4A07E210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627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3927-8DE7-C757-D209-D1C19BE1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9D899-E903-E94E-7B5E-DA9B47280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6CCF-3071-1BB6-11D2-6FBEDD7C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CAB3-D729-196F-326A-6776375B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77606-1D57-63AD-7EF6-97AF3E13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EDE58-99E2-1843-824A-3523B92265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54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4FDD-1996-97F3-BD0F-7CDAD4A1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D05C-33C7-27AB-9410-38965A9C1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132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23217-BA19-69F0-8B5B-30B916CE8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2800" y="1600200"/>
            <a:ext cx="4013200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46EE3-8443-05FD-4A5A-E9BF42DC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F999-CEB2-17BA-A28C-C4679CD8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6AE40-2BBA-EEED-CBBC-66A367EC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F220C-30BC-1440-823D-479DE91F74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41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56B9-8867-0205-6570-3BC5FF48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7416-CC5E-6F3F-F0A7-C10E0E36B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0D2BB-35C1-BE0A-F420-7C80CC81D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01C98-225F-326B-6B87-DAD5529DA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3B6BA-C2F9-4D50-18A4-1177BEB8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A2E79-01F6-C2AD-39AE-FF5770D8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B527E-F192-2579-B26D-6B5B2F09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32F74-957D-5E9B-4B4C-EDFB30D6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E5F74A-79EA-7645-93AD-9EA10AB31D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91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F63D-DE62-AE91-77E0-85DB4823E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73031-1287-555E-B2EF-D1457D5E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3CE4A-F5B2-3ABC-F3D0-B4E49988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CF0EC-1FD0-E482-75BA-6CA29BC0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0CE8D-0125-9B43-9DB5-2FA1BFB617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71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297D7-0225-DE23-D3A1-93C48F25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DB1BF-D5A4-EF39-7C5B-497D4B36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F72C-09F6-5330-E8BB-BF43FF11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3D2A16-3A89-054D-8CC4-E603158792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1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DFD7B-7AB6-5EF9-39A5-BF2560FB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D086-617E-E983-8144-CB47B4342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0545B-7B3E-28CF-1E89-2C5AA97EA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16BC3-FAEC-48E0-066C-5EE9768E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0F11D-D065-BEFF-D0C0-2824B350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85203-41E0-C845-F6BB-C7442259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B28BF-109D-D348-9158-2D427EF4C5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04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5D12-604F-6041-2203-5EAC8BFB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43D5D-C560-793E-9732-33F873984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0B1B6-C451-F540-A008-1892DF06F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5090A-DF57-2B9D-CF2B-1B6244FB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7FDD3-C373-93CA-99DF-9D40D8D6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81E68-ED92-B3D4-3592-FD876988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FF1CC-6C7D-3C45-B10E-9CFF755826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56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850B-5180-EA25-0041-DC54B229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DBD21-2FC9-D69C-B2DA-897A5F3B9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B5A4D-948E-F818-7DA2-5B779E0C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77D0D-BE16-13AE-C019-A3307745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57836-228A-79FA-945E-B975735E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702F7-8029-CE43-85D6-632B2E28FE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44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D9B6B-B02A-FD38-572C-4673C6E49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EDEA6-4067-86CB-7E96-12C6D7C7C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0012-F8DC-D989-5DB2-872B1CF8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A1CCC-7251-33F5-490E-67A7C867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B0D5-CB83-5A61-E5FE-C2EFE096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99246-3241-B042-8AB3-2C18EC7AFE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44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C44C82-5C5F-FF57-E949-A1DB32E2F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40CDAD2-94F7-41AE-E353-244473121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1788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210FCAA-8C18-5322-1454-4063B9B043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buClrTx/>
              <a:buFontTx/>
              <a:buNone/>
              <a:defRPr sz="14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D26B0F4-7A8C-A115-A909-4AFE756B0C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buClrTx/>
              <a:buFontTx/>
              <a:buNone/>
              <a:defRPr sz="14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D622F63-E08E-0E38-6DD8-DF1F44E990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buClrTx/>
              <a:buFontTx/>
              <a:buNone/>
              <a:defRPr sz="1400">
                <a:latin typeface="Arial" panose="020B0604020202020204" pitchFamily="34" charset="0"/>
              </a:defRPr>
            </a:lvl1pPr>
          </a:lstStyle>
          <a:p>
            <a:fld id="{9732DCB4-6170-3047-A968-C9CDA331DC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62" name="AutoShape 14">
            <a:extLst>
              <a:ext uri="{FF2B5EF4-FFF2-40B4-BE49-F238E27FC236}">
                <a16:creationId xmlns:a16="http://schemas.microsoft.com/office/drawing/2014/main" id="{7C7380D7-E12A-CD7A-7019-B1FA1D8D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95400"/>
            <a:ext cx="7620000" cy="76200"/>
          </a:xfrm>
          <a:prstGeom prst="roundRect">
            <a:avLst>
              <a:gd name="adj" fmla="val 16667"/>
            </a:avLst>
          </a:pr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u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7348DC41-01EB-B09F-D445-498F82C41E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en-US"/>
              <a:t>Security in Process Calculi </a:t>
            </a:r>
          </a:p>
        </p:txBody>
      </p:sp>
      <p:sp>
        <p:nvSpPr>
          <p:cNvPr id="151556" name="Text Box 4">
            <a:extLst>
              <a:ext uri="{FF2B5EF4-FFF2-40B4-BE49-F238E27FC236}">
                <a16:creationId xmlns:a16="http://schemas.microsoft.com/office/drawing/2014/main" id="{0C5412F6-BD23-EEA5-F267-9E84C9720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CS 259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1562" name="Rectangle 10">
            <a:extLst>
              <a:ext uri="{FF2B5EF4-FFF2-40B4-BE49-F238E27FC236}">
                <a16:creationId xmlns:a16="http://schemas.microsoft.com/office/drawing/2014/main" id="{071CE6ED-2E16-96ED-FC81-54E7292B9E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/>
              <a:t>Vitaly Shmatikov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>
            <a:extLst>
              <a:ext uri="{FF2B5EF4-FFF2-40B4-BE49-F238E27FC236}">
                <a16:creationId xmlns:a16="http://schemas.microsoft.com/office/drawing/2014/main" id="{32F5CA49-1874-7F1A-DFBE-42E07742A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625667" name="Rectangle 3">
            <a:extLst>
              <a:ext uri="{FF2B5EF4-FFF2-40B4-BE49-F238E27FC236}">
                <a16:creationId xmlns:a16="http://schemas.microsoft.com/office/drawing/2014/main" id="{5419AA2C-CBAC-C430-472E-0EC204A51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01000" cy="4953000"/>
          </a:xfrm>
        </p:spPr>
        <p:txBody>
          <a:bodyPr/>
          <a:lstStyle/>
          <a:p>
            <a:r>
              <a:rPr lang="en-US" altLang="en-US"/>
              <a:t>Pi calculus</a:t>
            </a:r>
          </a:p>
          <a:p>
            <a:pPr lvl="1"/>
            <a:r>
              <a:rPr lang="en-US" altLang="en-US"/>
              <a:t>Core language for parallel programming</a:t>
            </a:r>
          </a:p>
          <a:p>
            <a:pPr lvl="1"/>
            <a:r>
              <a:rPr lang="en-US" altLang="en-US"/>
              <a:t>Modeling security via name scoping</a:t>
            </a:r>
          </a:p>
          <a:p>
            <a:r>
              <a:rPr lang="en-US" altLang="en-US"/>
              <a:t>Applied pi calculus</a:t>
            </a:r>
          </a:p>
          <a:p>
            <a:pPr lvl="1"/>
            <a:r>
              <a:rPr lang="en-US" altLang="en-US"/>
              <a:t>Modeling cryptographic primitives with functions and equational theories</a:t>
            </a:r>
          </a:p>
          <a:p>
            <a:pPr lvl="1"/>
            <a:r>
              <a:rPr lang="en-US" altLang="en-US"/>
              <a:t>Equivalence-based notions of security</a:t>
            </a:r>
          </a:p>
          <a:p>
            <a:pPr lvl="1"/>
            <a:r>
              <a:rPr lang="en-US" altLang="en-US"/>
              <a:t>A little bit of operational semantics</a:t>
            </a:r>
          </a:p>
          <a:p>
            <a:pPr lvl="1"/>
            <a:r>
              <a:rPr lang="en-US" altLang="en-US"/>
              <a:t>Security as testing equivalence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>
            <a:extLst>
              <a:ext uri="{FF2B5EF4-FFF2-40B4-BE49-F238E27FC236}">
                <a16:creationId xmlns:a16="http://schemas.microsoft.com/office/drawing/2014/main" id="{E1B5EA1C-5041-B5DC-49B4-AE736A8C3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 Calculus</a:t>
            </a:r>
          </a:p>
        </p:txBody>
      </p:sp>
      <p:sp>
        <p:nvSpPr>
          <p:cNvPr id="809990" name="Rectangle 6">
            <a:extLst>
              <a:ext uri="{FF2B5EF4-FFF2-40B4-BE49-F238E27FC236}">
                <a16:creationId xmlns:a16="http://schemas.microsoft.com/office/drawing/2014/main" id="{D6863FB2-F238-EA07-4169-88AE21AD9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257800"/>
          </a:xfrm>
        </p:spPr>
        <p:txBody>
          <a:bodyPr/>
          <a:lstStyle/>
          <a:p>
            <a:r>
              <a:rPr lang="en-US" altLang="en-US"/>
              <a:t>Fundamental language for concurrent systems</a:t>
            </a:r>
          </a:p>
          <a:p>
            <a:pPr lvl="1"/>
            <a:r>
              <a:rPr lang="en-US" altLang="en-US"/>
              <a:t>High-level mathematical model of parallel processes</a:t>
            </a:r>
          </a:p>
          <a:p>
            <a:pPr lvl="1"/>
            <a:r>
              <a:rPr lang="en-US" altLang="en-US"/>
              <a:t>The “core” of concurrent programming languages</a:t>
            </a:r>
          </a:p>
          <a:p>
            <a:pPr lvl="1"/>
            <a:r>
              <a:rPr lang="en-US" altLang="en-US"/>
              <a:t>By comparison, lambda-calculus is the “core” of functional programming languages</a:t>
            </a:r>
          </a:p>
          <a:p>
            <a:r>
              <a:rPr lang="en-US" altLang="en-US"/>
              <a:t>Mobility is a basic primitive </a:t>
            </a:r>
          </a:p>
          <a:p>
            <a:pPr lvl="1"/>
            <a:r>
              <a:rPr lang="en-US" altLang="en-US"/>
              <a:t>Basic computational step is the transfer of a communication link between two processes</a:t>
            </a:r>
          </a:p>
          <a:p>
            <a:pPr lvl="1"/>
            <a:r>
              <a:rPr lang="en-US" altLang="en-US"/>
              <a:t>Interconnections between processes change as they communicate</a:t>
            </a:r>
          </a:p>
          <a:p>
            <a:r>
              <a:rPr lang="en-US" altLang="en-US"/>
              <a:t>Can be used as a general programming language</a:t>
            </a:r>
          </a:p>
        </p:txBody>
      </p:sp>
      <p:sp>
        <p:nvSpPr>
          <p:cNvPr id="809991" name="Text Box 7">
            <a:extLst>
              <a:ext uri="{FF2B5EF4-FFF2-40B4-BE49-F238E27FC236}">
                <a16:creationId xmlns:a16="http://schemas.microsoft.com/office/drawing/2014/main" id="{680BD842-258A-7D40-CB2E-984F141B7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25" y="838200"/>
            <a:ext cx="1703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Webdings" pitchFamily="2" charset="2"/>
              </a:rPr>
              <a:t>[Milner et al.]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>
            <a:extLst>
              <a:ext uri="{FF2B5EF4-FFF2-40B4-BE49-F238E27FC236}">
                <a16:creationId xmlns:a16="http://schemas.microsoft.com/office/drawing/2014/main" id="{F555DB6E-2ABD-E58F-6154-B2EB964FC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Little Bit of History</a:t>
            </a:r>
          </a:p>
        </p:txBody>
      </p:sp>
      <p:sp>
        <p:nvSpPr>
          <p:cNvPr id="811011" name="Rectangle 3">
            <a:extLst>
              <a:ext uri="{FF2B5EF4-FFF2-40B4-BE49-F238E27FC236}">
                <a16:creationId xmlns:a16="http://schemas.microsoft.com/office/drawing/2014/main" id="{1BEEF129-AD1F-D967-3D79-DB4E9B605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r>
              <a:rPr lang="en-US" altLang="en-US"/>
              <a:t>1980: Calculus of Communicating Systems (CCS)</a:t>
            </a:r>
            <a:endParaRPr lang="en-US" altLang="en-US" sz="2400"/>
          </a:p>
          <a:p>
            <a:r>
              <a:rPr lang="en-US" altLang="en-US"/>
              <a:t>1992: Pi Calculus			</a:t>
            </a:r>
            <a:r>
              <a:rPr lang="en-US" altLang="en-US" sz="2000"/>
              <a:t>[Milner, Parrow, Walker]</a:t>
            </a:r>
            <a:endParaRPr lang="en-US" altLang="en-US" sz="2400"/>
          </a:p>
          <a:p>
            <a:pPr marL="762000" lvl="1" indent="-304800"/>
            <a:r>
              <a:rPr lang="en-US" altLang="en-US"/>
              <a:t>Ability to pass channel names between processes</a:t>
            </a:r>
          </a:p>
          <a:p>
            <a:r>
              <a:rPr lang="en-US" altLang="en-US"/>
              <a:t>1998: Spi Calculus			</a:t>
            </a:r>
            <a:r>
              <a:rPr lang="en-US" altLang="en-US" sz="2000"/>
              <a:t>[Abadi, Gordon]</a:t>
            </a:r>
            <a:endParaRPr lang="en-US" altLang="en-US"/>
          </a:p>
          <a:p>
            <a:pPr marL="762000" lvl="1" indent="-304800"/>
            <a:r>
              <a:rPr lang="en-US" altLang="en-US"/>
              <a:t>Adds cryptographic primitives to pi calculus</a:t>
            </a:r>
          </a:p>
          <a:p>
            <a:pPr marL="762000" lvl="1" indent="-304800"/>
            <a:r>
              <a:rPr lang="en-US" altLang="en-US"/>
              <a:t>Security modeled as scoping</a:t>
            </a:r>
          </a:p>
          <a:p>
            <a:pPr marL="762000" lvl="1" indent="-304800"/>
            <a:r>
              <a:rPr lang="en-US" altLang="en-US"/>
              <a:t>Equivalence-based specification of security properties</a:t>
            </a:r>
          </a:p>
          <a:p>
            <a:pPr marL="762000" lvl="1" indent="-304800"/>
            <a:r>
              <a:rPr lang="en-US" altLang="en-US"/>
              <a:t>Connection with computational models of cryptography</a:t>
            </a:r>
          </a:p>
          <a:p>
            <a:r>
              <a:rPr lang="en-US" altLang="en-US"/>
              <a:t>2001: Applied Pi Calculus		</a:t>
            </a:r>
            <a:r>
              <a:rPr lang="en-US" altLang="en-US" sz="2000"/>
              <a:t>[Abadi, Fournet]</a:t>
            </a:r>
            <a:endParaRPr lang="en-US" altLang="en-US"/>
          </a:p>
          <a:p>
            <a:pPr marL="762000" lvl="1" indent="-304800"/>
            <a:r>
              <a:rPr lang="en-US" altLang="en-US"/>
              <a:t>Generic functions, including crypto primitives		</a:t>
            </a:r>
          </a:p>
        </p:txBody>
      </p:sp>
      <p:sp>
        <p:nvSpPr>
          <p:cNvPr id="811012" name="Rectangle 4">
            <a:extLst>
              <a:ext uri="{FF2B5EF4-FFF2-40B4-BE49-F238E27FC236}">
                <a16:creationId xmlns:a16="http://schemas.microsoft.com/office/drawing/2014/main" id="{C69D9D9C-3FBA-A586-32A9-429E8EE26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1295400"/>
            <a:ext cx="1057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en-US" altLang="en-US" sz="2000">
                <a:solidFill>
                  <a:schemeClr val="tx1"/>
                </a:solidFill>
              </a:rPr>
              <a:t>[Milner]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>
            <a:extLst>
              <a:ext uri="{FF2B5EF4-FFF2-40B4-BE49-F238E27FC236}">
                <a16:creationId xmlns:a16="http://schemas.microsoft.com/office/drawing/2014/main" id="{4EF98671-25A6-E8EC-A87D-7A340DF85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 Calculus Syntax</a:t>
            </a:r>
          </a:p>
        </p:txBody>
      </p:sp>
      <p:sp>
        <p:nvSpPr>
          <p:cNvPr id="845828" name="Rectangle 4">
            <a:extLst>
              <a:ext uri="{FF2B5EF4-FFF2-40B4-BE49-F238E27FC236}">
                <a16:creationId xmlns:a16="http://schemas.microsoft.com/office/drawing/2014/main" id="{6C9DDDF5-9E52-007D-2D21-F082AF368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257800"/>
          </a:xfrm>
        </p:spPr>
        <p:txBody>
          <a:bodyPr/>
          <a:lstStyle/>
          <a:p>
            <a:r>
              <a:rPr lang="en-US" altLang="en-US"/>
              <a:t>Terms</a:t>
            </a:r>
          </a:p>
          <a:p>
            <a:pPr lvl="1"/>
            <a:r>
              <a:rPr lang="en-US" altLang="en-US"/>
              <a:t>M, N ::=  x		   </a:t>
            </a:r>
            <a:r>
              <a:rPr lang="en-US" altLang="en-US" sz="1600" i="1"/>
              <a:t>variables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	|  n	   	   </a:t>
            </a:r>
            <a:r>
              <a:rPr lang="en-US" altLang="en-US" sz="1600" i="1"/>
              <a:t>names</a:t>
            </a:r>
          </a:p>
          <a:p>
            <a:r>
              <a:rPr lang="en-US" altLang="en-US"/>
              <a:t>Processes</a:t>
            </a:r>
          </a:p>
          <a:p>
            <a:pPr lvl="1"/>
            <a:r>
              <a:rPr lang="en-US" altLang="en-US"/>
              <a:t>P,Q ::=   nil 		   </a:t>
            </a:r>
            <a:r>
              <a:rPr lang="en-US" altLang="en-US" sz="1600" i="1"/>
              <a:t>empty process</a:t>
            </a:r>
          </a:p>
          <a:p>
            <a:pPr lvl="1">
              <a:buFontTx/>
              <a:buNone/>
            </a:pPr>
            <a:r>
              <a:rPr lang="en-US" altLang="en-US"/>
              <a:t>			| ū</a:t>
            </a:r>
            <a:r>
              <a:rPr lang="en-US" altLang="en-US">
                <a:sym typeface="Symbol" pitchFamily="2" charset="2"/>
              </a:rPr>
              <a:t></a:t>
            </a:r>
            <a:r>
              <a:rPr lang="en-US" altLang="en-US"/>
              <a:t>N</a:t>
            </a:r>
            <a:r>
              <a:rPr lang="en-US" altLang="en-US">
                <a:sym typeface="Symbol" pitchFamily="2" charset="2"/>
              </a:rPr>
              <a:t></a:t>
            </a:r>
            <a:r>
              <a:rPr lang="en-US" altLang="en-US"/>
              <a:t>.P	   </a:t>
            </a:r>
            <a:r>
              <a:rPr lang="en-US" altLang="en-US" sz="1600" i="1"/>
              <a:t>send term N on channel u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	| u</a:t>
            </a:r>
            <a:r>
              <a:rPr lang="en-US" altLang="en-US">
                <a:sym typeface="Symbol" pitchFamily="2" charset="2"/>
              </a:rPr>
              <a:t>(</a:t>
            </a:r>
            <a:r>
              <a:rPr lang="en-US" altLang="en-US"/>
              <a:t>x</a:t>
            </a:r>
            <a:r>
              <a:rPr lang="en-US" altLang="en-US">
                <a:sym typeface="Symbol" pitchFamily="2" charset="2"/>
              </a:rPr>
              <a:t>)</a:t>
            </a:r>
            <a:r>
              <a:rPr lang="en-US" altLang="en-US"/>
              <a:t>.P	   </a:t>
            </a:r>
            <a:r>
              <a:rPr lang="en-US" altLang="en-US" sz="1600" i="1"/>
              <a:t>receive term from channel P and assign to x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	| !P		   </a:t>
            </a:r>
            <a:r>
              <a:rPr lang="en-US" altLang="en-US" sz="1600" i="1"/>
              <a:t>replicate process P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	| P|Q		   </a:t>
            </a:r>
            <a:r>
              <a:rPr lang="en-US" altLang="en-US" sz="1600" i="1"/>
              <a:t>run processes P and Q in parallel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	| (</a:t>
            </a:r>
            <a:r>
              <a:rPr lang="en-US" altLang="en-US">
                <a:sym typeface="Symbol" pitchFamily="2" charset="2"/>
              </a:rPr>
              <a:t></a:t>
            </a:r>
            <a:r>
              <a:rPr lang="en-US" altLang="en-US"/>
              <a:t>n)P	   </a:t>
            </a:r>
            <a:r>
              <a:rPr lang="en-US" altLang="en-US" sz="1600" i="1"/>
              <a:t>restrict name n to process P</a:t>
            </a:r>
          </a:p>
        </p:txBody>
      </p:sp>
      <p:sp>
        <p:nvSpPr>
          <p:cNvPr id="845831" name="Text Box 7">
            <a:extLst>
              <a:ext uri="{FF2B5EF4-FFF2-40B4-BE49-F238E27FC236}">
                <a16:creationId xmlns:a16="http://schemas.microsoft.com/office/drawing/2014/main" id="{F00B0707-C50F-7538-21A9-E5EE5D291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286000"/>
            <a:ext cx="2019300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FontTx/>
              <a:buNone/>
            </a:pPr>
            <a:r>
              <a:rPr lang="en-US" altLang="en-US" sz="1600" i="1"/>
              <a:t>Let u range over</a:t>
            </a:r>
          </a:p>
          <a:p>
            <a:pPr algn="l">
              <a:buFontTx/>
              <a:buNone/>
            </a:pPr>
            <a:r>
              <a:rPr lang="en-US" altLang="en-US" sz="1600" i="1"/>
              <a:t>names and variables</a:t>
            </a:r>
          </a:p>
        </p:txBody>
      </p:sp>
      <p:sp>
        <p:nvSpPr>
          <p:cNvPr id="845832" name="Text Box 8">
            <a:extLst>
              <a:ext uri="{FF2B5EF4-FFF2-40B4-BE49-F238E27FC236}">
                <a16:creationId xmlns:a16="http://schemas.microsoft.com/office/drawing/2014/main" id="{C429701F-A1A3-4235-121F-70CD497D7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63" y="2090738"/>
            <a:ext cx="477837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 sz="480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>
            <a:extLst>
              <a:ext uri="{FF2B5EF4-FFF2-40B4-BE49-F238E27FC236}">
                <a16:creationId xmlns:a16="http://schemas.microsoft.com/office/drawing/2014/main" id="{0C1A3A78-8E6A-EE3D-C44D-396CADF8B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Modeling Secrecy with Scoping</a:t>
            </a:r>
          </a:p>
        </p:txBody>
      </p:sp>
      <p:sp>
        <p:nvSpPr>
          <p:cNvPr id="846859" name="Rectangle 11">
            <a:extLst>
              <a:ext uri="{FF2B5EF4-FFF2-40B4-BE49-F238E27FC236}">
                <a16:creationId xmlns:a16="http://schemas.microsoft.com/office/drawing/2014/main" id="{1F917FE5-7B14-2076-DB10-35BBF1B35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46860" name="Text Box 12">
            <a:extLst>
              <a:ext uri="{FF2B5EF4-FFF2-40B4-BE49-F238E27FC236}">
                <a16:creationId xmlns:a16="http://schemas.microsoft.com/office/drawing/2014/main" id="{D6F64795-5E7E-CE6E-CC44-6E0025C90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114800"/>
            <a:ext cx="419893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c(x).nil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c)(A(M)|B)</a:t>
            </a:r>
          </a:p>
        </p:txBody>
      </p:sp>
      <p:sp>
        <p:nvSpPr>
          <p:cNvPr id="846861" name="Oval 13">
            <a:extLst>
              <a:ext uri="{FF2B5EF4-FFF2-40B4-BE49-F238E27FC236}">
                <a16:creationId xmlns:a16="http://schemas.microsoft.com/office/drawing/2014/main" id="{E6787B71-D755-9532-8381-AD84561A3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46862" name="Oval 14">
            <a:extLst>
              <a:ext uri="{FF2B5EF4-FFF2-40B4-BE49-F238E27FC236}">
                <a16:creationId xmlns:a16="http://schemas.microsoft.com/office/drawing/2014/main" id="{0BFC0FC6-21AD-69A9-AF20-3EAD61B4A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5146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46863" name="Line 15">
            <a:extLst>
              <a:ext uri="{FF2B5EF4-FFF2-40B4-BE49-F238E27FC236}">
                <a16:creationId xmlns:a16="http://schemas.microsoft.com/office/drawing/2014/main" id="{17FDF089-3785-E4B7-E36F-8E795B4FA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48000"/>
            <a:ext cx="289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864" name="Text Box 16">
            <a:extLst>
              <a:ext uri="{FF2B5EF4-FFF2-40B4-BE49-F238E27FC236}">
                <a16:creationId xmlns:a16="http://schemas.microsoft.com/office/drawing/2014/main" id="{10B0D4B5-1587-A68B-8575-B53D8FB99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5908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46865" name="Text Box 17">
            <a:extLst>
              <a:ext uri="{FF2B5EF4-FFF2-40B4-BE49-F238E27FC236}">
                <a16:creationId xmlns:a16="http://schemas.microsoft.com/office/drawing/2014/main" id="{64FEB28B-38DC-2D2E-9F2E-AA2461013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3124200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c</a:t>
            </a:r>
          </a:p>
        </p:txBody>
      </p:sp>
      <p:sp>
        <p:nvSpPr>
          <p:cNvPr id="846866" name="Rectangle 18">
            <a:extLst>
              <a:ext uri="{FF2B5EF4-FFF2-40B4-BE49-F238E27FC236}">
                <a16:creationId xmlns:a16="http://schemas.microsoft.com/office/drawing/2014/main" id="{6555B8E6-FEAC-8CA3-EB7B-DD47BD88D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8800" cy="990600"/>
          </a:xfrm>
        </p:spPr>
        <p:txBody>
          <a:bodyPr/>
          <a:lstStyle/>
          <a:p>
            <a:r>
              <a:rPr lang="en-US" altLang="en-US"/>
              <a:t>A sends M to B over secure channel c</a:t>
            </a:r>
          </a:p>
        </p:txBody>
      </p:sp>
      <p:sp>
        <p:nvSpPr>
          <p:cNvPr id="846867" name="AutoShape 19">
            <a:extLst>
              <a:ext uri="{FF2B5EF4-FFF2-40B4-BE49-F238E27FC236}">
                <a16:creationId xmlns:a16="http://schemas.microsoft.com/office/drawing/2014/main" id="{51A7C9AD-B56D-0573-2977-745AFDE9E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562600"/>
            <a:ext cx="3429000" cy="838200"/>
          </a:xfrm>
          <a:prstGeom prst="wedgeRectCallout">
            <a:avLst>
              <a:gd name="adj1" fmla="val -58472"/>
              <a:gd name="adj2" fmla="val -458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This restriction ensures that channel c is “invisible” to any process except A and B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(other processes don’t know name c)</a:t>
            </a:r>
          </a:p>
        </p:txBody>
      </p:sp>
      <p:sp>
        <p:nvSpPr>
          <p:cNvPr id="846868" name="Text Box 20">
            <a:extLst>
              <a:ext uri="{FF2B5EF4-FFF2-40B4-BE49-F238E27FC236}">
                <a16:creationId xmlns:a16="http://schemas.microsoft.com/office/drawing/2014/main" id="{D000167A-6B47-7EA0-3882-4C04D37EC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0386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>
            <a:extLst>
              <a:ext uri="{FF2B5EF4-FFF2-40B4-BE49-F238E27FC236}">
                <a16:creationId xmlns:a16="http://schemas.microsoft.com/office/drawing/2014/main" id="{8E6555D8-8596-F1E2-C458-5093BAFDB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Secrecy as Equivalence</a:t>
            </a:r>
          </a:p>
        </p:txBody>
      </p:sp>
      <p:sp>
        <p:nvSpPr>
          <p:cNvPr id="847875" name="Rectangle 3">
            <a:extLst>
              <a:ext uri="{FF2B5EF4-FFF2-40B4-BE49-F238E27FC236}">
                <a16:creationId xmlns:a16="http://schemas.microsoft.com/office/drawing/2014/main" id="{334E84DA-570F-4435-1118-8488C37D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47876" name="Text Box 4">
            <a:extLst>
              <a:ext uri="{FF2B5EF4-FFF2-40B4-BE49-F238E27FC236}">
                <a16:creationId xmlns:a16="http://schemas.microsoft.com/office/drawing/2014/main" id="{0FB857A2-BEBC-D6C9-0202-C22BCC233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600200"/>
            <a:ext cx="419893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c(x).nil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c)</a:t>
            </a:r>
            <a:r>
              <a:rPr lang="en-US" altLang="en-US" sz="2800">
                <a:latin typeface="Courier New" panose="02070309020205020404" pitchFamily="49" charset="0"/>
              </a:rPr>
              <a:t>(A(M)|B)</a:t>
            </a:r>
          </a:p>
        </p:txBody>
      </p:sp>
      <p:sp>
        <p:nvSpPr>
          <p:cNvPr id="847883" name="AutoShape 11">
            <a:extLst>
              <a:ext uri="{FF2B5EF4-FFF2-40B4-BE49-F238E27FC236}">
                <a16:creationId xmlns:a16="http://schemas.microsoft.com/office/drawing/2014/main" id="{4AB12B1A-1499-C89E-86CE-98CCF3A9E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1524000"/>
            <a:ext cx="3009900" cy="838200"/>
          </a:xfrm>
          <a:prstGeom prst="wedgeRectCallout">
            <a:avLst>
              <a:gd name="adj1" fmla="val -39819"/>
              <a:gd name="adj2" fmla="val 8295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Without (</a:t>
            </a:r>
            <a:r>
              <a:rPr lang="en-US" altLang="en-US" sz="1400">
                <a:solidFill>
                  <a:srgbClr val="000000"/>
                </a:solidFill>
                <a:sym typeface="Symbol" pitchFamily="2" charset="2"/>
              </a:rPr>
              <a:t></a:t>
            </a:r>
            <a:r>
              <a:rPr lang="en-US" altLang="en-US" sz="1400">
                <a:solidFill>
                  <a:srgbClr val="000000"/>
                </a:solidFill>
              </a:rPr>
              <a:t>c), attacker could run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process c(x) and tell the difference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between P(M) and P(M’)</a:t>
            </a:r>
          </a:p>
        </p:txBody>
      </p:sp>
      <p:sp>
        <p:nvSpPr>
          <p:cNvPr id="847884" name="Text Box 12">
            <a:extLst>
              <a:ext uri="{FF2B5EF4-FFF2-40B4-BE49-F238E27FC236}">
                <a16:creationId xmlns:a16="http://schemas.microsoft.com/office/drawing/2014/main" id="{4C76FA88-8586-BD6D-BD5E-EB10A001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5240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47885" name="Rectangle 13">
            <a:extLst>
              <a:ext uri="{FF2B5EF4-FFF2-40B4-BE49-F238E27FC236}">
                <a16:creationId xmlns:a16="http://schemas.microsoft.com/office/drawing/2014/main" id="{4D746E7D-696B-8A72-07F0-EC7BD2A90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200400"/>
            <a:ext cx="7924800" cy="3429000"/>
          </a:xfrm>
        </p:spPr>
        <p:txBody>
          <a:bodyPr/>
          <a:lstStyle/>
          <a:p>
            <a:r>
              <a:rPr lang="en-US" altLang="en-US"/>
              <a:t>P(M) and P(M’) are “equivalent” for any values of M</a:t>
            </a:r>
            <a:r>
              <a:rPr lang="en-US" altLang="en-US" baseline="-25000"/>
              <a:t> </a:t>
            </a:r>
            <a:r>
              <a:rPr lang="en-US" altLang="en-US"/>
              <a:t>and M’</a:t>
            </a:r>
            <a:endParaRPr lang="en-US" altLang="en-US" baseline="-25000"/>
          </a:p>
          <a:p>
            <a:pPr lvl="1"/>
            <a:r>
              <a:rPr lang="en-US" altLang="en-US"/>
              <a:t>No attacker can distinguish P(M) and P(M’)</a:t>
            </a:r>
          </a:p>
          <a:p>
            <a:r>
              <a:rPr lang="en-US" altLang="en-US"/>
              <a:t>Different notions of “equivalence”</a:t>
            </a:r>
          </a:p>
          <a:p>
            <a:pPr lvl="1"/>
            <a:r>
              <a:rPr lang="en-US" altLang="en-US"/>
              <a:t>Testing equivalence or observational congruence</a:t>
            </a:r>
          </a:p>
          <a:p>
            <a:pPr lvl="1"/>
            <a:r>
              <a:rPr lang="en-US" altLang="en-US"/>
              <a:t>Indistinguishability by any probabilistic polynomial-time Turing machine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>
            <a:extLst>
              <a:ext uri="{FF2B5EF4-FFF2-40B4-BE49-F238E27FC236}">
                <a16:creationId xmlns:a16="http://schemas.microsoft.com/office/drawing/2014/main" id="{C52AC2C4-8E19-77EE-ED07-3F9C4CEE5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Formulation of Secrecy</a:t>
            </a:r>
          </a:p>
        </p:txBody>
      </p:sp>
      <p:sp>
        <p:nvSpPr>
          <p:cNvPr id="848899" name="Rectangle 3">
            <a:extLst>
              <a:ext uri="{FF2B5EF4-FFF2-40B4-BE49-F238E27FC236}">
                <a16:creationId xmlns:a16="http://schemas.microsoft.com/office/drawing/2014/main" id="{48A513E7-AB55-8983-EEA3-C240259B1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48900" name="Text Box 4">
            <a:extLst>
              <a:ext uri="{FF2B5EF4-FFF2-40B4-BE49-F238E27FC236}">
                <a16:creationId xmlns:a16="http://schemas.microsoft.com/office/drawing/2014/main" id="{6690C2DA-EF9F-D812-7C64-EA022FCDD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600200"/>
            <a:ext cx="419893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c(x).nil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c)(A(M)|B)</a:t>
            </a:r>
          </a:p>
        </p:txBody>
      </p:sp>
      <p:sp>
        <p:nvSpPr>
          <p:cNvPr id="848902" name="Text Box 6">
            <a:extLst>
              <a:ext uri="{FF2B5EF4-FFF2-40B4-BE49-F238E27FC236}">
                <a16:creationId xmlns:a16="http://schemas.microsoft.com/office/drawing/2014/main" id="{4B462147-AF33-8E5A-710C-CD972F8D0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5240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48903" name="Rectangle 7">
            <a:extLst>
              <a:ext uri="{FF2B5EF4-FFF2-40B4-BE49-F238E27FC236}">
                <a16:creationId xmlns:a16="http://schemas.microsoft.com/office/drawing/2014/main" id="{1433D01D-2605-393D-E706-F324542D3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200400"/>
            <a:ext cx="8153400" cy="3276600"/>
          </a:xfrm>
        </p:spPr>
        <p:txBody>
          <a:bodyPr/>
          <a:lstStyle/>
          <a:p>
            <a:r>
              <a:rPr lang="en-US" altLang="en-US"/>
              <a:t>No attacker can learn name n from P(n)</a:t>
            </a:r>
            <a:endParaRPr lang="en-US" altLang="en-US" baseline="-25000"/>
          </a:p>
          <a:p>
            <a:pPr lvl="1"/>
            <a:r>
              <a:rPr lang="en-US" altLang="en-US"/>
              <a:t>Let Q be an arbitrary attacker process, and suppose it runs in parallel with P(n)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For any process Q in which n does not occur free, P(n) | Q will never output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>
            <a:extLst>
              <a:ext uri="{FF2B5EF4-FFF2-40B4-BE49-F238E27FC236}">
                <a16:creationId xmlns:a16="http://schemas.microsoft.com/office/drawing/2014/main" id="{E460B935-8867-953E-99D9-96B416D43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914400"/>
          </a:xfrm>
        </p:spPr>
        <p:txBody>
          <a:bodyPr/>
          <a:lstStyle/>
          <a:p>
            <a:r>
              <a:rPr lang="en-US" altLang="en-US"/>
              <a:t>Modeling Authentication with Scoping</a:t>
            </a:r>
          </a:p>
        </p:txBody>
      </p:sp>
      <p:sp>
        <p:nvSpPr>
          <p:cNvPr id="849923" name="Rectangle 3">
            <a:extLst>
              <a:ext uri="{FF2B5EF4-FFF2-40B4-BE49-F238E27FC236}">
                <a16:creationId xmlns:a16="http://schemas.microsoft.com/office/drawing/2014/main" id="{BB69D3B1-2F77-0AC6-0331-551E5CC5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49924" name="Text Box 4">
            <a:extLst>
              <a:ext uri="{FF2B5EF4-FFF2-40B4-BE49-F238E27FC236}">
                <a16:creationId xmlns:a16="http://schemas.microsoft.com/office/drawing/2014/main" id="{8C0B7508-B135-28F6-D9AD-D31F3BD35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722813"/>
            <a:ext cx="41989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</a:t>
            </a:r>
            <a:endParaRPr lang="en-US" altLang="en-US" sz="280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c)(A(M)|B)</a:t>
            </a:r>
          </a:p>
        </p:txBody>
      </p:sp>
      <p:sp>
        <p:nvSpPr>
          <p:cNvPr id="849925" name="Oval 5">
            <a:extLst>
              <a:ext uri="{FF2B5EF4-FFF2-40B4-BE49-F238E27FC236}">
                <a16:creationId xmlns:a16="http://schemas.microsoft.com/office/drawing/2014/main" id="{BDA6BBA6-D6F3-A66D-0E17-21979F6B4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512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49926" name="Oval 6">
            <a:extLst>
              <a:ext uri="{FF2B5EF4-FFF2-40B4-BE49-F238E27FC236}">
                <a16:creationId xmlns:a16="http://schemas.microsoft.com/office/drawing/2014/main" id="{BBE54311-6F6E-5614-1D8F-317FC6B0F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512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49927" name="Line 7">
            <a:extLst>
              <a:ext uri="{FF2B5EF4-FFF2-40B4-BE49-F238E27FC236}">
                <a16:creationId xmlns:a16="http://schemas.microsoft.com/office/drawing/2014/main" id="{29310F2A-D47A-BC57-3825-C535E26ED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884613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28" name="Text Box 8">
            <a:extLst>
              <a:ext uri="{FF2B5EF4-FFF2-40B4-BE49-F238E27FC236}">
                <a16:creationId xmlns:a16="http://schemas.microsoft.com/office/drawing/2014/main" id="{BBB83FBC-25D3-8427-D8F7-FF036BC52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427413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49929" name="Text Box 9">
            <a:extLst>
              <a:ext uri="{FF2B5EF4-FFF2-40B4-BE49-F238E27FC236}">
                <a16:creationId xmlns:a16="http://schemas.microsoft.com/office/drawing/2014/main" id="{3E125887-4CE9-CABD-F0F3-3720FB755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960813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c</a:t>
            </a:r>
          </a:p>
        </p:txBody>
      </p:sp>
      <p:sp>
        <p:nvSpPr>
          <p:cNvPr id="849930" name="Rectangle 10">
            <a:extLst>
              <a:ext uri="{FF2B5EF4-FFF2-40B4-BE49-F238E27FC236}">
                <a16:creationId xmlns:a16="http://schemas.microsoft.com/office/drawing/2014/main" id="{73C2FDFE-AA46-9310-EC1E-11159BA9D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8800" cy="1371600"/>
          </a:xfrm>
        </p:spPr>
        <p:txBody>
          <a:bodyPr/>
          <a:lstStyle/>
          <a:p>
            <a:r>
              <a:rPr lang="en-US" altLang="en-US"/>
              <a:t>A sends M to B over secure channel c</a:t>
            </a:r>
          </a:p>
          <a:p>
            <a:r>
              <a:rPr lang="en-US" altLang="en-US"/>
              <a:t>B announces received value on public channel d</a:t>
            </a:r>
          </a:p>
          <a:p>
            <a:endParaRPr lang="en-US" altLang="en-US"/>
          </a:p>
        </p:txBody>
      </p:sp>
      <p:sp>
        <p:nvSpPr>
          <p:cNvPr id="849932" name="Text Box 12">
            <a:extLst>
              <a:ext uri="{FF2B5EF4-FFF2-40B4-BE49-F238E27FC236}">
                <a16:creationId xmlns:a16="http://schemas.microsoft.com/office/drawing/2014/main" id="{115390E7-3AFB-C904-19B6-321DE5563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646613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49934" name="Line 14">
            <a:extLst>
              <a:ext uri="{FF2B5EF4-FFF2-40B4-BE49-F238E27FC236}">
                <a16:creationId xmlns:a16="http://schemas.microsoft.com/office/drawing/2014/main" id="{FF486991-2811-9D27-F86F-F4645C315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86200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35" name="Text Box 15">
            <a:extLst>
              <a:ext uri="{FF2B5EF4-FFF2-40B4-BE49-F238E27FC236}">
                <a16:creationId xmlns:a16="http://schemas.microsoft.com/office/drawing/2014/main" id="{1FE5DC29-B03E-547D-AF3E-49FBC83D1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4290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49936" name="Text Box 16">
            <a:extLst>
              <a:ext uri="{FF2B5EF4-FFF2-40B4-BE49-F238E27FC236}">
                <a16:creationId xmlns:a16="http://schemas.microsoft.com/office/drawing/2014/main" id="{EC7868F6-8F1F-574D-D8CE-5FF3FDAB9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3962400"/>
            <a:ext cx="148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d</a:t>
            </a:r>
          </a:p>
        </p:txBody>
      </p:sp>
      <p:sp>
        <p:nvSpPr>
          <p:cNvPr id="849937" name="Text Box 17">
            <a:extLst>
              <a:ext uri="{FF2B5EF4-FFF2-40B4-BE49-F238E27FC236}">
                <a16:creationId xmlns:a16="http://schemas.microsoft.com/office/drawing/2014/main" id="{242109C0-A4F6-443A-3EA1-7648EE4A6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50292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2">
            <a:extLst>
              <a:ext uri="{FF2B5EF4-FFF2-40B4-BE49-F238E27FC236}">
                <a16:creationId xmlns:a16="http://schemas.microsoft.com/office/drawing/2014/main" id="{36DBEC5E-7C33-360B-917F-4FEB2F34D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Authentication</a:t>
            </a:r>
          </a:p>
        </p:txBody>
      </p:sp>
      <p:sp>
        <p:nvSpPr>
          <p:cNvPr id="850947" name="Rectangle 3">
            <a:extLst>
              <a:ext uri="{FF2B5EF4-FFF2-40B4-BE49-F238E27FC236}">
                <a16:creationId xmlns:a16="http://schemas.microsoft.com/office/drawing/2014/main" id="{305F849F-35A1-0955-F05D-0100C64F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50948" name="Text Box 4">
            <a:extLst>
              <a:ext uri="{FF2B5EF4-FFF2-40B4-BE49-F238E27FC236}">
                <a16:creationId xmlns:a16="http://schemas.microsoft.com/office/drawing/2014/main" id="{98005E09-6351-9CEB-13B8-B17E7B36D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8" y="1600200"/>
            <a:ext cx="4198937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kumimoji="1" lang="en-US" altLang="en-US" sz="2800"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c)(A(M)|B)</a:t>
            </a:r>
          </a:p>
        </p:txBody>
      </p:sp>
      <p:sp>
        <p:nvSpPr>
          <p:cNvPr id="850949" name="Text Box 5">
            <a:extLst>
              <a:ext uri="{FF2B5EF4-FFF2-40B4-BE49-F238E27FC236}">
                <a16:creationId xmlns:a16="http://schemas.microsoft.com/office/drawing/2014/main" id="{FE24D1DF-0830-FE55-8A5F-63DA1AD34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5240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50950" name="Rectangle 6">
            <a:extLst>
              <a:ext uri="{FF2B5EF4-FFF2-40B4-BE49-F238E27FC236}">
                <a16:creationId xmlns:a16="http://schemas.microsoft.com/office/drawing/2014/main" id="{C4D6A2E1-EE76-D52A-9729-97FFA0FB0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200400"/>
            <a:ext cx="8153400" cy="3276600"/>
          </a:xfrm>
        </p:spPr>
        <p:txBody>
          <a:bodyPr/>
          <a:lstStyle/>
          <a:p>
            <a:r>
              <a:rPr lang="en-US" altLang="en-US">
                <a:solidFill>
                  <a:schemeClr val="accent2"/>
                </a:solidFill>
              </a:rPr>
              <a:t>For any value of M, if B outputs M on channel d, then A previously sent M on channel c</a:t>
            </a:r>
            <a:endParaRPr lang="en-US" altLang="en-US" baseline="-25000">
              <a:solidFill>
                <a:schemeClr val="accent2"/>
              </a:solidFill>
            </a:endParaRPr>
          </a:p>
        </p:txBody>
      </p:sp>
      <p:sp>
        <p:nvSpPr>
          <p:cNvPr id="850951" name="Text Box 7">
            <a:extLst>
              <a:ext uri="{FF2B5EF4-FFF2-40B4-BE49-F238E27FC236}">
                <a16:creationId xmlns:a16="http://schemas.microsoft.com/office/drawing/2014/main" id="{70F4EB23-0AC8-AA17-44C0-FEB6FD64D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19050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6" name="Rectangle 2">
            <a:extLst>
              <a:ext uri="{FF2B5EF4-FFF2-40B4-BE49-F238E27FC236}">
                <a16:creationId xmlns:a16="http://schemas.microsoft.com/office/drawing/2014/main" id="{65A6031A-D8D0-EA6E-EF02-7C995C1B3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Key Establishment Protocol</a:t>
            </a:r>
          </a:p>
        </p:txBody>
      </p:sp>
      <p:sp>
        <p:nvSpPr>
          <p:cNvPr id="840729" name="Oval 25">
            <a:extLst>
              <a:ext uri="{FF2B5EF4-FFF2-40B4-BE49-F238E27FC236}">
                <a16:creationId xmlns:a16="http://schemas.microsoft.com/office/drawing/2014/main" id="{375DBE7D-4785-A358-76A3-E0E176FD5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4274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40730" name="Oval 26">
            <a:extLst>
              <a:ext uri="{FF2B5EF4-FFF2-40B4-BE49-F238E27FC236}">
                <a16:creationId xmlns:a16="http://schemas.microsoft.com/office/drawing/2014/main" id="{D91B613C-D05B-BADE-5669-D3917199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4274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40731" name="Line 27">
            <a:extLst>
              <a:ext uri="{FF2B5EF4-FFF2-40B4-BE49-F238E27FC236}">
                <a16:creationId xmlns:a16="http://schemas.microsoft.com/office/drawing/2014/main" id="{784E2125-0DEA-823B-EAE8-CFCF42D2BF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2514600"/>
            <a:ext cx="914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34" name="Line 30">
            <a:extLst>
              <a:ext uri="{FF2B5EF4-FFF2-40B4-BE49-F238E27FC236}">
                <a16:creationId xmlns:a16="http://schemas.microsoft.com/office/drawing/2014/main" id="{65515761-EA39-C9D3-355A-61D8526CE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2638" y="3962400"/>
            <a:ext cx="2163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37" name="Oval 33">
            <a:extLst>
              <a:ext uri="{FF2B5EF4-FFF2-40B4-BE49-F238E27FC236}">
                <a16:creationId xmlns:a16="http://schemas.microsoft.com/office/drawing/2014/main" id="{8CED57F0-2E4B-E3E1-C186-E9476ED3C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7526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S</a:t>
            </a:r>
          </a:p>
        </p:txBody>
      </p:sp>
      <p:sp>
        <p:nvSpPr>
          <p:cNvPr id="840738" name="Line 34">
            <a:extLst>
              <a:ext uri="{FF2B5EF4-FFF2-40B4-BE49-F238E27FC236}">
                <a16:creationId xmlns:a16="http://schemas.microsoft.com/office/drawing/2014/main" id="{0DD51E3D-DAD1-329B-4A5E-DCD58DA28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438400"/>
            <a:ext cx="7620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40" name="Rectangle 36">
            <a:extLst>
              <a:ext uri="{FF2B5EF4-FFF2-40B4-BE49-F238E27FC236}">
                <a16:creationId xmlns:a16="http://schemas.microsoft.com/office/drawing/2014/main" id="{0ABB138A-DC25-F68B-6682-EFF95B089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4800600"/>
            <a:ext cx="8763000" cy="1905000"/>
          </a:xfrm>
          <a:noFill/>
          <a:ln/>
        </p:spPr>
        <p:txBody>
          <a:bodyPr/>
          <a:lstStyle/>
          <a:p>
            <a:pPr marL="533400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/>
              <a:t>A and B have pre-established pairwise keys with server S</a:t>
            </a: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Char char="u"/>
            </a:pPr>
            <a:r>
              <a:rPr lang="en-US" altLang="en-US" sz="2000"/>
              <a:t>Model these keys as names of pre-existing communication channels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/>
              <a:t>A creates a new key and sends it to S, who forwards it to B</a:t>
            </a: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Char char="u"/>
            </a:pPr>
            <a:r>
              <a:rPr lang="en-US" altLang="en-US" sz="2000"/>
              <a:t>Model this as creation of a new channel name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sz="2400"/>
              <a:t>A sends M to B encrypted with the new key, B outputs M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AutoNum type="arabicPeriod"/>
            </a:pPr>
            <a:endParaRPr lang="en-US" altLang="en-US" sz="2400"/>
          </a:p>
        </p:txBody>
      </p:sp>
      <p:sp>
        <p:nvSpPr>
          <p:cNvPr id="840741" name="Text Box 37">
            <a:extLst>
              <a:ext uri="{FF2B5EF4-FFF2-40B4-BE49-F238E27FC236}">
                <a16:creationId xmlns:a16="http://schemas.microsoft.com/office/drawing/2014/main" id="{8D9C20B6-3E91-2F9A-235F-7C6CB14E9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2819400"/>
            <a:ext cx="60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</a:t>
            </a:r>
            <a:r>
              <a:rPr lang="en-US" altLang="en-US" baseline="-25000">
                <a:solidFill>
                  <a:schemeClr val="tx1"/>
                </a:solidFill>
              </a:rPr>
              <a:t>AS</a:t>
            </a:r>
          </a:p>
        </p:txBody>
      </p:sp>
      <p:sp>
        <p:nvSpPr>
          <p:cNvPr id="840742" name="Text Box 38">
            <a:extLst>
              <a:ext uri="{FF2B5EF4-FFF2-40B4-BE49-F238E27FC236}">
                <a16:creationId xmlns:a16="http://schemas.microsoft.com/office/drawing/2014/main" id="{945632FB-9133-5FE0-CBA6-60F50920E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2819400"/>
            <a:ext cx="598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</a:t>
            </a:r>
            <a:r>
              <a:rPr lang="en-US" altLang="en-US" baseline="-25000">
                <a:solidFill>
                  <a:schemeClr val="tx1"/>
                </a:solidFill>
              </a:rPr>
              <a:t>SB</a:t>
            </a:r>
          </a:p>
        </p:txBody>
      </p:sp>
      <p:sp>
        <p:nvSpPr>
          <p:cNvPr id="840743" name="Text Box 39">
            <a:extLst>
              <a:ext uri="{FF2B5EF4-FFF2-40B4-BE49-F238E27FC236}">
                <a16:creationId xmlns:a16="http://schemas.microsoft.com/office/drawing/2014/main" id="{BC5FABF5-35D1-8860-E064-5E1DAEFA9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657600"/>
            <a:ext cx="147796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Create new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channel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40744" name="Text Box 40">
            <a:extLst>
              <a:ext uri="{FF2B5EF4-FFF2-40B4-BE49-F238E27FC236}">
                <a16:creationId xmlns:a16="http://schemas.microsoft.com/office/drawing/2014/main" id="{613CA050-82D6-CA91-71EB-5528359AE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4384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name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40745" name="Text Box 41">
            <a:extLst>
              <a:ext uri="{FF2B5EF4-FFF2-40B4-BE49-F238E27FC236}">
                <a16:creationId xmlns:a16="http://schemas.microsoft.com/office/drawing/2014/main" id="{EEB45B2F-3355-C547-0654-1363310E1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4384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name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40746" name="Text Box 42">
            <a:extLst>
              <a:ext uri="{FF2B5EF4-FFF2-40B4-BE49-F238E27FC236}">
                <a16:creationId xmlns:a16="http://schemas.microsoft.com/office/drawing/2014/main" id="{F9782BD3-46F6-3481-BDF8-2A79BB939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14800"/>
            <a:ext cx="2097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data on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40747" name="Line 43">
            <a:extLst>
              <a:ext uri="{FF2B5EF4-FFF2-40B4-BE49-F238E27FC236}">
                <a16:creationId xmlns:a16="http://schemas.microsoft.com/office/drawing/2014/main" id="{F270C399-AEE4-4D9B-3CB6-792A365A5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962400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48" name="Text Box 44">
            <a:extLst>
              <a:ext uri="{FF2B5EF4-FFF2-40B4-BE49-F238E27FC236}">
                <a16:creationId xmlns:a16="http://schemas.microsoft.com/office/drawing/2014/main" id="{13E07240-17A6-78F4-27A2-1B8E0F60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5052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40749" name="Text Box 45">
            <a:extLst>
              <a:ext uri="{FF2B5EF4-FFF2-40B4-BE49-F238E27FC236}">
                <a16:creationId xmlns:a16="http://schemas.microsoft.com/office/drawing/2014/main" id="{9DA8CDBF-8C4B-00BB-36DB-AAD84D1EB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4087813"/>
            <a:ext cx="127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channel d</a:t>
            </a:r>
          </a:p>
        </p:txBody>
      </p:sp>
      <p:sp>
        <p:nvSpPr>
          <p:cNvPr id="840750" name="Text Box 46">
            <a:extLst>
              <a:ext uri="{FF2B5EF4-FFF2-40B4-BE49-F238E27FC236}">
                <a16:creationId xmlns:a16="http://schemas.microsoft.com/office/drawing/2014/main" id="{1B01DFD3-0477-7767-B6A6-9AF0D8EDC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35052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4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4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4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743" grpId="0"/>
      <p:bldP spid="840744" grpId="0"/>
      <p:bldP spid="840745" grpId="0"/>
      <p:bldP spid="840746" grpId="0"/>
      <p:bldP spid="840748" grpId="0"/>
      <p:bldP spid="840749" grpId="0"/>
      <p:bldP spid="8407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>
            <a:extLst>
              <a:ext uri="{FF2B5EF4-FFF2-40B4-BE49-F238E27FC236}">
                <a16:creationId xmlns:a16="http://schemas.microsoft.com/office/drawing/2014/main" id="{7B17DB4D-3C3F-7F09-83E6-F532854FF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Key Establishment in Pi Calculus</a:t>
            </a:r>
          </a:p>
        </p:txBody>
      </p:sp>
      <p:sp>
        <p:nvSpPr>
          <p:cNvPr id="874499" name="Oval 3">
            <a:extLst>
              <a:ext uri="{FF2B5EF4-FFF2-40B4-BE49-F238E27FC236}">
                <a16:creationId xmlns:a16="http://schemas.microsoft.com/office/drawing/2014/main" id="{84AA4A58-5E75-FDF9-D3B9-D39997021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4274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74500" name="Oval 4">
            <a:extLst>
              <a:ext uri="{FF2B5EF4-FFF2-40B4-BE49-F238E27FC236}">
                <a16:creationId xmlns:a16="http://schemas.microsoft.com/office/drawing/2014/main" id="{2E81F4FF-8F75-8089-E86F-CCA484B7D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427413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74501" name="Line 5">
            <a:extLst>
              <a:ext uri="{FF2B5EF4-FFF2-40B4-BE49-F238E27FC236}">
                <a16:creationId xmlns:a16="http://schemas.microsoft.com/office/drawing/2014/main" id="{99FC3646-6C4E-59F5-1151-787B32C351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2514600"/>
            <a:ext cx="914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02" name="Line 6">
            <a:extLst>
              <a:ext uri="{FF2B5EF4-FFF2-40B4-BE49-F238E27FC236}">
                <a16:creationId xmlns:a16="http://schemas.microsoft.com/office/drawing/2014/main" id="{21494B4D-5547-8C85-7300-35382DDF4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2638" y="3962400"/>
            <a:ext cx="2163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03" name="Oval 7">
            <a:extLst>
              <a:ext uri="{FF2B5EF4-FFF2-40B4-BE49-F238E27FC236}">
                <a16:creationId xmlns:a16="http://schemas.microsoft.com/office/drawing/2014/main" id="{9016B606-CCAC-0E9F-1910-903717531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7526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S</a:t>
            </a:r>
          </a:p>
        </p:txBody>
      </p:sp>
      <p:sp>
        <p:nvSpPr>
          <p:cNvPr id="874504" name="Line 8">
            <a:extLst>
              <a:ext uri="{FF2B5EF4-FFF2-40B4-BE49-F238E27FC236}">
                <a16:creationId xmlns:a16="http://schemas.microsoft.com/office/drawing/2014/main" id="{3FF3E152-D641-73BB-958E-505D3098B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438400"/>
            <a:ext cx="7620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06" name="Text Box 10">
            <a:extLst>
              <a:ext uri="{FF2B5EF4-FFF2-40B4-BE49-F238E27FC236}">
                <a16:creationId xmlns:a16="http://schemas.microsoft.com/office/drawing/2014/main" id="{85438F61-712E-3A82-9D2F-8B73A21F0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2819400"/>
            <a:ext cx="60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</a:t>
            </a:r>
            <a:r>
              <a:rPr lang="en-US" altLang="en-US" baseline="-25000">
                <a:solidFill>
                  <a:schemeClr val="tx1"/>
                </a:solidFill>
              </a:rPr>
              <a:t>AS</a:t>
            </a:r>
          </a:p>
        </p:txBody>
      </p:sp>
      <p:sp>
        <p:nvSpPr>
          <p:cNvPr id="874507" name="Text Box 11">
            <a:extLst>
              <a:ext uri="{FF2B5EF4-FFF2-40B4-BE49-F238E27FC236}">
                <a16:creationId xmlns:a16="http://schemas.microsoft.com/office/drawing/2014/main" id="{B810C390-FCE3-CD3B-368F-936E59A24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2819400"/>
            <a:ext cx="598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</a:t>
            </a:r>
            <a:r>
              <a:rPr lang="en-US" altLang="en-US" baseline="-25000">
                <a:solidFill>
                  <a:schemeClr val="tx1"/>
                </a:solidFill>
              </a:rPr>
              <a:t>SB</a:t>
            </a:r>
          </a:p>
        </p:txBody>
      </p:sp>
      <p:sp>
        <p:nvSpPr>
          <p:cNvPr id="874508" name="Text Box 12">
            <a:extLst>
              <a:ext uri="{FF2B5EF4-FFF2-40B4-BE49-F238E27FC236}">
                <a16:creationId xmlns:a16="http://schemas.microsoft.com/office/drawing/2014/main" id="{9FF3CF8A-5EEB-1FC2-1C89-4E9FBBE38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657600"/>
            <a:ext cx="147796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Create new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channel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74509" name="Text Box 13">
            <a:extLst>
              <a:ext uri="{FF2B5EF4-FFF2-40B4-BE49-F238E27FC236}">
                <a16:creationId xmlns:a16="http://schemas.microsoft.com/office/drawing/2014/main" id="{D3A94D12-07F3-C18D-3B7E-7AB6B8CF9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4384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name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74510" name="Text Box 14">
            <a:extLst>
              <a:ext uri="{FF2B5EF4-FFF2-40B4-BE49-F238E27FC236}">
                <a16:creationId xmlns:a16="http://schemas.microsoft.com/office/drawing/2014/main" id="{9C605CE4-304D-FBDF-381B-4497AD7BF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4384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name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74511" name="Text Box 15">
            <a:extLst>
              <a:ext uri="{FF2B5EF4-FFF2-40B4-BE49-F238E27FC236}">
                <a16:creationId xmlns:a16="http://schemas.microsoft.com/office/drawing/2014/main" id="{2078CB4E-65B0-3C6C-0279-B30087C58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14800"/>
            <a:ext cx="2097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Send data on C</a:t>
            </a:r>
            <a:r>
              <a:rPr lang="en-US" altLang="en-US" sz="2000" baseline="-2500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874512" name="Line 16">
            <a:extLst>
              <a:ext uri="{FF2B5EF4-FFF2-40B4-BE49-F238E27FC236}">
                <a16:creationId xmlns:a16="http://schemas.microsoft.com/office/drawing/2014/main" id="{665688FD-4557-1CDA-7873-E6A59A5B7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962400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13" name="Text Box 17">
            <a:extLst>
              <a:ext uri="{FF2B5EF4-FFF2-40B4-BE49-F238E27FC236}">
                <a16:creationId xmlns:a16="http://schemas.microsoft.com/office/drawing/2014/main" id="{628D34E8-5238-3CB2-5223-33BA718FF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5052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74514" name="Text Box 18">
            <a:extLst>
              <a:ext uri="{FF2B5EF4-FFF2-40B4-BE49-F238E27FC236}">
                <a16:creationId xmlns:a16="http://schemas.microsoft.com/office/drawing/2014/main" id="{8716222E-3497-6307-6E27-46E4EFB2E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4087813"/>
            <a:ext cx="127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channel d</a:t>
            </a:r>
          </a:p>
        </p:txBody>
      </p:sp>
      <p:sp>
        <p:nvSpPr>
          <p:cNvPr id="874515" name="Text Box 19">
            <a:extLst>
              <a:ext uri="{FF2B5EF4-FFF2-40B4-BE49-F238E27FC236}">
                <a16:creationId xmlns:a16="http://schemas.microsoft.com/office/drawing/2014/main" id="{C782EDEC-FE3D-BB9E-85B5-FBA96AB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35052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74517" name="Text Box 21">
            <a:extLst>
              <a:ext uri="{FF2B5EF4-FFF2-40B4-BE49-F238E27FC236}">
                <a16:creationId xmlns:a16="http://schemas.microsoft.com/office/drawing/2014/main" id="{0FFC4E18-FED2-7849-3588-1E2D2210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799013"/>
            <a:ext cx="60261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AB</a:t>
            </a:r>
            <a:r>
              <a:rPr lang="en-US" altLang="en-US" sz="2800">
                <a:latin typeface="Courier New" panose="02070309020205020404" pitchFamily="49" charset="0"/>
              </a:rPr>
              <a:t>)</a:t>
            </a:r>
            <a:endParaRPr kumimoji="1" lang="en-US" altLang="en-US" sz="2800">
              <a:latin typeface="Courier New" panose="02070309020205020404" pitchFamily="49" charset="0"/>
              <a:sym typeface="Symbol" pitchFamily="2" charset="2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S  = 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AS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2800"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).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SB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lang="en-US" altLang="en-US" sz="2800"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SB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2800"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)</a:t>
            </a:r>
            <a:endParaRPr lang="en-US" altLang="en-US"/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AS</a:t>
            </a:r>
            <a:r>
              <a:rPr lang="en-US" altLang="en-US" sz="2800">
                <a:latin typeface="Courier New" panose="02070309020205020404" pitchFamily="49" charset="0"/>
              </a:rPr>
              <a:t>)(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SB</a:t>
            </a:r>
            <a:r>
              <a:rPr lang="en-US" altLang="en-US" sz="2800">
                <a:latin typeface="Courier New" panose="02070309020205020404" pitchFamily="49" charset="0"/>
              </a:rPr>
              <a:t>)(A(M)|B|S)</a:t>
            </a:r>
            <a:endParaRPr kumimoji="1" lang="en-US" altLang="en-US" sz="2800">
              <a:latin typeface="Courier New" panose="02070309020205020404" pitchFamily="49" charset="0"/>
              <a:sym typeface="Symbol" pitchFamily="2" charset="2"/>
            </a:endParaRPr>
          </a:p>
        </p:txBody>
      </p:sp>
      <p:sp>
        <p:nvSpPr>
          <p:cNvPr id="874518" name="Text Box 22">
            <a:extLst>
              <a:ext uri="{FF2B5EF4-FFF2-40B4-BE49-F238E27FC236}">
                <a16:creationId xmlns:a16="http://schemas.microsoft.com/office/drawing/2014/main" id="{E6B368F1-4F1C-7CA3-1BA1-43CECB309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572000"/>
            <a:ext cx="54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__</a:t>
            </a:r>
          </a:p>
        </p:txBody>
      </p:sp>
      <p:sp>
        <p:nvSpPr>
          <p:cNvPr id="874519" name="Text Box 23">
            <a:extLst>
              <a:ext uri="{FF2B5EF4-FFF2-40B4-BE49-F238E27FC236}">
                <a16:creationId xmlns:a16="http://schemas.microsoft.com/office/drawing/2014/main" id="{34A24F17-BA99-CA2B-42AC-FA99774A7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572000"/>
            <a:ext cx="54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__</a:t>
            </a:r>
          </a:p>
        </p:txBody>
      </p:sp>
      <p:sp>
        <p:nvSpPr>
          <p:cNvPr id="874520" name="Text Box 24">
            <a:extLst>
              <a:ext uri="{FF2B5EF4-FFF2-40B4-BE49-F238E27FC236}">
                <a16:creationId xmlns:a16="http://schemas.microsoft.com/office/drawing/2014/main" id="{9AFB8734-C19E-1FEC-9A55-2F374E67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5029200"/>
            <a:ext cx="54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__</a:t>
            </a:r>
          </a:p>
        </p:txBody>
      </p:sp>
      <p:sp>
        <p:nvSpPr>
          <p:cNvPr id="874521" name="Text Box 25">
            <a:extLst>
              <a:ext uri="{FF2B5EF4-FFF2-40B4-BE49-F238E27FC236}">
                <a16:creationId xmlns:a16="http://schemas.microsoft.com/office/drawing/2014/main" id="{F9ECDB35-2B26-BA9C-B0FC-F0D3DB34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3340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_</a:t>
            </a:r>
          </a:p>
        </p:txBody>
      </p:sp>
      <p:sp>
        <p:nvSpPr>
          <p:cNvPr id="874522" name="AutoShape 26">
            <a:extLst>
              <a:ext uri="{FF2B5EF4-FFF2-40B4-BE49-F238E27FC236}">
                <a16:creationId xmlns:a16="http://schemas.microsoft.com/office/drawing/2014/main" id="{AAABFEA3-7544-8765-52C4-ECEADF87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486400"/>
            <a:ext cx="3040063" cy="533400"/>
          </a:xfrm>
          <a:prstGeom prst="wedgeRectCallout">
            <a:avLst>
              <a:gd name="adj1" fmla="val -57051"/>
              <a:gd name="adj2" fmla="val -2977"/>
            </a:avLst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chemeClr val="accent2"/>
                </a:solidFill>
              </a:rPr>
              <a:t>Note communication on a channel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chemeClr val="accent2"/>
                </a:solidFill>
              </a:rPr>
              <a:t>with a dynamically generated name</a:t>
            </a:r>
          </a:p>
        </p:txBody>
      </p:sp>
      <p:sp>
        <p:nvSpPr>
          <p:cNvPr id="874523" name="Text Box 27">
            <a:extLst>
              <a:ext uri="{FF2B5EF4-FFF2-40B4-BE49-F238E27FC236}">
                <a16:creationId xmlns:a16="http://schemas.microsoft.com/office/drawing/2014/main" id="{0940366F-C87A-067D-E881-9405ABC80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800600"/>
            <a:ext cx="134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.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AB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lang="en-US" altLang="en-US" sz="2800">
                <a:latin typeface="Courier New" panose="02070309020205020404" pitchFamily="49" charset="0"/>
              </a:rPr>
              <a:t>M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</p:txBody>
      </p:sp>
      <p:sp>
        <p:nvSpPr>
          <p:cNvPr id="874524" name="Text Box 28">
            <a:extLst>
              <a:ext uri="{FF2B5EF4-FFF2-40B4-BE49-F238E27FC236}">
                <a16:creationId xmlns:a16="http://schemas.microsoft.com/office/drawing/2014/main" id="{24ABF7DA-DDCA-DB17-736B-458BA0E9F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600" y="4800600"/>
            <a:ext cx="142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AS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lang="en-US" altLang="en-US" sz="2800">
                <a:latin typeface="Courier New" panose="02070309020205020404" pitchFamily="49" charset="0"/>
              </a:rPr>
              <a:t>c</a:t>
            </a:r>
            <a:r>
              <a:rPr lang="en-US" altLang="en-US" sz="2800" baseline="-25000">
                <a:latin typeface="Courier New" panose="02070309020205020404" pitchFamily="49" charset="0"/>
              </a:rPr>
              <a:t>AB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</p:txBody>
      </p:sp>
      <p:sp>
        <p:nvSpPr>
          <p:cNvPr id="874526" name="Text Box 30">
            <a:extLst>
              <a:ext uri="{FF2B5EF4-FFF2-40B4-BE49-F238E27FC236}">
                <a16:creationId xmlns:a16="http://schemas.microsoft.com/office/drawing/2014/main" id="{6F90F5BC-6E97-2EFC-A9D2-0A1FE4BFC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653088"/>
            <a:ext cx="212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.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x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y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)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.</a:t>
            </a:r>
            <a:r>
              <a:rPr lang="en-US" altLang="en-US" sz="2800">
                <a:latin typeface="Courier New" panose="02070309020205020404" pitchFamily="49" charset="0"/>
              </a:rPr>
              <a:t>d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</a:t>
            </a:r>
            <a:r>
              <a:rPr lang="en-US" altLang="en-US" sz="2800">
                <a:latin typeface="Courier New" panose="02070309020205020404" pitchFamily="49" charset="0"/>
              </a:rPr>
              <a:t>y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508" grpId="0"/>
      <p:bldP spid="874509" grpId="0"/>
      <p:bldP spid="874510" grpId="0"/>
      <p:bldP spid="874511" grpId="0"/>
      <p:bldP spid="874513" grpId="0"/>
      <p:bldP spid="874514" grpId="0"/>
      <p:bldP spid="874515" grpId="0"/>
      <p:bldP spid="874517" grpId="0" uiExpand="1" build="allAtOnce"/>
      <p:bldP spid="874517" grpId="1" uiExpand="1" build="allAtOnce"/>
      <p:bldP spid="874518" grpId="0"/>
      <p:bldP spid="874519" grpId="0"/>
      <p:bldP spid="874520" grpId="0"/>
      <p:bldP spid="874521" grpId="0"/>
      <p:bldP spid="874522" grpId="0" animBg="1"/>
      <p:bldP spid="874523" grpId="0"/>
      <p:bldP spid="874524" grpId="0"/>
      <p:bldP spid="8745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>
            <a:extLst>
              <a:ext uri="{FF2B5EF4-FFF2-40B4-BE49-F238E27FC236}">
                <a16:creationId xmlns:a16="http://schemas.microsoft.com/office/drawing/2014/main" id="{26431C24-33A3-6C1D-CE69-6FDD07166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Applied Pi Calculus</a:t>
            </a:r>
          </a:p>
        </p:txBody>
      </p:sp>
      <p:sp>
        <p:nvSpPr>
          <p:cNvPr id="851971" name="Rectangle 3">
            <a:extLst>
              <a:ext uri="{FF2B5EF4-FFF2-40B4-BE49-F238E27FC236}">
                <a16:creationId xmlns:a16="http://schemas.microsoft.com/office/drawing/2014/main" id="{2ABE3409-E8A9-6499-AF7B-6739690BB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953000"/>
          </a:xfrm>
        </p:spPr>
        <p:txBody>
          <a:bodyPr/>
          <a:lstStyle/>
          <a:p>
            <a:r>
              <a:rPr lang="en-US" altLang="en-US"/>
              <a:t>In pi calculus, channels are the only primitive</a:t>
            </a:r>
          </a:p>
          <a:p>
            <a:r>
              <a:rPr lang="en-US" altLang="en-US"/>
              <a:t>This is enough to model some forms of security</a:t>
            </a:r>
          </a:p>
          <a:p>
            <a:pPr lvl="1"/>
            <a:r>
              <a:rPr lang="en-US" altLang="en-US"/>
              <a:t>Name of a communication channel can be viewed as an “encryption key” for traffic on that channel</a:t>
            </a:r>
          </a:p>
          <a:p>
            <a:pPr lvl="2"/>
            <a:r>
              <a:rPr lang="en-US" altLang="en-US"/>
              <a:t>A process that doesn’t know the name can’t access the channel</a:t>
            </a:r>
          </a:p>
          <a:p>
            <a:pPr lvl="1"/>
            <a:r>
              <a:rPr lang="en-US" altLang="en-US"/>
              <a:t>Channel names can be passed between processes</a:t>
            </a:r>
          </a:p>
          <a:p>
            <a:pPr lvl="2"/>
            <a:r>
              <a:rPr lang="en-US" altLang="en-US"/>
              <a:t>Useful for modeling key establishment protocols</a:t>
            </a:r>
          </a:p>
          <a:p>
            <a:r>
              <a:rPr lang="en-US" altLang="en-US"/>
              <a:t>To simplify protocol specification, applied pi calculus adds functions to pi calculus</a:t>
            </a:r>
          </a:p>
          <a:p>
            <a:pPr lvl="1"/>
            <a:r>
              <a:rPr lang="en-US" altLang="en-US"/>
              <a:t>Crypto primitives modeled by functions and equations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2">
            <a:extLst>
              <a:ext uri="{FF2B5EF4-FFF2-40B4-BE49-F238E27FC236}">
                <a16:creationId xmlns:a16="http://schemas.microsoft.com/office/drawing/2014/main" id="{619F20CD-1A7D-1F2E-39C2-257793C2F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Applied Pi Calculus: Terms</a:t>
            </a:r>
          </a:p>
        </p:txBody>
      </p:sp>
      <p:sp>
        <p:nvSpPr>
          <p:cNvPr id="852995" name="Rectangle 3">
            <a:extLst>
              <a:ext uri="{FF2B5EF4-FFF2-40B4-BE49-F238E27FC236}">
                <a16:creationId xmlns:a16="http://schemas.microsoft.com/office/drawing/2014/main" id="{F4448A84-BC24-E4C9-9C7F-8AE31CFC9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 sz="3200"/>
          </a:p>
          <a:p>
            <a:pPr lvl="1">
              <a:buFontTx/>
              <a:buNone/>
            </a:pPr>
            <a:r>
              <a:rPr lang="en-US" altLang="en-US" sz="2800"/>
              <a:t>M, N ::=   x	 			</a:t>
            </a:r>
            <a:r>
              <a:rPr lang="en-US" altLang="en-US" sz="1800" i="1"/>
              <a:t>Variable</a:t>
            </a:r>
          </a:p>
          <a:p>
            <a:pPr lvl="1">
              <a:buFontTx/>
              <a:buNone/>
            </a:pPr>
            <a:r>
              <a:rPr lang="en-US" altLang="en-US" sz="2800"/>
              <a:t> 			|  n				</a:t>
            </a:r>
            <a:r>
              <a:rPr lang="en-US" altLang="en-US" sz="1800" i="1"/>
              <a:t>Name</a:t>
            </a:r>
            <a:endParaRPr lang="en-US" altLang="en-US" sz="2800"/>
          </a:p>
          <a:p>
            <a:pPr lvl="1">
              <a:buFontTx/>
              <a:buNone/>
            </a:pPr>
            <a:r>
              <a:rPr lang="en-US" altLang="en-US" sz="2800"/>
              <a:t>			|  </a:t>
            </a:r>
            <a:r>
              <a:rPr lang="en-US" altLang="en-US" sz="2800">
                <a:solidFill>
                  <a:schemeClr val="accent2"/>
                </a:solidFill>
              </a:rPr>
              <a:t>f(M</a:t>
            </a:r>
            <a:r>
              <a:rPr lang="en-US" altLang="en-US" sz="2800" baseline="-25000">
                <a:solidFill>
                  <a:schemeClr val="accent2"/>
                </a:solidFill>
              </a:rPr>
              <a:t>1</a:t>
            </a:r>
            <a:r>
              <a:rPr lang="en-US" altLang="en-US" sz="2800">
                <a:solidFill>
                  <a:schemeClr val="accent2"/>
                </a:solidFill>
              </a:rPr>
              <a:t>,...,M</a:t>
            </a:r>
            <a:r>
              <a:rPr lang="en-US" altLang="en-US" sz="2800" baseline="-25000">
                <a:solidFill>
                  <a:schemeClr val="accent2"/>
                </a:solidFill>
              </a:rPr>
              <a:t>k</a:t>
            </a:r>
            <a:r>
              <a:rPr lang="en-US" altLang="en-US" sz="2800">
                <a:solidFill>
                  <a:schemeClr val="accent2"/>
                </a:solidFill>
              </a:rPr>
              <a:t>)	</a:t>
            </a:r>
            <a:r>
              <a:rPr lang="en-US" altLang="en-US" sz="2800"/>
              <a:t>	</a:t>
            </a:r>
            <a:r>
              <a:rPr lang="en-US" altLang="en-US" sz="1800" i="1"/>
              <a:t>Function application</a:t>
            </a:r>
          </a:p>
          <a:p>
            <a:pPr lvl="1">
              <a:buFontTx/>
              <a:buNone/>
            </a:pPr>
            <a:endParaRPr lang="en-US" altLang="en-US" sz="1800" i="1"/>
          </a:p>
          <a:p>
            <a:pPr lvl="1">
              <a:buFontTx/>
              <a:buNone/>
            </a:pPr>
            <a:endParaRPr lang="en-US" altLang="en-US" sz="1800" i="1"/>
          </a:p>
          <a:p>
            <a:r>
              <a:rPr lang="en-US" altLang="en-US" sz="3200"/>
              <a:t>Standard functions</a:t>
            </a:r>
          </a:p>
          <a:p>
            <a:pPr lvl="1"/>
            <a:r>
              <a:rPr lang="en-US" altLang="en-US" sz="2800"/>
              <a:t>pair(), encrypt(), hash(), …</a:t>
            </a:r>
          </a:p>
          <a:p>
            <a:r>
              <a:rPr lang="en-US" altLang="en-US" sz="3200"/>
              <a:t>Simple type system for terms</a:t>
            </a:r>
          </a:p>
          <a:p>
            <a:pPr lvl="1"/>
            <a:r>
              <a:rPr lang="en-US" altLang="en-US" sz="2800"/>
              <a:t>Integer, Key, Channel</a:t>
            </a:r>
            <a:r>
              <a:rPr lang="en-US" altLang="en-US" sz="2800">
                <a:sym typeface="Symbol" pitchFamily="2" charset="2"/>
              </a:rPr>
              <a:t>Integer, </a:t>
            </a:r>
            <a:r>
              <a:rPr lang="en-US" altLang="en-US" sz="2800"/>
              <a:t>Channel</a:t>
            </a:r>
            <a:r>
              <a:rPr lang="en-US" altLang="en-US" sz="2800">
                <a:sym typeface="Symbol" pitchFamily="2" charset="2"/>
              </a:rPr>
              <a:t>Key</a:t>
            </a:r>
            <a:endParaRPr lang="en-US" altLang="en-US" sz="2800"/>
          </a:p>
          <a:p>
            <a:pPr lvl="1">
              <a:buFontTx/>
              <a:buNone/>
            </a:pPr>
            <a:endParaRPr lang="en-US" altLang="en-US" sz="1800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>
            <a:extLst>
              <a:ext uri="{FF2B5EF4-FFF2-40B4-BE49-F238E27FC236}">
                <a16:creationId xmlns:a16="http://schemas.microsoft.com/office/drawing/2014/main" id="{ED7A3DE4-BD7E-AE97-7433-5CDCB0F2F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Applied Pi Calculus: Processes</a:t>
            </a:r>
          </a:p>
        </p:txBody>
      </p:sp>
      <p:sp>
        <p:nvSpPr>
          <p:cNvPr id="854019" name="Rectangle 3">
            <a:extLst>
              <a:ext uri="{FF2B5EF4-FFF2-40B4-BE49-F238E27FC236}">
                <a16:creationId xmlns:a16="http://schemas.microsoft.com/office/drawing/2014/main" id="{B280E5F1-07C1-6214-472B-BCBFAACC3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72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32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   P,Q ::= nil 		      </a:t>
            </a:r>
            <a:r>
              <a:rPr lang="en-US" altLang="en-US" sz="1800" i="1"/>
              <a:t>empty process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ū</a:t>
            </a:r>
            <a:r>
              <a:rPr lang="en-US" altLang="en-US" sz="2800">
                <a:sym typeface="Symbol" pitchFamily="2" charset="2"/>
              </a:rPr>
              <a:t></a:t>
            </a:r>
            <a:r>
              <a:rPr lang="en-US" altLang="en-US" sz="2800"/>
              <a:t>N</a:t>
            </a:r>
            <a:r>
              <a:rPr lang="en-US" altLang="en-US" sz="2800">
                <a:sym typeface="Symbol" pitchFamily="2" charset="2"/>
              </a:rPr>
              <a:t></a:t>
            </a:r>
            <a:r>
              <a:rPr lang="en-US" altLang="en-US" sz="2800"/>
              <a:t>.P	      </a:t>
            </a:r>
            <a:r>
              <a:rPr lang="en-US" altLang="en-US" sz="1800" i="1"/>
              <a:t>send term N on channel u</a:t>
            </a: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u</a:t>
            </a:r>
            <a:r>
              <a:rPr lang="en-US" altLang="en-US" sz="2800">
                <a:sym typeface="Symbol" pitchFamily="2" charset="2"/>
              </a:rPr>
              <a:t>(</a:t>
            </a:r>
            <a:r>
              <a:rPr lang="en-US" altLang="en-US" sz="2800"/>
              <a:t>x</a:t>
            </a:r>
            <a:r>
              <a:rPr lang="en-US" altLang="en-US" sz="2800">
                <a:sym typeface="Symbol" pitchFamily="2" charset="2"/>
              </a:rPr>
              <a:t>)</a:t>
            </a:r>
            <a:r>
              <a:rPr lang="en-US" altLang="en-US" sz="2800"/>
              <a:t>.P	      </a:t>
            </a:r>
            <a:r>
              <a:rPr lang="en-US" altLang="en-US" sz="1800" i="1"/>
              <a:t>receive from channel P and assign to x</a:t>
            </a: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!P		      </a:t>
            </a:r>
            <a:r>
              <a:rPr lang="en-US" altLang="en-US" sz="1800" i="1"/>
              <a:t>replicate process P</a:t>
            </a: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P|Q		      </a:t>
            </a:r>
            <a:r>
              <a:rPr lang="en-US" altLang="en-US" sz="1800" i="1"/>
              <a:t>run processes P and Q in parallel</a:t>
            </a: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n)P	      </a:t>
            </a:r>
            <a:r>
              <a:rPr lang="en-US" altLang="en-US" sz="1800" i="1"/>
              <a:t>restrict name n to process P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			| if M = N	      </a:t>
            </a:r>
            <a:r>
              <a:rPr lang="en-US" altLang="en-US" sz="1800" i="1"/>
              <a:t>conditional</a:t>
            </a: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800"/>
              <a:t>               then P else Q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1800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>
            <a:extLst>
              <a:ext uri="{FF2B5EF4-FFF2-40B4-BE49-F238E27FC236}">
                <a16:creationId xmlns:a16="http://schemas.microsoft.com/office/drawing/2014/main" id="{99A3BBD1-ED96-DBB7-0E38-F36B5664B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670800" cy="914400"/>
          </a:xfrm>
        </p:spPr>
        <p:txBody>
          <a:bodyPr/>
          <a:lstStyle/>
          <a:p>
            <a:r>
              <a:rPr lang="en-US" altLang="en-US"/>
              <a:t>Modeling Crypto with Functions</a:t>
            </a:r>
          </a:p>
        </p:txBody>
      </p:sp>
      <p:sp>
        <p:nvSpPr>
          <p:cNvPr id="855043" name="Rectangle 3">
            <a:extLst>
              <a:ext uri="{FF2B5EF4-FFF2-40B4-BE49-F238E27FC236}">
                <a16:creationId xmlns:a16="http://schemas.microsoft.com/office/drawing/2014/main" id="{BDC2DB0B-58EA-B982-D201-5366FED90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/>
          <a:lstStyle/>
          <a:p>
            <a:r>
              <a:rPr lang="en-US" altLang="en-US"/>
              <a:t>Introduce special function symbols to model cryptographic primitives</a:t>
            </a:r>
          </a:p>
          <a:p>
            <a:r>
              <a:rPr lang="en-US" altLang="en-US"/>
              <a:t>Equational theory models cryptographic properties</a:t>
            </a:r>
          </a:p>
          <a:p>
            <a:r>
              <a:rPr lang="en-US" altLang="en-US"/>
              <a:t>Pairing</a:t>
            </a:r>
          </a:p>
          <a:p>
            <a:pPr lvl="1"/>
            <a:r>
              <a:rPr lang="en-US" altLang="en-US"/>
              <a:t>Functions </a:t>
            </a:r>
            <a:r>
              <a:rPr lang="en-US" altLang="en-US">
                <a:solidFill>
                  <a:schemeClr val="accent2"/>
                </a:solidFill>
              </a:rPr>
              <a:t>pair</a:t>
            </a:r>
            <a:r>
              <a:rPr lang="en-US" altLang="en-US"/>
              <a:t>, </a:t>
            </a:r>
            <a:r>
              <a:rPr lang="en-US" altLang="en-US">
                <a:solidFill>
                  <a:schemeClr val="accent2"/>
                </a:solidFill>
              </a:rPr>
              <a:t>first</a:t>
            </a:r>
            <a:r>
              <a:rPr lang="en-US" altLang="en-US"/>
              <a:t>, </a:t>
            </a:r>
            <a:r>
              <a:rPr lang="en-US" altLang="en-US">
                <a:solidFill>
                  <a:schemeClr val="accent2"/>
                </a:solidFill>
              </a:rPr>
              <a:t>second</a:t>
            </a:r>
            <a:r>
              <a:rPr lang="en-US" altLang="en-US"/>
              <a:t> with equations: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first(pair(x,y)) = x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			second(pair(x,y)) = y</a:t>
            </a:r>
          </a:p>
          <a:p>
            <a:r>
              <a:rPr lang="en-US" altLang="en-US"/>
              <a:t>Symmetric-key encryption</a:t>
            </a:r>
          </a:p>
          <a:p>
            <a:pPr lvl="1"/>
            <a:r>
              <a:rPr lang="en-US" altLang="en-US"/>
              <a:t>Functions </a:t>
            </a:r>
            <a:r>
              <a:rPr lang="en-US" altLang="en-US">
                <a:solidFill>
                  <a:schemeClr val="accent2"/>
                </a:solidFill>
              </a:rPr>
              <a:t>symenc</a:t>
            </a:r>
            <a:r>
              <a:rPr lang="en-US" altLang="en-US"/>
              <a:t>, </a:t>
            </a:r>
            <a:r>
              <a:rPr lang="en-US" altLang="en-US">
                <a:solidFill>
                  <a:schemeClr val="accent2"/>
                </a:solidFill>
              </a:rPr>
              <a:t>symdec</a:t>
            </a:r>
            <a:r>
              <a:rPr lang="en-US" altLang="en-US"/>
              <a:t> with equation: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symdec(symenc(x,k),k)=x</a:t>
            </a:r>
          </a:p>
          <a:p>
            <a:pPr lvl="1"/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>
            <a:extLst>
              <a:ext uri="{FF2B5EF4-FFF2-40B4-BE49-F238E27FC236}">
                <a16:creationId xmlns:a16="http://schemas.microsoft.com/office/drawing/2014/main" id="{3CE257F3-FEFA-D44E-1408-68CD2A722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914400"/>
          </a:xfrm>
        </p:spPr>
        <p:txBody>
          <a:bodyPr/>
          <a:lstStyle/>
          <a:p>
            <a:r>
              <a:rPr lang="en-US" altLang="en-US"/>
              <a:t>More Equational Theories</a:t>
            </a:r>
          </a:p>
        </p:txBody>
      </p:sp>
      <p:sp>
        <p:nvSpPr>
          <p:cNvPr id="856067" name="Rectangle 3">
            <a:extLst>
              <a:ext uri="{FF2B5EF4-FFF2-40B4-BE49-F238E27FC236}">
                <a16:creationId xmlns:a16="http://schemas.microsoft.com/office/drawing/2014/main" id="{532D1AE6-2D9F-C905-3473-D6E35949A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r>
              <a:rPr lang="en-US" altLang="en-US"/>
              <a:t>Public-key encryption</a:t>
            </a:r>
          </a:p>
          <a:p>
            <a:pPr lvl="1"/>
            <a:r>
              <a:rPr lang="en-US" altLang="en-US"/>
              <a:t>Functions </a:t>
            </a:r>
            <a:r>
              <a:rPr lang="en-US" altLang="en-US">
                <a:solidFill>
                  <a:schemeClr val="accent2"/>
                </a:solidFill>
              </a:rPr>
              <a:t>pk</a:t>
            </a:r>
            <a:r>
              <a:rPr lang="en-US" altLang="en-US"/>
              <a:t>,</a:t>
            </a:r>
            <a:r>
              <a:rPr lang="en-US" altLang="en-US">
                <a:solidFill>
                  <a:schemeClr val="accent2"/>
                </a:solidFill>
              </a:rPr>
              <a:t>sk</a:t>
            </a:r>
            <a:r>
              <a:rPr lang="en-US" altLang="en-US"/>
              <a:t> generate public/private key pair pk(x),sk(x) from a random seed x</a:t>
            </a:r>
          </a:p>
          <a:p>
            <a:pPr lvl="1"/>
            <a:r>
              <a:rPr lang="en-US" altLang="en-US"/>
              <a:t>Functions </a:t>
            </a:r>
            <a:r>
              <a:rPr lang="en-US" altLang="en-US">
                <a:solidFill>
                  <a:schemeClr val="accent2"/>
                </a:solidFill>
              </a:rPr>
              <a:t>pdec</a:t>
            </a:r>
            <a:r>
              <a:rPr lang="en-US" altLang="en-US"/>
              <a:t>,</a:t>
            </a:r>
            <a:r>
              <a:rPr lang="en-US" altLang="en-US">
                <a:solidFill>
                  <a:schemeClr val="accent2"/>
                </a:solidFill>
              </a:rPr>
              <a:t>penc</a:t>
            </a:r>
            <a:r>
              <a:rPr lang="en-US" altLang="en-US"/>
              <a:t> model encryption and decryption with equation: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pdec(penc(y,pk(x)),sk(x)) = y</a:t>
            </a:r>
          </a:p>
          <a:p>
            <a:pPr lvl="1"/>
            <a:r>
              <a:rPr lang="en-US" altLang="en-US"/>
              <a:t>Can also model “probabilistic” encryption:</a:t>
            </a:r>
          </a:p>
          <a:p>
            <a:pPr lvl="1">
              <a:buFontTx/>
              <a:buNone/>
            </a:pPr>
            <a:r>
              <a:rPr lang="en-US" altLang="en-US"/>
              <a:t>			 </a:t>
            </a:r>
            <a:r>
              <a:rPr lang="en-US" altLang="en-US">
                <a:solidFill>
                  <a:schemeClr val="hlink"/>
                </a:solidFill>
              </a:rPr>
              <a:t>pdec(penc(y,pk(x),</a:t>
            </a:r>
            <a:r>
              <a:rPr lang="en-US" altLang="en-US">
                <a:solidFill>
                  <a:schemeClr val="tx1"/>
                </a:solidFill>
              </a:rPr>
              <a:t>z</a:t>
            </a:r>
            <a:r>
              <a:rPr lang="en-US" altLang="en-US">
                <a:solidFill>
                  <a:schemeClr val="hlink"/>
                </a:solidFill>
              </a:rPr>
              <a:t>),sk(x)) = y </a:t>
            </a:r>
          </a:p>
          <a:p>
            <a:r>
              <a:rPr lang="en-US" altLang="en-US"/>
              <a:t>Hashing</a:t>
            </a:r>
          </a:p>
          <a:p>
            <a:pPr lvl="1"/>
            <a:r>
              <a:rPr lang="en-US" altLang="en-US"/>
              <a:t>Unary function </a:t>
            </a:r>
            <a:r>
              <a:rPr lang="en-US" altLang="en-US">
                <a:solidFill>
                  <a:schemeClr val="accent2"/>
                </a:solidFill>
              </a:rPr>
              <a:t>hash </a:t>
            </a:r>
            <a:r>
              <a:rPr lang="en-US" altLang="en-US"/>
              <a:t>with no equations</a:t>
            </a:r>
          </a:p>
          <a:p>
            <a:pPr lvl="1"/>
            <a:r>
              <a:rPr lang="en-US" altLang="en-US"/>
              <a:t>hash(M) models applying a one-way function to term M</a:t>
            </a:r>
          </a:p>
        </p:txBody>
      </p:sp>
      <p:sp>
        <p:nvSpPr>
          <p:cNvPr id="856068" name="AutoShape 4">
            <a:extLst>
              <a:ext uri="{FF2B5EF4-FFF2-40B4-BE49-F238E27FC236}">
                <a16:creationId xmlns:a16="http://schemas.microsoft.com/office/drawing/2014/main" id="{92362124-6772-5D5A-F8C7-407A4C432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05400"/>
            <a:ext cx="2819400" cy="533400"/>
          </a:xfrm>
          <a:prstGeom prst="wedgeRectCallout">
            <a:avLst>
              <a:gd name="adj1" fmla="val -62106"/>
              <a:gd name="adj2" fmla="val -57736"/>
            </a:avLst>
          </a:prstGeom>
          <a:noFill/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Models random salt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(necessary for semantic security)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Rectangle 2">
            <a:extLst>
              <a:ext uri="{FF2B5EF4-FFF2-40B4-BE49-F238E27FC236}">
                <a16:creationId xmlns:a16="http://schemas.microsoft.com/office/drawing/2014/main" id="{CED8767C-301C-CA83-94B5-8F78BAF0E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914400"/>
          </a:xfrm>
        </p:spPr>
        <p:txBody>
          <a:bodyPr/>
          <a:lstStyle/>
          <a:p>
            <a:r>
              <a:rPr lang="en-US" altLang="en-US"/>
              <a:t>Yet More Equational Theories</a:t>
            </a:r>
          </a:p>
        </p:txBody>
      </p:sp>
      <p:sp>
        <p:nvSpPr>
          <p:cNvPr id="857091" name="Rectangle 3">
            <a:extLst>
              <a:ext uri="{FF2B5EF4-FFF2-40B4-BE49-F238E27FC236}">
                <a16:creationId xmlns:a16="http://schemas.microsoft.com/office/drawing/2014/main" id="{A6483CAF-33B9-B5D9-0F80-DF177E684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/>
          <a:lstStyle/>
          <a:p>
            <a:r>
              <a:rPr lang="en-US" altLang="en-US"/>
              <a:t>Public-key digital signatures</a:t>
            </a:r>
          </a:p>
          <a:p>
            <a:pPr lvl="1"/>
            <a:r>
              <a:rPr lang="en-US" altLang="en-US"/>
              <a:t>As before, functions </a:t>
            </a:r>
            <a:r>
              <a:rPr lang="en-US" altLang="en-US">
                <a:solidFill>
                  <a:schemeClr val="accent2"/>
                </a:solidFill>
              </a:rPr>
              <a:t>pk</a:t>
            </a:r>
            <a:r>
              <a:rPr lang="en-US" altLang="en-US"/>
              <a:t>,</a:t>
            </a:r>
            <a:r>
              <a:rPr lang="en-US" altLang="en-US">
                <a:solidFill>
                  <a:schemeClr val="accent2"/>
                </a:solidFill>
              </a:rPr>
              <a:t>sk</a:t>
            </a:r>
            <a:r>
              <a:rPr lang="en-US" altLang="en-US"/>
              <a:t> generate public/private key pair pk(x),sk(x) from a random seed x</a:t>
            </a:r>
          </a:p>
          <a:p>
            <a:pPr lvl="1"/>
            <a:r>
              <a:rPr lang="en-US" altLang="en-US"/>
              <a:t>Functions </a:t>
            </a:r>
            <a:r>
              <a:rPr lang="en-US" altLang="en-US">
                <a:solidFill>
                  <a:schemeClr val="accent2"/>
                </a:solidFill>
              </a:rPr>
              <a:t>sign</a:t>
            </a:r>
            <a:r>
              <a:rPr lang="en-US" altLang="en-US"/>
              <a:t>,</a:t>
            </a:r>
            <a:r>
              <a:rPr lang="en-US" altLang="en-US">
                <a:solidFill>
                  <a:schemeClr val="accent2"/>
                </a:solidFill>
              </a:rPr>
              <a:t>verify</a:t>
            </a:r>
            <a:r>
              <a:rPr lang="en-US" altLang="en-US"/>
              <a:t> model signing and verification with equation: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verify(y,sign(y,sk(x)),pk(x)) = y</a:t>
            </a:r>
          </a:p>
          <a:p>
            <a:r>
              <a:rPr lang="en-US" altLang="en-US"/>
              <a:t>XOR</a:t>
            </a:r>
          </a:p>
          <a:p>
            <a:pPr lvl="1"/>
            <a:r>
              <a:rPr lang="en-US" altLang="en-US"/>
              <a:t>Model self-cancellation property with equation: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xor(xor(x,y),y) = x</a:t>
            </a:r>
          </a:p>
          <a:p>
            <a:pPr lvl="1"/>
            <a:r>
              <a:rPr lang="en-US" altLang="en-US"/>
              <a:t>Can also model properties of cyclic redundancy codes:</a:t>
            </a:r>
          </a:p>
          <a:p>
            <a:pPr lvl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olidFill>
                  <a:schemeClr val="hlink"/>
                </a:solidFill>
              </a:rPr>
              <a:t>crc(xor(x,y)) = xor(crc(x),crc(y))</a:t>
            </a:r>
            <a:endParaRPr lang="en-US" altLang="en-US"/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>
            <a:extLst>
              <a:ext uri="{FF2B5EF4-FFF2-40B4-BE49-F238E27FC236}">
                <a16:creationId xmlns:a16="http://schemas.microsoft.com/office/drawing/2014/main" id="{51D90DD7-5043-11C2-935F-6C81F9E00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914400"/>
          </a:xfrm>
        </p:spPr>
        <p:txBody>
          <a:bodyPr/>
          <a:lstStyle/>
          <a:p>
            <a:r>
              <a:rPr lang="en-US" altLang="en-US"/>
              <a:t>Dynamically Generated Data</a:t>
            </a:r>
          </a:p>
        </p:txBody>
      </p:sp>
      <p:sp>
        <p:nvSpPr>
          <p:cNvPr id="871427" name="Rectangle 3">
            <a:extLst>
              <a:ext uri="{FF2B5EF4-FFF2-40B4-BE49-F238E27FC236}">
                <a16:creationId xmlns:a16="http://schemas.microsoft.com/office/drawing/2014/main" id="{5C82B5E9-1F9B-0CF5-7A5B-EB3943B8B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71428" name="Text Box 4">
            <a:extLst>
              <a:ext uri="{FF2B5EF4-FFF2-40B4-BE49-F238E27FC236}">
                <a16:creationId xmlns:a16="http://schemas.microsoft.com/office/drawing/2014/main" id="{C472F461-9C35-0399-9775-DBB50660D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341813"/>
            <a:ext cx="59499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(M,s)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c(x).if second(x)=s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          then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first(</a:t>
            </a:r>
            <a:r>
              <a:rPr kumimoji="1" lang="en-US" altLang="en-US" sz="2800">
                <a:latin typeface="Courier New" panose="02070309020205020404" pitchFamily="49" charset="0"/>
              </a:rPr>
              <a:t>x)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solidFill>
                  <a:schemeClr val="accent2"/>
                </a:solidFill>
                <a:latin typeface="Courier New" panose="02070309020205020404" pitchFamily="49" charset="0"/>
              </a:rPr>
              <a:t>s)</a:t>
            </a:r>
            <a:r>
              <a:rPr lang="en-US" altLang="en-US" sz="2800">
                <a:latin typeface="Courier New" panose="02070309020205020404" pitchFamily="49" charset="0"/>
              </a:rPr>
              <a:t>(A(M)|B)</a:t>
            </a:r>
          </a:p>
        </p:txBody>
      </p:sp>
      <p:sp>
        <p:nvSpPr>
          <p:cNvPr id="871429" name="Oval 5">
            <a:extLst>
              <a:ext uri="{FF2B5EF4-FFF2-40B4-BE49-F238E27FC236}">
                <a16:creationId xmlns:a16="http://schemas.microsoft.com/office/drawing/2014/main" id="{2644525F-3CC5-BAF7-0A08-68FF22CB1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718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71430" name="Oval 6">
            <a:extLst>
              <a:ext uri="{FF2B5EF4-FFF2-40B4-BE49-F238E27FC236}">
                <a16:creationId xmlns:a16="http://schemas.microsoft.com/office/drawing/2014/main" id="{D1E838CE-A067-FB6E-4089-38AF21BE9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71431" name="Line 7">
            <a:extLst>
              <a:ext uri="{FF2B5EF4-FFF2-40B4-BE49-F238E27FC236}">
                <a16:creationId xmlns:a16="http://schemas.microsoft.com/office/drawing/2014/main" id="{730DD95C-BC66-246D-3273-4C0C6F729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505200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32" name="Text Box 8">
            <a:extLst>
              <a:ext uri="{FF2B5EF4-FFF2-40B4-BE49-F238E27FC236}">
                <a16:creationId xmlns:a16="http://schemas.microsoft.com/office/drawing/2014/main" id="{59AF9CCA-B2F0-381B-CF62-6301751A0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3048000"/>
            <a:ext cx="88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(M,s)</a:t>
            </a:r>
          </a:p>
        </p:txBody>
      </p:sp>
      <p:sp>
        <p:nvSpPr>
          <p:cNvPr id="871433" name="Text Box 9">
            <a:extLst>
              <a:ext uri="{FF2B5EF4-FFF2-40B4-BE49-F238E27FC236}">
                <a16:creationId xmlns:a16="http://schemas.microsoft.com/office/drawing/2014/main" id="{69B0F497-5F48-BCC9-A688-8184ECBC2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0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c</a:t>
            </a:r>
          </a:p>
        </p:txBody>
      </p:sp>
      <p:sp>
        <p:nvSpPr>
          <p:cNvPr id="871434" name="Rectangle 10">
            <a:extLst>
              <a:ext uri="{FF2B5EF4-FFF2-40B4-BE49-F238E27FC236}">
                <a16:creationId xmlns:a16="http://schemas.microsoft.com/office/drawing/2014/main" id="{65F79FAD-4012-32E5-6FB4-349BCC084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1143000"/>
          </a:xfrm>
        </p:spPr>
        <p:txBody>
          <a:bodyPr/>
          <a:lstStyle/>
          <a:p>
            <a:r>
              <a:rPr lang="en-US" altLang="en-US"/>
              <a:t>Use built-in name generation capability of pi calculus to model creation of new keys and nonces</a:t>
            </a:r>
          </a:p>
          <a:p>
            <a:endParaRPr lang="en-US" altLang="en-US"/>
          </a:p>
        </p:txBody>
      </p:sp>
      <p:sp>
        <p:nvSpPr>
          <p:cNvPr id="871435" name="Text Box 11">
            <a:extLst>
              <a:ext uri="{FF2B5EF4-FFF2-40B4-BE49-F238E27FC236}">
                <a16:creationId xmlns:a16="http://schemas.microsoft.com/office/drawing/2014/main" id="{E0F8F0DE-2435-9EDA-EB9F-BC4618A81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265613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71436" name="Line 12">
            <a:extLst>
              <a:ext uri="{FF2B5EF4-FFF2-40B4-BE49-F238E27FC236}">
                <a16:creationId xmlns:a16="http://schemas.microsoft.com/office/drawing/2014/main" id="{62DE7DEA-2AD6-6194-829E-10E85367A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506788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37" name="Text Box 13">
            <a:extLst>
              <a:ext uri="{FF2B5EF4-FFF2-40B4-BE49-F238E27FC236}">
                <a16:creationId xmlns:a16="http://schemas.microsoft.com/office/drawing/2014/main" id="{E4F310E1-0165-9C4D-0961-9591281C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049588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71438" name="Text Box 14">
            <a:extLst>
              <a:ext uri="{FF2B5EF4-FFF2-40B4-BE49-F238E27FC236}">
                <a16:creationId xmlns:a16="http://schemas.microsoft.com/office/drawing/2014/main" id="{606B7E3D-E588-CCCA-C582-837A696D7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3582988"/>
            <a:ext cx="148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d</a:t>
            </a:r>
          </a:p>
        </p:txBody>
      </p:sp>
      <p:sp>
        <p:nvSpPr>
          <p:cNvPr id="871439" name="Text Box 15">
            <a:extLst>
              <a:ext uri="{FF2B5EF4-FFF2-40B4-BE49-F238E27FC236}">
                <a16:creationId xmlns:a16="http://schemas.microsoft.com/office/drawing/2014/main" id="{9DDED2D0-8452-7D31-770C-97C4AD979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50292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71440" name="AutoShape 16">
            <a:extLst>
              <a:ext uri="{FF2B5EF4-FFF2-40B4-BE49-F238E27FC236}">
                <a16:creationId xmlns:a16="http://schemas.microsoft.com/office/drawing/2014/main" id="{98823D02-7149-C10C-B079-3F3264FF9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6172200"/>
            <a:ext cx="2895600" cy="533400"/>
          </a:xfrm>
          <a:prstGeom prst="wedgeRectCallout">
            <a:avLst>
              <a:gd name="adj1" fmla="val -61787"/>
              <a:gd name="adj2" fmla="val -57736"/>
            </a:avLst>
          </a:prstGeom>
          <a:noFill/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Models creation of fresh capability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every time A and B communicate</a:t>
            </a:r>
          </a:p>
        </p:txBody>
      </p:sp>
      <p:sp>
        <p:nvSpPr>
          <p:cNvPr id="871441" name="Text Box 17">
            <a:extLst>
              <a:ext uri="{FF2B5EF4-FFF2-40B4-BE49-F238E27FC236}">
                <a16:creationId xmlns:a16="http://schemas.microsoft.com/office/drawing/2014/main" id="{8F96EF00-055B-D428-372E-943FD9A85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196013"/>
            <a:ext cx="1444625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400">
                <a:solidFill>
                  <a:srgbClr val="FF3300"/>
                </a:solidFill>
              </a:rPr>
              <a:t>capability s may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>
                <a:solidFill>
                  <a:srgbClr val="FF3300"/>
                </a:solidFill>
              </a:rPr>
              <a:t>be intercepted!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>
            <a:extLst>
              <a:ext uri="{FF2B5EF4-FFF2-40B4-BE49-F238E27FC236}">
                <a16:creationId xmlns:a16="http://schemas.microsoft.com/office/drawing/2014/main" id="{A3BF7F6B-A5DE-78F6-8CD6-9ADA5B71D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914400"/>
          </a:xfrm>
        </p:spPr>
        <p:txBody>
          <a:bodyPr/>
          <a:lstStyle/>
          <a:p>
            <a:r>
              <a:rPr lang="en-US" altLang="en-US"/>
              <a:t>Better Protocol with Capabilities</a:t>
            </a:r>
          </a:p>
        </p:txBody>
      </p:sp>
      <p:sp>
        <p:nvSpPr>
          <p:cNvPr id="872451" name="Rectangle 3">
            <a:extLst>
              <a:ext uri="{FF2B5EF4-FFF2-40B4-BE49-F238E27FC236}">
                <a16:creationId xmlns:a16="http://schemas.microsoft.com/office/drawing/2014/main" id="{26396F17-00E0-241D-5C85-D57BB9A92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8382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l">
              <a:defRPr kumimoji="1"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3pPr>
            <a:lvl4pPr marL="1600200" indent="-228600" algn="l"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4pPr>
            <a:lvl5pPr marL="2057400" indent="-228600" algn="l"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accent2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3200"/>
              <a:t>	</a:t>
            </a:r>
          </a:p>
        </p:txBody>
      </p:sp>
      <p:sp>
        <p:nvSpPr>
          <p:cNvPr id="872452" name="Text Box 4">
            <a:extLst>
              <a:ext uri="{FF2B5EF4-FFF2-40B4-BE49-F238E27FC236}">
                <a16:creationId xmlns:a16="http://schemas.microsoft.com/office/drawing/2014/main" id="{E98EFCF2-66FC-6DDF-5BDF-226DEFD4E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44938"/>
            <a:ext cx="67564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A(M) =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(M,</a:t>
            </a:r>
            <a:r>
              <a:rPr kumimoji="1" lang="en-US" altLang="en-US" sz="2800">
                <a:solidFill>
                  <a:schemeClr val="accent2"/>
                </a:solidFill>
                <a:latin typeface="Courier New" panose="02070309020205020404" pitchFamily="49" charset="0"/>
                <a:sym typeface="Symbol" pitchFamily="2" charset="2"/>
              </a:rPr>
              <a:t>hash(s,M)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)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B  = c(x).if second(x)=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			  hash(s,first(x))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            then </a:t>
            </a:r>
            <a:r>
              <a:rPr kumimoji="1"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first(</a:t>
            </a:r>
            <a:r>
              <a:rPr kumimoji="1" lang="en-US" altLang="en-US" sz="2800">
                <a:latin typeface="Courier New" panose="02070309020205020404" pitchFamily="49" charset="0"/>
              </a:rPr>
              <a:t>x)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</a:t>
            </a:r>
            <a:endParaRPr lang="en-US" altLang="en-US" sz="2800"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P(M) = (</a:t>
            </a:r>
            <a:r>
              <a:rPr kumimoji="1" lang="en-US" altLang="en-US" sz="2800">
                <a:latin typeface="Courier New" panose="02070309020205020404" pitchFamily="49" charset="0"/>
                <a:sym typeface="Symbol" pitchFamily="2" charset="2"/>
              </a:rPr>
              <a:t></a:t>
            </a:r>
            <a:r>
              <a:rPr lang="en-US" altLang="en-US" sz="2800">
                <a:latin typeface="Courier New" panose="02070309020205020404" pitchFamily="49" charset="0"/>
              </a:rPr>
              <a:t>s)(A(M)|B)</a:t>
            </a:r>
          </a:p>
        </p:txBody>
      </p:sp>
      <p:sp>
        <p:nvSpPr>
          <p:cNvPr id="872453" name="Oval 5">
            <a:extLst>
              <a:ext uri="{FF2B5EF4-FFF2-40B4-BE49-F238E27FC236}">
                <a16:creationId xmlns:a16="http://schemas.microsoft.com/office/drawing/2014/main" id="{CA2C73CF-58F7-C716-7D3C-1E172286B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812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A</a:t>
            </a:r>
          </a:p>
        </p:txBody>
      </p:sp>
      <p:sp>
        <p:nvSpPr>
          <p:cNvPr id="872454" name="Oval 6">
            <a:extLst>
              <a:ext uri="{FF2B5EF4-FFF2-40B4-BE49-F238E27FC236}">
                <a16:creationId xmlns:a16="http://schemas.microsoft.com/office/drawing/2014/main" id="{18EA3BD5-3D14-7A70-C20C-398CEB89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981200"/>
            <a:ext cx="10668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None/>
            </a:pPr>
            <a:r>
              <a:rPr lang="en-US" altLang="en-US" sz="4400"/>
              <a:t>B</a:t>
            </a:r>
          </a:p>
        </p:txBody>
      </p:sp>
      <p:sp>
        <p:nvSpPr>
          <p:cNvPr id="872455" name="Line 7">
            <a:extLst>
              <a:ext uri="{FF2B5EF4-FFF2-40B4-BE49-F238E27FC236}">
                <a16:creationId xmlns:a16="http://schemas.microsoft.com/office/drawing/2014/main" id="{635A31BD-814C-56D3-CC6B-56916E285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14600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456" name="Text Box 8">
            <a:extLst>
              <a:ext uri="{FF2B5EF4-FFF2-40B4-BE49-F238E27FC236}">
                <a16:creationId xmlns:a16="http://schemas.microsoft.com/office/drawing/2014/main" id="{BC88F628-27D5-AEAD-5DEB-C7822A7E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525" y="2057400"/>
            <a:ext cx="208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(M,hash(s,M))</a:t>
            </a:r>
          </a:p>
        </p:txBody>
      </p:sp>
      <p:sp>
        <p:nvSpPr>
          <p:cNvPr id="872457" name="Text Box 9">
            <a:extLst>
              <a:ext uri="{FF2B5EF4-FFF2-40B4-BE49-F238E27FC236}">
                <a16:creationId xmlns:a16="http://schemas.microsoft.com/office/drawing/2014/main" id="{CEF69076-3F2B-8FD1-033E-1D8744ADF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590800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c</a:t>
            </a:r>
          </a:p>
        </p:txBody>
      </p:sp>
      <p:sp>
        <p:nvSpPr>
          <p:cNvPr id="872458" name="Text Box 10">
            <a:extLst>
              <a:ext uri="{FF2B5EF4-FFF2-40B4-BE49-F238E27FC236}">
                <a16:creationId xmlns:a16="http://schemas.microsoft.com/office/drawing/2014/main" id="{F572CD71-642A-A7E7-10AC-A8375BF3F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884613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72459" name="Line 11">
            <a:extLst>
              <a:ext uri="{FF2B5EF4-FFF2-40B4-BE49-F238E27FC236}">
                <a16:creationId xmlns:a16="http://schemas.microsoft.com/office/drawing/2014/main" id="{EE4046A8-A43F-F368-8564-141876124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16188"/>
            <a:ext cx="2163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460" name="Text Box 12">
            <a:extLst>
              <a:ext uri="{FF2B5EF4-FFF2-40B4-BE49-F238E27FC236}">
                <a16:creationId xmlns:a16="http://schemas.microsoft.com/office/drawing/2014/main" id="{79D4EDCE-E3BC-6433-6173-C0C72A267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058988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72461" name="Text Box 13">
            <a:extLst>
              <a:ext uri="{FF2B5EF4-FFF2-40B4-BE49-F238E27FC236}">
                <a16:creationId xmlns:a16="http://schemas.microsoft.com/office/drawing/2014/main" id="{C9070E2B-8A44-9ED7-B5BE-AF21F692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2592388"/>
            <a:ext cx="148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channel d</a:t>
            </a:r>
          </a:p>
        </p:txBody>
      </p:sp>
      <p:sp>
        <p:nvSpPr>
          <p:cNvPr id="872462" name="Text Box 14">
            <a:extLst>
              <a:ext uri="{FF2B5EF4-FFF2-40B4-BE49-F238E27FC236}">
                <a16:creationId xmlns:a16="http://schemas.microsoft.com/office/drawing/2014/main" id="{56202E9C-E760-5DAC-F903-BDB73350D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51054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72463" name="AutoShape 15">
            <a:extLst>
              <a:ext uri="{FF2B5EF4-FFF2-40B4-BE49-F238E27FC236}">
                <a16:creationId xmlns:a16="http://schemas.microsoft.com/office/drawing/2014/main" id="{45883FE3-B24E-0D43-D21C-DDE67709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275013"/>
            <a:ext cx="2438400" cy="534987"/>
          </a:xfrm>
          <a:prstGeom prst="wedgeRectCallout">
            <a:avLst>
              <a:gd name="adj1" fmla="val -57745"/>
              <a:gd name="adj2" fmla="val 90653"/>
            </a:avLst>
          </a:prstGeom>
          <a:noFill/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Hashing protects integrity of M and secrecy of 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>
            <a:extLst>
              <a:ext uri="{FF2B5EF4-FFF2-40B4-BE49-F238E27FC236}">
                <a16:creationId xmlns:a16="http://schemas.microsoft.com/office/drawing/2014/main" id="{26EA95F4-8FDE-B68E-1B2F-C7A31F9A3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Proving Security</a:t>
            </a:r>
          </a:p>
        </p:txBody>
      </p:sp>
      <p:sp>
        <p:nvSpPr>
          <p:cNvPr id="863235" name="Rectangle 3">
            <a:extLst>
              <a:ext uri="{FF2B5EF4-FFF2-40B4-BE49-F238E27FC236}">
                <a16:creationId xmlns:a16="http://schemas.microsoft.com/office/drawing/2014/main" id="{5AE9F459-7E03-3AC1-0D1B-0C36ADE92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105400"/>
          </a:xfrm>
        </p:spPr>
        <p:txBody>
          <a:bodyPr/>
          <a:lstStyle/>
          <a:p>
            <a:r>
              <a:rPr lang="en-US" altLang="en-US"/>
              <a:t>“Real” protocol</a:t>
            </a:r>
          </a:p>
          <a:p>
            <a:pPr lvl="1"/>
            <a:r>
              <a:rPr lang="en-US" altLang="en-US"/>
              <a:t>Process-calculus specification of the actual protocol</a:t>
            </a:r>
          </a:p>
          <a:p>
            <a:r>
              <a:rPr lang="en-US" altLang="en-US"/>
              <a:t>“Ideal” protocol </a:t>
            </a:r>
          </a:p>
          <a:p>
            <a:pPr lvl="1"/>
            <a:r>
              <a:rPr lang="en-US" altLang="en-US"/>
              <a:t>Achieves the same goal as the real protocol, but is secure by design</a:t>
            </a:r>
          </a:p>
          <a:p>
            <a:pPr lvl="1"/>
            <a:r>
              <a:rPr lang="en-US" altLang="en-US"/>
              <a:t>Uses unrealistic mechanisms, e.g., private channels</a:t>
            </a:r>
          </a:p>
          <a:p>
            <a:pPr lvl="1"/>
            <a:r>
              <a:rPr lang="en-US" altLang="en-US"/>
              <a:t>Represents the desired behavior of real protocol</a:t>
            </a:r>
          </a:p>
          <a:p>
            <a:r>
              <a:rPr lang="en-US" altLang="en-US"/>
              <a:t>To prove the real protocol secure, show that no attacker can tell the difference between the real protocol and the ideal protocol</a:t>
            </a:r>
          </a:p>
          <a:p>
            <a:pPr lvl="1"/>
            <a:r>
              <a:rPr lang="en-US" altLang="en-US"/>
              <a:t>Proof will depend on the model of attacker observations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>
            <a:extLst>
              <a:ext uri="{FF2B5EF4-FFF2-40B4-BE49-F238E27FC236}">
                <a16:creationId xmlns:a16="http://schemas.microsoft.com/office/drawing/2014/main" id="{ADA66B51-EF71-4FE6-4539-FAEAE94FC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Challenge-Response</a:t>
            </a:r>
          </a:p>
        </p:txBody>
      </p:sp>
      <p:sp>
        <p:nvSpPr>
          <p:cNvPr id="864261" name="Rectangle 5">
            <a:extLst>
              <a:ext uri="{FF2B5EF4-FFF2-40B4-BE49-F238E27FC236}">
                <a16:creationId xmlns:a16="http://schemas.microsoft.com/office/drawing/2014/main" id="{D5384E47-DC23-64C7-1D3D-0FE78E043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Challenge-response protocol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{i}</a:t>
            </a:r>
            <a:r>
              <a:rPr lang="en-US" altLang="en-US" baseline="-25000"/>
              <a:t>k</a:t>
            </a:r>
          </a:p>
          <a:p>
            <a:pPr lvl="1"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A	{i+1}</a:t>
            </a:r>
            <a:r>
              <a:rPr lang="en-US" altLang="en-US" baseline="-25000"/>
              <a:t>k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This protocol is secure if it is indistinguishable from this “ideal” protocol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{random</a:t>
            </a:r>
            <a:r>
              <a:rPr lang="en-US" altLang="en-US" baseline="-25000"/>
              <a:t>1</a:t>
            </a:r>
            <a:r>
              <a:rPr lang="en-US" altLang="en-US"/>
              <a:t>}</a:t>
            </a:r>
            <a:r>
              <a:rPr lang="en-US" altLang="en-US" baseline="-25000"/>
              <a:t>k</a:t>
            </a:r>
          </a:p>
          <a:p>
            <a:pPr lvl="1"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A	{random</a:t>
            </a:r>
            <a:r>
              <a:rPr lang="en-US" altLang="en-US" baseline="-25000"/>
              <a:t>2</a:t>
            </a:r>
            <a:r>
              <a:rPr lang="en-US" altLang="en-US"/>
              <a:t>}</a:t>
            </a:r>
            <a:r>
              <a:rPr lang="en-US" altLang="en-US" baseline="-25000"/>
              <a:t>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>
            <a:extLst>
              <a:ext uri="{FF2B5EF4-FFF2-40B4-BE49-F238E27FC236}">
                <a16:creationId xmlns:a16="http://schemas.microsoft.com/office/drawing/2014/main" id="{DD8FE252-5348-E78B-04D6-F64AE6858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Authentication</a:t>
            </a:r>
          </a:p>
        </p:txBody>
      </p:sp>
      <p:sp>
        <p:nvSpPr>
          <p:cNvPr id="865283" name="Rectangle 3">
            <a:extLst>
              <a:ext uri="{FF2B5EF4-FFF2-40B4-BE49-F238E27FC236}">
                <a16:creationId xmlns:a16="http://schemas.microsoft.com/office/drawing/2014/main" id="{87D81E87-B75A-8795-C9BD-0ACAC9AE2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105400"/>
          </a:xfrm>
        </p:spPr>
        <p:txBody>
          <a:bodyPr/>
          <a:lstStyle/>
          <a:p>
            <a:r>
              <a:rPr lang="en-US" altLang="en-US"/>
              <a:t>Authentication protocol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{i}</a:t>
            </a:r>
            <a:r>
              <a:rPr lang="en-US" altLang="en-US" baseline="-25000"/>
              <a:t>k</a:t>
            </a:r>
          </a:p>
          <a:p>
            <a:pPr lvl="1"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A	{i+1}</a:t>
            </a:r>
            <a:r>
              <a:rPr lang="en-US" altLang="en-US" baseline="-25000"/>
              <a:t>k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“Ok”</a:t>
            </a:r>
          </a:p>
          <a:p>
            <a:r>
              <a:rPr lang="en-US" altLang="en-US"/>
              <a:t>This protocol is secure if it is indistinguishable from this “ideal” protocol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{random</a:t>
            </a:r>
            <a:r>
              <a:rPr lang="en-US" altLang="en-US" baseline="-25000"/>
              <a:t>1</a:t>
            </a:r>
            <a:r>
              <a:rPr lang="en-US" altLang="en-US"/>
              <a:t>}</a:t>
            </a:r>
            <a:r>
              <a:rPr lang="en-US" altLang="en-US" baseline="-25000"/>
              <a:t>k</a:t>
            </a:r>
          </a:p>
          <a:p>
            <a:pPr lvl="1"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A	{random</a:t>
            </a:r>
            <a:r>
              <a:rPr lang="en-US" altLang="en-US" baseline="-25000"/>
              <a:t>2</a:t>
            </a:r>
            <a:r>
              <a:rPr lang="en-US" altLang="en-US"/>
              <a:t>}</a:t>
            </a:r>
            <a:r>
              <a:rPr lang="en-US" altLang="en-US" baseline="-25000"/>
              <a:t>k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B 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2"/>
                </a:solidFill>
              </a:rPr>
              <a:t> A	 random</a:t>
            </a:r>
            <a:r>
              <a:rPr lang="en-US" altLang="en-US" baseline="-25000">
                <a:solidFill>
                  <a:schemeClr val="accent2"/>
                </a:solidFill>
              </a:rPr>
              <a:t>1</a:t>
            </a:r>
            <a:r>
              <a:rPr lang="en-US" altLang="en-US">
                <a:solidFill>
                  <a:schemeClr val="accent2"/>
                </a:solidFill>
              </a:rPr>
              <a:t>, random</a:t>
            </a:r>
            <a:r>
              <a:rPr lang="en-US" altLang="en-US" baseline="-25000">
                <a:solidFill>
                  <a:schemeClr val="accent2"/>
                </a:solidFill>
              </a:rPr>
              <a:t>2</a:t>
            </a:r>
            <a:r>
              <a:rPr lang="en-US" altLang="en-US">
                <a:solidFill>
                  <a:schemeClr val="accent2"/>
                </a:solidFill>
              </a:rPr>
              <a:t>   on a magic secure channel</a:t>
            </a:r>
          </a:p>
          <a:p>
            <a:pPr lvl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itchFamily="2" charset="2"/>
              </a:rPr>
              <a:t></a:t>
            </a:r>
            <a:r>
              <a:rPr lang="en-US" altLang="en-US"/>
              <a:t> B	“Ok” if numbers on real &amp; magic channels match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2">
            <a:extLst>
              <a:ext uri="{FF2B5EF4-FFF2-40B4-BE49-F238E27FC236}">
                <a16:creationId xmlns:a16="http://schemas.microsoft.com/office/drawing/2014/main" id="{7E0071D9-D44D-2AF4-3668-E6EF6745F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9194800" cy="914400"/>
          </a:xfrm>
        </p:spPr>
        <p:txBody>
          <a:bodyPr/>
          <a:lstStyle/>
          <a:p>
            <a:r>
              <a:rPr lang="en-US" altLang="en-US"/>
              <a:t>Security as Observational Equivalence</a:t>
            </a:r>
          </a:p>
        </p:txBody>
      </p:sp>
      <p:sp>
        <p:nvSpPr>
          <p:cNvPr id="866307" name="Rectangle 3">
            <a:extLst>
              <a:ext uri="{FF2B5EF4-FFF2-40B4-BE49-F238E27FC236}">
                <a16:creationId xmlns:a16="http://schemas.microsoft.com/office/drawing/2014/main" id="{5FAA6F55-E1EB-50E0-70E5-004350D0A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r>
              <a:rPr lang="en-US" altLang="en-US"/>
              <a:t>Need to prove that two processes are </a:t>
            </a:r>
            <a:r>
              <a:rPr lang="en-US" altLang="en-US">
                <a:solidFill>
                  <a:schemeClr val="accent2"/>
                </a:solidFill>
              </a:rPr>
              <a:t>observationally equivalent</a:t>
            </a:r>
            <a:r>
              <a:rPr lang="en-US" altLang="en-US"/>
              <a:t> to the attacker</a:t>
            </a:r>
          </a:p>
          <a:p>
            <a:r>
              <a:rPr lang="en-US" altLang="en-US"/>
              <a:t>Complexity-theoretic model</a:t>
            </a:r>
          </a:p>
          <a:p>
            <a:pPr lvl="1"/>
            <a:r>
              <a:rPr lang="en-US" altLang="en-US"/>
              <a:t>Prove that two systems cannot be distinguished by any probabilistic polynomial-time adversary</a:t>
            </a:r>
          </a:p>
          <a:p>
            <a:pPr lvl="2" algn="r">
              <a:buFontTx/>
              <a:buNone/>
            </a:pPr>
            <a:r>
              <a:rPr lang="en-US" altLang="en-US"/>
              <a:t>		[Beaver ’91, Goldwasser-Levin ’90, Micali-Rogaway ’91]</a:t>
            </a:r>
          </a:p>
          <a:p>
            <a:r>
              <a:rPr lang="en-US" altLang="en-US"/>
              <a:t>Abstract process-calculus model</a:t>
            </a:r>
          </a:p>
          <a:p>
            <a:pPr lvl="1"/>
            <a:r>
              <a:rPr lang="en-US" altLang="en-US"/>
              <a:t>Cryptography is modeled by abstract functions</a:t>
            </a:r>
          </a:p>
          <a:p>
            <a:pPr lvl="1"/>
            <a:r>
              <a:rPr lang="en-US" altLang="en-US"/>
              <a:t>Prove testing equivalence between two processes</a:t>
            </a:r>
          </a:p>
          <a:p>
            <a:pPr lvl="1"/>
            <a:r>
              <a:rPr lang="en-US" altLang="en-US"/>
              <a:t>Proofs are easier, but it is nontrivial to show computational completeness	               </a:t>
            </a:r>
            <a:r>
              <a:rPr lang="en-US" altLang="en-US" sz="2000">
                <a:solidFill>
                  <a:schemeClr val="accent2"/>
                </a:solidFill>
              </a:rPr>
              <a:t>[Abadi-Rogaway ’00]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>
            <a:extLst>
              <a:ext uri="{FF2B5EF4-FFF2-40B4-BE49-F238E27FC236}">
                <a16:creationId xmlns:a16="http://schemas.microsoft.com/office/drawing/2014/main" id="{8905B413-6D8C-FEEB-35D9-63B0055AB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Structural Equivalence</a:t>
            </a:r>
          </a:p>
        </p:txBody>
      </p:sp>
      <p:sp>
        <p:nvSpPr>
          <p:cNvPr id="858115" name="Rectangle 3">
            <a:extLst>
              <a:ext uri="{FF2B5EF4-FFF2-40B4-BE49-F238E27FC236}">
                <a16:creationId xmlns:a16="http://schemas.microsoft.com/office/drawing/2014/main" id="{3212BA99-1F1C-F049-9ACA-6F99028B7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534400" cy="50292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en-US" sz="2800"/>
              <a:t>		   P | nil </a:t>
            </a:r>
            <a:r>
              <a:rPr lang="en-US" altLang="en-US" sz="2800">
                <a:sym typeface="Symbol" pitchFamily="2" charset="2"/>
              </a:rPr>
              <a:t> </a:t>
            </a:r>
            <a:r>
              <a:rPr lang="en-US" altLang="en-US" sz="2800"/>
              <a:t>P</a:t>
            </a:r>
          </a:p>
          <a:p>
            <a:pPr lvl="1">
              <a:buFontTx/>
              <a:buNone/>
            </a:pPr>
            <a:r>
              <a:rPr lang="en-US" altLang="en-US" sz="2800"/>
              <a:t>	     P | Q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Q | P</a:t>
            </a:r>
          </a:p>
          <a:p>
            <a:pPr lvl="1">
              <a:buFontTx/>
              <a:buNone/>
            </a:pPr>
            <a:r>
              <a:rPr lang="en-US" altLang="en-US" sz="2800"/>
              <a:t>P | (Q | R)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(P | Q) | R</a:t>
            </a:r>
          </a:p>
          <a:p>
            <a:pPr lvl="1">
              <a:buFontTx/>
              <a:buNone/>
            </a:pPr>
            <a:r>
              <a:rPr lang="en-US" altLang="en-US" sz="2800"/>
              <a:t>			!P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P | !P</a:t>
            </a:r>
          </a:p>
          <a:p>
            <a:pPr lvl="1">
              <a:buFontTx/>
              <a:buNone/>
            </a:pPr>
            <a:r>
              <a:rPr lang="en-US" altLang="en-US" sz="2800"/>
              <a:t>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m)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n)P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m)P </a:t>
            </a:r>
          </a:p>
          <a:p>
            <a:pPr lvl="1">
              <a:buFontTx/>
              <a:buNone/>
            </a:pPr>
            <a:r>
              <a:rPr lang="en-US" altLang="en-US" sz="2800"/>
              <a:t>		 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n)nil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nil</a:t>
            </a:r>
          </a:p>
          <a:p>
            <a:pPr lvl="1">
              <a:buFontTx/>
              <a:buNone/>
            </a:pPr>
            <a:r>
              <a:rPr lang="en-US" altLang="en-US" sz="2800"/>
              <a:t>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n)(P | Q)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P | (</a:t>
            </a:r>
            <a:r>
              <a:rPr lang="en-US" altLang="en-US" sz="2800">
                <a:sym typeface="Symbol" pitchFamily="2" charset="2"/>
              </a:rPr>
              <a:t></a:t>
            </a:r>
            <a:r>
              <a:rPr lang="en-US" altLang="en-US" sz="2800"/>
              <a:t>n)Q    </a:t>
            </a:r>
            <a:r>
              <a:rPr lang="en-US" altLang="en-US" sz="2000" i="1"/>
              <a:t>if n</a:t>
            </a:r>
            <a:r>
              <a:rPr lang="en-US" altLang="en-US" sz="2000" i="1">
                <a:sym typeface="Symbol" pitchFamily="2" charset="2"/>
              </a:rPr>
              <a:t> is not a free name in </a:t>
            </a:r>
            <a:r>
              <a:rPr lang="en-US" altLang="en-US" sz="2000" i="1"/>
              <a:t>P</a:t>
            </a:r>
          </a:p>
          <a:p>
            <a:pPr lvl="1">
              <a:buFontTx/>
              <a:buNone/>
            </a:pPr>
            <a:r>
              <a:rPr lang="en-US" altLang="en-US" sz="2800"/>
              <a:t>		  P[M/x]  </a:t>
            </a:r>
            <a:r>
              <a:rPr lang="en-US" altLang="en-US" sz="2800">
                <a:sym typeface="Symbol" pitchFamily="2" charset="2"/>
              </a:rPr>
              <a:t></a:t>
            </a:r>
            <a:r>
              <a:rPr lang="en-US" altLang="en-US" sz="2800"/>
              <a:t> P[N/x]        </a:t>
            </a:r>
            <a:r>
              <a:rPr lang="en-US" altLang="en-US" sz="2000" i="1"/>
              <a:t>if M=N in the equational theory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>
            <a:extLst>
              <a:ext uri="{FF2B5EF4-FFF2-40B4-BE49-F238E27FC236}">
                <a16:creationId xmlns:a16="http://schemas.microsoft.com/office/drawing/2014/main" id="{8A786D84-DCE1-BB23-3E96-F97C84F8D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Operational Semantics</a:t>
            </a:r>
          </a:p>
        </p:txBody>
      </p:sp>
      <p:sp>
        <p:nvSpPr>
          <p:cNvPr id="867331" name="Rectangle 3">
            <a:extLst>
              <a:ext uri="{FF2B5EF4-FFF2-40B4-BE49-F238E27FC236}">
                <a16:creationId xmlns:a16="http://schemas.microsoft.com/office/drawing/2014/main" id="{16A1E7D6-D16D-4091-EC17-401B2D127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5029200"/>
          </a:xfrm>
        </p:spPr>
        <p:txBody>
          <a:bodyPr/>
          <a:lstStyle/>
          <a:p>
            <a:r>
              <a:rPr lang="en-US" altLang="en-US" sz="3200"/>
              <a:t>Reduction </a:t>
            </a:r>
            <a:r>
              <a:rPr lang="en-US" altLang="en-US" sz="3200">
                <a:sym typeface="Symbol" pitchFamily="2" charset="2"/>
              </a:rPr>
              <a:t> </a:t>
            </a:r>
            <a:r>
              <a:rPr lang="en-US" altLang="en-US" sz="3200"/>
              <a:t>is the smallest relation on closed processes that is closed by structural equivalence and application of evaluation contexts such that</a:t>
            </a:r>
          </a:p>
          <a:p>
            <a:pPr lvl="1">
              <a:buFontTx/>
              <a:buNone/>
            </a:pPr>
            <a:r>
              <a:rPr lang="en-US" altLang="en-US" sz="2800"/>
              <a:t>           ā</a:t>
            </a:r>
            <a:r>
              <a:rPr lang="en-US" altLang="en-US" sz="2800">
                <a:sym typeface="Symbol" pitchFamily="2" charset="2"/>
              </a:rPr>
              <a:t></a:t>
            </a:r>
            <a:r>
              <a:rPr lang="en-US" altLang="en-US" sz="2800"/>
              <a:t>M</a:t>
            </a:r>
            <a:r>
              <a:rPr lang="en-US" altLang="en-US" sz="2800">
                <a:sym typeface="Symbol" pitchFamily="2" charset="2"/>
              </a:rPr>
              <a:t></a:t>
            </a:r>
            <a:r>
              <a:rPr lang="en-US" altLang="en-US" sz="2800"/>
              <a:t>.P | a(x).Q  </a:t>
            </a:r>
            <a:r>
              <a:rPr lang="en-US" altLang="en-US" sz="2800">
                <a:sym typeface="Symbol" pitchFamily="2" charset="2"/>
              </a:rPr>
              <a:t>  </a:t>
            </a:r>
            <a:r>
              <a:rPr lang="en-US" altLang="en-US" sz="2800"/>
              <a:t>P | Q[M/x]</a:t>
            </a:r>
          </a:p>
          <a:p>
            <a:pPr lvl="1" algn="r">
              <a:buFontTx/>
              <a:buNone/>
            </a:pPr>
            <a:r>
              <a:rPr lang="en-US" altLang="en-US" sz="2800"/>
              <a:t>			</a:t>
            </a:r>
            <a:r>
              <a:rPr lang="en-US" altLang="en-US" sz="2000" i="1"/>
              <a:t>models P sending M to Q on channel a</a:t>
            </a:r>
          </a:p>
          <a:p>
            <a:pPr lvl="1">
              <a:buFontTx/>
              <a:buNone/>
            </a:pPr>
            <a:r>
              <a:rPr lang="en-US" altLang="en-US" sz="2800"/>
              <a:t>if M = M then P else Q  </a:t>
            </a:r>
            <a:r>
              <a:rPr lang="en-US" altLang="en-US" sz="2800">
                <a:sym typeface="Symbol" pitchFamily="2" charset="2"/>
              </a:rPr>
              <a:t>  </a:t>
            </a:r>
            <a:r>
              <a:rPr lang="en-US" altLang="en-US" sz="2800"/>
              <a:t>P</a:t>
            </a:r>
          </a:p>
          <a:p>
            <a:pPr lvl="1">
              <a:buFontTx/>
              <a:buNone/>
            </a:pPr>
            <a:r>
              <a:rPr lang="en-US" altLang="en-US" sz="2800"/>
              <a:t>if M = N then P else Q  </a:t>
            </a:r>
            <a:r>
              <a:rPr lang="en-US" altLang="en-US" sz="2800">
                <a:sym typeface="Symbol" pitchFamily="2" charset="2"/>
              </a:rPr>
              <a:t>  </a:t>
            </a:r>
            <a:r>
              <a:rPr lang="en-US" altLang="en-US" sz="2800"/>
              <a:t>Q</a:t>
            </a:r>
          </a:p>
          <a:p>
            <a:pPr lvl="1" algn="r">
              <a:buFontTx/>
              <a:buNone/>
            </a:pPr>
            <a:r>
              <a:rPr lang="en-US" altLang="en-US" sz="2800"/>
              <a:t>			</a:t>
            </a:r>
            <a:r>
              <a:rPr lang="en-US" altLang="en-US" sz="2000" i="1"/>
              <a:t>for any ground M, N s.t. M </a:t>
            </a:r>
            <a:r>
              <a:rPr lang="en-US" altLang="en-US" sz="2000" i="1">
                <a:sym typeface="Symbol" pitchFamily="2" charset="2"/>
              </a:rPr>
              <a:t> </a:t>
            </a:r>
            <a:r>
              <a:rPr lang="en-US" altLang="en-US" sz="2000" i="1"/>
              <a:t>N in the equational theory</a:t>
            </a:r>
          </a:p>
          <a:p>
            <a:pPr lvl="1">
              <a:buFontTx/>
              <a:buNone/>
            </a:pPr>
            <a:endParaRPr lang="en-US" altLang="en-US" sz="2000"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9" name="Rectangle 3">
            <a:extLst>
              <a:ext uri="{FF2B5EF4-FFF2-40B4-BE49-F238E27FC236}">
                <a16:creationId xmlns:a16="http://schemas.microsoft.com/office/drawing/2014/main" id="{3FC4C1DD-E6EA-3A4D-D40D-9A1EC629C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altLang="en-US"/>
              <a:t>Standard process-calculus notions of equivalence such as bisimulation are not adequate for cryptographic protocols</a:t>
            </a:r>
          </a:p>
          <a:p>
            <a:pPr lvl="1"/>
            <a:r>
              <a:rPr lang="en-US" altLang="en-US"/>
              <a:t>Different ciphertexts leak no information to the attacker who does not know the decryption keys</a:t>
            </a:r>
          </a:p>
          <a:p>
            <a:r>
              <a:rPr lang="en-US" altLang="en-US">
                <a:solidFill>
                  <a:schemeClr val="accent2"/>
                </a:solidFill>
              </a:rPr>
              <a:t>(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</a:t>
            </a:r>
            <a:r>
              <a:rPr lang="en-US" altLang="en-US">
                <a:solidFill>
                  <a:schemeClr val="accent2"/>
                </a:solidFill>
              </a:rPr>
              <a:t>k)c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</a:t>
            </a:r>
            <a:r>
              <a:rPr lang="en-US" altLang="en-US">
                <a:solidFill>
                  <a:schemeClr val="accent2"/>
                </a:solidFill>
              </a:rPr>
              <a:t>symenc(M,k)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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accent2"/>
                </a:solidFill>
              </a:rPr>
              <a:t>(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</a:t>
            </a:r>
            <a:r>
              <a:rPr lang="en-US" altLang="en-US">
                <a:solidFill>
                  <a:schemeClr val="accent2"/>
                </a:solidFill>
              </a:rPr>
              <a:t>k)c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</a:t>
            </a:r>
            <a:r>
              <a:rPr lang="en-US" altLang="en-US">
                <a:solidFill>
                  <a:schemeClr val="accent2"/>
                </a:solidFill>
              </a:rPr>
              <a:t>symenc(N,k)</a:t>
            </a:r>
            <a:r>
              <a:rPr lang="en-US" altLang="en-US">
                <a:solidFill>
                  <a:schemeClr val="accent2"/>
                </a:solidFill>
                <a:sym typeface="Symbol" pitchFamily="2" charset="2"/>
              </a:rPr>
              <a:t></a:t>
            </a:r>
            <a:r>
              <a:rPr lang="en-US" altLang="en-US"/>
              <a:t> send different messages, but they should be treated as equivalent when proving security</a:t>
            </a:r>
          </a:p>
          <a:p>
            <a:pPr lvl="1"/>
            <a:r>
              <a:rPr lang="en-US" altLang="en-US"/>
              <a:t>In each case, a term is encrypted under a fresh key</a:t>
            </a:r>
          </a:p>
          <a:p>
            <a:pPr lvl="1"/>
            <a:r>
              <a:rPr lang="en-US" altLang="en-US"/>
              <a:t>No test by the attacker can tell these apart</a:t>
            </a:r>
          </a:p>
        </p:txBody>
      </p:sp>
      <p:sp>
        <p:nvSpPr>
          <p:cNvPr id="813058" name="Rectangle 2">
            <a:extLst>
              <a:ext uri="{FF2B5EF4-FFF2-40B4-BE49-F238E27FC236}">
                <a16:creationId xmlns:a16="http://schemas.microsoft.com/office/drawing/2014/main" id="{0EBE050D-7441-3854-16A0-209F9A75C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Equivalence in Process Calculus</a:t>
            </a:r>
          </a:p>
        </p:txBody>
      </p:sp>
      <p:sp>
        <p:nvSpPr>
          <p:cNvPr id="813097" name="Text Box 41">
            <a:extLst>
              <a:ext uri="{FF2B5EF4-FFF2-40B4-BE49-F238E27FC236}">
                <a16:creationId xmlns:a16="http://schemas.microsoft.com/office/drawing/2014/main" id="{218D6798-EBF3-3E88-5767-780E13DE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4102100"/>
            <a:ext cx="3689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endParaRPr lang="en-US" altLang="en-US" sz="2000">
              <a:solidFill>
                <a:srgbClr val="003399"/>
              </a:solidFill>
              <a:latin typeface="Arial" panose="020B0604020202020204" pitchFamily="34" charset="0"/>
            </a:endParaRPr>
          </a:p>
        </p:txBody>
      </p:sp>
      <p:sp>
        <p:nvSpPr>
          <p:cNvPr id="813157" name="Text Box 101">
            <a:extLst>
              <a:ext uri="{FF2B5EF4-FFF2-40B4-BE49-F238E27FC236}">
                <a16:creationId xmlns:a16="http://schemas.microsoft.com/office/drawing/2014/main" id="{FC8C64AB-9082-6AE2-5DE5-39402B0C8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6576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13158" name="Text Box 102">
            <a:extLst>
              <a:ext uri="{FF2B5EF4-FFF2-40B4-BE49-F238E27FC236}">
                <a16:creationId xmlns:a16="http://schemas.microsoft.com/office/drawing/2014/main" id="{117597E2-8816-65E8-26B3-83AF4051D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36576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</a:rPr>
              <a:t>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>
            <a:extLst>
              <a:ext uri="{FF2B5EF4-FFF2-40B4-BE49-F238E27FC236}">
                <a16:creationId xmlns:a16="http://schemas.microsoft.com/office/drawing/2014/main" id="{11F3ED71-89D1-31AA-C5F3-4C3336E71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Equivalence</a:t>
            </a:r>
          </a:p>
        </p:txBody>
      </p:sp>
      <p:sp>
        <p:nvSpPr>
          <p:cNvPr id="873475" name="Rectangle 3">
            <a:extLst>
              <a:ext uri="{FF2B5EF4-FFF2-40B4-BE49-F238E27FC236}">
                <a16:creationId xmlns:a16="http://schemas.microsoft.com/office/drawing/2014/main" id="{B944B905-EB06-40F1-8D7F-68E6D8138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altLang="en-US"/>
              <a:t>Informally, two processes are equivalent if no environment can distinguish them</a:t>
            </a:r>
          </a:p>
          <a:p>
            <a:r>
              <a:rPr lang="en-US" altLang="en-US"/>
              <a:t>A </a:t>
            </a:r>
            <a:r>
              <a:rPr lang="en-US" altLang="en-US">
                <a:solidFill>
                  <a:schemeClr val="accent2"/>
                </a:solidFill>
              </a:rPr>
              <a:t>test</a:t>
            </a:r>
            <a:r>
              <a:rPr lang="en-US" altLang="en-US"/>
              <a:t> is a process R and channel name w</a:t>
            </a:r>
          </a:p>
          <a:p>
            <a:pPr lvl="1"/>
            <a:r>
              <a:rPr lang="en-US" altLang="en-US"/>
              <a:t>Informally, R is the environment and w is the channel on which the outcome of the test is announced</a:t>
            </a:r>
          </a:p>
          <a:p>
            <a:r>
              <a:rPr lang="en-US" altLang="en-US"/>
              <a:t>A process P </a:t>
            </a:r>
            <a:r>
              <a:rPr lang="en-US" altLang="en-US">
                <a:solidFill>
                  <a:schemeClr val="accent2"/>
                </a:solidFill>
              </a:rPr>
              <a:t>passes a test</a:t>
            </a:r>
            <a:r>
              <a:rPr lang="en-US" altLang="en-US"/>
              <a:t> (R,w) if P | R may produce an output on channel w</a:t>
            </a:r>
          </a:p>
          <a:p>
            <a:pPr lvl="1"/>
            <a:r>
              <a:rPr lang="en-US" altLang="en-US"/>
              <a:t>There is an interleaving of P and R that results in R being able to perform the desired test</a:t>
            </a:r>
          </a:p>
          <a:p>
            <a:r>
              <a:rPr lang="en-US" altLang="en-US"/>
              <a:t>Two processes are </a:t>
            </a:r>
            <a:r>
              <a:rPr lang="en-US" altLang="en-US">
                <a:solidFill>
                  <a:schemeClr val="accent2"/>
                </a:solidFill>
              </a:rPr>
              <a:t>equivalent</a:t>
            </a:r>
            <a:r>
              <a:rPr lang="en-US" altLang="en-US"/>
              <a:t> if they pass the same tests</a:t>
            </a:r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89A2DBC2-5D64-7CA1-4205-8FDE7192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4102100"/>
            <a:ext cx="3689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endParaRPr lang="en-US" altLang="en-US" sz="2000">
              <a:solidFill>
                <a:srgbClr val="00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Rectangle 2">
            <a:extLst>
              <a:ext uri="{FF2B5EF4-FFF2-40B4-BE49-F238E27FC236}">
                <a16:creationId xmlns:a16="http://schemas.microsoft.com/office/drawing/2014/main" id="{6DE785ED-DDAA-B926-C1EF-BD1B137D4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Advantages and Disadvantages</a:t>
            </a:r>
          </a:p>
        </p:txBody>
      </p:sp>
      <p:sp>
        <p:nvSpPr>
          <p:cNvPr id="823299" name="Rectangle 3">
            <a:extLst>
              <a:ext uri="{FF2B5EF4-FFF2-40B4-BE49-F238E27FC236}">
                <a16:creationId xmlns:a16="http://schemas.microsoft.com/office/drawing/2014/main" id="{9F08C1E3-EDF0-AAB3-71A3-E140D46B1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5105400"/>
          </a:xfrm>
        </p:spPr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Proving testing equivalence is hard</a:t>
            </a:r>
          </a:p>
          <a:p>
            <a:pPr lvl="1"/>
            <a:r>
              <a:rPr lang="en-US" altLang="en-US"/>
              <a:t>Need to quantify over all possible attacker processes and all tests they may perform</a:t>
            </a:r>
          </a:p>
          <a:p>
            <a:pPr lvl="1"/>
            <a:r>
              <a:rPr lang="en-US" altLang="en-US"/>
              <a:t>There are some helpful proof techniques, but no fully automated tools and very few decision procedures</a:t>
            </a:r>
          </a:p>
          <a:p>
            <a:r>
              <a:rPr lang="en-US" altLang="en-US">
                <a:solidFill>
                  <a:srgbClr val="66FF33"/>
                </a:solidFill>
              </a:rPr>
              <a:t>Testing equivalence is a congruence</a:t>
            </a:r>
          </a:p>
          <a:p>
            <a:pPr lvl="1"/>
            <a:r>
              <a:rPr lang="en-US" altLang="en-US"/>
              <a:t>Can compose protocols like building blocks</a:t>
            </a:r>
          </a:p>
          <a:p>
            <a:r>
              <a:rPr lang="en-US" altLang="en-US">
                <a:solidFill>
                  <a:srgbClr val="66FF33"/>
                </a:solidFill>
              </a:rPr>
              <a:t>Equivalence is the “right” notion of security</a:t>
            </a:r>
          </a:p>
          <a:p>
            <a:pPr lvl="1"/>
            <a:r>
              <a:rPr lang="en-US" altLang="en-US"/>
              <a:t>Direct connection with definitions of security in complexity-theoretic cryptography</a:t>
            </a:r>
          </a:p>
          <a:p>
            <a:pPr lvl="1"/>
            <a:r>
              <a:rPr lang="en-US" altLang="en-US"/>
              <a:t>Contrast this with invariant- and trace-based definitions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>
            <a:extLst>
              <a:ext uri="{FF2B5EF4-FFF2-40B4-BE49-F238E27FC236}">
                <a16:creationId xmlns:a16="http://schemas.microsoft.com/office/drawing/2014/main" id="{108DA5E7-C8FD-C4F2-AF54-490ADA517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Bibliography</a:t>
            </a:r>
          </a:p>
        </p:txBody>
      </p:sp>
      <p:sp>
        <p:nvSpPr>
          <p:cNvPr id="876547" name="Rectangle 3">
            <a:extLst>
              <a:ext uri="{FF2B5EF4-FFF2-40B4-BE49-F238E27FC236}">
                <a16:creationId xmlns:a16="http://schemas.microsoft.com/office/drawing/2014/main" id="{C520FC9D-BB79-86C8-A43C-86A9014C7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r>
              <a:rPr lang="en-US" altLang="en-US" sz="2000"/>
              <a:t>Robin Milner. “Communication and Concurrency”. Prentice-Hall, 1989.</a:t>
            </a:r>
          </a:p>
          <a:p>
            <a:pPr marL="762000" lvl="1" indent="-304800"/>
            <a:r>
              <a:rPr lang="en-US" altLang="en-US" sz="1800"/>
              <a:t>Calculus of communicating systems (CCS)</a:t>
            </a:r>
          </a:p>
          <a:p>
            <a:r>
              <a:rPr lang="en-US" altLang="en-US" sz="2000"/>
              <a:t>Robin Milner. “Communicating and Mobile Systems: the </a:t>
            </a:r>
            <a:r>
              <a:rPr lang="en-US" altLang="en-US" sz="2000">
                <a:sym typeface="Symbol" pitchFamily="2" charset="2"/>
              </a:rPr>
              <a:t></a:t>
            </a:r>
            <a:r>
              <a:rPr lang="en-US" altLang="en-US" sz="2000"/>
              <a:t>-Calculus”. Cambridge University Press, 1999.</a:t>
            </a:r>
          </a:p>
          <a:p>
            <a:pPr marL="762000" lvl="1" indent="-304800"/>
            <a:r>
              <a:rPr lang="en-US" altLang="en-US" sz="1800"/>
              <a:t>Pi calculus</a:t>
            </a:r>
          </a:p>
          <a:p>
            <a:r>
              <a:rPr lang="en-US" altLang="en-US" sz="2000"/>
              <a:t>Martin Abadi and Andrew Gordon. “A calculus for cryptographic protocols: the spi-calculus”. Information and Computation 148(1), 1999.</a:t>
            </a:r>
          </a:p>
          <a:p>
            <a:pPr marL="762000" lvl="1" indent="-304800"/>
            <a:r>
              <a:rPr lang="en-US" altLang="en-US" sz="1800"/>
              <a:t>Spi calculus</a:t>
            </a:r>
          </a:p>
          <a:p>
            <a:r>
              <a:rPr lang="en-US" altLang="en-US" sz="2000"/>
              <a:t>Martin Abadi and Cedric Fournet. “Mobile values, new names, and secure communication”. POPL 2001.</a:t>
            </a:r>
          </a:p>
          <a:p>
            <a:pPr marL="762000" lvl="1" indent="-304800"/>
            <a:r>
              <a:rPr lang="en-US" altLang="en-US" sz="1800"/>
              <a:t>Applied pi calculus</a:t>
            </a:r>
          </a:p>
          <a:p>
            <a:r>
              <a:rPr lang="en-US" altLang="en-US" sz="2000"/>
              <a:t>Martin Abadi and Phillip Rogaway. “Reconciling two views of cryptography”. Journal of Cryptology 15(2), 2002.</a:t>
            </a:r>
          </a:p>
          <a:p>
            <a:pPr marL="762000" lvl="1" indent="-304800"/>
            <a:r>
              <a:rPr lang="en-US" altLang="en-US" sz="1800"/>
              <a:t>On equivalence of complexity-theoretic and process-calculus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6">
      <a:dk1>
        <a:srgbClr val="FFFFFF"/>
      </a:dk1>
      <a:lt1>
        <a:srgbClr val="FFCC00"/>
      </a:lt1>
      <a:dk2>
        <a:srgbClr val="000066"/>
      </a:dk2>
      <a:lt2>
        <a:srgbClr val="FFCC00"/>
      </a:lt2>
      <a:accent1>
        <a:srgbClr val="3399FF"/>
      </a:accent1>
      <a:accent2>
        <a:srgbClr val="33CCCC"/>
      </a:accent2>
      <a:accent3>
        <a:srgbClr val="AAAAB8"/>
      </a:accent3>
      <a:accent4>
        <a:srgbClr val="DAAE00"/>
      </a:accent4>
      <a:accent5>
        <a:srgbClr val="ADCAFF"/>
      </a:accent5>
      <a:accent6>
        <a:srgbClr val="2DB9B9"/>
      </a:accent6>
      <a:hlink>
        <a:srgbClr val="FF00FF"/>
      </a:hlink>
      <a:folHlink>
        <a:srgbClr val="9933FF"/>
      </a:folHlink>
    </a:clrScheme>
    <a:fontScheme name="Contemporary Portrai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Char char="•"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Char char="•"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FFFFFF"/>
        </a:dk1>
        <a:lt1>
          <a:srgbClr val="FFCC00"/>
        </a:lt1>
        <a:dk2>
          <a:srgbClr val="000066"/>
        </a:dk2>
        <a:lt2>
          <a:srgbClr val="FFCC00"/>
        </a:lt2>
        <a:accent1>
          <a:srgbClr val="3399FF"/>
        </a:accent1>
        <a:accent2>
          <a:srgbClr val="33CCCC"/>
        </a:accent2>
        <a:accent3>
          <a:srgbClr val="AAAAB8"/>
        </a:accent3>
        <a:accent4>
          <a:srgbClr val="DAAE00"/>
        </a:accent4>
        <a:accent5>
          <a:srgbClr val="ADCA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000000"/>
        </a:dk1>
        <a:lt1>
          <a:srgbClr val="FFFFFF"/>
        </a:lt1>
        <a:dk2>
          <a:srgbClr val="000099"/>
        </a:dk2>
        <a:lt2>
          <a:srgbClr val="3366FF"/>
        </a:lt2>
        <a:accent1>
          <a:srgbClr val="0066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AAB8FF"/>
        </a:accent5>
        <a:accent6>
          <a:srgbClr val="007373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8">
        <a:dk1>
          <a:srgbClr val="000000"/>
        </a:dk1>
        <a:lt1>
          <a:srgbClr val="FFFFFF"/>
        </a:lt1>
        <a:dk2>
          <a:srgbClr val="000099"/>
        </a:dk2>
        <a:lt2>
          <a:srgbClr val="3366FF"/>
        </a:lt2>
        <a:accent1>
          <a:srgbClr val="B3B3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D6D6FF"/>
        </a:accent5>
        <a:accent6>
          <a:srgbClr val="007373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9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50505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48484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18846</TotalTime>
  <Words>2613</Words>
  <Application>Microsoft Macintosh PowerPoint</Application>
  <PresentationFormat>On-screen Show (4:3)</PresentationFormat>
  <Paragraphs>337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Times New Roman</vt:lpstr>
      <vt:lpstr>Tahoma</vt:lpstr>
      <vt:lpstr>Monotype Sorts</vt:lpstr>
      <vt:lpstr>Arial</vt:lpstr>
      <vt:lpstr>Webdings</vt:lpstr>
      <vt:lpstr>Symbol</vt:lpstr>
      <vt:lpstr>Courier New</vt:lpstr>
      <vt:lpstr>Times</vt:lpstr>
      <vt:lpstr>Contemporary Portrait</vt:lpstr>
      <vt:lpstr>Security in Process Calculi </vt:lpstr>
      <vt:lpstr>Overview</vt:lpstr>
      <vt:lpstr>Pi Calculus</vt:lpstr>
      <vt:lpstr>A Little Bit of History</vt:lpstr>
      <vt:lpstr>Pi Calculus Syntax</vt:lpstr>
      <vt:lpstr>Modeling Secrecy with Scoping</vt:lpstr>
      <vt:lpstr>Secrecy as Equivalence</vt:lpstr>
      <vt:lpstr>Another Formulation of Secrecy</vt:lpstr>
      <vt:lpstr>Modeling Authentication with Scoping</vt:lpstr>
      <vt:lpstr>Specifying Authentication</vt:lpstr>
      <vt:lpstr>A Key Establishment Protocol</vt:lpstr>
      <vt:lpstr>Key Establishment in Pi Calculus</vt:lpstr>
      <vt:lpstr>Applied Pi Calculus</vt:lpstr>
      <vt:lpstr>Applied Pi Calculus: Terms</vt:lpstr>
      <vt:lpstr>Applied Pi Calculus: Processes</vt:lpstr>
      <vt:lpstr>Modeling Crypto with Functions</vt:lpstr>
      <vt:lpstr>More Equational Theories</vt:lpstr>
      <vt:lpstr>Yet More Equational Theories</vt:lpstr>
      <vt:lpstr>Dynamically Generated Data</vt:lpstr>
      <vt:lpstr>Better Protocol with Capabilities</vt:lpstr>
      <vt:lpstr>Proving Security</vt:lpstr>
      <vt:lpstr>Example: Challenge-Response</vt:lpstr>
      <vt:lpstr>Example: Authentication</vt:lpstr>
      <vt:lpstr>Security as Observational Equivalence</vt:lpstr>
      <vt:lpstr>Structural Equivalence</vt:lpstr>
      <vt:lpstr>Operational Semantics</vt:lpstr>
      <vt:lpstr>Equivalence in Process Calculus</vt:lpstr>
      <vt:lpstr>Testing Equivalence</vt:lpstr>
      <vt:lpstr>Advantages and Disadvantages</vt:lpstr>
      <vt:lpstr>Bibliography</vt:lpstr>
    </vt:vector>
  </TitlesOfParts>
  <Company>SRI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259: Process calculi</dc:title>
  <dc:creator>Vitaly Shmatikov</dc:creator>
  <cp:lastModifiedBy>Duminda Wijesekera</cp:lastModifiedBy>
  <cp:revision>4832</cp:revision>
  <cp:lastPrinted>1998-09-22T18:15:52Z</cp:lastPrinted>
  <dcterms:created xsi:type="dcterms:W3CDTF">1997-09-07T20:51:32Z</dcterms:created>
  <dcterms:modified xsi:type="dcterms:W3CDTF">2025-12-29T21:23:28Z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C:\Documents\cs242\notes\web-slides</vt:lpwstr>
  </property>
</Properties>
</file>