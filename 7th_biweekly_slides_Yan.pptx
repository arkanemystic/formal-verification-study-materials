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Yan Ai, 12/16/2025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Yan Ai, 12/16/2025</a:t>
            </a:r>
          </a:p>
        </p:txBody>
      </p:sp>
      <p:sp>
        <p:nvSpPr>
          <p:cNvPr id="152" name="Risk Scenarios 7th Biweekly Meeting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Risk Scenarios 7th Biweekly Meeting</a:t>
            </a:r>
          </a:p>
        </p:txBody>
      </p:sp>
      <p:sp>
        <p:nvSpPr>
          <p:cNvPr id="153" name="Danger Zone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Danger Zone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raffic Direction Handl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Traffic Direction Handling</a:t>
            </a:r>
          </a:p>
        </p:txBody>
      </p:sp>
      <p:sp>
        <p:nvSpPr>
          <p:cNvPr id="156" name="Observation: Generated adversarial traffic scenarios are all right-hand.…"/>
          <p:cNvSpPr txBox="1"/>
          <p:nvPr>
            <p:ph type="body" idx="1"/>
          </p:nvPr>
        </p:nvSpPr>
        <p:spPr>
          <a:xfrm>
            <a:off x="1206500" y="2721514"/>
            <a:ext cx="21971000" cy="9783002"/>
          </a:xfrm>
          <a:prstGeom prst="rect">
            <a:avLst/>
          </a:prstGeom>
        </p:spPr>
        <p:txBody>
          <a:bodyPr/>
          <a:lstStyle/>
          <a:p>
            <a:pPr/>
            <a:r>
              <a:rPr b="1"/>
              <a:t>Observation</a:t>
            </a:r>
            <a:r>
              <a:t>: Generated adversarial traffic scenarios are all right-hand.</a:t>
            </a:r>
          </a:p>
          <a:p>
            <a:pPr/>
            <a:r>
              <a:rPr b="1"/>
              <a:t>Question</a:t>
            </a:r>
            <a:r>
              <a:t>: How did STRIVE handle the left-hand scenarios in Singapore?</a:t>
            </a:r>
          </a:p>
          <a:p>
            <a:pPr>
              <a:defRPr b="1"/>
            </a:pPr>
            <a:r>
              <a:t>Findouts</a:t>
            </a:r>
          </a:p>
          <a:p>
            <a:pPr lvl="1"/>
            <a:r>
              <a:t>All Singapore maps are flipped vertically (about the x-axis).</a:t>
            </a:r>
          </a:p>
          <a:p>
            <a:pPr lvl="1"/>
            <a:r>
              <a:t>Trajectories are flipped too (in src/datasets/nuscenes_dataset.py).</a:t>
            </a:r>
          </a:p>
          <a:p>
            <a:pPr lvl="1"/>
            <a:r>
              <a:t>The flipping is done during data loading.</a:t>
            </a:r>
          </a:p>
          <a:p>
            <a:pPr lvl="1"/>
            <a:r>
              <a:t>Model is trained on right-hand data only and outputs right-hand scenarios too.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ISS data for fine tun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CISS data for fine tuning</a:t>
            </a:r>
          </a:p>
        </p:txBody>
      </p:sp>
      <p:sp>
        <p:nvSpPr>
          <p:cNvPr id="159" name="Required data: json files.…"/>
          <p:cNvSpPr txBox="1"/>
          <p:nvPr>
            <p:ph type="body" idx="1"/>
          </p:nvPr>
        </p:nvSpPr>
        <p:spPr>
          <a:xfrm>
            <a:off x="1206500" y="2715623"/>
            <a:ext cx="21971000" cy="9788893"/>
          </a:xfrm>
          <a:prstGeom prst="rect">
            <a:avLst/>
          </a:prstGeom>
        </p:spPr>
        <p:txBody>
          <a:bodyPr/>
          <a:lstStyle/>
          <a:p>
            <a:pPr marL="524255" indent="-524255" defTabSz="2096971">
              <a:spcBef>
                <a:spcPts val="3800"/>
              </a:spcBef>
              <a:defRPr sz="4128"/>
            </a:pPr>
            <a:r>
              <a:t>Required data: json files.</a:t>
            </a:r>
          </a:p>
          <a:p>
            <a:pPr marL="524255" indent="-524255" defTabSz="2096971">
              <a:spcBef>
                <a:spcPts val="3800"/>
              </a:spcBef>
              <a:defRPr sz="4128"/>
            </a:pPr>
            <a:r>
              <a:t>Steps:</a:t>
            </a:r>
          </a:p>
          <a:p>
            <a:pPr lvl="1" marL="1048511" indent="-524255" defTabSz="2096971">
              <a:spcBef>
                <a:spcPts val="3800"/>
              </a:spcBef>
              <a:defRPr sz="4128"/>
            </a:pPr>
            <a:r>
              <a:t>Heading computation — heading[i] = np.arctan2(y[i+1] - y[i], x[i+1] - x[I])</a:t>
            </a:r>
          </a:p>
          <a:p>
            <a:pPr lvl="1" marL="1048511" indent="-524255" defTabSz="2096971">
              <a:spcBef>
                <a:spcPts val="3800"/>
              </a:spcBef>
              <a:defRPr sz="4128"/>
            </a:pPr>
            <a:r>
              <a:t>Data splitting: 4 past time steps and 12 future steps (past+future is needed for fine tuning, but for adv_scenario_gen, past is input)</a:t>
            </a:r>
          </a:p>
          <a:p>
            <a:pPr lvl="1" marL="1048511" indent="-524255" defTabSz="2096971">
              <a:spcBef>
                <a:spcPts val="3800"/>
              </a:spcBef>
              <a:defRPr sz="4128"/>
            </a:pPr>
            <a:r>
              <a:t>STRIVE needs 6 states for past and 4 states for future</a:t>
            </a:r>
          </a:p>
          <a:p>
            <a:pPr lvl="2" marL="1572768" indent="-524255" defTabSz="2096971">
              <a:spcBef>
                <a:spcPts val="3800"/>
              </a:spcBef>
              <a:defRPr sz="4128"/>
            </a:pPr>
            <a:r>
              <a:t>Past format — [x, y, hx, hy, s, hdot]</a:t>
            </a:r>
          </a:p>
          <a:p>
            <a:pPr lvl="2" marL="1572768" indent="-524255" defTabSz="2096971">
              <a:spcBef>
                <a:spcPts val="3800"/>
              </a:spcBef>
              <a:defRPr sz="4128"/>
            </a:pPr>
            <a:r>
              <a:t>Future format — [x, y, hx, hy]</a:t>
            </a:r>
          </a:p>
          <a:p>
            <a:pPr lvl="1" marL="1048511" indent="-524255" defTabSz="2096971">
              <a:spcBef>
                <a:spcPts val="3800"/>
              </a:spcBef>
              <a:defRPr sz="4128"/>
            </a:pPr>
            <a:r>
              <a:t>Vehicle length and width</a:t>
            </a:r>
          </a:p>
          <a:p>
            <a:pPr lvl="1" marL="1048511" indent="-524255" defTabSz="2096971">
              <a:spcBef>
                <a:spcPts val="3800"/>
              </a:spcBef>
              <a:defRPr sz="4128"/>
            </a:pPr>
            <a:r>
              <a:t>Vehicle types (sedan, truck, etc.)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Fine tuning using CISS data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Fine tuning using CISS data</a:t>
            </a:r>
          </a:p>
        </p:txBody>
      </p:sp>
      <p:sp>
        <p:nvSpPr>
          <p:cNvPr id="162" name="I used 1-29-2023-088-10 case prepared by Eun Young, in Boston map.…"/>
          <p:cNvSpPr txBox="1"/>
          <p:nvPr>
            <p:ph type="body" idx="1"/>
          </p:nvPr>
        </p:nvSpPr>
        <p:spPr>
          <a:xfrm>
            <a:off x="1206500" y="2799997"/>
            <a:ext cx="21971000" cy="9704519"/>
          </a:xfrm>
          <a:prstGeom prst="rect">
            <a:avLst/>
          </a:prstGeom>
        </p:spPr>
        <p:txBody>
          <a:bodyPr/>
          <a:lstStyle/>
          <a:p>
            <a:pPr/>
            <a:r>
              <a:t>I used 1-29-2023-088-10 case prepared by Eun Young, in Boston map.</a:t>
            </a:r>
          </a:p>
          <a:p>
            <a:pPr/>
            <a:r>
              <a:t>Training succeeded. </a:t>
            </a:r>
          </a:p>
          <a:p>
            <a:pPr/>
            <a:r>
              <a:t>Time taken: ~1h30min</a:t>
            </a:r>
          </a:p>
          <a:p>
            <a:pPr/>
          </a:p>
          <a:p>
            <a:pPr/>
            <a:r>
              <a:t>Next step:</a:t>
            </a:r>
          </a:p>
          <a:p>
            <a:pPr lvl="1"/>
            <a:r>
              <a:t>Improve the current CISS data convert script, to make it able to handle a batch of data at one time.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New model test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New model testing</a:t>
            </a:r>
          </a:p>
        </p:txBody>
      </p:sp>
      <p:sp>
        <p:nvSpPr>
          <p:cNvPr id="165" name="2025-12-15_21:43:24  Using device cuda:0...…"/>
          <p:cNvSpPr txBox="1"/>
          <p:nvPr>
            <p:ph type="body" idx="1"/>
          </p:nvPr>
        </p:nvSpPr>
        <p:spPr>
          <a:xfrm>
            <a:off x="1206500" y="2594181"/>
            <a:ext cx="21971000" cy="9910335"/>
          </a:xfrm>
          <a:prstGeom prst="rect">
            <a:avLst/>
          </a:prstGeom>
        </p:spPr>
        <p:txBody>
          <a:bodyPr/>
          <a:lstStyle/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2910">
                <a:latin typeface="Helvetica"/>
                <a:ea typeface="Helvetica"/>
                <a:cs typeface="Helvetica"/>
                <a:sym typeface="Helvetica"/>
              </a:defRPr>
            </a:pPr>
            <a:r>
              <a:t>2025-12-15_21:43:24  Using device cuda:0...</a:t>
            </a:r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2910">
                <a:latin typeface="Helvetica"/>
                <a:ea typeface="Helvetica"/>
                <a:cs typeface="Helvetica"/>
                <a:sym typeface="Helvetica"/>
              </a:defRPr>
            </a:pPr>
            <a:r>
              <a:t>2025-12-15_21:44:04  Using bicycle model as output parameterization of model...</a:t>
            </a:r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2910">
                <a:latin typeface="Helvetica"/>
                <a:ea typeface="Helvetica"/>
                <a:cs typeface="Helvetica"/>
                <a:sym typeface="Helvetica"/>
              </a:defRPr>
            </a:pPr>
            <a:r>
              <a:t>2025-12-15_21:44:04  Using mlp past/future encoder...</a:t>
            </a:r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2910">
                <a:latin typeface="Helvetica"/>
                <a:ea typeface="Helvetica"/>
                <a:cs typeface="Helvetica"/>
                <a:sym typeface="Helvetica"/>
              </a:defRPr>
            </a:pPr>
            <a:r>
              <a:t>2025-12-15_21:44:04  Loaded checkpoint from epoch 108...</a:t>
            </a:r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2910">
                <a:latin typeface="Helvetica"/>
                <a:ea typeface="Helvetica"/>
                <a:cs typeface="Helvetica"/>
                <a:sym typeface="Helvetica"/>
              </a:defRPr>
            </a:pPr>
            <a:r>
              <a:t>2025-12-15_21:44:04  Num model params: 1093202</a:t>
            </a:r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2910">
                <a:latin typeface="Helvetica"/>
                <a:ea typeface="Helvetica"/>
                <a:cs typeface="Helvetica"/>
                <a:sym typeface="Helvetica"/>
              </a:defRPr>
            </a:pPr>
            <a:r>
              <a:t>2025-12-15_23:36:17  Final ===================================== </a:t>
            </a:r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2910">
                <a:latin typeface="Helvetica"/>
                <a:ea typeface="Helvetica"/>
                <a:cs typeface="Helvetica"/>
                <a:sym typeface="Helvetica"/>
              </a:defRPr>
            </a:pPr>
            <a:r>
              <a:t>2025-12-15_23:36:17  Test Mean loss = 4.964716</a:t>
            </a:r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2910">
                <a:latin typeface="Helvetica"/>
                <a:ea typeface="Helvetica"/>
                <a:cs typeface="Helvetica"/>
                <a:sym typeface="Helvetica"/>
              </a:defRPr>
            </a:pPr>
            <a:r>
              <a:t>2025-12-15_23:36:17  Test Mean recon_loss = 3.682352</a:t>
            </a:r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2910">
                <a:latin typeface="Helvetica"/>
                <a:ea typeface="Helvetica"/>
                <a:cs typeface="Helvetica"/>
                <a:sym typeface="Helvetica"/>
              </a:defRPr>
            </a:pPr>
            <a:r>
              <a:t>2025-12-15_23:36:17  Test Mean kl_loss = 1.087525</a:t>
            </a:r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2910">
                <a:latin typeface="Helvetica"/>
                <a:ea typeface="Helvetica"/>
                <a:cs typeface="Helvetica"/>
                <a:sym typeface="Helvetica"/>
              </a:defRPr>
            </a:pPr>
            <a:r>
              <a:t>2025-12-15_23:36:17  Test Mean pos_err = 0.691543</a:t>
            </a:r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2910">
                <a:latin typeface="Helvetica"/>
                <a:ea typeface="Helvetica"/>
                <a:cs typeface="Helvetica"/>
                <a:sym typeface="Helvetica"/>
              </a:defRPr>
            </a:pPr>
            <a:r>
              <a:t>2025-12-15_23:36:17  Test Mean ang_err = 1.614891</a:t>
            </a:r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2910">
                <a:latin typeface="Helvetica"/>
                <a:ea typeface="Helvetica"/>
                <a:cs typeface="Helvetica"/>
                <a:sym typeface="Helvetica"/>
              </a:defRPr>
            </a:pPr>
            <a:r>
              <a:t>2025-12-15_23:36:17  Test Mean z_logprob = 18.496666</a:t>
            </a:r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2910">
                <a:latin typeface="Helvetica"/>
                <a:ea typeface="Helvetica"/>
                <a:cs typeface="Helvetica"/>
                <a:sym typeface="Helvetica"/>
              </a:defRPr>
            </a:pPr>
            <a:r>
              <a:t>2025-12-15_23:36:17  Test Mean z_mdist = 0.762572</a:t>
            </a:r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2910">
                <a:latin typeface="Helvetica"/>
                <a:ea typeface="Helvetica"/>
                <a:cs typeface="Helvetica"/>
                <a:sym typeface="Helvetica"/>
              </a:defRPr>
            </a:pPr>
            <a:r>
              <a:t>2025-12-15_23:36:17  Test Mean pos_minADE = 1.347401</a:t>
            </a:r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2910">
                <a:latin typeface="Helvetica"/>
                <a:ea typeface="Helvetica"/>
                <a:cs typeface="Helvetica"/>
                <a:sym typeface="Helvetica"/>
              </a:defRPr>
            </a:pPr>
            <a:r>
              <a:t>2025-12-15_23:36:17  Test Mean pos_minFDE = 2.816271</a:t>
            </a:r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2910">
                <a:latin typeface="Helvetica"/>
                <a:ea typeface="Helvetica"/>
                <a:cs typeface="Helvetica"/>
                <a:sym typeface="Helvetica"/>
              </a:defRPr>
            </a:pPr>
            <a:r>
              <a:t>2025-12-15_23:36:17  Test Mean ang_minADE = 2.419151</a:t>
            </a:r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2910">
                <a:latin typeface="Helvetica"/>
                <a:ea typeface="Helvetica"/>
                <a:cs typeface="Helvetica"/>
                <a:sym typeface="Helvetica"/>
              </a:defRPr>
            </a:pPr>
            <a:r>
              <a:t>2025-12-15_23:36:17  Test Mean ang_minFDE = 3.252725</a:t>
            </a:r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2910">
                <a:latin typeface="Helvetica"/>
                <a:ea typeface="Helvetica"/>
                <a:cs typeface="Helvetica"/>
                <a:sym typeface="Helvetica"/>
              </a:defRPr>
            </a:pPr>
            <a:r>
              <a:t>2025-12-15_23:36:17  Test Mean APD = 2.596891</a:t>
            </a:r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2910">
                <a:latin typeface="Helvetica"/>
                <a:ea typeface="Helvetica"/>
                <a:cs typeface="Helvetica"/>
                <a:sym typeface="Helvetica"/>
              </a:defRPr>
            </a:pPr>
            <a:r>
              <a:t>2025-12-15_23:36:17  Test (sample_, _map) Collision Freq = 0.036004</a:t>
            </a:r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2910">
                <a:latin typeface="Helvetica"/>
                <a:ea typeface="Helvetica"/>
                <a:cs typeface="Helvetica"/>
                <a:sym typeface="Helvetica"/>
              </a:defRPr>
            </a:pPr>
            <a:r>
              <a:t>2025-12-15_23:36:17  Test (sample_, _veh) Collision Freq = 0.039374</a:t>
            </a:r>
          </a:p>
          <a:p>
            <a:pPr marL="0" indent="0" defTabSz="443484">
              <a:lnSpc>
                <a:spcPct val="100000"/>
              </a:lnSpc>
              <a:spcBef>
                <a:spcPts val="0"/>
              </a:spcBef>
              <a:buSzTx/>
              <a:buNone/>
              <a:defRPr sz="2910">
                <a:latin typeface="Helvetica"/>
                <a:ea typeface="Helvetica"/>
                <a:cs typeface="Helvetica"/>
                <a:sym typeface="Helvetica"/>
              </a:defRPr>
            </a:pPr>
            <a:r>
              <a:t>2025-12-15_23:36:17  Test time: 6732.783926 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Bicycle model to 4-Wheel mode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Bicycle model to 4-Wheel model</a:t>
            </a:r>
          </a:p>
        </p:txBody>
      </p:sp>
      <p:sp>
        <p:nvSpPr>
          <p:cNvPr id="168" name="I used Acherman model from Vehicle Dynamics &amp; Control, pp.24-26 (Rajamani, 2012).…"/>
          <p:cNvSpPr txBox="1"/>
          <p:nvPr>
            <p:ph type="body" sz="half" idx="1"/>
          </p:nvPr>
        </p:nvSpPr>
        <p:spPr>
          <a:xfrm>
            <a:off x="1206500" y="2943008"/>
            <a:ext cx="10763444" cy="9561508"/>
          </a:xfrm>
          <a:prstGeom prst="rect">
            <a:avLst/>
          </a:prstGeom>
        </p:spPr>
        <p:txBody>
          <a:bodyPr/>
          <a:lstStyle/>
          <a:p>
            <a:pPr/>
            <a:r>
              <a:t>I used Acherman model from Vehicle Dynamics &amp; Control, pp.24-26 (Rajamani, 2012).</a:t>
            </a:r>
          </a:p>
          <a:p>
            <a:pPr/>
            <a:r>
              <a:t>Files relevant:</a:t>
            </a:r>
          </a:p>
          <a:p>
            <a:pPr lvl="1"/>
            <a:r>
              <a:t>Src/models/common.py</a:t>
            </a:r>
          </a:p>
          <a:p>
            <a:pPr lvl="1"/>
            <a:r>
              <a:t>Src/datasets/utils.py</a:t>
            </a:r>
          </a:p>
          <a:p>
            <a:pPr lvl="1"/>
            <a:r>
              <a:t>Src/models/traffic_model.py</a:t>
            </a:r>
          </a:p>
        </p:txBody>
      </p:sp>
      <p:pic>
        <p:nvPicPr>
          <p:cNvPr id="169" name="Screenshot 2025-12-16 at 5.24.35 PM.png" descr="Screenshot 2025-12-16 at 5.24.3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82713" y="2935322"/>
            <a:ext cx="10763445" cy="78453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training using nuScenes datase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Retraining using nuScenes dataset</a:t>
            </a:r>
          </a:p>
        </p:txBody>
      </p:sp>
      <p:sp>
        <p:nvSpPr>
          <p:cNvPr id="172" name="The vehicle dynamics model impacts the decoder in the traffic model. Therefore, after changing to Acherman model, retraining is necessary.…"/>
          <p:cNvSpPr txBox="1"/>
          <p:nvPr>
            <p:ph type="body" idx="1"/>
          </p:nvPr>
        </p:nvSpPr>
        <p:spPr>
          <a:xfrm>
            <a:off x="1206500" y="2816673"/>
            <a:ext cx="21971000" cy="9687843"/>
          </a:xfrm>
          <a:prstGeom prst="rect">
            <a:avLst/>
          </a:prstGeom>
        </p:spPr>
        <p:txBody>
          <a:bodyPr/>
          <a:lstStyle/>
          <a:p>
            <a:pPr/>
            <a:r>
              <a:t>The vehicle dynamics model impacts the decoder in the traffic model. Therefore, after changing to Acherman model, retraining is necessary.</a:t>
            </a:r>
          </a:p>
          <a:p>
            <a:pPr/>
            <a:r>
              <a:t>Code implementation √</a:t>
            </a:r>
          </a:p>
          <a:p>
            <a:pPr/>
            <a:r>
              <a:t>Training still in process: already more than 16h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