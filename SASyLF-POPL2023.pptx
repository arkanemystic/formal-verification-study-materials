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Caveat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veat-bold.fntdata"/><Relationship Id="rId30" Type="http://schemas.openxmlformats.org/officeDocument/2006/relationships/font" Target="fonts/Caveat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c820766c2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c820766c2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c820766c2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c820766c2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c820766c2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c820766c2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c820766c2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c820766c2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ccd08f43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ccd08f43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c820766c2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c820766c2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c820766c2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c820766c2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c820766c2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c820766c2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c820766c2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c820766c2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c820766c2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c820766c2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ccf0e4d3e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ccf0e4d3e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ccd08f439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ccd08f439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c820766c2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c820766c2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ccd08f439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ccd08f439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ccd08f439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ccd08f439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c820766c2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c820766c2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ccf0e4d3e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ccf0e4d3e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ccf0e4d3e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ccf0e4d3e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c820766c2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c820766c2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ccd08f439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ccd08f439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ccd08f439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ccd08f439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ccd08f439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ccd08f439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ccd08f439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ccd08f439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" name="Google Shape;20;p4"/>
          <p:cNvCxnSpPr/>
          <p:nvPr/>
        </p:nvCxnSpPr>
        <p:spPr>
          <a:xfrm flipH="1" rot="10800000">
            <a:off x="183825" y="1003025"/>
            <a:ext cx="8734800" cy="28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" name="Google Shape;26;p5"/>
          <p:cNvCxnSpPr/>
          <p:nvPr/>
        </p:nvCxnSpPr>
        <p:spPr>
          <a:xfrm flipH="1" rot="10800000">
            <a:off x="183825" y="1003025"/>
            <a:ext cx="8734800" cy="28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" name="Google Shape;30;p6"/>
          <p:cNvCxnSpPr/>
          <p:nvPr/>
        </p:nvCxnSpPr>
        <p:spPr>
          <a:xfrm flipH="1" rot="10800000">
            <a:off x="183825" y="1003025"/>
            <a:ext cx="8734800" cy="28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174600"/>
            <a:ext cx="8607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" name="Google Shape;35;p7"/>
          <p:cNvCxnSpPr/>
          <p:nvPr/>
        </p:nvCxnSpPr>
        <p:spPr>
          <a:xfrm flipH="1" rot="10800000">
            <a:off x="183825" y="1003025"/>
            <a:ext cx="8734800" cy="28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lassroom.github.com/a/AY9KpZ4C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11708" y="439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80"/>
              <a:t>Using a Proof Assistant to Teach PL Theory, Without the Overhead</a:t>
            </a:r>
            <a:endParaRPr sz="418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2529325"/>
            <a:ext cx="8520600" cy="22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Jonathan Aldrich, Carnegie Mellon University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John Boyland, University of Wisconsin - Milwaukee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POPL 2023 Tutorial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January 16, 2023</a:t>
            </a:r>
            <a:endParaRPr sz="2400"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2400" y="3522924"/>
            <a:ext cx="1821600" cy="16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Teaching PL theory and proofs is hard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Challenges</a:t>
            </a:r>
            <a:endParaRPr sz="21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Too easy to get details wrong – never learn concepts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Slow feedback loop – wait a week for a corrected homework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High time and effort for the payoff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Proof assistants can potentially help</a:t>
            </a:r>
            <a:endParaRPr sz="21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Check the details are correct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Provide immediate feedback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Raise productivity</a:t>
            </a:r>
            <a:endParaRPr sz="17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Just like good compilers make programming more accessible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 - educational tools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Excellent tools are available for certain domains of theorem proving</a:t>
            </a:r>
            <a:endParaRPr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General Mathematics: EPGY theorem proving environment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geometry, linear algebra, number theory, etc.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Logic: Tarski’s world, Tutch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However, we aren’t aware of comparable education-focused tools specifically for programming language theory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 - proof assistants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7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Many proof assistants available for experts</a:t>
            </a:r>
            <a:endParaRPr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Coq, Agda, Isabelle, HOL, PVS, Twelf are widely used in PL research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Highly expressive and provide good automation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Drawbacks: steep learning curve</a:t>
            </a:r>
            <a:endParaRPr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Tool notation as well as encoding techniques, e.g. for variables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Twelf avoids variable encodings, but remains challenging to learn, as it is based on higher-order type theory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Time spent teaching the tool is time not spent teaching PL theory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As a result, most PL courses do not use proof assistants–especially at the undergraduate level, but even at the graduate level.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SASyLF proof assistant overcomes these challenges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Goals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Expressive and sound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Based on the same metatheory as Twelf; can prove a wide range of properties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to learn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Familiar syntax – just like we write on paper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Minimize required math background – just inference rules &amp; induction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Match PL theory needs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Support for variable binding and α-equivalence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 notation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Every step specified completely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Rapid feedback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Automated checker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Support for partial proofs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error messages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Local checking and local errors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7025" y="3660475"/>
            <a:ext cx="1666975" cy="14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should you stick around for this tutorial?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considering teaching with a proof assistant, but worry about the cost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SASyLF has been used successfully at CMU, UW-Milwaukee, UCLA, Northeastern, 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Surveys: students like SASyLF, think it’s fast to pick up and helps them learn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We’ll introduce you to how we teach with the tool, provide pointers to curricular materials, and give you what you need to know to make an informed decision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You’d like to learn about formalizing PLs with proof assistants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SASyLF isn’t the most widely used one, but it may well be the easiest to get started with!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powerful enough to prove many publishable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great way for you / your students to get started with PL proof assistants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We’ll talk about ways to transition to other proof assistants, too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7025" y="3660475"/>
            <a:ext cx="1666975" cy="14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This Tutorial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Discuss the pedagogy of using proof assistants to teach PL theory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Share experience from courses at CMU, the University of Wisconsin - Milwaukee, Northeastern University, and (indirectly) UCLA.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Share the </a:t>
            </a:r>
            <a:r>
              <a:rPr lang="en" sz="1600">
                <a:solidFill>
                  <a:schemeClr val="dk1"/>
                </a:solidFill>
              </a:rPr>
              <a:t>curricula</a:t>
            </a:r>
            <a:r>
              <a:rPr lang="en" sz="1600">
                <a:solidFill>
                  <a:schemeClr val="dk1"/>
                </a:solidFill>
              </a:rPr>
              <a:t> we use to teach PL theory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Including the </a:t>
            </a:r>
            <a:r>
              <a:rPr lang="en">
                <a:solidFill>
                  <a:schemeClr val="dk1"/>
                </a:solidFill>
              </a:rPr>
              <a:t>assignments</a:t>
            </a:r>
            <a:r>
              <a:rPr lang="en">
                <a:solidFill>
                  <a:schemeClr val="dk1"/>
                </a:solidFill>
              </a:rPr>
              <a:t> used in both of our courses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Introduce the SASyLF proof assistant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How it serves education purposes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Our experience teaching with it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Give you hands-on experience with SASyLF</a:t>
            </a:r>
            <a:endParaRPr sz="2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 Outline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8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Part 1</a:t>
            </a:r>
            <a:endParaRPr b="1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Introduction: motivation for the tutorial and for SASyLF [15 min]</a:t>
            </a:r>
            <a:endParaRPr sz="1600">
              <a:solidFill>
                <a:schemeClr val="dk1"/>
              </a:solidFill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>
                <a:solidFill>
                  <a:schemeClr val="dk1"/>
                </a:solidFill>
              </a:rPr>
              <a:t>Meeting other participants and d</a:t>
            </a:r>
            <a:r>
              <a:rPr lang="en">
                <a:solidFill>
                  <a:schemeClr val="dk1"/>
                </a:solidFill>
              </a:rPr>
              <a:t>iscussion</a:t>
            </a:r>
            <a:r>
              <a:rPr lang="en">
                <a:solidFill>
                  <a:schemeClr val="dk1"/>
                </a:solidFill>
              </a:rPr>
              <a:t> of challenges in this area</a:t>
            </a:r>
            <a:endParaRPr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Introducing proofs to students using a proof assistant [35 min]</a:t>
            </a:r>
            <a:endParaRPr sz="1600">
              <a:solidFill>
                <a:schemeClr val="dk1"/>
              </a:solidFill>
            </a:endParaRPr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600">
                <a:solidFill>
                  <a:schemeClr val="dk1"/>
                </a:solidFill>
              </a:rPr>
              <a:t>How we introduce proofs in our classes</a:t>
            </a:r>
            <a:endParaRPr sz="1600">
              <a:solidFill>
                <a:schemeClr val="dk1"/>
              </a:solidFill>
            </a:endParaRPr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600">
                <a:solidFill>
                  <a:schemeClr val="dk1"/>
                </a:solidFill>
              </a:rPr>
              <a:t>Live-coding demo, hands-on exercise, &amp; discussion </a:t>
            </a:r>
            <a:r>
              <a:rPr i="1" lang="en" sz="1600">
                <a:solidFill>
                  <a:schemeClr val="accent1"/>
                </a:solidFill>
              </a:rPr>
              <a:t>[+ demo &amp; hands-on]</a:t>
            </a:r>
            <a:endParaRPr i="1" sz="1600">
              <a:solidFill>
                <a:schemeClr val="accent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Designing a proof assistant for programming languages [40 min]</a:t>
            </a:r>
            <a:endParaRPr sz="1600">
              <a:solidFill>
                <a:schemeClr val="dk1"/>
              </a:solidFill>
            </a:endParaRPr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600">
                <a:solidFill>
                  <a:schemeClr val="dk1"/>
                </a:solidFill>
              </a:rPr>
              <a:t>Formalizing operational semantics &amp; proving things about it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i="1" lang="en" sz="1600">
                <a:solidFill>
                  <a:schemeClr val="accent1"/>
                </a:solidFill>
              </a:rPr>
              <a:t>[+ demo &amp; hands-on]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Part 2</a:t>
            </a:r>
            <a:endParaRPr b="1"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Teaching type soundness with with a proof assistant [60 min]</a:t>
            </a:r>
            <a:endParaRPr sz="1600">
              <a:solidFill>
                <a:schemeClr val="dk1"/>
              </a:solidFill>
            </a:endParaRPr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600">
                <a:solidFill>
                  <a:schemeClr val="dk1"/>
                </a:solidFill>
              </a:rPr>
              <a:t>Formalizing typing, hypothetical judgments, and type soundness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i="1" lang="en" sz="1600">
                <a:solidFill>
                  <a:schemeClr val="accent1"/>
                </a:solidFill>
              </a:rPr>
              <a:t>[+ demo &amp; hands-on]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600">
                <a:solidFill>
                  <a:schemeClr val="dk1"/>
                </a:solidFill>
              </a:rPr>
              <a:t>Discussion &amp; Scaling up[30 min]</a:t>
            </a:r>
            <a:endParaRPr sz="1600">
              <a:solidFill>
                <a:schemeClr val="dk1"/>
              </a:solidFill>
            </a:endParaRPr>
          </a:p>
          <a:p>
            <a:pPr indent="-32258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600">
                <a:solidFill>
                  <a:schemeClr val="dk1"/>
                </a:solidFill>
              </a:rPr>
              <a:t>More advanced theorems; SASyLF in research; transition to other assistants; discussion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installation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You’ll need to install SASyLF on your laptop for this tutorial (or pair-prove with another participant).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install SASyLF, install Eclipse (eclipse.org) and then put the latest SASyLF JAR (https://github.com/boyland/sasylf/releases/tag/v1.5.1) in the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dropins</a:t>
            </a:r>
            <a:r>
              <a:rPr lang="en"/>
              <a:t> directory in the Eclipse installation and restart Eclipse. </a:t>
            </a:r>
            <a:r>
              <a:rPr i="1" lang="en">
                <a:solidFill>
                  <a:schemeClr val="accent1"/>
                </a:solidFill>
              </a:rPr>
              <a:t>[hand out instructions]</a:t>
            </a:r>
            <a:endParaRPr i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get the tutorial repository, accept the following github classroom invitation: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https://classroom.github.com/a/AY9KpZ4C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This will create a github repo that you can clone into Eclipse assuming you have an access token, or ssh credentials for github.com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Introductions &amp; Discussion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are we?  Who are you?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Tell us a bit about yourself, your experience teaching or using proof assistants, and any initial questions you might have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1B: Introducing Students to Mechanized Proofs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Formalisms: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CFGs are familiar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Inference rules less so (especially at UW-Milwaukee)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Substitutions and unification are essential (see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unify.html</a:t>
            </a:r>
            <a:r>
              <a:rPr lang="en"/>
              <a:t> in repo)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Adequacy: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Just because we have a formalism doesn’t mean it formalizes what we want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Start with (unspoken flawed) axiomatization of addition, and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Ask “What does it mean for this formalism to </a:t>
            </a:r>
            <a:r>
              <a:rPr i="1" lang="en"/>
              <a:t>mean</a:t>
            </a:r>
            <a:r>
              <a:rPr lang="en"/>
              <a:t> addition?”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Iterate with different flaws, until all corrected and can prove adequacy.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Case Analysis: (one level)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homework (UW-Milwaukee)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What rule(s) could be used to produce (say) 2 + 2 = 3 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What rule(s) could be used to produce (say) X + X = X ? (unification)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1B: Introducing Students to Mechanized Proofs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the definitions (easy </a:t>
            </a:r>
            <a:r>
              <a:rPr lang="en"/>
              <a:t>because</a:t>
            </a:r>
            <a:r>
              <a:rPr lang="en"/>
              <a:t> SASyLF’s syntax mirrors formalism).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 prove some facts such as 1+1=2: no case analysis needed.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 prove impossibility of “facts” such as 1+1=1: case analysis without variables.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(Then prove a result that does case analysis with variables, but no induction.)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Then we broach induction: (first with syntax, then with judgments)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it’s like recursion (more familiar)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with recursion, the induction </a:t>
            </a:r>
            <a:r>
              <a:rPr lang="en"/>
              <a:t>hypothesis</a:t>
            </a:r>
            <a:r>
              <a:rPr lang="en"/>
              <a:t> use must be with a “smaller” input.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Let’s see how this works [LIVE PROVING]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Part 1C: Designing a proof assistant for programming languages</a:t>
            </a:r>
            <a:endParaRPr sz="2300"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PL class, the main thing that’s “special” is variable binding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also the thing that’s hard to model in most proof assistants!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SASyLF provides two features that help: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Binding: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e[x]</a:t>
            </a:r>
            <a:r>
              <a:rPr lang="en"/>
              <a:t> means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/>
              <a:t> is a variable that is bound in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●"/>
            </a:pPr>
            <a:r>
              <a:rPr lang="en"/>
              <a:t>Substitution: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e[e2’]</a:t>
            </a:r>
            <a:r>
              <a:rPr lang="en"/>
              <a:t> means substitute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e2’</a:t>
            </a:r>
            <a:r>
              <a:rPr lang="en"/>
              <a:t> for the variable bound in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e</a:t>
            </a:r>
            <a:br>
              <a:rPr lang="en"/>
            </a:br>
            <a:r>
              <a:rPr lang="en"/>
              <a:t>(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/>
              <a:t> in this case)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Let’s see how these constructs can be used to model the dynamic semantics of the λ-calculus and prove simple theorems [LIVE CODING]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Part 1C: Designing a proof assistant for programming languages</a:t>
            </a:r>
            <a:endParaRPr sz="3900"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model the dynamic semantics of the λ-calculus in SASyLF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erminals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λ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Syntax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	::=	x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50800" lvl="0" marL="406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|	”(” “)”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50800" lvl="0" marL="4064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|	e 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50800" lvl="0" marL="863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	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 . e[x]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3891900" y="3415400"/>
            <a:ext cx="40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3833175" y="2996350"/>
            <a:ext cx="2503500" cy="621600"/>
          </a:xfrm>
          <a:prstGeom prst="wedgeRectCallout">
            <a:avLst>
              <a:gd fmla="val -81974" name="adj1"/>
              <a:gd fmla="val 5822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e[x]</a:t>
            </a:r>
            <a:r>
              <a:rPr lang="en" sz="1500">
                <a:solidFill>
                  <a:schemeClr val="dk1"/>
                </a:solidFill>
              </a:rPr>
              <a:t> means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500">
                <a:solidFill>
                  <a:schemeClr val="dk1"/>
                </a:solidFill>
              </a:rPr>
              <a:t> is a variable that is bound in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2776350" y="1664613"/>
            <a:ext cx="2503500" cy="1041300"/>
          </a:xfrm>
          <a:prstGeom prst="wedgeRectCallout">
            <a:avLst>
              <a:gd fmla="val -81974" name="adj1"/>
              <a:gd fmla="val 5822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since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500">
                <a:solidFill>
                  <a:schemeClr val="dk1"/>
                </a:solidFill>
              </a:rPr>
              <a:t> is a case of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" sz="1500">
                <a:solidFill>
                  <a:schemeClr val="dk1"/>
                </a:solidFill>
              </a:rPr>
              <a:t>, SASyLF knows that variables that have names starting with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500">
                <a:solidFill>
                  <a:schemeClr val="dk1"/>
                </a:solidFill>
              </a:rPr>
              <a:t> have type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Part 1C: Designing a proof assistant for programming languages</a:t>
            </a:r>
            <a:endParaRPr sz="3900"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are big-step evaluation rules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judgment </a:t>
            </a: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value: e value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 val-unit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"(" ")" value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---------------- val-fn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 . e[x] value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 txBox="1"/>
          <p:nvPr/>
        </p:nvSpPr>
        <p:spPr>
          <a:xfrm>
            <a:off x="3891900" y="3415400"/>
            <a:ext cx="401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196100" y="3790100"/>
            <a:ext cx="4070400" cy="824100"/>
          </a:xfrm>
          <a:prstGeom prst="wedgeRectCallout">
            <a:avLst>
              <a:gd fmla="val 60254" name="adj1"/>
              <a:gd fmla="val -469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e[e2’]</a:t>
            </a:r>
            <a:r>
              <a:rPr lang="en" sz="1500">
                <a:solidFill>
                  <a:schemeClr val="dk1"/>
                </a:solidFill>
              </a:rPr>
              <a:t> means substitute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e2’</a:t>
            </a:r>
            <a:r>
              <a:rPr lang="en" sz="1500">
                <a:solidFill>
                  <a:schemeClr val="dk1"/>
                </a:solidFill>
              </a:rPr>
              <a:t> for the variable bound in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" sz="1500">
                <a:solidFill>
                  <a:schemeClr val="dk1"/>
                </a:solidFill>
              </a:rPr>
              <a:t> (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500">
                <a:solidFill>
                  <a:schemeClr val="dk1"/>
                </a:solidFill>
              </a:rPr>
              <a:t> in this case, because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e[x]</a:t>
            </a:r>
            <a:r>
              <a:rPr lang="en" sz="1500">
                <a:solidFill>
                  <a:schemeClr val="dk1"/>
                </a:solidFill>
              </a:rPr>
              <a:t> appears elsewhere in the rule)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4655100" y="1618575"/>
            <a:ext cx="4260300" cy="31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judgment</a:t>
            </a: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eval: e =&gt; 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 value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 eval-val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 =&gt; e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e1 =&gt;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λ</a:t>
            </a: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 . e[x]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e2 =&gt; e2'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e[e2'] =&gt; e'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---------------- eval-call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e1 e2 =&gt; e'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SASyLF’s Design &amp; Pedagogy</a:t>
            </a:r>
            <a:endParaRPr/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Notice that we defined the dynamic semantics of the </a:t>
            </a:r>
            <a:r>
              <a:rPr lang="en" sz="1700">
                <a:solidFill>
                  <a:schemeClr val="dk1"/>
                </a:solidFill>
              </a:rPr>
              <a:t>λ-calculus without giving rules for substitution</a:t>
            </a:r>
            <a:endParaRPr sz="17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That’s because SASyLF “builds in” variable binding and substitution operations</a:t>
            </a:r>
            <a:endParaRPr sz="15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When I teach the λ-calculus I do give students substitution rules on the blackboard</a:t>
            </a:r>
            <a:endParaRPr sz="17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500">
                <a:solidFill>
                  <a:schemeClr val="dk1"/>
                </a:solidFill>
              </a:rPr>
              <a:t>This helps in understanding how substitution actually works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Using built-in substitution has benefits for students using proof assistants</a:t>
            </a:r>
            <a:endParaRPr sz="17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Avoid need to cover variable encodings</a:t>
            </a:r>
            <a:endParaRPr sz="1500">
              <a:solidFill>
                <a:schemeClr val="dk1"/>
              </a:solidFill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Usually complex</a:t>
            </a:r>
            <a:endParaRPr sz="1300">
              <a:solidFill>
                <a:schemeClr val="dk1"/>
              </a:solidFill>
            </a:endParaRPr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Typically not in the scope of PL courses - unless a deep understanding of proof assistants is an explicit learning objective, in which case SASyLF has fewer advantages over other tools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Note: SASyLF </a:t>
            </a:r>
            <a:r>
              <a:rPr b="1" i="1" lang="en" sz="1300">
                <a:solidFill>
                  <a:schemeClr val="dk1"/>
                </a:solidFill>
              </a:rPr>
              <a:t>can </a:t>
            </a:r>
            <a:r>
              <a:rPr lang="en" sz="1300">
                <a:solidFill>
                  <a:schemeClr val="dk1"/>
                </a:solidFill>
              </a:rPr>
              <a:t>be used by encoding variables rather than using the built-in mechanisms, but most of the time you won’t want to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2A: Contexts and Assumptions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142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a variable goes into the context, it is always accompanied by an assumption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Which assumption is declared implicitly by a rule that has a non-empty context of a particular form.  There must exactly one such rule.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(It is our long-term ambition to relax these requirements.)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Γ ::= * | Γ, x:τ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judgment typing: Γ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⊢ t : τ</a:t>
            </a:r>
            <a:b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assumes Γ</a:t>
            </a:r>
            <a:endParaRPr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5510150" y="3425525"/>
            <a:ext cx="2964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—------------ T-Var</a:t>
            </a:r>
            <a:br>
              <a:rPr lang="en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>
                <a:highlight>
                  <a:schemeClr val="accent4"/>
                </a:highlight>
                <a:latin typeface="Courier New"/>
                <a:ea typeface="Courier New"/>
                <a:cs typeface="Courier New"/>
                <a:sym typeface="Courier New"/>
              </a:rPr>
              <a:t>Γ, x:τ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⊢ x:τ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 rot="362">
            <a:off x="311703" y="4358150"/>
            <a:ext cx="2849400" cy="615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veat"/>
                <a:ea typeface="Caveat"/>
                <a:cs typeface="Caveat"/>
                <a:sym typeface="Caveat"/>
              </a:rPr>
              <a:t>Γ is not syntax, but rather LF context</a:t>
            </a:r>
            <a:endParaRPr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veat"/>
                <a:ea typeface="Caveat"/>
                <a:cs typeface="Caveat"/>
                <a:sym typeface="Caveat"/>
              </a:rPr>
              <a:t>(assumptions)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5824550" y="4158200"/>
            <a:ext cx="2482500" cy="4002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veat"/>
                <a:ea typeface="Caveat"/>
                <a:cs typeface="Caveat"/>
                <a:sym typeface="Caveat"/>
              </a:rPr>
              <a:t>Conclusion uses non-variable </a:t>
            </a:r>
            <a:r>
              <a:rPr lang="en">
                <a:latin typeface="Caveat"/>
                <a:ea typeface="Caveat"/>
                <a:cs typeface="Caveat"/>
                <a:sym typeface="Caveat"/>
              </a:rPr>
              <a:t>context</a:t>
            </a:r>
            <a:r>
              <a:rPr lang="en">
                <a:latin typeface="Caveat"/>
                <a:ea typeface="Caveat"/>
                <a:cs typeface="Caveat"/>
                <a:sym typeface="Caveat"/>
              </a:rPr>
              <a:t>.</a:t>
            </a:r>
            <a:endParaRPr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2A: Contexts and Assumptions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can be substituted away only if a corresponding judgment is produced: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20000"/>
              <a:buChar char="●"/>
            </a:pPr>
            <a:r>
              <a:rPr lang="en"/>
              <a:t>If we have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Γ, x:τ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⊢ t1[x] : τ’ </a:t>
            </a:r>
            <a:r>
              <a:rPr lang="en" sz="1500">
                <a:solidFill>
                  <a:schemeClr val="dk1"/>
                </a:solidFill>
              </a:rPr>
              <a:t>and want to substitute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500">
                <a:solidFill>
                  <a:schemeClr val="dk1"/>
                </a:solidFill>
              </a:rPr>
              <a:t> with 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t2</a:t>
            </a:r>
            <a:r>
              <a:rPr lang="en" sz="1500">
                <a:solidFill>
                  <a:schemeClr val="dk1"/>
                </a:solidFill>
              </a:rPr>
              <a:t>, then we need</a:t>
            </a: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Γ ⊢ t2:τ</a:t>
            </a:r>
            <a:r>
              <a:rPr lang="en" sz="1500">
                <a:solidFill>
                  <a:schemeClr val="dk1"/>
                </a:solidFill>
              </a:rPr>
              <a:t>.  This is called “substitution” in SASyLF.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This means, however, there is no judgment to say something is a </a:t>
            </a:r>
            <a:r>
              <a:rPr lang="en" sz="1500">
                <a:solidFill>
                  <a:schemeClr val="dk1"/>
                </a:solidFill>
              </a:rPr>
              <a:t>variable</a:t>
            </a:r>
            <a:r>
              <a:rPr lang="en" sz="1500">
                <a:solidFill>
                  <a:schemeClr val="dk1"/>
                </a:solidFill>
              </a:rPr>
              <a:t>. [LIVE PROVING]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Alternately, one can define such a judgment (with no other rules):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judgment isvar: x:τ ε Γ</a:t>
            </a:r>
            <a:b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assumes Γ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—------------ var</a:t>
            </a:r>
            <a:b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x:τ ε (Γ,x:τ)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And then “substitution” cannot be used (except to subst one variable with another); the substitution lemma is proved in the “normal” way (by induction).  (See sumprod.slf in edu.uwm.cs732 package.)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2A: Contexts and Assumptions</a:t>
            </a:r>
            <a:endParaRPr/>
          </a:p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SASyLF tradeoff: “assumes” means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+"/>
            </a:pPr>
            <a:r>
              <a:rPr lang="en"/>
              <a:t>We can use contexts in a natural way, but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cannot case analyze contexts.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(Twelf involves similar trade-offs.)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Getting both could be done with variable-arity in LF, but this not proved sound, nor do we have even a semi-algorithm for higher-order variable-arity unification.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2B: Discussion</a:t>
            </a:r>
            <a:endParaRPr sz="2750"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Curriculum example: CMU undergraduate PL course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Half of the assignments (4 of 8) focus on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the other 4 assignments, students build a compiler; there’s also a final 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assignments (all in the repository you got)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#1: introduction to rigorous proofs; similar to extended version of exercise #1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#2: modeling dynamics of the lambda calculus; full version of exercise #2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#3: modeling statics of the lambda calculus; similar to extended version of exercise #3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#4: prove correctness of constant propagation &amp; folding for the </a:t>
            </a:r>
            <a:r>
              <a:rPr lang="en"/>
              <a:t>λ-calculus with numbers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Qualitative experience positive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Students really like knowing that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Tool occasionally causes minor issues; a little bit of prep (of the assignment and students) smooths these over well.  We hope future tool improvements will make this even smoother!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2B: Discussion</a:t>
            </a:r>
            <a:endParaRPr sz="2750"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Curriculum example: UWM graduate PL course (advanced undergrads also)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course is based on TAPL.  We cover the non-ML chapters through 27.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homework every week with proofs to complete (⅓ of homework):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Five sample proof assignments are provided in the tutorial repo.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I’d be happy to share all the rest if you are interested.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course is elective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at UWM: on the Qualifying Examination for PhD </a:t>
            </a:r>
            <a:r>
              <a:rPr lang="en"/>
              <a:t>students</a:t>
            </a:r>
            <a:r>
              <a:rPr lang="en"/>
              <a:t> choosing PL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Typically about 8 students, </a:t>
            </a:r>
            <a:r>
              <a:rPr lang="en"/>
              <a:t>including</a:t>
            </a:r>
            <a:r>
              <a:rPr lang="en"/>
              <a:t> a couple undergraduates.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UWM students have no prior experience with proof assistants. (At NEU, half had prior experience – found course “fun” but not too hard).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be proved in SASyLF?</a:t>
            </a:r>
            <a:endParaRPr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POPLmark 2a (progress/preservation for System F</a:t>
            </a:r>
            <a:r>
              <a:rPr baseline="-25000" lang="en" sz="1500"/>
              <a:t>≤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the main results from TAPL through Chapter 30, except Ch. 12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Theorems must be in form of ∀∃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“Logical Relation” proofs must be recoded.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Proofs that make use of context operations are not directly encodable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Narrowing for F</a:t>
            </a:r>
            <a:r>
              <a:rPr baseline="-25000" lang="en" sz="1500"/>
              <a:t>≤</a:t>
            </a:r>
            <a:r>
              <a:rPr lang="en"/>
              <a:t> (done with substitution instead)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Proof that (λx.xx)(λx.xx) cannot be typed in System F (no alternate found)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Classic “Cut Elimination” proofs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Lexicographic induction, mutual induction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iso-recursive subtyping (Zhou, Yaoda [2020])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quite: Soundness of LF (see “LF.slf” – one “unproved”)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to other proof assistants	</a:t>
            </a:r>
            <a:endParaRPr/>
          </a:p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SASyLF is designed to be easy to pick 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mechanisms it uses are most closely related to paper proofs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it also has common mechanisms with other proof assistants, especially Agda - particularly proof by induction as functional programming.  The big difference is tactics, which handle the easier parts of proofs, which improves productivity of experienced formalizers.  SASyLF gets </a:t>
            </a:r>
            <a:r>
              <a:rPr lang="en"/>
              <a:t>people</a:t>
            </a:r>
            <a:r>
              <a:rPr lang="en"/>
              <a:t> experienced by making them do the easy steps too, and so can be viewed as a preparation for using tactic-based proof assistants.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and 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63348F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