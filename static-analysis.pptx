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5"/>
  </p:notesMasterIdLst>
  <p:handoutMasterIdLst>
    <p:handoutMasterId r:id="rId66"/>
  </p:handoutMasterIdLst>
  <p:sldIdLst>
    <p:sldId id="257" r:id="rId2"/>
    <p:sldId id="600" r:id="rId3"/>
    <p:sldId id="369" r:id="rId4"/>
    <p:sldId id="444" r:id="rId5"/>
    <p:sldId id="584" r:id="rId6"/>
    <p:sldId id="585" r:id="rId7"/>
    <p:sldId id="570" r:id="rId8"/>
    <p:sldId id="607" r:id="rId9"/>
    <p:sldId id="383" r:id="rId10"/>
    <p:sldId id="574" r:id="rId11"/>
    <p:sldId id="575" r:id="rId12"/>
    <p:sldId id="388" r:id="rId13"/>
    <p:sldId id="396" r:id="rId14"/>
    <p:sldId id="397" r:id="rId15"/>
    <p:sldId id="586" r:id="rId16"/>
    <p:sldId id="409" r:id="rId17"/>
    <p:sldId id="410" r:id="rId18"/>
    <p:sldId id="413" r:id="rId19"/>
    <p:sldId id="414" r:id="rId20"/>
    <p:sldId id="415" r:id="rId21"/>
    <p:sldId id="578" r:id="rId22"/>
    <p:sldId id="579" r:id="rId23"/>
    <p:sldId id="581" r:id="rId24"/>
    <p:sldId id="583" r:id="rId25"/>
    <p:sldId id="601" r:id="rId26"/>
    <p:sldId id="602" r:id="rId27"/>
    <p:sldId id="603" r:id="rId28"/>
    <p:sldId id="604" r:id="rId29"/>
    <p:sldId id="285" r:id="rId30"/>
    <p:sldId id="286" r:id="rId31"/>
    <p:sldId id="287" r:id="rId32"/>
    <p:sldId id="605" r:id="rId33"/>
    <p:sldId id="606" r:id="rId34"/>
    <p:sldId id="545" r:id="rId35"/>
    <p:sldId id="546" r:id="rId36"/>
    <p:sldId id="563" r:id="rId37"/>
    <p:sldId id="564" r:id="rId38"/>
    <p:sldId id="565" r:id="rId39"/>
    <p:sldId id="589" r:id="rId40"/>
    <p:sldId id="590" r:id="rId41"/>
    <p:sldId id="591" r:id="rId42"/>
    <p:sldId id="592" r:id="rId43"/>
    <p:sldId id="593" r:id="rId44"/>
    <p:sldId id="594" r:id="rId45"/>
    <p:sldId id="595" r:id="rId46"/>
    <p:sldId id="596" r:id="rId47"/>
    <p:sldId id="597" r:id="rId48"/>
    <p:sldId id="598" r:id="rId49"/>
    <p:sldId id="609" r:id="rId50"/>
    <p:sldId id="623" r:id="rId51"/>
    <p:sldId id="611" r:id="rId52"/>
    <p:sldId id="569" r:id="rId53"/>
    <p:sldId id="610" r:id="rId54"/>
    <p:sldId id="612" r:id="rId55"/>
    <p:sldId id="613" r:id="rId56"/>
    <p:sldId id="615" r:id="rId57"/>
    <p:sldId id="621" r:id="rId58"/>
    <p:sldId id="616" r:id="rId59"/>
    <p:sldId id="617" r:id="rId60"/>
    <p:sldId id="618" r:id="rId61"/>
    <p:sldId id="619" r:id="rId62"/>
    <p:sldId id="620" r:id="rId63"/>
    <p:sldId id="622" r:id="rId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D12567-4C38-304B-9DA7-20435FDA34B3}">
          <p14:sldIdLst>
            <p14:sldId id="257"/>
            <p14:sldId id="600"/>
          </p14:sldIdLst>
        </p14:section>
        <p14:section name="definitions (part 1)" id="{8C15398B-8B08-944A-85B1-2DFE1F711075}">
          <p14:sldIdLst>
            <p14:sldId id="369"/>
            <p14:sldId id="444"/>
            <p14:sldId id="584"/>
            <p14:sldId id="585"/>
            <p14:sldId id="570"/>
            <p14:sldId id="607"/>
            <p14:sldId id="383"/>
            <p14:sldId id="574"/>
            <p14:sldId id="575"/>
          </p14:sldIdLst>
        </p14:section>
        <p14:section name="first lecture" id="{BE861F1D-D57A-904E-87A3-BBD31D3F0204}">
          <p14:sldIdLst>
            <p14:sldId id="388"/>
            <p14:sldId id="396"/>
            <p14:sldId id="397"/>
            <p14:sldId id="586"/>
            <p14:sldId id="409"/>
            <p14:sldId id="410"/>
            <p14:sldId id="413"/>
            <p14:sldId id="414"/>
            <p14:sldId id="415"/>
          </p14:sldIdLst>
        </p14:section>
        <p14:section name="exercise" id="{E9AD4162-2E80-4D4C-A374-A53CD11DFF8D}">
          <p14:sldIdLst>
            <p14:sldId id="578"/>
            <p14:sldId id="579"/>
            <p14:sldId id="581"/>
            <p14:sldId id="583"/>
          </p14:sldIdLst>
        </p14:section>
        <p14:section name="The Formal Stuff (MC, Hoare logic)" id="{1D2CE6B4-FBD0-E84E-8071-08FE3A174EBE}">
          <p14:sldIdLst>
            <p14:sldId id="601"/>
            <p14:sldId id="602"/>
            <p14:sldId id="603"/>
            <p14:sldId id="604"/>
            <p14:sldId id="285"/>
            <p14:sldId id="286"/>
            <p14:sldId id="287"/>
            <p14:sldId id="605"/>
            <p14:sldId id="606"/>
          </p14:sldIdLst>
        </p14:section>
        <p14:section name="static analysis 313 lecture2" id="{D31167C7-9F5C-5E43-ACA8-112F137BE516}">
          <p14:sldIdLst>
            <p14:sldId id="545"/>
            <p14:sldId id="546"/>
          </p14:sldIdLst>
        </p14:section>
        <p14:section name="organization/practices" id="{2A8C2120-C26B-C745-832E-766E81ED7555}">
          <p14:sldIdLst>
            <p14:sldId id="563"/>
            <p14:sldId id="564"/>
            <p14:sldId id="565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609"/>
            <p14:sldId id="623"/>
          </p14:sldIdLst>
        </p14:section>
        <p14:section name="dynamic analysis" id="{1B40A95F-1BCF-784C-8008-B11B4998FDED}">
          <p14:sldIdLst>
            <p14:sldId id="611"/>
            <p14:sldId id="569"/>
            <p14:sldId id="610"/>
            <p14:sldId id="612"/>
            <p14:sldId id="613"/>
            <p14:sldId id="615"/>
            <p14:sldId id="621"/>
            <p14:sldId id="616"/>
            <p14:sldId id="617"/>
            <p14:sldId id="618"/>
            <p14:sldId id="619"/>
            <p14:sldId id="620"/>
            <p14:sldId id="6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5"/>
    <p:restoredTop sz="76132" autoAdjust="0"/>
  </p:normalViewPr>
  <p:slideViewPr>
    <p:cSldViewPr snapToGrid="0" snapToObjects="1">
      <p:cViewPr varScale="1">
        <p:scale>
          <a:sx n="56" d="100"/>
          <a:sy n="56" d="100"/>
        </p:scale>
        <p:origin x="11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4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E71757-BD69-CD48-95DB-D557C11EA95B}" type="doc">
      <dgm:prSet loTypeId="urn:microsoft.com/office/officeart/2005/8/layout/venn2" loCatId="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CF46D63-C112-2844-A817-47F4426E0CCD}">
      <dgm:prSet phldrT="[Text]" custT="1"/>
      <dgm:spPr>
        <a:solidFill>
          <a:schemeClr val="tx1"/>
        </a:solidFill>
      </dgm:spPr>
      <dgm:t>
        <a:bodyPr/>
        <a:lstStyle/>
        <a:p>
          <a:endParaRPr lang="en-US" sz="1600" b="1" dirty="0">
            <a:solidFill>
              <a:srgbClr val="FFFFFF"/>
            </a:solidFill>
          </a:endParaRPr>
        </a:p>
      </dgm:t>
    </dgm:pt>
    <dgm:pt modelId="{B3B26545-1611-F24D-A3C9-F398812AD0CE}" type="parTrans" cxnId="{1FCBC4C4-9A8F-3947-A6A8-A5DAA65A76CB}">
      <dgm:prSet/>
      <dgm:spPr/>
      <dgm:t>
        <a:bodyPr/>
        <a:lstStyle/>
        <a:p>
          <a:endParaRPr lang="en-US" sz="2000" b="1"/>
        </a:p>
      </dgm:t>
    </dgm:pt>
    <dgm:pt modelId="{10DDB120-3508-5C40-9581-B183770E360F}" type="sibTrans" cxnId="{1FCBC4C4-9A8F-3947-A6A8-A5DAA65A76CB}">
      <dgm:prSet/>
      <dgm:spPr/>
      <dgm:t>
        <a:bodyPr/>
        <a:lstStyle/>
        <a:p>
          <a:endParaRPr lang="en-US" sz="2000" b="1"/>
        </a:p>
      </dgm:t>
    </dgm:pt>
    <dgm:pt modelId="{3FDD60B7-A087-304D-852D-A9AC71D3EEE5}">
      <dgm:prSet phldrT="[Tex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2000" b="1" dirty="0">
              <a:solidFill>
                <a:srgbClr val="000000"/>
              </a:solidFill>
            </a:rPr>
            <a:t>Actual program behaviors</a:t>
          </a:r>
        </a:p>
      </dgm:t>
    </dgm:pt>
    <dgm:pt modelId="{11B91AFE-D5C0-5E47-A6D2-F0A43EEA8FEF}" type="parTrans" cxnId="{5682D915-CDC2-F64F-AA00-B23967E978FC}">
      <dgm:prSet/>
      <dgm:spPr/>
      <dgm:t>
        <a:bodyPr/>
        <a:lstStyle/>
        <a:p>
          <a:endParaRPr lang="en-US" sz="2000" b="1"/>
        </a:p>
      </dgm:t>
    </dgm:pt>
    <dgm:pt modelId="{7DBE1DB3-CC4E-1048-B88A-C6C397F3FF98}" type="sibTrans" cxnId="{5682D915-CDC2-F64F-AA00-B23967E978FC}">
      <dgm:prSet/>
      <dgm:spPr/>
      <dgm:t>
        <a:bodyPr/>
        <a:lstStyle/>
        <a:p>
          <a:endParaRPr lang="en-US" sz="2000" b="1"/>
        </a:p>
      </dgm:t>
    </dgm:pt>
    <dgm:pt modelId="{3EC26190-A119-7644-86BE-123B3C03D19D}" type="pres">
      <dgm:prSet presAssocID="{E3E71757-BD69-CD48-95DB-D557C11EA95B}" presName="Name0" presStyleCnt="0">
        <dgm:presLayoutVars>
          <dgm:chMax val="7"/>
          <dgm:resizeHandles val="exact"/>
        </dgm:presLayoutVars>
      </dgm:prSet>
      <dgm:spPr/>
    </dgm:pt>
    <dgm:pt modelId="{40F869C1-2B3C-A146-8D40-55CD6700900E}" type="pres">
      <dgm:prSet presAssocID="{E3E71757-BD69-CD48-95DB-D557C11EA95B}" presName="comp1" presStyleCnt="0"/>
      <dgm:spPr/>
    </dgm:pt>
    <dgm:pt modelId="{EC8DA519-176E-4E4F-AC29-256D86774B21}" type="pres">
      <dgm:prSet presAssocID="{E3E71757-BD69-CD48-95DB-D557C11EA95B}" presName="circle1" presStyleLbl="node1" presStyleIdx="0" presStyleCnt="2" custScaleX="100000" custLinFactNeighborX="-211"/>
      <dgm:spPr/>
    </dgm:pt>
    <dgm:pt modelId="{35F08125-05C9-F345-BBEE-E824D7DC3B25}" type="pres">
      <dgm:prSet presAssocID="{E3E71757-BD69-CD48-95DB-D557C11EA95B}" presName="c1text" presStyleLbl="node1" presStyleIdx="0" presStyleCnt="2">
        <dgm:presLayoutVars>
          <dgm:bulletEnabled val="1"/>
        </dgm:presLayoutVars>
      </dgm:prSet>
      <dgm:spPr/>
    </dgm:pt>
    <dgm:pt modelId="{9000B429-7655-D949-8EE2-B26E1295EAF3}" type="pres">
      <dgm:prSet presAssocID="{E3E71757-BD69-CD48-95DB-D557C11EA95B}" presName="comp2" presStyleCnt="0"/>
      <dgm:spPr/>
    </dgm:pt>
    <dgm:pt modelId="{2756106A-6B7E-E74F-BF0D-76B4A2CEC550}" type="pres">
      <dgm:prSet presAssocID="{E3E71757-BD69-CD48-95DB-D557C11EA95B}" presName="circle2" presStyleLbl="node1" presStyleIdx="1" presStyleCnt="2" custScaleX="80843" custScaleY="74392" custLinFactNeighborX="-844" custLinFactNeighborY="-9814"/>
      <dgm:spPr/>
    </dgm:pt>
    <dgm:pt modelId="{F9147287-12C5-8C43-BF67-224F0019AC24}" type="pres">
      <dgm:prSet presAssocID="{E3E71757-BD69-CD48-95DB-D557C11EA95B}" presName="c2text" presStyleLbl="node1" presStyleIdx="1" presStyleCnt="2">
        <dgm:presLayoutVars>
          <dgm:bulletEnabled val="1"/>
        </dgm:presLayoutVars>
      </dgm:prSet>
      <dgm:spPr/>
    </dgm:pt>
  </dgm:ptLst>
  <dgm:cxnLst>
    <dgm:cxn modelId="{26228D03-DB96-9148-A5AA-600A4F6F50CD}" type="presOf" srcId="{3FDD60B7-A087-304D-852D-A9AC71D3EEE5}" destId="{2756106A-6B7E-E74F-BF0D-76B4A2CEC550}" srcOrd="0" destOrd="0" presId="urn:microsoft.com/office/officeart/2005/8/layout/venn2"/>
    <dgm:cxn modelId="{5682D915-CDC2-F64F-AA00-B23967E978FC}" srcId="{E3E71757-BD69-CD48-95DB-D557C11EA95B}" destId="{3FDD60B7-A087-304D-852D-A9AC71D3EEE5}" srcOrd="1" destOrd="0" parTransId="{11B91AFE-D5C0-5E47-A6D2-F0A43EEA8FEF}" sibTransId="{7DBE1DB3-CC4E-1048-B88A-C6C397F3FF98}"/>
    <dgm:cxn modelId="{148F063B-F833-1C4B-B84A-4B4FAA706F21}" type="presOf" srcId="{3CF46D63-C112-2844-A817-47F4426E0CCD}" destId="{35F08125-05C9-F345-BBEE-E824D7DC3B25}" srcOrd="1" destOrd="0" presId="urn:microsoft.com/office/officeart/2005/8/layout/venn2"/>
    <dgm:cxn modelId="{9CF79A3F-64D1-C540-9F80-A4530BD854BD}" type="presOf" srcId="{E3E71757-BD69-CD48-95DB-D557C11EA95B}" destId="{3EC26190-A119-7644-86BE-123B3C03D19D}" srcOrd="0" destOrd="0" presId="urn:microsoft.com/office/officeart/2005/8/layout/venn2"/>
    <dgm:cxn modelId="{858E4E55-E486-F445-B3B8-C2E3DED5F2C4}" type="presOf" srcId="{3CF46D63-C112-2844-A817-47F4426E0CCD}" destId="{EC8DA519-176E-4E4F-AC29-256D86774B21}" srcOrd="0" destOrd="0" presId="urn:microsoft.com/office/officeart/2005/8/layout/venn2"/>
    <dgm:cxn modelId="{AF59ACC2-F9C2-F74E-8F8F-6CC0A9E8FFEE}" type="presOf" srcId="{3FDD60B7-A087-304D-852D-A9AC71D3EEE5}" destId="{F9147287-12C5-8C43-BF67-224F0019AC24}" srcOrd="1" destOrd="0" presId="urn:microsoft.com/office/officeart/2005/8/layout/venn2"/>
    <dgm:cxn modelId="{1FCBC4C4-9A8F-3947-A6A8-A5DAA65A76CB}" srcId="{E3E71757-BD69-CD48-95DB-D557C11EA95B}" destId="{3CF46D63-C112-2844-A817-47F4426E0CCD}" srcOrd="0" destOrd="0" parTransId="{B3B26545-1611-F24D-A3C9-F398812AD0CE}" sibTransId="{10DDB120-3508-5C40-9581-B183770E360F}"/>
    <dgm:cxn modelId="{6999C281-F90B-8741-8C1B-DA484D3EA947}" type="presParOf" srcId="{3EC26190-A119-7644-86BE-123B3C03D19D}" destId="{40F869C1-2B3C-A146-8D40-55CD6700900E}" srcOrd="0" destOrd="0" presId="urn:microsoft.com/office/officeart/2005/8/layout/venn2"/>
    <dgm:cxn modelId="{AA34E94B-22F8-BB49-92E1-9958F8F7EC44}" type="presParOf" srcId="{40F869C1-2B3C-A146-8D40-55CD6700900E}" destId="{EC8DA519-176E-4E4F-AC29-256D86774B21}" srcOrd="0" destOrd="0" presId="urn:microsoft.com/office/officeart/2005/8/layout/venn2"/>
    <dgm:cxn modelId="{DBEC0611-8617-6A4B-B7D1-602DAF4329DD}" type="presParOf" srcId="{40F869C1-2B3C-A146-8D40-55CD6700900E}" destId="{35F08125-05C9-F345-BBEE-E824D7DC3B25}" srcOrd="1" destOrd="0" presId="urn:microsoft.com/office/officeart/2005/8/layout/venn2"/>
    <dgm:cxn modelId="{FCEB7CE1-CCA3-ED49-8BFE-EF1E7BBE4866}" type="presParOf" srcId="{3EC26190-A119-7644-86BE-123B3C03D19D}" destId="{9000B429-7655-D949-8EE2-B26E1295EAF3}" srcOrd="1" destOrd="0" presId="urn:microsoft.com/office/officeart/2005/8/layout/venn2"/>
    <dgm:cxn modelId="{C540FF92-06A4-8B4D-B434-DB706580A7C4}" type="presParOf" srcId="{9000B429-7655-D949-8EE2-B26E1295EAF3}" destId="{2756106A-6B7E-E74F-BF0D-76B4A2CEC550}" srcOrd="0" destOrd="0" presId="urn:microsoft.com/office/officeart/2005/8/layout/venn2"/>
    <dgm:cxn modelId="{CF756AF3-260B-0642-9AB0-6B79FAB8711F}" type="presParOf" srcId="{9000B429-7655-D949-8EE2-B26E1295EAF3}" destId="{F9147287-12C5-8C43-BF67-224F0019AC24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E71757-BD69-CD48-95DB-D557C11EA95B}" type="doc">
      <dgm:prSet loTypeId="urn:microsoft.com/office/officeart/2005/8/layout/venn2" loCatId="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FDD60B7-A087-304D-852D-A9AC71D3EEE5}">
      <dgm:prSet phldrT="[Text]" custT="1"/>
      <dgm:spPr>
        <a:solidFill>
          <a:schemeClr val="tx1"/>
        </a:solidFill>
      </dgm:spPr>
      <dgm:t>
        <a:bodyPr/>
        <a:lstStyle/>
        <a:p>
          <a:r>
            <a:rPr lang="en-US" sz="2000" b="1" dirty="0">
              <a:solidFill>
                <a:schemeClr val="bg1"/>
              </a:solidFill>
            </a:rPr>
            <a:t>Actual program behaviors</a:t>
          </a:r>
        </a:p>
      </dgm:t>
    </dgm:pt>
    <dgm:pt modelId="{11B91AFE-D5C0-5E47-A6D2-F0A43EEA8FEF}" type="parTrans" cxnId="{5682D915-CDC2-F64F-AA00-B23967E978FC}">
      <dgm:prSet/>
      <dgm:spPr/>
      <dgm:t>
        <a:bodyPr/>
        <a:lstStyle/>
        <a:p>
          <a:endParaRPr lang="en-US" sz="2000" b="1"/>
        </a:p>
      </dgm:t>
    </dgm:pt>
    <dgm:pt modelId="{7DBE1DB3-CC4E-1048-B88A-C6C397F3FF98}" type="sibTrans" cxnId="{5682D915-CDC2-F64F-AA00-B23967E978FC}">
      <dgm:prSet/>
      <dgm:spPr/>
      <dgm:t>
        <a:bodyPr/>
        <a:lstStyle/>
        <a:p>
          <a:endParaRPr lang="en-US" sz="2000" b="1"/>
        </a:p>
      </dgm:t>
    </dgm:pt>
    <dgm:pt modelId="{387A2CE2-6AC8-584C-A717-803D00F1ED58}">
      <dgm:prSet phldrT="[Text]" custT="1"/>
      <dgm:spPr>
        <a:solidFill>
          <a:schemeClr val="bg1">
            <a:lumMod val="75000"/>
          </a:schemeClr>
        </a:solidFill>
      </dgm:spPr>
      <dgm:t>
        <a:bodyPr/>
        <a:lstStyle/>
        <a:p>
          <a:endParaRPr lang="en-US" sz="1600" b="1" dirty="0">
            <a:solidFill>
              <a:srgbClr val="000000"/>
            </a:solidFill>
          </a:endParaRPr>
        </a:p>
      </dgm:t>
    </dgm:pt>
    <dgm:pt modelId="{90CD9857-7095-FB4F-B203-16363524085C}" type="parTrans" cxnId="{5922FB55-4967-374A-ACC7-C5D3ECF4D94C}">
      <dgm:prSet/>
      <dgm:spPr/>
      <dgm:t>
        <a:bodyPr/>
        <a:lstStyle/>
        <a:p>
          <a:endParaRPr lang="en-US"/>
        </a:p>
      </dgm:t>
    </dgm:pt>
    <dgm:pt modelId="{6D53D05F-7C36-6A49-B55C-1085BE1115DB}" type="sibTrans" cxnId="{5922FB55-4967-374A-ACC7-C5D3ECF4D94C}">
      <dgm:prSet/>
      <dgm:spPr/>
      <dgm:t>
        <a:bodyPr/>
        <a:lstStyle/>
        <a:p>
          <a:endParaRPr lang="en-US"/>
        </a:p>
      </dgm:t>
    </dgm:pt>
    <dgm:pt modelId="{3EC26190-A119-7644-86BE-123B3C03D19D}" type="pres">
      <dgm:prSet presAssocID="{E3E71757-BD69-CD48-95DB-D557C11EA95B}" presName="Name0" presStyleCnt="0">
        <dgm:presLayoutVars>
          <dgm:chMax val="7"/>
          <dgm:resizeHandles val="exact"/>
        </dgm:presLayoutVars>
      </dgm:prSet>
      <dgm:spPr/>
    </dgm:pt>
    <dgm:pt modelId="{40F869C1-2B3C-A146-8D40-55CD6700900E}" type="pres">
      <dgm:prSet presAssocID="{E3E71757-BD69-CD48-95DB-D557C11EA95B}" presName="comp1" presStyleCnt="0"/>
      <dgm:spPr/>
    </dgm:pt>
    <dgm:pt modelId="{EC8DA519-176E-4E4F-AC29-256D86774B21}" type="pres">
      <dgm:prSet presAssocID="{E3E71757-BD69-CD48-95DB-D557C11EA95B}" presName="circle1" presStyleLbl="node1" presStyleIdx="0" presStyleCnt="2" custScaleX="100000" custScaleY="106526" custLinFactNeighborX="-211"/>
      <dgm:spPr/>
    </dgm:pt>
    <dgm:pt modelId="{35F08125-05C9-F345-BBEE-E824D7DC3B25}" type="pres">
      <dgm:prSet presAssocID="{E3E71757-BD69-CD48-95DB-D557C11EA95B}" presName="c1text" presStyleLbl="node1" presStyleIdx="0" presStyleCnt="2">
        <dgm:presLayoutVars>
          <dgm:bulletEnabled val="1"/>
        </dgm:presLayoutVars>
      </dgm:prSet>
      <dgm:spPr/>
    </dgm:pt>
    <dgm:pt modelId="{9000B429-7655-D949-8EE2-B26E1295EAF3}" type="pres">
      <dgm:prSet presAssocID="{E3E71757-BD69-CD48-95DB-D557C11EA95B}" presName="comp2" presStyleCnt="0"/>
      <dgm:spPr/>
    </dgm:pt>
    <dgm:pt modelId="{2756106A-6B7E-E74F-BF0D-76B4A2CEC550}" type="pres">
      <dgm:prSet presAssocID="{E3E71757-BD69-CD48-95DB-D557C11EA95B}" presName="circle2" presStyleLbl="node1" presStyleIdx="1" presStyleCnt="2" custScaleX="83839" custScaleY="76721" custLinFactNeighborX="1851" custLinFactNeighborY="-8318"/>
      <dgm:spPr/>
    </dgm:pt>
    <dgm:pt modelId="{F9147287-12C5-8C43-BF67-224F0019AC24}" type="pres">
      <dgm:prSet presAssocID="{E3E71757-BD69-CD48-95DB-D557C11EA95B}" presName="c2text" presStyleLbl="node1" presStyleIdx="1" presStyleCnt="2">
        <dgm:presLayoutVars>
          <dgm:bulletEnabled val="1"/>
        </dgm:presLayoutVars>
      </dgm:prSet>
      <dgm:spPr/>
    </dgm:pt>
  </dgm:ptLst>
  <dgm:cxnLst>
    <dgm:cxn modelId="{53E82D0E-6A79-8247-8A47-1BBA8BF72E54}" type="presOf" srcId="{3FDD60B7-A087-304D-852D-A9AC71D3EEE5}" destId="{EC8DA519-176E-4E4F-AC29-256D86774B21}" srcOrd="0" destOrd="0" presId="urn:microsoft.com/office/officeart/2005/8/layout/venn2"/>
    <dgm:cxn modelId="{5682D915-CDC2-F64F-AA00-B23967E978FC}" srcId="{E3E71757-BD69-CD48-95DB-D557C11EA95B}" destId="{3FDD60B7-A087-304D-852D-A9AC71D3EEE5}" srcOrd="0" destOrd="0" parTransId="{11B91AFE-D5C0-5E47-A6D2-F0A43EEA8FEF}" sibTransId="{7DBE1DB3-CC4E-1048-B88A-C6C397F3FF98}"/>
    <dgm:cxn modelId="{ECE1A61A-0413-2E41-9AAC-2E5747CC9787}" type="presOf" srcId="{387A2CE2-6AC8-584C-A717-803D00F1ED58}" destId="{2756106A-6B7E-E74F-BF0D-76B4A2CEC550}" srcOrd="0" destOrd="0" presId="urn:microsoft.com/office/officeart/2005/8/layout/venn2"/>
    <dgm:cxn modelId="{5922FB55-4967-374A-ACC7-C5D3ECF4D94C}" srcId="{E3E71757-BD69-CD48-95DB-D557C11EA95B}" destId="{387A2CE2-6AC8-584C-A717-803D00F1ED58}" srcOrd="1" destOrd="0" parTransId="{90CD9857-7095-FB4F-B203-16363524085C}" sibTransId="{6D53D05F-7C36-6A49-B55C-1085BE1115DB}"/>
    <dgm:cxn modelId="{5DA418A7-90E1-5F40-B08A-DF0B78A33936}" type="presOf" srcId="{387A2CE2-6AC8-584C-A717-803D00F1ED58}" destId="{F9147287-12C5-8C43-BF67-224F0019AC24}" srcOrd="1" destOrd="0" presId="urn:microsoft.com/office/officeart/2005/8/layout/venn2"/>
    <dgm:cxn modelId="{A800B4AD-12B0-DF41-90E9-2234B221FD66}" type="presOf" srcId="{3FDD60B7-A087-304D-852D-A9AC71D3EEE5}" destId="{35F08125-05C9-F345-BBEE-E824D7DC3B25}" srcOrd="1" destOrd="0" presId="urn:microsoft.com/office/officeart/2005/8/layout/venn2"/>
    <dgm:cxn modelId="{2BA017C7-2C63-554A-859F-B6BC1B78C04A}" type="presOf" srcId="{E3E71757-BD69-CD48-95DB-D557C11EA95B}" destId="{3EC26190-A119-7644-86BE-123B3C03D19D}" srcOrd="0" destOrd="0" presId="urn:microsoft.com/office/officeart/2005/8/layout/venn2"/>
    <dgm:cxn modelId="{7FB8F607-7694-2844-9B6D-CE6B3EBAFECC}" type="presParOf" srcId="{3EC26190-A119-7644-86BE-123B3C03D19D}" destId="{40F869C1-2B3C-A146-8D40-55CD6700900E}" srcOrd="0" destOrd="0" presId="urn:microsoft.com/office/officeart/2005/8/layout/venn2"/>
    <dgm:cxn modelId="{D0AF9687-0C64-E549-ABA5-A6A5F9EFE404}" type="presParOf" srcId="{40F869C1-2B3C-A146-8D40-55CD6700900E}" destId="{EC8DA519-176E-4E4F-AC29-256D86774B21}" srcOrd="0" destOrd="0" presId="urn:microsoft.com/office/officeart/2005/8/layout/venn2"/>
    <dgm:cxn modelId="{04B157B0-887F-1741-8938-DE5A1226E48D}" type="presParOf" srcId="{40F869C1-2B3C-A146-8D40-55CD6700900E}" destId="{35F08125-05C9-F345-BBEE-E824D7DC3B25}" srcOrd="1" destOrd="0" presId="urn:microsoft.com/office/officeart/2005/8/layout/venn2"/>
    <dgm:cxn modelId="{C2A6E6FD-0757-E74A-AD2B-730B4D3D377C}" type="presParOf" srcId="{3EC26190-A119-7644-86BE-123B3C03D19D}" destId="{9000B429-7655-D949-8EE2-B26E1295EAF3}" srcOrd="1" destOrd="0" presId="urn:microsoft.com/office/officeart/2005/8/layout/venn2"/>
    <dgm:cxn modelId="{24CAC936-28AE-8D46-8B0A-EB16B5D116D5}" type="presParOf" srcId="{9000B429-7655-D949-8EE2-B26E1295EAF3}" destId="{2756106A-6B7E-E74F-BF0D-76B4A2CEC550}" srcOrd="0" destOrd="0" presId="urn:microsoft.com/office/officeart/2005/8/layout/venn2"/>
    <dgm:cxn modelId="{3E60490B-4441-7743-9E25-8198AC934E8D}" type="presParOf" srcId="{9000B429-7655-D949-8EE2-B26E1295EAF3}" destId="{F9147287-12C5-8C43-BF67-224F0019AC24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DA519-176E-4E4F-AC29-256D86774B21}">
      <dsp:nvSpPr>
        <dsp:cNvPr id="0" name=""/>
        <dsp:cNvSpPr/>
      </dsp:nvSpPr>
      <dsp:spPr>
        <a:xfrm>
          <a:off x="0" y="304405"/>
          <a:ext cx="3184770" cy="3184770"/>
        </a:xfrm>
        <a:prstGeom prst="ellipse">
          <a:avLst/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>
            <a:solidFill>
              <a:srgbClr val="FFFFFF"/>
            </a:solidFill>
          </a:endParaRPr>
        </a:p>
      </dsp:txBody>
      <dsp:txXfrm>
        <a:off x="756382" y="543263"/>
        <a:ext cx="1672004" cy="541410"/>
      </dsp:txXfrm>
    </dsp:sp>
    <dsp:sp modelId="{2756106A-6B7E-E74F-BF0D-76B4A2CEC550}">
      <dsp:nvSpPr>
        <dsp:cNvPr id="0" name=""/>
        <dsp:cNvSpPr/>
      </dsp:nvSpPr>
      <dsp:spPr>
        <a:xfrm>
          <a:off x="606726" y="1172016"/>
          <a:ext cx="1930997" cy="1776910"/>
        </a:xfrm>
        <a:prstGeom prst="ellipse">
          <a:avLst/>
        </a:prstGeom>
        <a:solidFill>
          <a:schemeClr val="bg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0000"/>
              </a:solidFill>
            </a:rPr>
            <a:t>Actual program behaviors</a:t>
          </a:r>
        </a:p>
      </dsp:txBody>
      <dsp:txXfrm>
        <a:off x="889514" y="1616244"/>
        <a:ext cx="1365421" cy="8884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DA519-176E-4E4F-AC29-256D86774B21}">
      <dsp:nvSpPr>
        <dsp:cNvPr id="0" name=""/>
        <dsp:cNvSpPr/>
      </dsp:nvSpPr>
      <dsp:spPr>
        <a:xfrm>
          <a:off x="0" y="200486"/>
          <a:ext cx="3184770" cy="3392608"/>
        </a:xfrm>
        <a:prstGeom prst="ellipse">
          <a:avLst/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</a:rPr>
            <a:t>Actual program behaviors</a:t>
          </a:r>
        </a:p>
      </dsp:txBody>
      <dsp:txXfrm>
        <a:off x="756382" y="454932"/>
        <a:ext cx="1672004" cy="576743"/>
      </dsp:txXfrm>
    </dsp:sp>
    <dsp:sp modelId="{2756106A-6B7E-E74F-BF0D-76B4A2CEC550}">
      <dsp:nvSpPr>
        <dsp:cNvPr id="0" name=""/>
        <dsp:cNvSpPr/>
      </dsp:nvSpPr>
      <dsp:spPr>
        <a:xfrm>
          <a:off x="635317" y="1179934"/>
          <a:ext cx="2002559" cy="1832540"/>
        </a:xfrm>
        <a:prstGeom prst="ellipse">
          <a:avLst/>
        </a:prstGeom>
        <a:solidFill>
          <a:schemeClr val="bg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>
            <a:solidFill>
              <a:srgbClr val="000000"/>
            </a:solidFill>
          </a:endParaRPr>
        </a:p>
      </dsp:txBody>
      <dsp:txXfrm>
        <a:off x="928585" y="1638069"/>
        <a:ext cx="1416023" cy="916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4301F-DE2E-5A48-9484-09C67FC76F1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A48B8-E731-9A4F-BA6C-5E77DC3B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894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506CD-CA5A-954F-B39A-0F4C722D2FCC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4E6E1-2B48-9449-B18F-FA9F0E24C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525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Arial" charset="0"/>
                <a:cs typeface="Arial" charset="0"/>
              </a:rPr>
              <a:t>Track an important abstraction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5FEE0-6663-D047-9B6F-73C055AFD6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47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9F11A45-C6B8-E848-AF3C-C6D9ABF93656}" type="slidenum">
              <a:rPr lang="en-US"/>
              <a:pPr eaLnBrk="1" hangingPunct="1"/>
              <a:t>6</a:t>
            </a:fld>
            <a:endParaRPr lang="en-US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</a:t>
            </a:r>
            <a:r>
              <a:rPr lang="en-US" baseline="0" dirty="0"/>
              <a:t>h interesting errors that testing won’t, safety-critical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4E6E1-2B48-9449-B18F-FA9F0E24C2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86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static analysis can be sound, complete, and terminating.</a:t>
            </a:r>
          </a:p>
          <a:p>
            <a:r>
              <a:rPr lang="en-US" dirty="0"/>
              <a:t>Perfect static analysis is </a:t>
            </a:r>
            <a:r>
              <a:rPr lang="en-US" dirty="0" err="1"/>
              <a:t>undecidable</a:t>
            </a:r>
            <a:r>
              <a:rPr lang="en-US" dirty="0"/>
              <a:t> on nontrivial programs for even simple attributes.</a:t>
            </a:r>
          </a:p>
          <a:p>
            <a:r>
              <a:rPr lang="en-US" dirty="0"/>
              <a:t>Thus, </a:t>
            </a:r>
            <a:r>
              <a:rPr lang="en-US" i="1" dirty="0"/>
              <a:t>every static analysis approximates </a:t>
            </a:r>
            <a:r>
              <a:rPr lang="en-US" dirty="0"/>
              <a:t>(using abstraction).</a:t>
            </a:r>
          </a:p>
          <a:p>
            <a:r>
              <a:rPr lang="en-US" dirty="0"/>
              <a:t>Many static analyses are useful nevertheless</a:t>
            </a:r>
          </a:p>
          <a:p>
            <a:pPr lvl="1"/>
            <a:r>
              <a:rPr lang="en-US" dirty="0"/>
              <a:t>E.g. a sound tool with few false positives in practice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5FEE0-6663-D047-9B6F-73C055AFD6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3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0C9FC-C824-F349-BE36-C06E07896D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68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</a:t>
            </a:r>
            <a:r>
              <a:rPr lang="en-US" baseline="0" dirty="0"/>
              <a:t>: false positive </a:t>
            </a:r>
          </a:p>
          <a:p>
            <a:r>
              <a:rPr lang="en-US" baseline="0" dirty="0"/>
              <a:t>Right False negative?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0C9FC-C824-F349-BE36-C06E07896D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68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</a:t>
            </a:r>
            <a:r>
              <a:rPr lang="en-US" baseline="0" dirty="0"/>
              <a:t> thanks to Jonathan and </a:t>
            </a:r>
            <a:r>
              <a:rPr lang="en-US" baseline="0" dirty="0" err="1"/>
              <a:t>Engler</a:t>
            </a:r>
            <a:r>
              <a:rPr lang="en-US" baseline="0" dirty="0"/>
              <a:t> 00 OSDI paper</a:t>
            </a:r>
          </a:p>
          <a:p>
            <a:r>
              <a:rPr lang="en-US" baseline="0" dirty="0"/>
              <a:t>This is from a C file with 2000 LOC, in a driver with 56746 LOC, in THE LINUX KERNEL.  Just saying.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4E6E1-2B48-9449-B18F-FA9F0E24C2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69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Metal interrupt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4E6E1-2B48-9449-B18F-FA9F0E24C2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34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7B13768-FE8C-0E4A-A88C-A2A41DE24652}" type="slidenum">
              <a:rPr lang="en-US"/>
              <a:pPr eaLnBrk="1" hangingPunct="1"/>
              <a:t>15</a:t>
            </a:fld>
            <a:endParaRPr lang="en-US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charset="0"/>
              </a:rPr>
              <a:t>What’s control flow?</a:t>
            </a:r>
          </a:p>
          <a:p>
            <a:r>
              <a:rPr lang="en-US" dirty="0">
                <a:latin typeface="Arial" charset="0"/>
              </a:rPr>
              <a:t>Show the difference between joining and not joining</a:t>
            </a:r>
          </a:p>
          <a:p>
            <a:endParaRPr lang="en-US" dirty="0">
              <a:latin typeface="Arial" charset="0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a control flow graph each node in the graph represents a basic block, i.e. a straight-line piece of code without any jumps or jump targets; jump targets start a block, and jumps end a block. Directed edges are used to represent jumps in the control flow. There are, in most presentations, two specially designated blocks: the entry block, through which control enters into the flow graph, and the exit block, through which all control flow leaves.</a:t>
            </a:r>
          </a:p>
          <a:p>
            <a:endParaRPr lang="en-US" dirty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0C9FC-C824-F349-BE36-C06E07896D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29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000FF"/>
                </a:solidFill>
              </a:rPr>
              <a:t>What tradeoffs have we made with this approach?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0C9FC-C824-F349-BE36-C06E07896D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26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21D3AB2-7428-F44C-8F38-165E78D0EE87}" type="slidenum">
              <a:rPr lang="en-US"/>
              <a:pPr eaLnBrk="1" hangingPunct="1"/>
              <a:t>21</a:t>
            </a:fld>
            <a:endParaRPr lang="en-US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latin typeface="Arial" charset="0"/>
              </a:rPr>
              <a:t>Similar to previous analysis. Now we are just tracking the state of each variable in a map.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21D3AB2-7428-F44C-8F38-165E78D0EE87}" type="slidenum">
              <a:rPr lang="en-US"/>
              <a:pPr eaLnBrk="1" hangingPunct="1"/>
              <a:t>22</a:t>
            </a:fld>
            <a:endParaRPr lang="en-US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>
                <a:latin typeface="Arial" charset="0"/>
              </a:rPr>
              <a:t>Similar to previous analysis. Now we are just tracking the state of each variable in a map.</a:t>
            </a: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Eliding entry + exit for clarity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21D3AB2-7428-F44C-8F38-165E78D0EE87}" type="slidenum">
              <a:rPr lang="en-US"/>
              <a:pPr eaLnBrk="1" hangingPunct="1"/>
              <a:t>24</a:t>
            </a:fld>
            <a:endParaRPr lang="en-US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>
                <a:latin typeface="Arial" charset="0"/>
              </a:rPr>
              <a:t>Similar to previous analysis. Now we are just tracking the state of each variable in a map.</a:t>
            </a: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Eliding entry + exit for clarity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1533681-9058-8E4C-87AA-4BC83D03758E}" type="slidenum">
              <a:rPr lang="en-US"/>
              <a:pPr eaLnBrk="1" hangingPunct="1"/>
              <a:t>34</a:t>
            </a:fld>
            <a:endParaRPr lang="en-US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A90E293-D9EE-A842-982E-6099A93FE258}" type="slidenum">
              <a:rPr lang="en-US"/>
              <a:pPr eaLnBrk="1" hangingPunct="1"/>
              <a:t>35</a:t>
            </a:fld>
            <a:endParaRPr lang="en-US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4E6E1-2B48-9449-B18F-FA9F0E24C28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33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3508F31-8E48-9947-89FE-119CC0295FB4}" type="slidenum">
              <a:rPr lang="en-US"/>
              <a:pPr eaLnBrk="1" hangingPunct="1"/>
              <a:t>38</a:t>
            </a:fld>
            <a:endParaRPr lang="en-US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05" indent="-270272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81086" indent="-216217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13519" indent="-216217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45954" indent="-216217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78388" indent="-2162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10823" indent="-2162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243257" indent="-2162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675692" indent="-21621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13454E8-78A8-2C4E-851D-5F523DD17B28}" type="slidenum">
              <a:rPr lang="en-US"/>
              <a:pPr eaLnBrk="1" hangingPunct="1"/>
              <a:t>44</a:t>
            </a:fld>
            <a:endParaRPr lang="en-US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4E6E1-2B48-9449-B18F-FA9F0E24C28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45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DE19F-A305-2444-858D-467BA146B1DA}" type="datetime1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DB9-4C96-584D-BD84-D65D3154FD3E}" type="datetime1">
              <a:rPr lang="en-US" smtClean="0"/>
              <a:t>12/2/25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A447-15A8-F54C-94C2-EA1B258242C3}" type="datetime1">
              <a:rPr lang="en-US" smtClean="0"/>
              <a:t>12/2/25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9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2E57-1A03-BC46-86B8-4B5F9A032486}" type="datetime1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A24CD62-3829-1947-9BBF-9F8B85539FF5}" type="datetime1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D5C6A518-65E5-2C47-856A-B4EAE3B1A9CC}" type="datetime1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2880EDCA-8E77-4A48-9125-AEA1FC3F63BF}" type="datetime1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1EB8-D9DC-A942-9FB0-6B2BA161C18B}" type="datetime1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1DC3-17E0-834D-AED5-91964F30600B}" type="datetime1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AC467-0A72-A440-A3C7-F58856186444}" type="datetime1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9241A-5FA5-4240-90B8-CE389334902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sr_logo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315200" y="6248400"/>
            <a:ext cx="1358900" cy="495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Static Analysis,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Claire Le Goues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85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Really understand control- and data-flow analysis.</a:t>
            </a:r>
          </a:p>
          <a:p>
            <a:r>
              <a:rPr lang="en-US" dirty="0"/>
              <a:t>Receive a high-level introduction to more formal proving tools.</a:t>
            </a:r>
          </a:p>
          <a:p>
            <a:r>
              <a:rPr lang="en-US" dirty="0"/>
              <a:t>Develop evidence-based recommendations for how to deploy analysis tools in your project or organization.</a:t>
            </a:r>
          </a:p>
          <a:p>
            <a:r>
              <a:rPr lang="en-US" dirty="0"/>
              <a:t>Explain how abstraction applies to dynamic analysis (lightning-fast!).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86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fundamental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Abstraction</a:t>
            </a:r>
          </a:p>
          <a:p>
            <a:pPr lvl="1"/>
            <a:r>
              <a:rPr lang="en-US" dirty="0"/>
              <a:t>Elide details of a specific implementation.</a:t>
            </a:r>
          </a:p>
          <a:p>
            <a:pPr lvl="1"/>
            <a:r>
              <a:rPr lang="en-US" dirty="0"/>
              <a:t>Capture semantically relevant details; ignore the rest.</a:t>
            </a:r>
          </a:p>
          <a:p>
            <a:r>
              <a:rPr lang="en-US" dirty="0"/>
              <a:t>Programs as data</a:t>
            </a:r>
          </a:p>
          <a:p>
            <a:pPr lvl="1"/>
            <a:r>
              <a:rPr lang="en-US" dirty="0"/>
              <a:t>Programs are just trees/graphs!</a:t>
            </a:r>
          </a:p>
          <a:p>
            <a:pPr lvl="1"/>
            <a:r>
              <a:rPr lang="en-US" dirty="0"/>
              <a:t>…and CS has lots of ways to analyze trees/graphs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4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Static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Systematic</a:t>
            </a:r>
            <a:r>
              <a:rPr lang="en-US" dirty="0"/>
              <a:t> examination of an </a:t>
            </a:r>
            <a:r>
              <a:rPr lang="en-US" b="1" dirty="0"/>
              <a:t>abstraction</a:t>
            </a:r>
            <a:r>
              <a:rPr lang="en-US" dirty="0"/>
              <a:t> of program </a:t>
            </a:r>
            <a:r>
              <a:rPr lang="en-US" b="1" dirty="0"/>
              <a:t>state space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4</a:t>
            </a:fld>
            <a:endParaRPr lang="en-US"/>
          </a:p>
        </p:txBody>
      </p:sp>
      <p:sp>
        <p:nvSpPr>
          <p:cNvPr id="4" name="Rounded Rectangular Callout 3"/>
          <p:cNvSpPr/>
          <p:nvPr/>
        </p:nvSpPr>
        <p:spPr>
          <a:xfrm>
            <a:off x="4347882" y="1987176"/>
            <a:ext cx="3929529" cy="1329765"/>
          </a:xfrm>
          <a:prstGeom prst="wedgeRoundRectCallout">
            <a:avLst>
              <a:gd name="adj1" fmla="val 19167"/>
              <a:gd name="adj2" fmla="val 55877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/>
                <a:cs typeface="Calibri"/>
              </a:rPr>
              <a:t>Don’t track everything! (That</a:t>
            </a:r>
            <a:r>
              <a:rPr lang="ja-JP" altLang="en-US" sz="2400" dirty="0">
                <a:latin typeface="Calibri"/>
                <a:cs typeface="Calibri"/>
              </a:rPr>
              <a:t>’</a:t>
            </a:r>
            <a:r>
              <a:rPr lang="en-US" sz="2400" dirty="0">
                <a:latin typeface="Calibri"/>
                <a:cs typeface="Calibri"/>
              </a:rPr>
              <a:t>s normal interpretation)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418353" y="4470400"/>
            <a:ext cx="3929529" cy="1329765"/>
          </a:xfrm>
          <a:prstGeom prst="wedgeRoundRectCallout">
            <a:avLst>
              <a:gd name="adj1" fmla="val -15054"/>
              <a:gd name="adj2" fmla="val -9019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/>
                <a:cs typeface="Calibri"/>
              </a:rPr>
              <a:t>Ensure everything is checked in the same way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to testing,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cs typeface="Arial" charset="0"/>
              </a:rPr>
              <a:t>Why might it be hard to test/inspect for: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cs typeface="Arial" charset="0"/>
              </a:rPr>
              <a:t>Array bounds errors?</a:t>
            </a:r>
          </a:p>
          <a:p>
            <a:pPr lvl="1">
              <a:lnSpc>
                <a:spcPct val="90000"/>
              </a:lnSpc>
            </a:pP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cs typeface="Arial" charset="0"/>
              </a:rPr>
              <a:t>Forgetting to re-enable interrupts?</a:t>
            </a:r>
          </a:p>
          <a:p>
            <a:pPr lvl="1">
              <a:lnSpc>
                <a:spcPct val="90000"/>
              </a:lnSpc>
            </a:pP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charset="0"/>
                <a:cs typeface="Arial" charset="0"/>
              </a:rPr>
              <a:t>Race conditions?</a:t>
            </a:r>
          </a:p>
          <a:p>
            <a:pPr lvl="1">
              <a:lnSpc>
                <a:spcPct val="90000"/>
              </a:lnSpc>
            </a:pP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sz="2400" dirty="0">
                <a:latin typeface="Arial" charset="0"/>
                <a:cs typeface="Arial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3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Calibri"/>
                <a:cs typeface="Calibri"/>
              </a:rPr>
              <a:t>Compare to testing, inspection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Calibri"/>
                <a:cs typeface="Calibri"/>
              </a:rPr>
              <a:t>Array Bounds, Interrupts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alibri"/>
                <a:cs typeface="Calibri"/>
              </a:rPr>
              <a:t>Testing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Errors typically on uncommon paths or uncommon input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Difficult to exercise these paths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alibri"/>
                <a:cs typeface="Calibri"/>
              </a:rPr>
              <a:t>Inspection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Non-local and thus easy to miss</a:t>
            </a:r>
          </a:p>
          <a:p>
            <a:pPr lvl="3" eaLnBrk="1" hangingPunct="1">
              <a:lnSpc>
                <a:spcPct val="90000"/>
              </a:lnSpc>
            </a:pPr>
            <a:r>
              <a:rPr lang="en-US" sz="1800" dirty="0">
                <a:latin typeface="Calibri"/>
                <a:cs typeface="Calibri"/>
              </a:rPr>
              <a:t>Array allocation vs. index expression</a:t>
            </a:r>
          </a:p>
          <a:p>
            <a:pPr lvl="3" eaLnBrk="1" hangingPunct="1">
              <a:lnSpc>
                <a:spcPct val="90000"/>
              </a:lnSpc>
            </a:pPr>
            <a:r>
              <a:rPr lang="en-US" sz="1800" dirty="0">
                <a:latin typeface="Calibri"/>
                <a:cs typeface="Calibri"/>
              </a:rPr>
              <a:t>Disable interrupts vs. return statement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Calibri"/>
                <a:cs typeface="Calibri"/>
              </a:rPr>
              <a:t>Finding Race Conditions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alibri"/>
                <a:cs typeface="Calibri"/>
              </a:rPr>
              <a:t>Testing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Cannot force all </a:t>
            </a:r>
            <a:r>
              <a:rPr lang="en-US" sz="2000" dirty="0" err="1">
                <a:latin typeface="Calibri"/>
                <a:cs typeface="Calibri"/>
              </a:rPr>
              <a:t>interleavings</a:t>
            </a: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alibri"/>
                <a:cs typeface="Calibri"/>
              </a:rPr>
              <a:t>Inspection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Too many </a:t>
            </a:r>
            <a:r>
              <a:rPr lang="en-US" sz="2000" dirty="0" err="1">
                <a:latin typeface="Calibri"/>
                <a:cs typeface="Calibri"/>
              </a:rPr>
              <a:t>interleavings</a:t>
            </a:r>
            <a:r>
              <a:rPr lang="en-US" sz="2000" dirty="0">
                <a:latin typeface="Calibri"/>
                <a:cs typeface="Calibri"/>
              </a:rPr>
              <a:t> to consider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Check rules like </a:t>
            </a:r>
            <a:r>
              <a:rPr lang="ja-JP" altLang="en-US" sz="2000" dirty="0">
                <a:latin typeface="Calibri"/>
                <a:ea typeface="ＭＳ Ｐゴシック" charset="0"/>
                <a:cs typeface="Calibri"/>
              </a:rPr>
              <a:t>“</a:t>
            </a:r>
            <a:r>
              <a:rPr lang="en-US" altLang="ja-JP" sz="2000" dirty="0">
                <a:latin typeface="Calibri"/>
                <a:ea typeface="ＭＳ Ｐゴシック" charset="0"/>
                <a:cs typeface="Calibri"/>
              </a:rPr>
              <a:t>lock protects x</a:t>
            </a:r>
            <a:r>
              <a:rPr lang="ja-JP" altLang="en-US" sz="2000" dirty="0">
                <a:latin typeface="Calibri"/>
                <a:ea typeface="ＭＳ Ｐゴシック" charset="0"/>
                <a:cs typeface="Calibri"/>
              </a:rPr>
              <a:t>”</a:t>
            </a:r>
            <a:r>
              <a:rPr lang="en-US" altLang="ja-JP" sz="2000" dirty="0">
                <a:latin typeface="Calibri"/>
                <a:ea typeface="ＭＳ Ｐゴシック" charset="0"/>
                <a:cs typeface="Calibri"/>
              </a:rPr>
              <a:t> instead</a:t>
            </a:r>
          </a:p>
          <a:p>
            <a:pPr lvl="3" eaLnBrk="1" hangingPunct="1">
              <a:lnSpc>
                <a:spcPct val="90000"/>
              </a:lnSpc>
            </a:pPr>
            <a:r>
              <a:rPr lang="en-US" sz="1800" dirty="0">
                <a:latin typeface="Calibri"/>
                <a:cs typeface="Calibri"/>
              </a:rPr>
              <a:t>But checking is non-local and thus easy to miss a case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Defects Static Analysis can Catch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Defects that result from inconsistently following simple, mechanical design rules.</a:t>
            </a:r>
          </a:p>
          <a:p>
            <a:pPr lvl="1"/>
            <a:r>
              <a:rPr lang="en-US" b="1" dirty="0"/>
              <a:t>Security:  </a:t>
            </a:r>
            <a:r>
              <a:rPr lang="en-US" dirty="0"/>
              <a:t>Buffer overruns, improperly validated input.</a:t>
            </a:r>
          </a:p>
          <a:p>
            <a:pPr lvl="1"/>
            <a:r>
              <a:rPr lang="en-US" b="1" dirty="0"/>
              <a:t>Memory safety:  </a:t>
            </a:r>
            <a:r>
              <a:rPr lang="en-US" dirty="0"/>
              <a:t>Null dereference, uninitialized data.</a:t>
            </a:r>
          </a:p>
          <a:p>
            <a:pPr lvl="1"/>
            <a:r>
              <a:rPr lang="en-US" b="1" dirty="0"/>
              <a:t>Resource leaks:  </a:t>
            </a:r>
            <a:r>
              <a:rPr lang="en-US" dirty="0"/>
              <a:t>Memory, OS resources.</a:t>
            </a:r>
          </a:p>
          <a:p>
            <a:pPr lvl="1"/>
            <a:r>
              <a:rPr lang="en-US" b="1" dirty="0"/>
              <a:t>API Protocols:  </a:t>
            </a:r>
            <a:r>
              <a:rPr lang="en-US" dirty="0"/>
              <a:t>Device drivers; real time libraries; GUI frameworks.</a:t>
            </a:r>
          </a:p>
          <a:p>
            <a:pPr lvl="1"/>
            <a:r>
              <a:rPr lang="en-US" b="1" dirty="0"/>
              <a:t>Exceptions:</a:t>
            </a:r>
            <a:r>
              <a:rPr lang="en-US" dirty="0"/>
              <a:t>  Arithmetic/library/user-defined</a:t>
            </a:r>
          </a:p>
          <a:p>
            <a:pPr lvl="1"/>
            <a:r>
              <a:rPr lang="en-US" b="1" dirty="0"/>
              <a:t>Encapsulation: </a:t>
            </a:r>
            <a:r>
              <a:rPr lang="en-US" dirty="0"/>
              <a:t>Accessing internal data, calling private functions.</a:t>
            </a:r>
          </a:p>
          <a:p>
            <a:pPr lvl="1"/>
            <a:r>
              <a:rPr lang="en-US" b="1" dirty="0"/>
              <a:t>Data races: </a:t>
            </a:r>
            <a:r>
              <a:rPr lang="en-US" dirty="0"/>
              <a:t>Two threads access the same data without synchronization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38681" y="5864553"/>
            <a:ext cx="8736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Key: check compliance to simple, mechanical design rules</a:t>
            </a:r>
          </a:p>
        </p:txBody>
      </p:sp>
    </p:spTree>
    <p:extLst>
      <p:ext uri="{BB962C8B-B14F-4D97-AF65-F5344CB8AC3E}">
        <p14:creationId xmlns:p14="http://schemas.microsoft.com/office/powerpoint/2010/main" val="105193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The Bad News: Rice's Theorem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57200" y="5486400"/>
            <a:ext cx="8178800" cy="91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Calibri"/>
                <a:cs typeface="Calibri"/>
              </a:rPr>
              <a:t>Every static analysis is necessarily incomplete or unsound or </a:t>
            </a:r>
            <a:r>
              <a:rPr lang="en-US" sz="2200" dirty="0" err="1">
                <a:latin typeface="Calibri"/>
                <a:cs typeface="Calibri"/>
              </a:rPr>
              <a:t>undecidable</a:t>
            </a:r>
            <a:r>
              <a:rPr lang="en-US" sz="2200" dirty="0">
                <a:latin typeface="Calibri"/>
                <a:cs typeface="Calibri"/>
              </a:rPr>
              <a:t> (or multiple of these)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8</a:t>
            </a:fld>
            <a:endParaRPr lang="en-US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1143000" y="1676400"/>
            <a:ext cx="71628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600" dirty="0">
                <a:latin typeface="Calibri"/>
                <a:cs typeface="Calibri"/>
              </a:rPr>
              <a:t>"Any nontrivial property about the language recognized by a Turing machine is </a:t>
            </a:r>
            <a:r>
              <a:rPr lang="en-US" sz="3600" dirty="0" err="1">
                <a:latin typeface="Calibri"/>
                <a:cs typeface="Calibri"/>
              </a:rPr>
              <a:t>undecidable</a:t>
            </a:r>
            <a:r>
              <a:rPr lang="en-US" sz="3600" dirty="0">
                <a:latin typeface="Calibri"/>
                <a:cs typeface="Calibri"/>
              </a:rPr>
              <a:t>.</a:t>
            </a:r>
            <a:r>
              <a:rPr lang="ja-JP" altLang="en-US" sz="3600" dirty="0">
                <a:latin typeface="Calibri"/>
                <a:cs typeface="Calibri"/>
              </a:rPr>
              <a:t>“</a:t>
            </a:r>
            <a:endParaRPr lang="en-US" sz="3600" dirty="0">
              <a:latin typeface="Calibri"/>
              <a:cs typeface="Calibri"/>
            </a:endParaRPr>
          </a:p>
          <a:p>
            <a:endParaRPr lang="en-US" sz="3600" dirty="0">
              <a:latin typeface="Calibri"/>
              <a:cs typeface="Calibri"/>
            </a:endParaRPr>
          </a:p>
          <a:p>
            <a:pPr algn="r"/>
            <a:r>
              <a:rPr lang="en-US" sz="3600" dirty="0">
                <a:latin typeface="Calibri"/>
                <a:cs typeface="Calibri"/>
              </a:rPr>
              <a:t>Henry Gordon Rice, 1953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12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combined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9</a:t>
            </a:fld>
            <a:endParaRPr lang="en-US"/>
          </a:p>
        </p:txBody>
      </p:sp>
      <p:sp>
        <p:nvSpPr>
          <p:cNvPr id="15" name="Oval 14"/>
          <p:cNvSpPr/>
          <p:nvPr/>
        </p:nvSpPr>
        <p:spPr bwMode="auto">
          <a:xfrm>
            <a:off x="1509293" y="1417638"/>
            <a:ext cx="6164179" cy="479867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en-US" sz="2400" b="1" dirty="0">
                <a:solidFill>
                  <a:schemeClr val="bg1"/>
                </a:solidFill>
                <a:latin typeface="Verdana" pitchFamily="34" charset="0"/>
              </a:rPr>
              <a:t>Sound Analysis</a:t>
            </a:r>
          </a:p>
        </p:txBody>
      </p:sp>
      <p:sp>
        <p:nvSpPr>
          <p:cNvPr id="20" name="Oval 19"/>
          <p:cNvSpPr/>
          <p:nvPr/>
        </p:nvSpPr>
        <p:spPr bwMode="auto">
          <a:xfrm>
            <a:off x="2499894" y="2633579"/>
            <a:ext cx="3769895" cy="3145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en-US" sz="2400" b="1" dirty="0">
                <a:solidFill>
                  <a:schemeClr val="tx1"/>
                </a:solidFill>
                <a:latin typeface="Verdana" pitchFamily="34" charset="0"/>
              </a:rPr>
              <a:t>All Defects</a:t>
            </a:r>
          </a:p>
        </p:txBody>
      </p:sp>
      <p:sp>
        <p:nvSpPr>
          <p:cNvPr id="21" name="Oval 20"/>
          <p:cNvSpPr/>
          <p:nvPr/>
        </p:nvSpPr>
        <p:spPr bwMode="auto">
          <a:xfrm>
            <a:off x="3109494" y="3703052"/>
            <a:ext cx="2625559" cy="16707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en-US" sz="2400" b="1" dirty="0">
                <a:solidFill>
                  <a:schemeClr val="tx1"/>
                </a:solidFill>
                <a:latin typeface="Verdana" pitchFamily="34" charset="0"/>
              </a:rPr>
              <a:t>Complete Analysis</a:t>
            </a:r>
          </a:p>
        </p:txBody>
      </p:sp>
      <p:sp>
        <p:nvSpPr>
          <p:cNvPr id="22" name="Oval 21"/>
          <p:cNvSpPr/>
          <p:nvPr/>
        </p:nvSpPr>
        <p:spPr bwMode="auto">
          <a:xfrm>
            <a:off x="5252237" y="2366024"/>
            <a:ext cx="2035104" cy="165787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r>
              <a:rPr lang="en-US" sz="1400" b="1" dirty="0">
                <a:solidFill>
                  <a:schemeClr val="tx1"/>
                </a:solidFill>
                <a:latin typeface="Verdana" pitchFamily="34" charset="0"/>
              </a:rPr>
              <a:t>Unsound and Incomplete Analysis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0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graphicFrame>
        <p:nvGraphicFramePr>
          <p:cNvPr id="1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5004968"/>
              </p:ext>
            </p:extLst>
          </p:nvPr>
        </p:nvGraphicFramePr>
        <p:xfrm>
          <a:off x="509413" y="2001297"/>
          <a:ext cx="3184770" cy="3793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4689906"/>
              </p:ext>
            </p:extLst>
          </p:nvPr>
        </p:nvGraphicFramePr>
        <p:xfrm>
          <a:off x="5709132" y="2097645"/>
          <a:ext cx="3184770" cy="3793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3" name="Rounded Rectangular Callout 12"/>
          <p:cNvSpPr/>
          <p:nvPr/>
        </p:nvSpPr>
        <p:spPr>
          <a:xfrm>
            <a:off x="3558759" y="5101546"/>
            <a:ext cx="2067772" cy="414561"/>
          </a:xfrm>
          <a:prstGeom prst="wedgeRoundRectCallout">
            <a:avLst>
              <a:gd name="adj1" fmla="val 74290"/>
              <a:gd name="adj2" fmla="val -186632"/>
              <a:gd name="adj3" fmla="val 16667"/>
            </a:avLst>
          </a:prstGeom>
          <a:solidFill>
            <a:srgbClr val="C80007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What is a violation here?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3472166" y="2199383"/>
            <a:ext cx="2067772" cy="414561"/>
          </a:xfrm>
          <a:prstGeom prst="wedgeRoundRectCallout">
            <a:avLst>
              <a:gd name="adj1" fmla="val -56953"/>
              <a:gd name="adj2" fmla="val 196532"/>
              <a:gd name="adj3" fmla="val 16667"/>
            </a:avLst>
          </a:prstGeom>
          <a:solidFill>
            <a:srgbClr val="C80007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What is a violation 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7232" y="1912979"/>
            <a:ext cx="1626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000000"/>
                </a:solidFill>
              </a:rPr>
              <a:t>Sound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3573" y="1935042"/>
            <a:ext cx="1948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000000"/>
                </a:solidFill>
              </a:rPr>
              <a:t>Complete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5167" y="3840359"/>
            <a:ext cx="18774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b="1" dirty="0">
                <a:solidFill>
                  <a:srgbClr val="000000"/>
                </a:solidFill>
              </a:rPr>
              <a:t>Approximation of </a:t>
            </a:r>
          </a:p>
          <a:p>
            <a:pPr lvl="0" algn="ctr"/>
            <a:r>
              <a:rPr lang="en-US" b="1" dirty="0">
                <a:solidFill>
                  <a:srgbClr val="000000"/>
                </a:solidFill>
              </a:rPr>
              <a:t>behaviors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90524" y="2512791"/>
            <a:ext cx="18774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b="1" dirty="0">
                <a:solidFill>
                  <a:schemeClr val="bg1"/>
                </a:solidFill>
              </a:rPr>
              <a:t>Approximation of </a:t>
            </a:r>
          </a:p>
          <a:p>
            <a:pPr lvl="0" algn="ctr"/>
            <a:r>
              <a:rPr lang="en-US" b="1" dirty="0">
                <a:solidFill>
                  <a:schemeClr val="bg1"/>
                </a:solidFill>
              </a:rPr>
              <a:t>behaviors</a:t>
            </a:r>
          </a:p>
        </p:txBody>
      </p:sp>
    </p:spTree>
    <p:extLst>
      <p:ext uri="{BB962C8B-B14F-4D97-AF65-F5344CB8AC3E}">
        <p14:creationId xmlns:p14="http://schemas.microsoft.com/office/powerpoint/2010/main" val="2310997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Continuum of formality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Pattern identification (</a:t>
            </a:r>
            <a:r>
              <a:rPr lang="en-US" dirty="0" err="1"/>
              <a:t>FindBugs</a:t>
            </a:r>
            <a:r>
              <a:rPr lang="en-US" dirty="0"/>
              <a:t>, Lint)</a:t>
            </a:r>
          </a:p>
          <a:p>
            <a:r>
              <a:rPr lang="en-US" dirty="0"/>
              <a:t>Type checking</a:t>
            </a:r>
          </a:p>
          <a:p>
            <a:r>
              <a:rPr lang="en-US" dirty="0"/>
              <a:t>Dataflow analysis</a:t>
            </a:r>
          </a:p>
          <a:p>
            <a:r>
              <a:rPr lang="en-US" dirty="0"/>
              <a:t>Model checking</a:t>
            </a:r>
          </a:p>
          <a:p>
            <a:r>
              <a:rPr lang="en-US" dirty="0"/>
              <a:t>Formal reasoning</a:t>
            </a:r>
          </a:p>
          <a:p>
            <a:pPr lvl="1"/>
            <a:r>
              <a:rPr lang="en-US" dirty="0"/>
              <a:t>Hoare logic</a:t>
            </a:r>
          </a:p>
          <a:p>
            <a:pPr lvl="1"/>
            <a:r>
              <a:rPr lang="en-US" dirty="0"/>
              <a:t>Automated theorem prover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70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Syntax Trees</a:t>
            </a: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330063"/>
              </p:ext>
            </p:extLst>
          </p:nvPr>
        </p:nvGraphicFramePr>
        <p:xfrm>
          <a:off x="457200" y="1600200"/>
          <a:ext cx="3250311" cy="2778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0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8529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 result = 1;</a:t>
                      </a:r>
                    </a:p>
                    <a:p>
                      <a:r>
                        <a:rPr lang="en-US" sz="2400" b="1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lang="en-US" sz="2400" b="1" dirty="0" err="1">
                          <a:latin typeface="Courier New"/>
                          <a:cs typeface="Courier New"/>
                        </a:rPr>
                        <a:t>i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 = 2;</a:t>
                      </a:r>
                    </a:p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while (</a:t>
                      </a:r>
                      <a:r>
                        <a:rPr lang="en-US" sz="2400" b="1" dirty="0" err="1">
                          <a:latin typeface="Courier New"/>
                          <a:cs typeface="Courier New"/>
                        </a:rPr>
                        <a:t>i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 &lt; n) {</a:t>
                      </a:r>
                    </a:p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  result</a:t>
                      </a:r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*= </a:t>
                      </a:r>
                      <a:r>
                        <a:rPr lang="en-US" sz="2400" b="1" baseline="0" dirty="0" err="1">
                          <a:latin typeface="Courier New"/>
                          <a:cs typeface="Courier New"/>
                        </a:rPr>
                        <a:t>i</a:t>
                      </a:r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;</a:t>
                      </a:r>
                    </a:p>
                    <a:p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lang="en-US" sz="2400" b="1" baseline="0" dirty="0" err="1">
                          <a:latin typeface="Courier New"/>
                          <a:cs typeface="Courier New"/>
                        </a:rPr>
                        <a:t>i</a:t>
                      </a:r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++;</a:t>
                      </a:r>
                      <a:endParaRPr lang="en-US" sz="2400" b="1" dirty="0">
                        <a:latin typeface="Courier New"/>
                        <a:cs typeface="Courier New"/>
                      </a:endParaRPr>
                    </a:p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}</a:t>
                      </a:r>
                    </a:p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result;</a:t>
                      </a:r>
                      <a:endParaRPr lang="en-US" sz="2400" b="1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12</a:t>
            </a:fld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5489174" y="1600200"/>
            <a:ext cx="1205803" cy="3616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Program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028826" y="2341996"/>
            <a:ext cx="4204507" cy="377737"/>
            <a:chOff x="3568832" y="2956446"/>
            <a:chExt cx="4204507" cy="377737"/>
          </a:xfrm>
        </p:grpSpPr>
        <p:sp>
          <p:nvSpPr>
            <p:cNvPr id="10" name="Rectangle 9"/>
            <p:cNvSpPr/>
            <p:nvPr/>
          </p:nvSpPr>
          <p:spPr bwMode="auto">
            <a:xfrm>
              <a:off x="3568832" y="2972547"/>
              <a:ext cx="997797" cy="36163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/>
                  <a:cs typeface="Calibri"/>
                </a:rPr>
                <a:t>=</a:t>
              </a: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6775542" y="2956446"/>
              <a:ext cx="997797" cy="36163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/>
                  <a:cs typeface="Calibri"/>
                </a:rPr>
                <a:t>while</a:t>
              </a:r>
            </a:p>
          </p:txBody>
        </p:sp>
      </p:grpSp>
      <p:cxnSp>
        <p:nvCxnSpPr>
          <p:cNvPr id="15" name="Straight Arrow Connector 14"/>
          <p:cNvCxnSpPr>
            <a:stCxn id="7" idx="2"/>
            <a:endCxn id="10" idx="0"/>
          </p:cNvCxnSpPr>
          <p:nvPr/>
        </p:nvCxnSpPr>
        <p:spPr bwMode="auto">
          <a:xfrm flipH="1">
            <a:off x="4527725" y="1961836"/>
            <a:ext cx="1564351" cy="39626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6" name="Straight Arrow Connector 15"/>
          <p:cNvCxnSpPr>
            <a:stCxn id="7" idx="2"/>
            <a:endCxn id="11" idx="0"/>
          </p:cNvCxnSpPr>
          <p:nvPr/>
        </p:nvCxnSpPr>
        <p:spPr bwMode="auto">
          <a:xfrm>
            <a:off x="6092076" y="1961836"/>
            <a:ext cx="1642359" cy="38016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grpSp>
        <p:nvGrpSpPr>
          <p:cNvPr id="17" name="Group 16"/>
          <p:cNvGrpSpPr/>
          <p:nvPr/>
        </p:nvGrpSpPr>
        <p:grpSpPr>
          <a:xfrm>
            <a:off x="4028826" y="3103277"/>
            <a:ext cx="2190376" cy="361636"/>
            <a:chOff x="5016684" y="3153365"/>
            <a:chExt cx="2190376" cy="361636"/>
          </a:xfrm>
        </p:grpSpPr>
        <p:sp>
          <p:nvSpPr>
            <p:cNvPr id="18" name="Rectangle 17"/>
            <p:cNvSpPr/>
            <p:nvPr/>
          </p:nvSpPr>
          <p:spPr bwMode="auto">
            <a:xfrm>
              <a:off x="5016684" y="3153365"/>
              <a:ext cx="997797" cy="36163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/>
                  <a:cs typeface="Calibri"/>
                </a:rPr>
                <a:t>result</a:t>
              </a: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6209263" y="3153365"/>
              <a:ext cx="997797" cy="36163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/>
                  <a:cs typeface="Calibri"/>
                </a:rPr>
                <a:t>1</a:t>
              </a:r>
            </a:p>
          </p:txBody>
        </p:sp>
      </p:grpSp>
      <p:cxnSp>
        <p:nvCxnSpPr>
          <p:cNvPr id="20" name="Straight Arrow Connector 19"/>
          <p:cNvCxnSpPr>
            <a:stCxn id="10" idx="2"/>
            <a:endCxn id="18" idx="0"/>
          </p:cNvCxnSpPr>
          <p:nvPr/>
        </p:nvCxnSpPr>
        <p:spPr bwMode="auto">
          <a:xfrm>
            <a:off x="4527725" y="2719733"/>
            <a:ext cx="0" cy="38354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1" name="Straight Arrow Connector 20"/>
          <p:cNvCxnSpPr>
            <a:stCxn id="10" idx="2"/>
            <a:endCxn id="19" idx="0"/>
          </p:cNvCxnSpPr>
          <p:nvPr/>
        </p:nvCxnSpPr>
        <p:spPr bwMode="auto">
          <a:xfrm>
            <a:off x="4527725" y="2719733"/>
            <a:ext cx="1192579" cy="38354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9" name="Rectangle 28"/>
          <p:cNvSpPr/>
          <p:nvPr/>
        </p:nvSpPr>
        <p:spPr bwMode="auto">
          <a:xfrm>
            <a:off x="5593177" y="2358498"/>
            <a:ext cx="997797" cy="3616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…</a:t>
            </a:r>
          </a:p>
        </p:txBody>
      </p:sp>
      <p:cxnSp>
        <p:nvCxnSpPr>
          <p:cNvPr id="31" name="Straight Arrow Connector 30"/>
          <p:cNvCxnSpPr>
            <a:stCxn id="7" idx="2"/>
            <a:endCxn id="29" idx="0"/>
          </p:cNvCxnSpPr>
          <p:nvPr/>
        </p:nvCxnSpPr>
        <p:spPr bwMode="auto">
          <a:xfrm>
            <a:off x="6092076" y="1961836"/>
            <a:ext cx="0" cy="39666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38" name="Rectangle 37"/>
          <p:cNvSpPr/>
          <p:nvPr/>
        </p:nvSpPr>
        <p:spPr bwMode="auto">
          <a:xfrm>
            <a:off x="6496424" y="3103277"/>
            <a:ext cx="997797" cy="3616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&lt;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7689003" y="3103277"/>
            <a:ext cx="997797" cy="3616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block</a:t>
            </a:r>
          </a:p>
        </p:txBody>
      </p:sp>
      <p:cxnSp>
        <p:nvCxnSpPr>
          <p:cNvPr id="40" name="Straight Arrow Connector 39"/>
          <p:cNvCxnSpPr>
            <a:stCxn id="11" idx="2"/>
            <a:endCxn id="38" idx="0"/>
          </p:cNvCxnSpPr>
          <p:nvPr/>
        </p:nvCxnSpPr>
        <p:spPr bwMode="auto">
          <a:xfrm flipH="1">
            <a:off x="6995323" y="2703632"/>
            <a:ext cx="739112" cy="39964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3" name="Straight Arrow Connector 42"/>
          <p:cNvCxnSpPr>
            <a:stCxn id="11" idx="2"/>
            <a:endCxn id="39" idx="0"/>
          </p:cNvCxnSpPr>
          <p:nvPr/>
        </p:nvCxnSpPr>
        <p:spPr bwMode="auto">
          <a:xfrm>
            <a:off x="7734435" y="2703632"/>
            <a:ext cx="453467" cy="39964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grpSp>
        <p:nvGrpSpPr>
          <p:cNvPr id="46" name="Group 45"/>
          <p:cNvGrpSpPr/>
          <p:nvPr/>
        </p:nvGrpSpPr>
        <p:grpSpPr>
          <a:xfrm>
            <a:off x="5303845" y="4017093"/>
            <a:ext cx="2190376" cy="361636"/>
            <a:chOff x="5016684" y="3153365"/>
            <a:chExt cx="2190376" cy="361636"/>
          </a:xfrm>
        </p:grpSpPr>
        <p:sp>
          <p:nvSpPr>
            <p:cNvPr id="47" name="Rectangle 46"/>
            <p:cNvSpPr/>
            <p:nvPr/>
          </p:nvSpPr>
          <p:spPr bwMode="auto">
            <a:xfrm>
              <a:off x="5016684" y="3153365"/>
              <a:ext cx="997797" cy="36163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sz="2000" dirty="0" err="1">
                  <a:solidFill>
                    <a:schemeClr val="tx1"/>
                  </a:solidFill>
                  <a:latin typeface="Calibri"/>
                  <a:cs typeface="Calibri"/>
                </a:rPr>
                <a:t>i</a:t>
              </a:r>
              <a:endParaRPr lang="en-US" sz="2000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6209263" y="3153365"/>
              <a:ext cx="997797" cy="36163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/>
                  <a:cs typeface="Calibri"/>
                </a:rPr>
                <a:t>n</a:t>
              </a:r>
            </a:p>
          </p:txBody>
        </p:sp>
      </p:grpSp>
      <p:cxnSp>
        <p:nvCxnSpPr>
          <p:cNvPr id="49" name="Straight Arrow Connector 48"/>
          <p:cNvCxnSpPr>
            <a:stCxn id="38" idx="2"/>
            <a:endCxn id="47" idx="0"/>
          </p:cNvCxnSpPr>
          <p:nvPr/>
        </p:nvCxnSpPr>
        <p:spPr bwMode="auto">
          <a:xfrm flipH="1">
            <a:off x="5802744" y="3464913"/>
            <a:ext cx="1192579" cy="55218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0" name="Straight Arrow Connector 49"/>
          <p:cNvCxnSpPr>
            <a:stCxn id="38" idx="2"/>
            <a:endCxn id="48" idx="0"/>
          </p:cNvCxnSpPr>
          <p:nvPr/>
        </p:nvCxnSpPr>
        <p:spPr bwMode="auto">
          <a:xfrm>
            <a:off x="6995323" y="3464913"/>
            <a:ext cx="0" cy="55218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53" name="Rectangle 52"/>
          <p:cNvSpPr/>
          <p:nvPr/>
        </p:nvSpPr>
        <p:spPr bwMode="auto">
          <a:xfrm>
            <a:off x="7689003" y="4017093"/>
            <a:ext cx="997797" cy="3616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…</a:t>
            </a:r>
          </a:p>
        </p:txBody>
      </p:sp>
      <p:cxnSp>
        <p:nvCxnSpPr>
          <p:cNvPr id="54" name="Straight Arrow Connector 53"/>
          <p:cNvCxnSpPr>
            <a:stCxn id="39" idx="2"/>
            <a:endCxn id="53" idx="0"/>
          </p:cNvCxnSpPr>
          <p:nvPr/>
        </p:nvCxnSpPr>
        <p:spPr bwMode="auto">
          <a:xfrm>
            <a:off x="8187902" y="3464913"/>
            <a:ext cx="0" cy="55218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5342384"/>
            <a:ext cx="68483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That is what your IDE and compiler are doing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6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5851525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2000" dirty="0">
                <a:solidFill>
                  <a:srgbClr val="008000"/>
                </a:solidFill>
                <a:latin typeface="Courier"/>
                <a:cs typeface="Courier"/>
              </a:rPr>
              <a:t>/* from Linux 2.3.99 drivers/block/raid5.c */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static </a:t>
            </a:r>
            <a:r>
              <a:rPr lang="en-US" sz="2000" dirty="0" err="1">
                <a:latin typeface="Courier"/>
                <a:cs typeface="Courier"/>
              </a:rPr>
              <a:t>struct</a:t>
            </a:r>
            <a:r>
              <a:rPr lang="en-US" sz="2000" dirty="0">
                <a:latin typeface="Courier"/>
                <a:cs typeface="Courier"/>
              </a:rPr>
              <a:t> </a:t>
            </a:r>
            <a:r>
              <a:rPr lang="en-US" sz="2000" dirty="0" err="1">
                <a:latin typeface="Courier"/>
                <a:cs typeface="Courier"/>
              </a:rPr>
              <a:t>buffer_head</a:t>
            </a:r>
            <a:r>
              <a:rPr lang="en-US" sz="2000" dirty="0">
                <a:latin typeface="Courier"/>
                <a:cs typeface="Courier"/>
              </a:rPr>
              <a:t> *</a:t>
            </a:r>
          </a:p>
          <a:p>
            <a:pPr>
              <a:buFont typeface="+mj-lt"/>
              <a:buAutoNum type="arabicPeriod"/>
            </a:pPr>
            <a:r>
              <a:rPr lang="en-US" sz="2000" dirty="0" err="1">
                <a:latin typeface="Courier"/>
                <a:cs typeface="Courier"/>
              </a:rPr>
              <a:t>get_free_buffer</a:t>
            </a:r>
            <a:r>
              <a:rPr lang="en-US" sz="2000" dirty="0">
                <a:latin typeface="Courier"/>
                <a:cs typeface="Courier"/>
              </a:rPr>
              <a:t>(</a:t>
            </a:r>
            <a:r>
              <a:rPr lang="en-US" sz="2000" dirty="0" err="1">
                <a:latin typeface="Courier"/>
                <a:cs typeface="Courier"/>
              </a:rPr>
              <a:t>struct</a:t>
            </a:r>
            <a:r>
              <a:rPr lang="en-US" sz="2000" dirty="0">
                <a:latin typeface="Courier"/>
                <a:cs typeface="Courier"/>
              </a:rPr>
              <a:t> </a:t>
            </a:r>
            <a:r>
              <a:rPr lang="en-US" sz="2000" dirty="0" err="1">
                <a:latin typeface="Courier"/>
                <a:cs typeface="Courier"/>
              </a:rPr>
              <a:t>stripe_head</a:t>
            </a:r>
            <a:r>
              <a:rPr lang="en-US" sz="2000" dirty="0">
                <a:latin typeface="Courier"/>
                <a:cs typeface="Courier"/>
              </a:rPr>
              <a:t> * </a:t>
            </a:r>
            <a:r>
              <a:rPr lang="en-US" sz="2000" dirty="0" err="1">
                <a:latin typeface="Courier"/>
                <a:cs typeface="Courier"/>
              </a:rPr>
              <a:t>sh</a:t>
            </a:r>
            <a:r>
              <a:rPr lang="en-US" sz="2000" dirty="0">
                <a:latin typeface="Courier"/>
                <a:cs typeface="Courier"/>
              </a:rPr>
              <a:t>,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              </a:t>
            </a:r>
            <a:r>
              <a:rPr lang="en-US" sz="2000" dirty="0" err="1">
                <a:latin typeface="Courier"/>
                <a:cs typeface="Courier"/>
              </a:rPr>
              <a:t>int</a:t>
            </a:r>
            <a:r>
              <a:rPr lang="en-US" sz="2000" dirty="0">
                <a:latin typeface="Courier"/>
                <a:cs typeface="Courier"/>
              </a:rPr>
              <a:t> </a:t>
            </a:r>
            <a:r>
              <a:rPr lang="en-US" sz="2000" dirty="0" err="1">
                <a:latin typeface="Courier"/>
                <a:cs typeface="Courier"/>
              </a:rPr>
              <a:t>b_size</a:t>
            </a:r>
            <a:r>
              <a:rPr lang="en-US" sz="2000" dirty="0">
                <a:latin typeface="Courier"/>
                <a:cs typeface="Courier"/>
              </a:rPr>
              <a:t>) {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</a:t>
            </a:r>
            <a:r>
              <a:rPr lang="en-US" sz="2000" dirty="0" err="1">
                <a:latin typeface="Courier"/>
                <a:cs typeface="Courier"/>
              </a:rPr>
              <a:t>struct</a:t>
            </a:r>
            <a:r>
              <a:rPr lang="en-US" sz="2000" dirty="0">
                <a:latin typeface="Courier"/>
                <a:cs typeface="Courier"/>
              </a:rPr>
              <a:t> </a:t>
            </a:r>
            <a:r>
              <a:rPr lang="en-US" sz="2000" dirty="0" err="1">
                <a:latin typeface="Courier"/>
                <a:cs typeface="Courier"/>
              </a:rPr>
              <a:t>buffer_head</a:t>
            </a:r>
            <a:r>
              <a:rPr lang="en-US" sz="2000" dirty="0">
                <a:latin typeface="Courier"/>
                <a:cs typeface="Courier"/>
              </a:rPr>
              <a:t> *</a:t>
            </a:r>
            <a:r>
              <a:rPr lang="en-US" sz="2000" dirty="0" err="1">
                <a:latin typeface="Courier"/>
                <a:cs typeface="Courier"/>
              </a:rPr>
              <a:t>bh</a:t>
            </a:r>
            <a:r>
              <a:rPr lang="en-US" sz="2000" dirty="0">
                <a:latin typeface="Courier"/>
                <a:cs typeface="Courier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unsigned long flags;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</a:t>
            </a:r>
            <a:r>
              <a:rPr lang="en-US" sz="2000" dirty="0" err="1">
                <a:latin typeface="Courier"/>
                <a:cs typeface="Courier"/>
              </a:rPr>
              <a:t>save_flags</a:t>
            </a:r>
            <a:r>
              <a:rPr lang="en-US" sz="2000" dirty="0">
                <a:latin typeface="Courier"/>
                <a:cs typeface="Courier"/>
              </a:rPr>
              <a:t>(flags);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cli(); </a:t>
            </a:r>
            <a:r>
              <a:rPr lang="en-US" sz="2000" dirty="0">
                <a:solidFill>
                  <a:srgbClr val="008000"/>
                </a:solidFill>
                <a:latin typeface="Courier"/>
                <a:cs typeface="Courier"/>
              </a:rPr>
              <a:t>// disables interrupts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if </a:t>
            </a:r>
            <a:r>
              <a:rPr lang="en-US" sz="2000" dirty="0">
                <a:latin typeface="Courier"/>
                <a:cs typeface="Courier"/>
              </a:rPr>
              <a:t>((</a:t>
            </a:r>
            <a:r>
              <a:rPr lang="en-US" sz="2000" dirty="0" err="1">
                <a:latin typeface="Courier"/>
                <a:cs typeface="Courier"/>
              </a:rPr>
              <a:t>bh</a:t>
            </a:r>
            <a:r>
              <a:rPr lang="en-US" sz="2000" dirty="0">
                <a:latin typeface="Courier"/>
                <a:cs typeface="Courier"/>
              </a:rPr>
              <a:t> = </a:t>
            </a:r>
            <a:r>
              <a:rPr lang="en-US" sz="2000" dirty="0" err="1">
                <a:latin typeface="Courier"/>
                <a:cs typeface="Courier"/>
              </a:rPr>
              <a:t>sh</a:t>
            </a:r>
            <a:r>
              <a:rPr lang="en-US" sz="2000" dirty="0">
                <a:latin typeface="Courier"/>
                <a:cs typeface="Courier"/>
              </a:rPr>
              <a:t>-&gt;</a:t>
            </a:r>
            <a:r>
              <a:rPr lang="en-US" sz="2000" dirty="0" err="1">
                <a:latin typeface="Courier"/>
                <a:cs typeface="Courier"/>
              </a:rPr>
              <a:t>buffer_pool</a:t>
            </a:r>
            <a:r>
              <a:rPr lang="en-US" sz="2000" dirty="0">
                <a:latin typeface="Courier"/>
                <a:cs typeface="Courier"/>
              </a:rPr>
              <a:t>) == NULL)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return </a:t>
            </a:r>
            <a:r>
              <a:rPr lang="en-US" sz="2000" dirty="0">
                <a:latin typeface="Courier"/>
                <a:cs typeface="Courier"/>
              </a:rPr>
              <a:t>NULL;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</a:t>
            </a:r>
            <a:r>
              <a:rPr lang="en-US" sz="2000" dirty="0" err="1">
                <a:latin typeface="Courier"/>
                <a:cs typeface="Courier"/>
              </a:rPr>
              <a:t>sh</a:t>
            </a:r>
            <a:r>
              <a:rPr lang="en-US" sz="2000" dirty="0">
                <a:latin typeface="Courier"/>
                <a:cs typeface="Courier"/>
              </a:rPr>
              <a:t>-&gt;</a:t>
            </a:r>
            <a:r>
              <a:rPr lang="en-US" sz="2000" dirty="0" err="1">
                <a:latin typeface="Courier"/>
                <a:cs typeface="Courier"/>
              </a:rPr>
              <a:t>buffer_pool</a:t>
            </a:r>
            <a:r>
              <a:rPr lang="en-US" sz="2000" dirty="0">
                <a:latin typeface="Courier"/>
                <a:cs typeface="Courier"/>
              </a:rPr>
              <a:t> = </a:t>
            </a:r>
            <a:r>
              <a:rPr lang="en-US" sz="2000" dirty="0" err="1">
                <a:latin typeface="Courier"/>
                <a:cs typeface="Courier"/>
              </a:rPr>
              <a:t>bh</a:t>
            </a:r>
            <a:r>
              <a:rPr lang="en-US" sz="2000" dirty="0">
                <a:latin typeface="Courier"/>
                <a:cs typeface="Courier"/>
              </a:rPr>
              <a:t> -&gt; </a:t>
            </a:r>
            <a:r>
              <a:rPr lang="en-US" sz="2000" dirty="0" err="1">
                <a:latin typeface="Courier"/>
                <a:cs typeface="Courier"/>
              </a:rPr>
              <a:t>b_next</a:t>
            </a:r>
            <a:r>
              <a:rPr lang="en-US" sz="2000" dirty="0">
                <a:latin typeface="Courier"/>
                <a:cs typeface="Courier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</a:t>
            </a:r>
            <a:r>
              <a:rPr lang="en-US" sz="2000" dirty="0" err="1">
                <a:latin typeface="Courier"/>
                <a:cs typeface="Courier"/>
              </a:rPr>
              <a:t>bh</a:t>
            </a:r>
            <a:r>
              <a:rPr lang="en-US" sz="2000" dirty="0">
                <a:latin typeface="Courier"/>
                <a:cs typeface="Courier"/>
              </a:rPr>
              <a:t>-&gt;</a:t>
            </a:r>
            <a:r>
              <a:rPr lang="en-US" sz="2000" dirty="0" err="1">
                <a:latin typeface="Courier"/>
                <a:cs typeface="Courier"/>
              </a:rPr>
              <a:t>b_size</a:t>
            </a:r>
            <a:r>
              <a:rPr lang="en-US" sz="2000" dirty="0">
                <a:latin typeface="Courier"/>
                <a:cs typeface="Courier"/>
              </a:rPr>
              <a:t> = </a:t>
            </a:r>
            <a:r>
              <a:rPr lang="en-US" sz="2000" dirty="0" err="1">
                <a:latin typeface="Courier"/>
                <a:cs typeface="Courier"/>
              </a:rPr>
              <a:t>b_size</a:t>
            </a:r>
            <a:r>
              <a:rPr lang="en-US" sz="2000" dirty="0">
                <a:latin typeface="Courier"/>
                <a:cs typeface="Courier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</a:t>
            </a:r>
            <a:r>
              <a:rPr lang="en-US" sz="2000" dirty="0" err="1">
                <a:latin typeface="Courier"/>
                <a:cs typeface="Courier"/>
              </a:rPr>
              <a:t>restore_flags</a:t>
            </a:r>
            <a:r>
              <a:rPr lang="en-US" sz="2000" dirty="0">
                <a:latin typeface="Courier"/>
                <a:cs typeface="Courier"/>
              </a:rPr>
              <a:t>(flags); </a:t>
            </a:r>
            <a:r>
              <a:rPr lang="en-US" sz="2000" dirty="0">
                <a:solidFill>
                  <a:srgbClr val="008000"/>
                </a:solidFill>
                <a:latin typeface="Courier"/>
                <a:cs typeface="Courier"/>
              </a:rPr>
              <a:t>// re-enables interrupts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urier"/>
                <a:cs typeface="Courier"/>
              </a:rPr>
              <a:t>return </a:t>
            </a:r>
            <a:r>
              <a:rPr lang="en-US" sz="2000" dirty="0" err="1">
                <a:latin typeface="Courier"/>
                <a:cs typeface="Courier"/>
              </a:rPr>
              <a:t>bh</a:t>
            </a:r>
            <a:r>
              <a:rPr lang="en-US" sz="2000" dirty="0">
                <a:latin typeface="Courier"/>
                <a:cs typeface="Courier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urier"/>
                <a:cs typeface="Courier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234077" y="5710019"/>
            <a:ext cx="3761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With thanks to Jonathan Aldrich; example from </a:t>
            </a:r>
            <a:r>
              <a:rPr lang="en-US" sz="1200" dirty="0" err="1"/>
              <a:t>Engler</a:t>
            </a:r>
            <a:r>
              <a:rPr lang="en-US" sz="1200" dirty="0"/>
              <a:t> et al., </a:t>
            </a:r>
            <a:r>
              <a:rPr lang="en-US" sz="1200" i="1" dirty="0"/>
              <a:t>Checking system rules Using System-Specific, Programmer-Written Compiler Extensions</a:t>
            </a:r>
            <a:r>
              <a:rPr lang="en-US" sz="1200" dirty="0"/>
              <a:t>, OSDI ‘000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86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30" y="319231"/>
            <a:ext cx="8229600" cy="585152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 err="1">
                <a:latin typeface="Courier"/>
                <a:cs typeface="Courier"/>
              </a:rPr>
              <a:t>sm</a:t>
            </a:r>
            <a:r>
              <a:rPr lang="en-US" sz="1600" dirty="0">
                <a:latin typeface="Courier"/>
                <a:cs typeface="Courier"/>
              </a:rPr>
              <a:t> </a:t>
            </a:r>
            <a:r>
              <a:rPr lang="en-US" sz="1600" dirty="0" err="1">
                <a:latin typeface="Courier"/>
                <a:cs typeface="Courier"/>
              </a:rPr>
              <a:t>check_interrupts</a:t>
            </a:r>
            <a:r>
              <a:rPr lang="en-US" sz="1600" dirty="0">
                <a:latin typeface="Courier"/>
                <a:cs typeface="Courier"/>
              </a:rPr>
              <a:t> {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8000"/>
                </a:solidFill>
                <a:latin typeface="Courier"/>
                <a:cs typeface="Courier"/>
              </a:rPr>
              <a:t>// variables; used in patterns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 err="1">
                <a:latin typeface="Courier"/>
                <a:cs typeface="Courier"/>
              </a:rPr>
              <a:t>decl</a:t>
            </a:r>
            <a:r>
              <a:rPr lang="en-US" sz="1600" dirty="0">
                <a:latin typeface="Courier"/>
                <a:cs typeface="Courier"/>
              </a:rPr>
              <a:t> { unsigned } flags;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8000"/>
                </a:solidFill>
                <a:latin typeface="Courier"/>
                <a:cs typeface="Courier"/>
              </a:rPr>
              <a:t>// patterns specify enable/disable functions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</a:rPr>
              <a:t>pat enable = { </a:t>
            </a:r>
            <a:r>
              <a:rPr lang="en-US" sz="1600" dirty="0" err="1">
                <a:latin typeface="Courier"/>
                <a:cs typeface="Courier"/>
              </a:rPr>
              <a:t>sti</a:t>
            </a:r>
            <a:r>
              <a:rPr lang="en-US" sz="1600" dirty="0">
                <a:latin typeface="Courier"/>
                <a:cs typeface="Courier"/>
              </a:rPr>
              <a:t>() ; } 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</a:rPr>
              <a:t>           | { </a:t>
            </a:r>
            <a:r>
              <a:rPr lang="en-US" sz="1600" dirty="0" err="1">
                <a:latin typeface="Courier"/>
                <a:cs typeface="Courier"/>
              </a:rPr>
              <a:t>restore_flags</a:t>
            </a:r>
            <a:r>
              <a:rPr lang="en-US" sz="1600" dirty="0">
                <a:latin typeface="Courier"/>
                <a:cs typeface="Courier"/>
              </a:rPr>
              <a:t>(flags); } ;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</a:rPr>
              <a:t>pat disable = { cli() ; }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8000"/>
                </a:solidFill>
                <a:latin typeface="Courier"/>
                <a:cs typeface="Courier"/>
              </a:rPr>
              <a:t>//states; first state is initial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 err="1">
                <a:latin typeface="Courier"/>
                <a:cs typeface="Courier"/>
              </a:rPr>
              <a:t>is_enabled</a:t>
            </a:r>
            <a:r>
              <a:rPr lang="en-US" sz="1600" dirty="0">
                <a:latin typeface="Courier"/>
                <a:cs typeface="Courier"/>
              </a:rPr>
              <a:t> : disable </a:t>
            </a:r>
            <a:r>
              <a:rPr lang="en-US" sz="1600" dirty="0">
                <a:latin typeface="Courier"/>
                <a:cs typeface="Courier"/>
                <a:sym typeface="Wingdings"/>
              </a:rPr>
              <a:t> </a:t>
            </a:r>
            <a:r>
              <a:rPr lang="en-US" sz="1600" dirty="0" err="1">
                <a:latin typeface="Courier"/>
                <a:cs typeface="Courier"/>
                <a:sym typeface="Wingdings"/>
              </a:rPr>
              <a:t>is_disabled</a:t>
            </a:r>
            <a:endParaRPr lang="en-US" sz="1600" dirty="0">
              <a:latin typeface="Courier"/>
              <a:cs typeface="Courier"/>
              <a:sym typeface="Wingdings"/>
            </a:endParaRP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  <a:sym typeface="Wingdings"/>
              </a:rPr>
              <a:t>   | enable  { err(“double enable”); }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  <a:sym typeface="Wingdings"/>
              </a:rPr>
              <a:t>;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  <a:sym typeface="Wingdings"/>
              </a:rPr>
              <a:t> </a:t>
            </a:r>
            <a:r>
              <a:rPr lang="en-US" sz="1600" dirty="0" err="1">
                <a:latin typeface="Courier"/>
                <a:cs typeface="Courier"/>
                <a:sym typeface="Wingdings"/>
              </a:rPr>
              <a:t>is_disabled</a:t>
            </a:r>
            <a:r>
              <a:rPr lang="en-US" sz="1600" dirty="0">
                <a:latin typeface="Courier"/>
                <a:cs typeface="Courier"/>
                <a:sym typeface="Wingdings"/>
              </a:rPr>
              <a:t> : enable  </a:t>
            </a:r>
            <a:r>
              <a:rPr lang="en-US" sz="1600" dirty="0" err="1">
                <a:latin typeface="Courier"/>
                <a:cs typeface="Courier"/>
                <a:sym typeface="Wingdings"/>
              </a:rPr>
              <a:t>is_enabled</a:t>
            </a:r>
            <a:endParaRPr lang="en-US" sz="1600" dirty="0">
              <a:latin typeface="Courier"/>
              <a:cs typeface="Courier"/>
              <a:sym typeface="Wingdings"/>
            </a:endParaRP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  <a:sym typeface="Wingdings"/>
              </a:rPr>
              <a:t>    | disable  { err(“double disable”); }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8000"/>
                </a:solidFill>
                <a:latin typeface="Courier"/>
                <a:cs typeface="Courier"/>
                <a:sym typeface="Wingdings"/>
              </a:rPr>
              <a:t>//special pattern that matches when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solidFill>
                  <a:srgbClr val="008000"/>
                </a:solidFill>
                <a:latin typeface="Courier"/>
                <a:cs typeface="Courier"/>
                <a:sym typeface="Wingdings"/>
              </a:rPr>
              <a:t>// end of path is reached in this state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  <a:sym typeface="Wingdings"/>
              </a:rPr>
              <a:t>    | $</a:t>
            </a:r>
            <a:r>
              <a:rPr lang="en-US" sz="1600" dirty="0" err="1">
                <a:latin typeface="Courier"/>
                <a:cs typeface="Courier"/>
                <a:sym typeface="Wingdings"/>
              </a:rPr>
              <a:t>end_of_path</a:t>
            </a:r>
            <a:r>
              <a:rPr lang="en-US" sz="1600" dirty="0">
                <a:latin typeface="Courier"/>
                <a:cs typeface="Courier"/>
                <a:sym typeface="Wingdings"/>
              </a:rPr>
              <a:t>$  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  <a:sym typeface="Wingdings"/>
              </a:rPr>
              <a:t>        { err(“exiting with inter disabled!”); }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  <a:sym typeface="Wingdings"/>
              </a:rPr>
              <a:t>;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Courier"/>
                <a:cs typeface="Courier"/>
                <a:sym typeface="Wingdings"/>
              </a:rPr>
              <a:t>}</a:t>
            </a:r>
            <a:endParaRPr lang="en-US" sz="1600" dirty="0">
              <a:latin typeface="Courier"/>
              <a:cs typeface="Courie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14</a:t>
            </a:fld>
            <a:endParaRPr lang="en-US"/>
          </a:p>
        </p:txBody>
      </p:sp>
      <p:sp>
        <p:nvSpPr>
          <p:cNvPr id="6" name="Oval 5"/>
          <p:cNvSpPr>
            <a:spLocks/>
          </p:cNvSpPr>
          <p:nvPr/>
        </p:nvSpPr>
        <p:spPr>
          <a:xfrm>
            <a:off x="6368815" y="1909705"/>
            <a:ext cx="1737360" cy="912329"/>
          </a:xfrm>
          <a:prstGeom prst="ellipse">
            <a:avLst/>
          </a:prstGeom>
          <a:ln w="57150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is_enabled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368815" y="3820002"/>
            <a:ext cx="173736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is_disabled</a:t>
            </a:r>
            <a:endParaRPr lang="en-US" dirty="0"/>
          </a:p>
        </p:txBody>
      </p:sp>
      <p:grpSp>
        <p:nvGrpSpPr>
          <p:cNvPr id="45" name="Group 44"/>
          <p:cNvGrpSpPr/>
          <p:nvPr/>
        </p:nvGrpSpPr>
        <p:grpSpPr>
          <a:xfrm>
            <a:off x="5721980" y="2365870"/>
            <a:ext cx="848873" cy="1911332"/>
            <a:chOff x="5721980" y="2365870"/>
            <a:chExt cx="848873" cy="1911332"/>
          </a:xfrm>
        </p:grpSpPr>
        <p:cxnSp>
          <p:nvCxnSpPr>
            <p:cNvPr id="9" name="Curved Connector 8"/>
            <p:cNvCxnSpPr>
              <a:stCxn id="6" idx="2"/>
              <a:endCxn id="7" idx="2"/>
            </p:cNvCxnSpPr>
            <p:nvPr/>
          </p:nvCxnSpPr>
          <p:spPr>
            <a:xfrm rot="10800000" flipV="1">
              <a:off x="6368815" y="2365870"/>
              <a:ext cx="12700" cy="191133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5721980" y="2913959"/>
              <a:ext cx="8488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disable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895194" y="2365870"/>
            <a:ext cx="820469" cy="1911332"/>
            <a:chOff x="7895194" y="2365870"/>
            <a:chExt cx="820469" cy="1911332"/>
          </a:xfrm>
        </p:grpSpPr>
        <p:cxnSp>
          <p:nvCxnSpPr>
            <p:cNvPr id="11" name="Curved Connector 10"/>
            <p:cNvCxnSpPr>
              <a:stCxn id="7" idx="6"/>
              <a:endCxn id="6" idx="6"/>
            </p:cNvCxnSpPr>
            <p:nvPr/>
          </p:nvCxnSpPr>
          <p:spPr>
            <a:xfrm flipV="1">
              <a:off x="8106175" y="2365870"/>
              <a:ext cx="12700" cy="1911332"/>
            </a:xfrm>
            <a:prstGeom prst="curved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895194" y="2913959"/>
              <a:ext cx="8204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enable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067677" y="1302382"/>
            <a:ext cx="2928393" cy="747280"/>
            <a:chOff x="6067677" y="1302382"/>
            <a:chExt cx="2928393" cy="747280"/>
          </a:xfrm>
        </p:grpSpPr>
        <p:cxnSp>
          <p:nvCxnSpPr>
            <p:cNvPr id="22" name="Curved Connector 21"/>
            <p:cNvCxnSpPr>
              <a:stCxn id="6" idx="1"/>
              <a:endCxn id="6" idx="7"/>
            </p:cNvCxnSpPr>
            <p:nvPr/>
          </p:nvCxnSpPr>
          <p:spPr>
            <a:xfrm rot="5400000" flipH="1" flipV="1">
              <a:off x="7237495" y="1429062"/>
              <a:ext cx="12700" cy="1228500"/>
            </a:xfrm>
            <a:prstGeom prst="curvedConnector3">
              <a:avLst>
                <a:gd name="adj1" fmla="val 2852024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6067677" y="1302382"/>
              <a:ext cx="2928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enable </a:t>
              </a:r>
              <a:r>
                <a:rPr lang="en-US" dirty="0">
                  <a:sym typeface="Wingdings"/>
                </a:rPr>
                <a:t> </a:t>
              </a:r>
              <a:r>
                <a:rPr lang="en-US" dirty="0">
                  <a:solidFill>
                    <a:srgbClr val="FF0000"/>
                  </a:solidFill>
                  <a:sym typeface="Wingdings"/>
                </a:rPr>
                <a:t>err(double enable)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992461" y="5428075"/>
            <a:ext cx="4223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 path </a:t>
            </a:r>
            <a:r>
              <a:rPr lang="en-US" dirty="0">
                <a:sym typeface="Wingdings"/>
              </a:rPr>
              <a:t> </a:t>
            </a:r>
            <a:r>
              <a:rPr lang="en-US" dirty="0">
                <a:solidFill>
                  <a:srgbClr val="FF0000"/>
                </a:solidFill>
                <a:sym typeface="Wingdings"/>
              </a:rPr>
              <a:t>err(exiting with inter disabled)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5744015" y="1674208"/>
            <a:ext cx="624799" cy="5484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88612" y="5500590"/>
            <a:ext cx="3761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With thanks to Jonathan Aldrich; example from </a:t>
            </a:r>
            <a:r>
              <a:rPr lang="en-US" sz="1200" dirty="0" err="1"/>
              <a:t>Engler</a:t>
            </a:r>
            <a:r>
              <a:rPr lang="en-US" sz="1200" dirty="0"/>
              <a:t> et al., </a:t>
            </a:r>
            <a:r>
              <a:rPr lang="en-US" sz="1200" i="1" dirty="0"/>
              <a:t>Checking system rules Using System-Specific, Programmer-Written Compiler Extensions</a:t>
            </a:r>
            <a:r>
              <a:rPr lang="en-US" sz="1200" dirty="0"/>
              <a:t>, OSDI ‘000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5744015" y="3264047"/>
            <a:ext cx="2985200" cy="696216"/>
            <a:chOff x="5744015" y="3264047"/>
            <a:chExt cx="2985200" cy="696216"/>
          </a:xfrm>
        </p:grpSpPr>
        <p:sp>
          <p:nvSpPr>
            <p:cNvPr id="27" name="TextBox 26"/>
            <p:cNvSpPr txBox="1"/>
            <p:nvPr/>
          </p:nvSpPr>
          <p:spPr>
            <a:xfrm>
              <a:off x="5744015" y="3264047"/>
              <a:ext cx="2985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disable </a:t>
              </a:r>
              <a:r>
                <a:rPr lang="en-US" dirty="0">
                  <a:sym typeface="Wingdings"/>
                </a:rPr>
                <a:t> </a:t>
              </a:r>
              <a:r>
                <a:rPr lang="en-US" dirty="0">
                  <a:solidFill>
                    <a:srgbClr val="FF0000"/>
                  </a:solidFill>
                  <a:sym typeface="Wingdings"/>
                </a:rPr>
                <a:t>err(double disable)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2" name="Curved Connector 31"/>
            <p:cNvCxnSpPr>
              <a:stCxn id="7" idx="1"/>
              <a:endCxn id="7" idx="7"/>
            </p:cNvCxnSpPr>
            <p:nvPr/>
          </p:nvCxnSpPr>
          <p:spPr>
            <a:xfrm rot="5400000" flipH="1" flipV="1">
              <a:off x="7237495" y="3339663"/>
              <a:ext cx="12700" cy="1228500"/>
            </a:xfrm>
            <a:prstGeom prst="curvedConnector3">
              <a:avLst>
                <a:gd name="adj1" fmla="val 2854417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Arrow Connector 35"/>
          <p:cNvCxnSpPr>
            <a:stCxn id="7" idx="4"/>
            <a:endCxn id="28" idx="0"/>
          </p:cNvCxnSpPr>
          <p:nvPr/>
        </p:nvCxnSpPr>
        <p:spPr>
          <a:xfrm flipH="1">
            <a:off x="7104014" y="4734402"/>
            <a:ext cx="133481" cy="6936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8106175" y="2036962"/>
            <a:ext cx="740385" cy="1856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27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479990" cy="4525963"/>
          </a:xfrm>
        </p:spPr>
        <p:txBody>
          <a:bodyPr>
            <a:normAutofit/>
          </a:bodyPr>
          <a:lstStyle/>
          <a:p>
            <a:pPr marL="533400" indent="-533400">
              <a:spcBef>
                <a:spcPct val="0"/>
              </a:spcBef>
              <a:buFontTx/>
              <a:buAutoNum type="arabicPeriod"/>
            </a:pPr>
            <a:r>
              <a:rPr lang="en-US" sz="2200" dirty="0">
                <a:latin typeface="Courier"/>
                <a:cs typeface="Courier"/>
              </a:rPr>
              <a:t>void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</a:pPr>
            <a:r>
              <a:rPr lang="en-US" sz="2200" dirty="0">
                <a:latin typeface="Courier"/>
                <a:cs typeface="Courier"/>
              </a:rPr>
              <a:t>   …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</a:pPr>
            <a:r>
              <a:rPr lang="en-US" sz="2200" dirty="0">
                <a:latin typeface="Courier"/>
                <a:cs typeface="Courier"/>
              </a:rPr>
              <a:t>   cli();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</a:pPr>
            <a:r>
              <a:rPr lang="en-US" sz="2200" dirty="0">
                <a:latin typeface="Courier"/>
                <a:cs typeface="Courier"/>
              </a:rPr>
              <a:t>  if (a)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</a:pPr>
            <a:r>
              <a:rPr lang="en-US" sz="2200" dirty="0">
                <a:latin typeface="Courier"/>
                <a:cs typeface="Courier"/>
              </a:rPr>
              <a:t>     </a:t>
            </a:r>
            <a:r>
              <a:rPr lang="en-US" sz="2200" dirty="0" err="1">
                <a:latin typeface="Courier"/>
                <a:cs typeface="Courier"/>
              </a:rPr>
              <a:t>restore_flags</a:t>
            </a:r>
            <a:r>
              <a:rPr lang="en-US" sz="2200" dirty="0">
                <a:latin typeface="Courier"/>
                <a:cs typeface="Courier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</a:pPr>
            <a:r>
              <a:rPr lang="en-US" sz="2200" dirty="0">
                <a:latin typeface="Courier"/>
                <a:cs typeface="Courier"/>
              </a:rPr>
              <a:t>   } 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</a:pPr>
            <a:r>
              <a:rPr lang="en-US" sz="2200" dirty="0">
                <a:latin typeface="Courier"/>
                <a:cs typeface="Courier"/>
              </a:rPr>
              <a:t>}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15</a:t>
            </a:fld>
            <a:endParaRPr lang="en-US"/>
          </a:p>
        </p:txBody>
      </p:sp>
      <p:cxnSp>
        <p:nvCxnSpPr>
          <p:cNvPr id="40" name="Straight Arrow Connector 39"/>
          <p:cNvCxnSpPr/>
          <p:nvPr/>
        </p:nvCxnSpPr>
        <p:spPr bwMode="auto">
          <a:xfrm flipH="1">
            <a:off x="5105291" y="3279736"/>
            <a:ext cx="1722263" cy="44314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0" name="Straight Arrow Connector 9"/>
          <p:cNvCxnSpPr/>
          <p:nvPr/>
        </p:nvCxnSpPr>
        <p:spPr bwMode="auto">
          <a:xfrm flipH="1">
            <a:off x="6827554" y="1664974"/>
            <a:ext cx="1" cy="44314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61" name="Straight Arrow Connector 60"/>
          <p:cNvCxnSpPr>
            <a:stCxn id="42" idx="2"/>
            <a:endCxn id="45" idx="0"/>
          </p:cNvCxnSpPr>
          <p:nvPr/>
        </p:nvCxnSpPr>
        <p:spPr bwMode="auto">
          <a:xfrm>
            <a:off x="5105291" y="4356531"/>
            <a:ext cx="1696863" cy="90915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64" name="Straight Arrow Connector 63"/>
          <p:cNvCxnSpPr>
            <a:stCxn id="41" idx="2"/>
            <a:endCxn id="45" idx="0"/>
          </p:cNvCxnSpPr>
          <p:nvPr/>
        </p:nvCxnSpPr>
        <p:spPr bwMode="auto">
          <a:xfrm flipH="1">
            <a:off x="6802154" y="3279736"/>
            <a:ext cx="25400" cy="198594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47" name="Straight Arrow Connector 46"/>
          <p:cNvCxnSpPr/>
          <p:nvPr/>
        </p:nvCxnSpPr>
        <p:spPr bwMode="auto">
          <a:xfrm>
            <a:off x="6827554" y="2470831"/>
            <a:ext cx="0" cy="44314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38" name="Rectangle 37"/>
          <p:cNvSpPr/>
          <p:nvPr/>
        </p:nvSpPr>
        <p:spPr bwMode="auto">
          <a:xfrm>
            <a:off x="6328656" y="1303338"/>
            <a:ext cx="997797" cy="3616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(entry)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6235512" y="2108119"/>
            <a:ext cx="1308288" cy="362712"/>
          </a:xfrm>
          <a:prstGeom prst="rect">
            <a:avLst/>
          </a:prstGeom>
          <a:solidFill>
            <a:srgbClr val="7493A2"/>
          </a:solidFill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342900" indent="-342900">
              <a:spcBef>
                <a:spcPct val="0"/>
              </a:spcBef>
              <a:buFont typeface="+mj-lt"/>
              <a:buAutoNum type="arabicPeriod" startAt="3"/>
            </a:pPr>
            <a:r>
              <a:rPr lang="en-US" sz="1600" dirty="0">
                <a:latin typeface="Courier"/>
                <a:cs typeface="Courier"/>
              </a:rPr>
              <a:t>cli();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5821439" y="2913976"/>
            <a:ext cx="201223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342900" indent="-342900">
              <a:spcBef>
                <a:spcPct val="0"/>
              </a:spcBef>
              <a:buFont typeface="+mj-lt"/>
              <a:buAutoNum type="arabicPeriod" startAt="4"/>
            </a:pPr>
            <a:r>
              <a:rPr lang="en-US" sz="1600" dirty="0">
                <a:latin typeface="Courier"/>
                <a:cs typeface="Courier"/>
              </a:rPr>
              <a:t>if (</a:t>
            </a:r>
            <a:r>
              <a:rPr lang="en-US" sz="1600" dirty="0" err="1">
                <a:latin typeface="Courier"/>
                <a:cs typeface="Courier"/>
              </a:rPr>
              <a:t>rv</a:t>
            </a:r>
            <a:r>
              <a:rPr lang="en-US" sz="1600" dirty="0">
                <a:latin typeface="Courier"/>
                <a:cs typeface="Courier"/>
              </a:rPr>
              <a:t> &gt; 0) 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3848372" y="3722881"/>
            <a:ext cx="2513838" cy="633650"/>
          </a:xfrm>
          <a:prstGeom prst="rect">
            <a:avLst/>
          </a:prstGeom>
          <a:solidFill>
            <a:schemeClr val="accent6"/>
          </a:solidFill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342900" indent="-342900">
              <a:spcBef>
                <a:spcPct val="0"/>
              </a:spcBef>
              <a:buFont typeface="+mj-lt"/>
              <a:buAutoNum type="arabicPeriod" startAt="5"/>
            </a:pPr>
            <a:r>
              <a:rPr lang="en-US" sz="1600" dirty="0" err="1">
                <a:latin typeface="Courier"/>
                <a:cs typeface="Courier"/>
              </a:rPr>
              <a:t>restore_flags</a:t>
            </a:r>
            <a:r>
              <a:rPr lang="en-US" sz="1600" dirty="0">
                <a:latin typeface="Courier"/>
                <a:cs typeface="Courier"/>
              </a:rPr>
              <a:t>();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6299234" y="5265683"/>
            <a:ext cx="100584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(exit)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14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Dataflow Analysis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program: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41583"/>
              </p:ext>
            </p:extLst>
          </p:nvPr>
        </p:nvGraphicFramePr>
        <p:xfrm>
          <a:off x="836499" y="2444343"/>
          <a:ext cx="3250311" cy="301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0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8529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x = 10;</a:t>
                      </a:r>
                    </a:p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y = x;</a:t>
                      </a:r>
                    </a:p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z = 0;</a:t>
                      </a:r>
                    </a:p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while (y</a:t>
                      </a:r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&gt; -1) {</a:t>
                      </a:r>
                    </a:p>
                    <a:p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 x = x / y;</a:t>
                      </a:r>
                    </a:p>
                    <a:p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 y = y - 1;</a:t>
                      </a:r>
                    </a:p>
                    <a:p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 z = 5;</a:t>
                      </a:r>
                    </a:p>
                    <a:p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}</a:t>
                      </a:r>
                      <a:endParaRPr lang="en-US" sz="2400" b="1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609600" y="5461575"/>
            <a:ext cx="8229600" cy="1040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</a:t>
            </a:r>
            <a:r>
              <a:rPr lang="en-US" b="1" dirty="0"/>
              <a:t>zero analysis </a:t>
            </a:r>
            <a:r>
              <a:rPr lang="en-US" dirty="0"/>
              <a:t>to determine if x is ever 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08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Applying Zero Analysis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17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6019799" y="3469382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&gt; -1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6019800" y="1761968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x = 10</a:t>
            </a:r>
          </a:p>
        </p:txBody>
      </p:sp>
      <p:cxnSp>
        <p:nvCxnSpPr>
          <p:cNvPr id="9" name="Straight Arrow Connector 8"/>
          <p:cNvCxnSpPr>
            <a:stCxn id="15" idx="2"/>
            <a:endCxn id="21" idx="0"/>
          </p:cNvCxnSpPr>
          <p:nvPr/>
        </p:nvCxnSpPr>
        <p:spPr bwMode="auto">
          <a:xfrm>
            <a:off x="6659880" y="2691500"/>
            <a:ext cx="0" cy="19801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" name="Straight Arrow Connector 9"/>
          <p:cNvCxnSpPr>
            <a:stCxn id="8" idx="2"/>
            <a:endCxn id="15" idx="0"/>
          </p:cNvCxnSpPr>
          <p:nvPr/>
        </p:nvCxnSpPr>
        <p:spPr bwMode="auto">
          <a:xfrm>
            <a:off x="6659880" y="2127728"/>
            <a:ext cx="0" cy="19801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1" name="Straight Arrow Connector 10"/>
          <p:cNvCxnSpPr>
            <a:stCxn id="6" idx="2"/>
            <a:endCxn id="12" idx="0"/>
          </p:cNvCxnSpPr>
          <p:nvPr/>
        </p:nvCxnSpPr>
        <p:spPr bwMode="auto">
          <a:xfrm>
            <a:off x="6659879" y="3835142"/>
            <a:ext cx="0" cy="22515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2" name="Rectangle 11"/>
          <p:cNvSpPr/>
          <p:nvPr/>
        </p:nvSpPr>
        <p:spPr bwMode="auto">
          <a:xfrm>
            <a:off x="6019799" y="4060296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x = x / y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6019798" y="5870205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alibri"/>
                <a:cs typeface="Calibri"/>
              </a:rPr>
              <a:t>(exit)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6019800" y="4695750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= y - 1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6019800" y="2325740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= x</a:t>
            </a:r>
          </a:p>
        </p:txBody>
      </p:sp>
      <p:cxnSp>
        <p:nvCxnSpPr>
          <p:cNvPr id="16" name="Straight Arrow Connector 15"/>
          <p:cNvCxnSpPr>
            <a:stCxn id="12" idx="2"/>
            <a:endCxn id="14" idx="0"/>
          </p:cNvCxnSpPr>
          <p:nvPr/>
        </p:nvCxnSpPr>
        <p:spPr bwMode="auto">
          <a:xfrm>
            <a:off x="6659879" y="4426056"/>
            <a:ext cx="1" cy="26969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Curved Connector 16"/>
          <p:cNvCxnSpPr>
            <a:stCxn id="24" idx="1"/>
            <a:endCxn id="6" idx="1"/>
          </p:cNvCxnSpPr>
          <p:nvPr/>
        </p:nvCxnSpPr>
        <p:spPr>
          <a:xfrm rot="10800000">
            <a:off x="6019799" y="3652263"/>
            <a:ext cx="12700" cy="1845745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1" name="Rectangle 20"/>
          <p:cNvSpPr/>
          <p:nvPr/>
        </p:nvSpPr>
        <p:spPr bwMode="auto">
          <a:xfrm>
            <a:off x="6019800" y="2889512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z = 0</a:t>
            </a:r>
          </a:p>
        </p:txBody>
      </p:sp>
      <p:cxnSp>
        <p:nvCxnSpPr>
          <p:cNvPr id="22" name="Straight Arrow Connector 21"/>
          <p:cNvCxnSpPr>
            <a:stCxn id="21" idx="2"/>
            <a:endCxn id="6" idx="0"/>
          </p:cNvCxnSpPr>
          <p:nvPr/>
        </p:nvCxnSpPr>
        <p:spPr bwMode="auto">
          <a:xfrm flipH="1">
            <a:off x="6659879" y="3255272"/>
            <a:ext cx="1" cy="21411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4" name="Rectangle 23"/>
          <p:cNvSpPr/>
          <p:nvPr/>
        </p:nvSpPr>
        <p:spPr bwMode="auto">
          <a:xfrm>
            <a:off x="6019799" y="5315127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z = 5</a:t>
            </a:r>
          </a:p>
        </p:txBody>
      </p:sp>
      <p:cxnSp>
        <p:nvCxnSpPr>
          <p:cNvPr id="25" name="Straight Arrow Connector 24"/>
          <p:cNvCxnSpPr>
            <a:stCxn id="14" idx="2"/>
            <a:endCxn id="24" idx="0"/>
          </p:cNvCxnSpPr>
          <p:nvPr/>
        </p:nvCxnSpPr>
        <p:spPr bwMode="auto">
          <a:xfrm flipH="1">
            <a:off x="6659879" y="5061510"/>
            <a:ext cx="1" cy="25361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31" name="Slide Number Placeholder 109"/>
          <p:cNvSpPr txBox="1">
            <a:spLocks/>
          </p:cNvSpPr>
          <p:nvPr/>
        </p:nvSpPr>
        <p:spPr>
          <a:xfrm>
            <a:off x="7325575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C180D4-8266-3D4F-88DF-2E6B937E98FB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51" name="Curved Connector 50"/>
          <p:cNvCxnSpPr>
            <a:stCxn id="6" idx="3"/>
            <a:endCxn id="13" idx="3"/>
          </p:cNvCxnSpPr>
          <p:nvPr/>
        </p:nvCxnSpPr>
        <p:spPr>
          <a:xfrm flipH="1">
            <a:off x="7299958" y="3652262"/>
            <a:ext cx="1" cy="2400823"/>
          </a:xfrm>
          <a:prstGeom prst="bentConnector3">
            <a:avLst>
              <a:gd name="adj1" fmla="val -228600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344081"/>
              </p:ext>
            </p:extLst>
          </p:nvPr>
        </p:nvGraphicFramePr>
        <p:xfrm>
          <a:off x="836499" y="2444343"/>
          <a:ext cx="3250311" cy="301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0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8529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x = 10;</a:t>
                      </a:r>
                    </a:p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y = x;</a:t>
                      </a:r>
                    </a:p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z = 0;</a:t>
                      </a:r>
                    </a:p>
                    <a:p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while (y</a:t>
                      </a:r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&gt; -1) {</a:t>
                      </a:r>
                    </a:p>
                    <a:p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 x = x / y;</a:t>
                      </a:r>
                    </a:p>
                    <a:p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 y = y - 1;</a:t>
                      </a:r>
                    </a:p>
                    <a:p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  z = 5;</a:t>
                      </a:r>
                    </a:p>
                    <a:p>
                      <a:r>
                        <a:rPr lang="en-US" sz="2400" b="1" baseline="0" dirty="0">
                          <a:latin typeface="Courier New"/>
                          <a:cs typeface="Courier New"/>
                        </a:rPr>
                        <a:t>}</a:t>
                      </a:r>
                      <a:endParaRPr lang="en-US" sz="2400" b="1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" name="Right Arrow 63"/>
          <p:cNvSpPr/>
          <p:nvPr/>
        </p:nvSpPr>
        <p:spPr>
          <a:xfrm>
            <a:off x="4437353" y="3855966"/>
            <a:ext cx="996796" cy="4086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90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Applying Zero Analysis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18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457201" y="3125052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&gt; -1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57202" y="1417638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x = 10</a:t>
            </a:r>
          </a:p>
        </p:txBody>
      </p:sp>
      <p:cxnSp>
        <p:nvCxnSpPr>
          <p:cNvPr id="9" name="Straight Arrow Connector 8"/>
          <p:cNvCxnSpPr>
            <a:stCxn id="15" idx="2"/>
            <a:endCxn id="21" idx="0"/>
          </p:cNvCxnSpPr>
          <p:nvPr/>
        </p:nvCxnSpPr>
        <p:spPr bwMode="auto">
          <a:xfrm>
            <a:off x="1097282" y="2347170"/>
            <a:ext cx="0" cy="19801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0" name="Straight Arrow Connector 9"/>
          <p:cNvCxnSpPr>
            <a:stCxn id="8" idx="2"/>
            <a:endCxn id="15" idx="0"/>
          </p:cNvCxnSpPr>
          <p:nvPr/>
        </p:nvCxnSpPr>
        <p:spPr bwMode="auto">
          <a:xfrm>
            <a:off x="1097282" y="1783398"/>
            <a:ext cx="0" cy="19801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1" name="Straight Arrow Connector 10"/>
          <p:cNvCxnSpPr>
            <a:stCxn id="6" idx="2"/>
            <a:endCxn id="12" idx="0"/>
          </p:cNvCxnSpPr>
          <p:nvPr/>
        </p:nvCxnSpPr>
        <p:spPr bwMode="auto">
          <a:xfrm>
            <a:off x="1097281" y="3490812"/>
            <a:ext cx="0" cy="22515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2" name="Rectangle 11"/>
          <p:cNvSpPr/>
          <p:nvPr/>
        </p:nvSpPr>
        <p:spPr bwMode="auto">
          <a:xfrm>
            <a:off x="457201" y="3715966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x = x / y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57200" y="5525875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alibri"/>
                <a:cs typeface="Calibri"/>
              </a:rPr>
              <a:t>(exit)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457202" y="4351420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= y - 1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457202" y="1981410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y = x</a:t>
            </a:r>
          </a:p>
        </p:txBody>
      </p:sp>
      <p:cxnSp>
        <p:nvCxnSpPr>
          <p:cNvPr id="16" name="Straight Arrow Connector 15"/>
          <p:cNvCxnSpPr>
            <a:stCxn id="12" idx="2"/>
            <a:endCxn id="14" idx="0"/>
          </p:cNvCxnSpPr>
          <p:nvPr/>
        </p:nvCxnSpPr>
        <p:spPr bwMode="auto">
          <a:xfrm>
            <a:off x="1097281" y="4081726"/>
            <a:ext cx="1" cy="26969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Curved Connector 16"/>
          <p:cNvCxnSpPr>
            <a:stCxn id="24" idx="1"/>
            <a:endCxn id="6" idx="1"/>
          </p:cNvCxnSpPr>
          <p:nvPr/>
        </p:nvCxnSpPr>
        <p:spPr>
          <a:xfrm rot="10800000">
            <a:off x="457201" y="3307933"/>
            <a:ext cx="12700" cy="1845745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1" name="Rectangle 20"/>
          <p:cNvSpPr/>
          <p:nvPr/>
        </p:nvSpPr>
        <p:spPr bwMode="auto">
          <a:xfrm>
            <a:off x="457202" y="2545182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z = 0</a:t>
            </a:r>
          </a:p>
        </p:txBody>
      </p:sp>
      <p:cxnSp>
        <p:nvCxnSpPr>
          <p:cNvPr id="22" name="Straight Arrow Connector 21"/>
          <p:cNvCxnSpPr>
            <a:stCxn id="21" idx="2"/>
            <a:endCxn id="6" idx="0"/>
          </p:cNvCxnSpPr>
          <p:nvPr/>
        </p:nvCxnSpPr>
        <p:spPr bwMode="auto">
          <a:xfrm flipH="1">
            <a:off x="1097281" y="2910942"/>
            <a:ext cx="1" cy="21411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4" name="Rectangle 23"/>
          <p:cNvSpPr/>
          <p:nvPr/>
        </p:nvSpPr>
        <p:spPr bwMode="auto">
          <a:xfrm>
            <a:off x="457201" y="4970797"/>
            <a:ext cx="1280160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z = 5</a:t>
            </a:r>
          </a:p>
        </p:txBody>
      </p:sp>
      <p:cxnSp>
        <p:nvCxnSpPr>
          <p:cNvPr id="25" name="Straight Arrow Connector 24"/>
          <p:cNvCxnSpPr>
            <a:stCxn id="14" idx="2"/>
            <a:endCxn id="24" idx="0"/>
          </p:cNvCxnSpPr>
          <p:nvPr/>
        </p:nvCxnSpPr>
        <p:spPr bwMode="auto">
          <a:xfrm flipH="1">
            <a:off x="1097281" y="4717180"/>
            <a:ext cx="1" cy="25361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31" name="Slide Number Placeholder 109"/>
          <p:cNvSpPr txBox="1">
            <a:spLocks/>
          </p:cNvSpPr>
          <p:nvPr/>
        </p:nvSpPr>
        <p:spPr>
          <a:xfrm>
            <a:off x="7325575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C180D4-8266-3D4F-88DF-2E6B937E98FB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51" name="Curved Connector 50"/>
          <p:cNvCxnSpPr>
            <a:stCxn id="6" idx="3"/>
            <a:endCxn id="13" idx="3"/>
          </p:cNvCxnSpPr>
          <p:nvPr/>
        </p:nvCxnSpPr>
        <p:spPr>
          <a:xfrm flipH="1">
            <a:off x="1737360" y="3307932"/>
            <a:ext cx="1" cy="2400823"/>
          </a:xfrm>
          <a:prstGeom prst="bentConnector3">
            <a:avLst>
              <a:gd name="adj1" fmla="val -228600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" name="TextBox 3"/>
          <p:cNvSpPr txBox="1"/>
          <p:nvPr/>
        </p:nvSpPr>
        <p:spPr>
          <a:xfrm>
            <a:off x="2234753" y="1612078"/>
            <a:ext cx="60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234753" y="2162504"/>
            <a:ext cx="1136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y:NZ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234753" y="2755720"/>
            <a:ext cx="150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y:NZ</a:t>
            </a:r>
            <a:r>
              <a:rPr lang="en-US" dirty="0"/>
              <a:t>, </a:t>
            </a:r>
            <a:r>
              <a:rPr lang="en-US" dirty="0" err="1"/>
              <a:t>z:Z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234753" y="3348000"/>
            <a:ext cx="150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y:NZ</a:t>
            </a:r>
            <a:r>
              <a:rPr lang="en-US" dirty="0"/>
              <a:t>, </a:t>
            </a:r>
            <a:r>
              <a:rPr lang="en-US" dirty="0" err="1"/>
              <a:t>z:Z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234753" y="3982088"/>
            <a:ext cx="150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y:NZ</a:t>
            </a:r>
            <a:r>
              <a:rPr lang="en-US" dirty="0"/>
              <a:t>, </a:t>
            </a:r>
            <a:r>
              <a:rPr lang="en-US" dirty="0" err="1"/>
              <a:t>z:Z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234753" y="4601465"/>
            <a:ext cx="1555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y:MZ</a:t>
            </a:r>
            <a:r>
              <a:rPr lang="en-US" dirty="0"/>
              <a:t>, </a:t>
            </a:r>
            <a:r>
              <a:rPr lang="en-US" dirty="0" err="1"/>
              <a:t>z:Z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34753" y="5156543"/>
            <a:ext cx="170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y:MZ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z:NZ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76252" y="2755720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y:MZ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z:MZ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476252" y="3346634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y:MZ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z:MZ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76252" y="3982088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y:MZ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z:MZ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76252" y="4601465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>
                <a:solidFill>
                  <a:srgbClr val="000000"/>
                </a:solidFill>
              </a:rPr>
              <a:t>y:MZ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z:MZ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476252" y="5156543"/>
            <a:ext cx="170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y:MZ</a:t>
            </a:r>
            <a:r>
              <a:rPr lang="en-US" dirty="0"/>
              <a:t>, </a:t>
            </a:r>
            <a:r>
              <a:rPr lang="en-US" dirty="0" err="1"/>
              <a:t>z:NZ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885293" y="2755720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x:NZ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y:MZ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z:MZ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85293" y="3346634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x:NZ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y:MZ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z:MZ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85293" y="3982088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x:NZ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y:MZ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z:MZ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85293" y="4601465"/>
            <a:ext cx="17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x:NZ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y:MZ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z:MZ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85293" y="5156543"/>
            <a:ext cx="170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x:NZ</a:t>
            </a:r>
            <a:r>
              <a:rPr lang="en-US" dirty="0"/>
              <a:t>, </a:t>
            </a:r>
            <a:r>
              <a:rPr lang="en-US" dirty="0" err="1"/>
              <a:t>y:MZ</a:t>
            </a:r>
            <a:r>
              <a:rPr lang="en-US" dirty="0"/>
              <a:t>, </a:t>
            </a:r>
            <a:r>
              <a:rPr lang="en-US" dirty="0" err="1"/>
              <a:t>z:NZ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45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Analysis values will not change, no matter how many times loop executes</a:t>
            </a:r>
          </a:p>
          <a:p>
            <a:pPr lvl="1"/>
            <a:r>
              <a:rPr lang="en-US" sz="2400" i="1" dirty="0"/>
              <a:t>Proof:</a:t>
            </a:r>
            <a:r>
              <a:rPr lang="en-US" sz="2400" dirty="0"/>
              <a:t> our analysis is deterministic</a:t>
            </a:r>
          </a:p>
          <a:p>
            <a:pPr lvl="2"/>
            <a:r>
              <a:rPr lang="en-US" sz="2000" dirty="0"/>
              <a:t>We run through the loop with the current analysis values, none of them change. Therefore, no matter how many times we run the loop, the results will remain the same</a:t>
            </a:r>
          </a:p>
          <a:p>
            <a:pPr lvl="1"/>
            <a:r>
              <a:rPr lang="en-US" sz="2400" dirty="0"/>
              <a:t>Therefore, we have computed the dataflow analysis results for any number of loop iterations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19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5687260"/>
            <a:ext cx="5916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cs typeface="Courier New"/>
              </a:rPr>
              <a:t>Example final result:</a:t>
            </a: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sz="2400" b="1" u="sng" dirty="0">
                <a:solidFill>
                  <a:srgbClr val="008000"/>
                </a:solidFill>
                <a:latin typeface="Courier New"/>
                <a:cs typeface="Courier New"/>
              </a:rPr>
              <a:t>x:NZ</a:t>
            </a: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, </a:t>
            </a:r>
            <a:r>
              <a:rPr lang="en-US" sz="2400" b="1" dirty="0" err="1">
                <a:solidFill>
                  <a:srgbClr val="008000"/>
                </a:solidFill>
                <a:latin typeface="Courier New"/>
                <a:cs typeface="Courier New"/>
              </a:rPr>
              <a:t>y:MZ</a:t>
            </a:r>
            <a:r>
              <a:rPr lang="en-US" sz="2400" b="1" dirty="0">
                <a:solidFill>
                  <a:srgbClr val="008000"/>
                </a:solidFill>
                <a:latin typeface="Courier New"/>
                <a:cs typeface="Courier New"/>
              </a:rPr>
              <a:t>, </a:t>
            </a:r>
            <a:r>
              <a:rPr lang="en-US" sz="2400" b="1" dirty="0" err="1">
                <a:solidFill>
                  <a:srgbClr val="008000"/>
                </a:solidFill>
                <a:latin typeface="Courier New"/>
                <a:cs typeface="Courier New"/>
              </a:rPr>
              <a:t>z:MZ</a:t>
            </a:r>
            <a:endParaRPr lang="en-US" sz="24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91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at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Number of possible states gigantic</a:t>
            </a:r>
          </a:p>
          <a:p>
            <a:pPr lvl="1"/>
            <a:r>
              <a:rPr lang="en-US" dirty="0"/>
              <a:t>n 32 bit variables results in 2</a:t>
            </a:r>
            <a:r>
              <a:rPr lang="en-US" baseline="30000" dirty="0"/>
              <a:t>32*n</a:t>
            </a:r>
            <a:r>
              <a:rPr lang="en-US" dirty="0"/>
              <a:t> states</a:t>
            </a:r>
          </a:p>
          <a:p>
            <a:pPr lvl="2"/>
            <a:r>
              <a:rPr lang="en-US" dirty="0"/>
              <a:t>2</a:t>
            </a:r>
            <a:r>
              <a:rPr lang="en-US" baseline="30000" dirty="0"/>
              <a:t>(32*3)</a:t>
            </a:r>
            <a:r>
              <a:rPr lang="en-US" dirty="0"/>
              <a:t> = 2</a:t>
            </a:r>
            <a:r>
              <a:rPr lang="en-US" baseline="30000" dirty="0"/>
              <a:t>96</a:t>
            </a:r>
            <a:endParaRPr lang="en-US" dirty="0"/>
          </a:p>
          <a:p>
            <a:pPr lvl="1"/>
            <a:r>
              <a:rPr lang="en-US" dirty="0"/>
              <a:t>With loops, states can change indefinitely</a:t>
            </a:r>
          </a:p>
          <a:p>
            <a:r>
              <a:rPr lang="en-US" dirty="0"/>
              <a:t>Zero Analysis narrows the state space </a:t>
            </a:r>
          </a:p>
          <a:p>
            <a:pPr lvl="1"/>
            <a:r>
              <a:rPr lang="en-US" dirty="0"/>
              <a:t>Zero or not zero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(2*3)</a:t>
            </a:r>
            <a:r>
              <a:rPr lang="en-US" dirty="0"/>
              <a:t> = 2</a:t>
            </a:r>
            <a:r>
              <a:rPr lang="en-US" baseline="30000" dirty="0"/>
              <a:t>6</a:t>
            </a:r>
            <a:endParaRPr lang="en-US" dirty="0"/>
          </a:p>
          <a:p>
            <a:pPr lvl="1"/>
            <a:r>
              <a:rPr lang="en-US" dirty="0"/>
              <a:t>When this limited space is explored, then we are done</a:t>
            </a:r>
          </a:p>
          <a:p>
            <a:pPr lvl="2"/>
            <a:r>
              <a:rPr lang="en-US" dirty="0"/>
              <a:t>Extrapolate over all loop iterations</a:t>
            </a:r>
          </a:p>
          <a:p>
            <a:pPr lvl="2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62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>
                <a:latin typeface="Calibri"/>
                <a:cs typeface="Calibri"/>
              </a:rPr>
              <a:t>Exercise time!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76200" y="1371600"/>
            <a:ext cx="5486400" cy="484098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x = new Integer(6);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y = bar();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z;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if (y != null)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 +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y.intVal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y = x;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x = null;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return z +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62600" y="2129311"/>
            <a:ext cx="332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Are there any possible </a:t>
            </a:r>
            <a:r>
              <a:rPr lang="en-US" sz="2800" b="1" dirty="0"/>
              <a:t>null pointer exceptions </a:t>
            </a:r>
            <a:r>
              <a:rPr lang="en-US" sz="2800" dirty="0"/>
              <a:t>in this code?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29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charset="0"/>
                <a:cs typeface="Arial" charset="0"/>
              </a:rPr>
              <a:t>In graph form…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0" y="1600200"/>
            <a:ext cx="4743985" cy="45259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foo() {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x = new Integer(6);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y = bar();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z;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if (y != null)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 +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y.intVal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} else {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y = x;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x = null;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}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return z +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22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4775644" y="509964"/>
            <a:ext cx="3811256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Integer x = new Integer(6);</a:t>
            </a:r>
          </a:p>
        </p:txBody>
      </p:sp>
      <p:cxnSp>
        <p:nvCxnSpPr>
          <p:cNvPr id="16" name="Straight Arrow Connector 15"/>
          <p:cNvCxnSpPr>
            <a:stCxn id="18" idx="2"/>
            <a:endCxn id="19" idx="0"/>
          </p:cNvCxnSpPr>
          <p:nvPr/>
        </p:nvCxnSpPr>
        <p:spPr bwMode="auto">
          <a:xfrm flipH="1">
            <a:off x="5054192" y="3247899"/>
            <a:ext cx="1627080" cy="6257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8" name="Rectangle 17"/>
          <p:cNvSpPr/>
          <p:nvPr/>
        </p:nvSpPr>
        <p:spPr bwMode="auto">
          <a:xfrm>
            <a:off x="5489154" y="2882139"/>
            <a:ext cx="2384236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 if (y != null) 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3840289" y="3760210"/>
            <a:ext cx="5302315" cy="849772"/>
            <a:chOff x="3840289" y="3760210"/>
            <a:chExt cx="5302315" cy="849772"/>
          </a:xfrm>
        </p:grpSpPr>
        <p:sp>
          <p:nvSpPr>
            <p:cNvPr id="19" name="Rectangle 18"/>
            <p:cNvSpPr/>
            <p:nvPr/>
          </p:nvSpPr>
          <p:spPr bwMode="auto">
            <a:xfrm>
              <a:off x="3840289" y="3873686"/>
              <a:ext cx="2427805" cy="63365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spcBef>
                  <a:spcPct val="0"/>
                </a:spcBef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z =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x.intVal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 +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y.intVal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();</a:t>
              </a:r>
              <a:endParaRPr lang="en-US" sz="1600" dirty="0">
                <a:latin typeface="Courier"/>
                <a:cs typeface="Courier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6586958" y="3760210"/>
              <a:ext cx="2555646" cy="84977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z =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x.intVal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();</a:t>
              </a:r>
            </a:p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y = x;</a:t>
              </a:r>
            </a:p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x = null;</a:t>
              </a:r>
            </a:p>
          </p:txBody>
        </p:sp>
      </p:grpSp>
      <p:sp>
        <p:nvSpPr>
          <p:cNvPr id="9" name="Rectangle 8"/>
          <p:cNvSpPr/>
          <p:nvPr/>
        </p:nvSpPr>
        <p:spPr bwMode="auto">
          <a:xfrm>
            <a:off x="4972397" y="5161853"/>
            <a:ext cx="3417752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 return z + </a:t>
            </a:r>
            <a:r>
              <a:rPr lang="en-US" sz="1600" dirty="0" err="1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x.intVal</a:t>
            </a:r>
            <a:r>
              <a:rPr lang="en-US" sz="1600" dirty="0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();</a:t>
            </a:r>
            <a:endParaRPr lang="en-US" sz="1600" dirty="0">
              <a:latin typeface="Courier"/>
              <a:cs typeface="Courier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5233505" y="1263497"/>
            <a:ext cx="2895535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Integer y = bar();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5997992" y="2029875"/>
            <a:ext cx="1366561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 err="1">
                <a:latin typeface="Courier"/>
                <a:cs typeface="Courier"/>
              </a:rPr>
              <a:t>int</a:t>
            </a:r>
            <a:r>
              <a:rPr lang="en-US" sz="1600" dirty="0">
                <a:latin typeface="Courier"/>
                <a:cs typeface="Courier"/>
              </a:rPr>
              <a:t> z;</a:t>
            </a:r>
          </a:p>
        </p:txBody>
      </p:sp>
      <p:cxnSp>
        <p:nvCxnSpPr>
          <p:cNvPr id="30" name="Straight Arrow Connector 29"/>
          <p:cNvCxnSpPr>
            <a:stCxn id="12" idx="2"/>
            <a:endCxn id="24" idx="0"/>
          </p:cNvCxnSpPr>
          <p:nvPr/>
        </p:nvCxnSpPr>
        <p:spPr bwMode="auto">
          <a:xfrm>
            <a:off x="6681272" y="875724"/>
            <a:ext cx="1" cy="38777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33" name="Straight Arrow Connector 32"/>
          <p:cNvCxnSpPr>
            <a:stCxn id="24" idx="2"/>
            <a:endCxn id="25" idx="0"/>
          </p:cNvCxnSpPr>
          <p:nvPr/>
        </p:nvCxnSpPr>
        <p:spPr bwMode="auto">
          <a:xfrm>
            <a:off x="6681273" y="1629257"/>
            <a:ext cx="0" cy="40061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36" name="Straight Arrow Connector 35"/>
          <p:cNvCxnSpPr>
            <a:stCxn id="25" idx="2"/>
            <a:endCxn id="18" idx="0"/>
          </p:cNvCxnSpPr>
          <p:nvPr/>
        </p:nvCxnSpPr>
        <p:spPr bwMode="auto">
          <a:xfrm flipH="1">
            <a:off x="6681272" y="2395635"/>
            <a:ext cx="1" cy="48650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44" name="Straight Arrow Connector 43"/>
          <p:cNvCxnSpPr>
            <a:stCxn id="18" idx="2"/>
            <a:endCxn id="20" idx="0"/>
          </p:cNvCxnSpPr>
          <p:nvPr/>
        </p:nvCxnSpPr>
        <p:spPr bwMode="auto">
          <a:xfrm>
            <a:off x="6681272" y="3247899"/>
            <a:ext cx="1183509" cy="51231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59" name="Straight Arrow Connector 58"/>
          <p:cNvCxnSpPr>
            <a:stCxn id="19" idx="2"/>
            <a:endCxn id="9" idx="0"/>
          </p:cNvCxnSpPr>
          <p:nvPr/>
        </p:nvCxnSpPr>
        <p:spPr bwMode="auto">
          <a:xfrm>
            <a:off x="5054192" y="4507336"/>
            <a:ext cx="1627081" cy="65451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62" name="Straight Arrow Connector 61"/>
          <p:cNvCxnSpPr>
            <a:stCxn id="20" idx="2"/>
            <a:endCxn id="9" idx="0"/>
          </p:cNvCxnSpPr>
          <p:nvPr/>
        </p:nvCxnSpPr>
        <p:spPr bwMode="auto">
          <a:xfrm flipH="1">
            <a:off x="6681273" y="4609982"/>
            <a:ext cx="1183508" cy="55187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07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pointer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libri"/>
                <a:cs typeface="Calibri"/>
              </a:rPr>
              <a:t>Track each variable in the program at all program points. </a:t>
            </a:r>
          </a:p>
          <a:p>
            <a:r>
              <a:rPr lang="en-US" sz="2800" dirty="0">
                <a:cs typeface="Calibri"/>
              </a:rPr>
              <a:t>Abstraction:</a:t>
            </a:r>
          </a:p>
          <a:p>
            <a:pPr lvl="1"/>
            <a:r>
              <a:rPr lang="en-US" sz="2400" dirty="0">
                <a:cs typeface="Calibri"/>
              </a:rPr>
              <a:t>Program counter</a:t>
            </a:r>
          </a:p>
          <a:p>
            <a:pPr lvl="1"/>
            <a:r>
              <a:rPr lang="en-US" sz="2400" dirty="0">
                <a:cs typeface="Calibri"/>
              </a:rPr>
              <a:t>3 states for each variable: null, not-null, and maybe-null.</a:t>
            </a:r>
            <a:endParaRPr lang="en-US" sz="2800" dirty="0">
              <a:latin typeface="Calibri"/>
              <a:cs typeface="Calibri"/>
            </a:endParaRPr>
          </a:p>
          <a:p>
            <a:r>
              <a:rPr lang="en-US" sz="2800" dirty="0">
                <a:latin typeface="Calibri"/>
                <a:cs typeface="Calibri"/>
              </a:rPr>
              <a:t>Then check</a:t>
            </a:r>
            <a:r>
              <a:rPr lang="en-US" sz="2800" dirty="0">
                <a:cs typeface="Calibri"/>
              </a:rPr>
              <a:t> if, at each dereference, the analysis has identified whether the dereferenced variable is or might be null.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77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charset="0"/>
                <a:cs typeface="Arial" charset="0"/>
              </a:rPr>
              <a:t>In graph form…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0" y="1600200"/>
            <a:ext cx="4743985" cy="45259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foo() {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x = new Integer(6);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Integer y = bar();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z;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if (y != null)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 +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y.intVal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} else {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z =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y = x;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x = null;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}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return z +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x.intVal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();</a:t>
            </a:r>
          </a:p>
          <a:p>
            <a:pPr marL="0" indent="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24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4775644" y="260924"/>
            <a:ext cx="3811256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Integer x = new Integer(6);</a:t>
            </a:r>
          </a:p>
        </p:txBody>
      </p:sp>
      <p:cxnSp>
        <p:nvCxnSpPr>
          <p:cNvPr id="16" name="Straight Arrow Connector 15"/>
          <p:cNvCxnSpPr>
            <a:stCxn id="18" idx="2"/>
            <a:endCxn id="19" idx="0"/>
          </p:cNvCxnSpPr>
          <p:nvPr/>
        </p:nvCxnSpPr>
        <p:spPr bwMode="auto">
          <a:xfrm flipH="1">
            <a:off x="5054192" y="2774631"/>
            <a:ext cx="1618471" cy="110011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8" name="Rectangle 17"/>
          <p:cNvSpPr/>
          <p:nvPr/>
        </p:nvSpPr>
        <p:spPr bwMode="auto">
          <a:xfrm>
            <a:off x="5480545" y="2243498"/>
            <a:ext cx="2384236" cy="53113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 err="1">
                <a:latin typeface="Courier"/>
                <a:cs typeface="Courier"/>
              </a:rPr>
              <a:t>int</a:t>
            </a:r>
            <a:r>
              <a:rPr lang="en-US" sz="1600" dirty="0">
                <a:latin typeface="Courier"/>
                <a:cs typeface="Courier"/>
              </a:rPr>
              <a:t> z; </a:t>
            </a:r>
          </a:p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if (y != null) 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3840289" y="3761266"/>
            <a:ext cx="5302315" cy="849772"/>
            <a:chOff x="3840289" y="3760210"/>
            <a:chExt cx="5302315" cy="849772"/>
          </a:xfrm>
        </p:grpSpPr>
        <p:sp>
          <p:nvSpPr>
            <p:cNvPr id="19" name="Rectangle 18"/>
            <p:cNvSpPr/>
            <p:nvPr/>
          </p:nvSpPr>
          <p:spPr bwMode="auto">
            <a:xfrm>
              <a:off x="3840289" y="3873686"/>
              <a:ext cx="2427805" cy="63365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spcBef>
                  <a:spcPct val="0"/>
                </a:spcBef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z =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x.intVal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 +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y.intVal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();</a:t>
              </a:r>
              <a:endParaRPr lang="en-US" sz="1600" dirty="0">
                <a:latin typeface="Courier"/>
                <a:cs typeface="Courier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6586958" y="3760210"/>
              <a:ext cx="2555646" cy="84977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z = </a:t>
              </a:r>
              <a:r>
                <a:rPr lang="en-US" sz="1600" dirty="0" err="1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x.intVal</a:t>
              </a: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();</a:t>
              </a:r>
            </a:p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y = x;</a:t>
              </a:r>
            </a:p>
            <a:p>
              <a:pPr>
                <a:spcBef>
                  <a:spcPct val="0"/>
                </a:spcBef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urier"/>
                  <a:ea typeface="ＭＳ Ｐゴシック" pitchFamily="34" charset="-128"/>
                  <a:cs typeface="Courier"/>
                </a:rPr>
                <a:t> x = null;</a:t>
              </a:r>
            </a:p>
          </p:txBody>
        </p:sp>
      </p:grpSp>
      <p:sp>
        <p:nvSpPr>
          <p:cNvPr id="9" name="Rectangle 8"/>
          <p:cNvSpPr/>
          <p:nvPr/>
        </p:nvSpPr>
        <p:spPr bwMode="auto">
          <a:xfrm>
            <a:off x="4972397" y="5697289"/>
            <a:ext cx="3417752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 return z + </a:t>
            </a:r>
            <a:r>
              <a:rPr lang="en-US" sz="1600" dirty="0" err="1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x.intVal</a:t>
            </a:r>
            <a:r>
              <a:rPr lang="en-US" sz="1600" dirty="0">
                <a:solidFill>
                  <a:srgbClr val="000000"/>
                </a:solidFill>
                <a:latin typeface="Courier"/>
                <a:ea typeface="ＭＳ Ｐゴシック" pitchFamily="34" charset="-128"/>
                <a:cs typeface="Courier"/>
              </a:rPr>
              <a:t>();</a:t>
            </a:r>
            <a:endParaRPr lang="en-US" sz="1600" dirty="0">
              <a:latin typeface="Courier"/>
              <a:cs typeface="Courier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5233505" y="1302019"/>
            <a:ext cx="2895535" cy="3657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"/>
                <a:cs typeface="Courier"/>
              </a:rPr>
              <a:t>Integer y = bar();</a:t>
            </a:r>
          </a:p>
        </p:txBody>
      </p:sp>
      <p:cxnSp>
        <p:nvCxnSpPr>
          <p:cNvPr id="30" name="Straight Arrow Connector 29"/>
          <p:cNvCxnSpPr>
            <a:stCxn id="12" idx="2"/>
            <a:endCxn id="24" idx="0"/>
          </p:cNvCxnSpPr>
          <p:nvPr/>
        </p:nvCxnSpPr>
        <p:spPr bwMode="auto">
          <a:xfrm>
            <a:off x="6681272" y="626684"/>
            <a:ext cx="1" cy="67533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33" name="Straight Arrow Connector 32"/>
          <p:cNvCxnSpPr>
            <a:stCxn id="24" idx="2"/>
            <a:endCxn id="18" idx="0"/>
          </p:cNvCxnSpPr>
          <p:nvPr/>
        </p:nvCxnSpPr>
        <p:spPr bwMode="auto">
          <a:xfrm flipH="1">
            <a:off x="6672663" y="1667779"/>
            <a:ext cx="8610" cy="57571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44" name="Straight Arrow Connector 43"/>
          <p:cNvCxnSpPr>
            <a:stCxn id="18" idx="2"/>
            <a:endCxn id="20" idx="0"/>
          </p:cNvCxnSpPr>
          <p:nvPr/>
        </p:nvCxnSpPr>
        <p:spPr bwMode="auto">
          <a:xfrm>
            <a:off x="6672663" y="2774631"/>
            <a:ext cx="1192118" cy="98663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59" name="Straight Arrow Connector 58"/>
          <p:cNvCxnSpPr>
            <a:stCxn id="19" idx="2"/>
            <a:endCxn id="9" idx="0"/>
          </p:cNvCxnSpPr>
          <p:nvPr/>
        </p:nvCxnSpPr>
        <p:spPr bwMode="auto">
          <a:xfrm>
            <a:off x="5054192" y="4508392"/>
            <a:ext cx="1627081" cy="118889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62" name="Straight Arrow Connector 61"/>
          <p:cNvCxnSpPr>
            <a:stCxn id="20" idx="2"/>
            <a:endCxn id="9" idx="0"/>
          </p:cNvCxnSpPr>
          <p:nvPr/>
        </p:nvCxnSpPr>
        <p:spPr bwMode="auto">
          <a:xfrm flipH="1">
            <a:off x="6681273" y="4611038"/>
            <a:ext cx="1183508" cy="108625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888548" y="708666"/>
            <a:ext cx="160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Times" charset="0"/>
              <a:buNone/>
            </a:pPr>
            <a:r>
              <a:rPr lang="en-US" dirty="0"/>
              <a:t>x </a:t>
            </a:r>
            <a:r>
              <a:rPr lang="en-US" dirty="0">
                <a:sym typeface="Wingdings" charset="0"/>
              </a:rPr>
              <a:t> not-null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198877" y="1701471"/>
            <a:ext cx="29842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Times" charset="0"/>
              <a:buNone/>
            </a:pPr>
            <a:r>
              <a:rPr lang="en-US" dirty="0"/>
              <a:t>x </a:t>
            </a:r>
            <a:r>
              <a:rPr lang="en-US" dirty="0">
                <a:sym typeface="Wingdings" charset="0"/>
              </a:rPr>
              <a:t> not-null, 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 maybe-null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3306993" y="3492738"/>
            <a:ext cx="29790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Times" charset="0"/>
              <a:buNone/>
            </a:pPr>
            <a:r>
              <a:rPr lang="en-US" dirty="0"/>
              <a:t>x </a:t>
            </a:r>
            <a:r>
              <a:rPr lang="en-US" dirty="0">
                <a:sym typeface="Wingdings" charset="0"/>
              </a:rPr>
              <a:t> not-null, 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 maybe-null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281468" y="3334389"/>
            <a:ext cx="2886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Times" charset="0"/>
              <a:buNone/>
            </a:pPr>
            <a:r>
              <a:rPr lang="en-US" dirty="0"/>
              <a:t>x </a:t>
            </a:r>
            <a:r>
              <a:rPr lang="en-US" dirty="0">
                <a:sym typeface="Wingdings" charset="0"/>
              </a:rPr>
              <a:t> not-null, 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maybe-null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3401974" y="4435790"/>
            <a:ext cx="30106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Times" charset="0"/>
              <a:buNone/>
            </a:pPr>
            <a:r>
              <a:rPr lang="en-US" b="1" dirty="0"/>
              <a:t>x </a:t>
            </a:r>
            <a:r>
              <a:rPr lang="en-US" b="1" dirty="0">
                <a:sym typeface="Wingdings" charset="0"/>
              </a:rPr>
              <a:t> not-null</a:t>
            </a:r>
            <a:r>
              <a:rPr lang="en-US" dirty="0">
                <a:sym typeface="Wingdings" charset="0"/>
              </a:rPr>
              <a:t>, 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 maybe-null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6645413" y="4548414"/>
            <a:ext cx="26120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Times" charset="0"/>
              <a:buNone/>
            </a:pPr>
            <a:r>
              <a:rPr lang="en-US" b="1" dirty="0"/>
              <a:t>x </a:t>
            </a:r>
            <a:r>
              <a:rPr lang="en-US" b="1" dirty="0">
                <a:sym typeface="Wingdings" charset="0"/>
              </a:rPr>
              <a:t> null</a:t>
            </a:r>
            <a:r>
              <a:rPr lang="en-US" dirty="0">
                <a:sym typeface="Wingdings" charset="0"/>
              </a:rPr>
              <a:t>, 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 maybe-null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4961868" y="5327401"/>
            <a:ext cx="34599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Times" charset="0"/>
              <a:buNone/>
            </a:pPr>
            <a:r>
              <a:rPr lang="en-US" b="1" dirty="0"/>
              <a:t>x </a:t>
            </a:r>
            <a:r>
              <a:rPr lang="en-US" b="1" dirty="0">
                <a:sym typeface="Wingdings" charset="0"/>
              </a:rPr>
              <a:t> maybe-null, </a:t>
            </a:r>
            <a:r>
              <a:rPr lang="en-US" dirty="0">
                <a:sym typeface="Wingdings" charset="0"/>
              </a:rPr>
              <a:t>y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0"/>
              </a:rPr>
              <a:t> maybe-null</a:t>
            </a: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127444" y="5432345"/>
            <a:ext cx="4648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solidFill>
                  <a:schemeClr val="hlink"/>
                </a:solidFill>
              </a:rPr>
              <a:t>Error: may have null pointer on line 12, because x may be null!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Continuum of formality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Pattern identification (</a:t>
            </a:r>
            <a:r>
              <a:rPr lang="en-US" dirty="0" err="1"/>
              <a:t>FindBugs</a:t>
            </a:r>
            <a:r>
              <a:rPr lang="en-US" dirty="0"/>
              <a:t>, Lint)</a:t>
            </a:r>
          </a:p>
          <a:p>
            <a:r>
              <a:rPr lang="en-US" dirty="0"/>
              <a:t>Type checking</a:t>
            </a:r>
          </a:p>
          <a:p>
            <a:r>
              <a:rPr lang="en-US" dirty="0"/>
              <a:t>Dataflow analysis</a:t>
            </a:r>
          </a:p>
          <a:p>
            <a:r>
              <a:rPr lang="en-US" dirty="0"/>
              <a:t>Model checking</a:t>
            </a:r>
          </a:p>
          <a:p>
            <a:r>
              <a:rPr lang="en-US" dirty="0"/>
              <a:t>Formal reasoning</a:t>
            </a:r>
          </a:p>
          <a:p>
            <a:pPr lvl="1"/>
            <a:r>
              <a:rPr lang="en-US" dirty="0"/>
              <a:t>Hoare logic</a:t>
            </a:r>
          </a:p>
          <a:p>
            <a:pPr lvl="1"/>
            <a:r>
              <a:rPr lang="en-US" dirty="0"/>
              <a:t>Automated theorem prover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44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Build model of a program and exhaustively evaluate that model against a specification </a:t>
            </a:r>
          </a:p>
          <a:p>
            <a:pPr lvl="1"/>
            <a:r>
              <a:rPr lang="en-US" dirty="0"/>
              <a:t>Check properties hold</a:t>
            </a:r>
          </a:p>
          <a:p>
            <a:pPr lvl="2"/>
            <a:r>
              <a:rPr lang="en-US" dirty="0"/>
              <a:t>Produce counter examples </a:t>
            </a:r>
          </a:p>
          <a:p>
            <a:r>
              <a:rPr lang="en-US" dirty="0"/>
              <a:t>Common form of model checking uses temporal logic formula to describe properties</a:t>
            </a:r>
          </a:p>
          <a:p>
            <a:r>
              <a:rPr lang="en-US" dirty="0"/>
              <a:t>Especially good for finding concurrency issues</a:t>
            </a:r>
          </a:p>
          <a:p>
            <a:r>
              <a:rPr lang="en-US" dirty="0"/>
              <a:t>Subject of Thursday’s lecture!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28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Tools: SPIN Model Checker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S</a:t>
            </a:r>
            <a:r>
              <a:rPr lang="en-US" dirty="0"/>
              <a:t>imple </a:t>
            </a:r>
            <a:r>
              <a:rPr lang="en-US" b="1" dirty="0" err="1"/>
              <a:t>P</a:t>
            </a:r>
            <a:r>
              <a:rPr lang="en-US" dirty="0" err="1"/>
              <a:t>romela</a:t>
            </a:r>
            <a:r>
              <a:rPr lang="en-US" dirty="0"/>
              <a:t> </a:t>
            </a:r>
            <a:r>
              <a:rPr lang="en-US" b="1" dirty="0" err="1"/>
              <a:t>IN</a:t>
            </a:r>
            <a:r>
              <a:rPr lang="en-US" dirty="0" err="1"/>
              <a:t>terpreter</a:t>
            </a:r>
            <a:endParaRPr lang="en-US" dirty="0"/>
          </a:p>
          <a:p>
            <a:r>
              <a:rPr lang="en-US" dirty="0"/>
              <a:t>Well established and freely available model checker</a:t>
            </a:r>
          </a:p>
          <a:p>
            <a:pPr lvl="1"/>
            <a:r>
              <a:rPr lang="en-US" dirty="0"/>
              <a:t>Model processes </a:t>
            </a:r>
          </a:p>
          <a:p>
            <a:pPr lvl="1"/>
            <a:r>
              <a:rPr lang="en-US" dirty="0"/>
              <a:t>Verify linear temporal logic properties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We’ll spend considerable time with SPIN later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27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96037" y="5919563"/>
            <a:ext cx="2151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spinroot.com</a:t>
            </a:r>
            <a:r>
              <a:rPr lang="en-US" dirty="0"/>
              <a:t>/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083258"/>
              </p:ext>
            </p:extLst>
          </p:nvPr>
        </p:nvGraphicFramePr>
        <p:xfrm>
          <a:off x="1944203" y="4253277"/>
          <a:ext cx="3994615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urier New"/>
                          <a:cs typeface="Courier New"/>
                        </a:rPr>
                        <a:t>active </a:t>
                      </a:r>
                      <a:r>
                        <a:rPr lang="en-US" sz="1600" b="1" dirty="0" err="1">
                          <a:latin typeface="Courier New"/>
                          <a:cs typeface="Courier New"/>
                        </a:rPr>
                        <a:t>proctype</a:t>
                      </a:r>
                      <a:r>
                        <a:rPr lang="en-US" sz="1600" b="1" dirty="0">
                          <a:latin typeface="Courier New"/>
                          <a:cs typeface="Courier New"/>
                        </a:rPr>
                        <a:t> Hello() {</a:t>
                      </a:r>
                    </a:p>
                    <a:p>
                      <a:r>
                        <a:rPr lang="en-US" sz="1600" b="1" dirty="0">
                          <a:latin typeface="Courier New"/>
                          <a:cs typeface="Courier New"/>
                        </a:rPr>
                        <a:t>   </a:t>
                      </a:r>
                      <a:r>
                        <a:rPr lang="en-US" sz="1600" b="1" dirty="0" err="1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lang="en-US" sz="1600" b="1" dirty="0">
                          <a:latin typeface="Courier New"/>
                          <a:cs typeface="Courier New"/>
                        </a:rPr>
                        <a:t>(“Hello World\n”);</a:t>
                      </a:r>
                    </a:p>
                    <a:p>
                      <a:r>
                        <a:rPr lang="en-US" sz="1600" b="1" dirty="0">
                          <a:latin typeface="Courier New"/>
                          <a:cs typeface="Courier New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736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Tools: Microsoft SLAM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Statically check Microsoft Windows drivers</a:t>
            </a:r>
            <a:endParaRPr lang="en-US" sz="2000" dirty="0"/>
          </a:p>
          <a:p>
            <a:pPr lvl="1"/>
            <a:r>
              <a:rPr lang="en-US" sz="2000" dirty="0"/>
              <a:t>Drivers are difficult to test</a:t>
            </a:r>
          </a:p>
          <a:p>
            <a:r>
              <a:rPr lang="en-US" sz="2400" dirty="0"/>
              <a:t>Uses </a:t>
            </a:r>
            <a:r>
              <a:rPr lang="en-US" sz="2400" i="1" dirty="0"/>
              <a:t>C</a:t>
            </a:r>
            <a:r>
              <a:rPr lang="en-US" sz="2400" dirty="0"/>
              <a:t>ounter </a:t>
            </a:r>
            <a:r>
              <a:rPr lang="en-US" sz="2400" i="1" dirty="0"/>
              <a:t>Example-Guided Abstraction Refinement </a:t>
            </a:r>
            <a:r>
              <a:rPr lang="en-US" sz="2400" dirty="0"/>
              <a:t>(CEGAR) </a:t>
            </a:r>
          </a:p>
          <a:p>
            <a:pPr lvl="1"/>
            <a:r>
              <a:rPr lang="en-US" sz="2000" dirty="0"/>
              <a:t>Based on model checking</a:t>
            </a:r>
          </a:p>
          <a:p>
            <a:pPr lvl="1"/>
            <a:r>
              <a:rPr lang="en-US" sz="2000" dirty="0"/>
              <a:t>Refines over-approximations to minimize false positives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28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91377" y="6074935"/>
            <a:ext cx="72725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http://</a:t>
            </a:r>
            <a:r>
              <a:rPr lang="en-US" sz="1600" dirty="0" err="1"/>
              <a:t>research.microsoft.com</a:t>
            </a:r>
            <a:r>
              <a:rPr lang="en-US" sz="1600" dirty="0"/>
              <a:t>/en-us/projects/slam/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283" y="4081970"/>
            <a:ext cx="6062101" cy="17652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607283" y="5847178"/>
            <a:ext cx="606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CEGEAR process implemented in SLAM</a:t>
            </a:r>
          </a:p>
        </p:txBody>
      </p:sp>
    </p:spTree>
    <p:extLst>
      <p:ext uri="{BB962C8B-B14F-4D97-AF65-F5344CB8AC3E}">
        <p14:creationId xmlns:p14="http://schemas.microsoft.com/office/powerpoint/2010/main" val="1641299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Reasoning: Hoare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Set of tools for reasoning about the correctness of a computer program</a:t>
            </a:r>
          </a:p>
          <a:p>
            <a:pPr lvl="1"/>
            <a:r>
              <a:rPr lang="en-US" dirty="0"/>
              <a:t>Uses pre and post conditions</a:t>
            </a:r>
          </a:p>
          <a:p>
            <a:r>
              <a:rPr lang="en-US" dirty="0"/>
              <a:t>The Hoare triple: </a:t>
            </a:r>
            <a:r>
              <a:rPr lang="en-US" b="1" dirty="0">
                <a:solidFill>
                  <a:srgbClr val="0000FF"/>
                </a:solidFill>
              </a:rPr>
              <a:t>{P} S {Q}</a:t>
            </a:r>
          </a:p>
          <a:p>
            <a:pPr lvl="1"/>
            <a:r>
              <a:rPr lang="en-US" dirty="0"/>
              <a:t>P and Q are predicates</a:t>
            </a:r>
          </a:p>
          <a:p>
            <a:pPr lvl="1"/>
            <a:r>
              <a:rPr lang="en-US" dirty="0"/>
              <a:t>S is the program</a:t>
            </a:r>
          </a:p>
          <a:p>
            <a:pPr lvl="1"/>
            <a:r>
              <a:rPr lang="en-US" dirty="0"/>
              <a:t>If we start in a state where P is true and execute S, then S will terminate in a state where Q is true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817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Hoare Triples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{x=y} x := x + 3 { x = y + 3 }</a:t>
            </a:r>
          </a:p>
          <a:p>
            <a:r>
              <a:rPr lang="en-US" dirty="0"/>
              <a:t>{x &gt; -1}  x := x * 2 + 3 { x &gt; 1}</a:t>
            </a:r>
          </a:p>
          <a:p>
            <a:r>
              <a:rPr lang="en-US" dirty="0"/>
              <a:t>{ true} x := 5 { x=5}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77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Hoare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Hoare logic defines inference rules for program constructs </a:t>
            </a:r>
          </a:p>
          <a:p>
            <a:pPr lvl="1"/>
            <a:r>
              <a:rPr lang="en-US" dirty="0"/>
              <a:t>Assignment</a:t>
            </a:r>
          </a:p>
          <a:p>
            <a:pPr lvl="1"/>
            <a:r>
              <a:rPr lang="en-US" dirty="0"/>
              <a:t>Conditionals</a:t>
            </a:r>
          </a:p>
          <a:p>
            <a:pPr lvl="2"/>
            <a:r>
              <a:rPr lang="en-US" dirty="0"/>
              <a:t>{ P } if x &gt; 0 then y := z else y := -z { y &gt; 5 }</a:t>
            </a:r>
          </a:p>
          <a:p>
            <a:pPr lvl="1"/>
            <a:r>
              <a:rPr lang="en-US" dirty="0"/>
              <a:t>Loops </a:t>
            </a:r>
          </a:p>
          <a:p>
            <a:pPr lvl="2"/>
            <a:r>
              <a:rPr lang="en-US" dirty="0"/>
              <a:t>{P} while B do S {Q}</a:t>
            </a:r>
          </a:p>
          <a:p>
            <a:r>
              <a:rPr lang="en-US" dirty="0"/>
              <a:t>Using these rules, we can reason about program correctness if we can come up with pre- and post- conditions.</a:t>
            </a:r>
          </a:p>
          <a:p>
            <a:r>
              <a:rPr lang="en-US" dirty="0"/>
              <a:t>Common technology in safety-critical systems programming, such as code written in SPARK ADA, avionics systems, etc.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53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Tools: ESC/Java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Extended Static Checking for Java</a:t>
            </a:r>
          </a:p>
          <a:p>
            <a:pPr lvl="1"/>
            <a:r>
              <a:rPr lang="en-US" dirty="0"/>
              <a:t>Uses the Simplify theorem prover to evaluate </a:t>
            </a:r>
            <a:r>
              <a:rPr lang="en-US" dirty="0">
                <a:ea typeface="ＭＳ ゴシック"/>
                <a:cs typeface="ＭＳ ゴシック"/>
              </a:rPr>
              <a:t>each routine in a program</a:t>
            </a:r>
            <a:endParaRPr lang="en-US" dirty="0"/>
          </a:p>
          <a:p>
            <a:pPr lvl="1"/>
            <a:r>
              <a:rPr lang="en-US" dirty="0"/>
              <a:t>Embedded assertions/annotations </a:t>
            </a:r>
          </a:p>
          <a:p>
            <a:pPr lvl="2"/>
            <a:r>
              <a:rPr lang="en-US" dirty="0"/>
              <a:t>Checker readable comments</a:t>
            </a:r>
          </a:p>
          <a:p>
            <a:pPr lvl="2"/>
            <a:r>
              <a:rPr lang="en-US" dirty="0"/>
              <a:t>Based on the Java Modeling Language (JML)</a:t>
            </a:r>
          </a:p>
          <a:p>
            <a:pPr marL="914400" lvl="2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 New"/>
                <a:cs typeface="Courier New"/>
              </a:rPr>
              <a:t>/*@ requires </a:t>
            </a:r>
            <a:r>
              <a:rPr lang="en-US" sz="1800" b="1" dirty="0" err="1">
                <a:solidFill>
                  <a:srgbClr val="008000"/>
                </a:solidFill>
                <a:latin typeface="Courier New"/>
                <a:cs typeface="Courier New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/>
                <a:cs typeface="Courier New"/>
              </a:rPr>
              <a:t> &gt; 0 */</a:t>
            </a:r>
          </a:p>
          <a:p>
            <a:pPr marL="457200" lvl="1" indent="0">
              <a:buNone/>
            </a:pPr>
            <a:r>
              <a:rPr lang="en-US" sz="1800" b="1" dirty="0">
                <a:latin typeface="Courier New"/>
                <a:cs typeface="Courier New"/>
              </a:rPr>
              <a:t>public void div(</a:t>
            </a:r>
            <a:r>
              <a:rPr lang="en-US" sz="1800" b="1" dirty="0" err="1">
                <a:latin typeface="Courier New"/>
                <a:cs typeface="Courier New"/>
              </a:rPr>
              <a:t>int</a:t>
            </a:r>
            <a:r>
              <a:rPr lang="en-US" sz="1800" b="1" dirty="0">
                <a:latin typeface="Courier New"/>
                <a:cs typeface="Courier New"/>
              </a:rPr>
              <a:t> </a:t>
            </a:r>
            <a:r>
              <a:rPr lang="en-US" sz="1800" b="1" dirty="0" err="1">
                <a:latin typeface="Courier New"/>
                <a:cs typeface="Courier New"/>
              </a:rPr>
              <a:t>i</a:t>
            </a:r>
            <a:r>
              <a:rPr lang="en-US" sz="1800" b="1" dirty="0">
                <a:latin typeface="Courier New"/>
                <a:cs typeface="Courier New"/>
              </a:rPr>
              <a:t>, </a:t>
            </a:r>
            <a:r>
              <a:rPr lang="en-US" sz="1800" b="1" dirty="0" err="1">
                <a:latin typeface="Courier New"/>
                <a:cs typeface="Courier New"/>
              </a:rPr>
              <a:t>int</a:t>
            </a:r>
            <a:r>
              <a:rPr lang="en-US" sz="1800" b="1" dirty="0">
                <a:latin typeface="Courier New"/>
                <a:cs typeface="Courier New"/>
              </a:rPr>
              <a:t> j) {</a:t>
            </a:r>
          </a:p>
          <a:p>
            <a:pPr marL="457200" lvl="1" indent="0">
              <a:buNone/>
            </a:pPr>
            <a:r>
              <a:rPr lang="en-US" sz="1800" b="1" dirty="0">
                <a:latin typeface="Courier New"/>
                <a:cs typeface="Courier New"/>
              </a:rPr>
              <a:t>  return j/</a:t>
            </a:r>
            <a:r>
              <a:rPr lang="en-US" sz="1800" b="1" dirty="0" err="1">
                <a:latin typeface="Courier New"/>
                <a:cs typeface="Courier New"/>
              </a:rPr>
              <a:t>i</a:t>
            </a:r>
            <a:r>
              <a:rPr lang="en-US" sz="1800" b="1" dirty="0">
                <a:latin typeface="Courier New"/>
                <a:cs typeface="Courier New"/>
              </a:rPr>
              <a:t>;</a:t>
            </a:r>
          </a:p>
          <a:p>
            <a:pPr marL="457200" lvl="1" indent="0">
              <a:buNone/>
            </a:pPr>
            <a:r>
              <a:rPr lang="en-US" sz="1800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69162" y="5962811"/>
            <a:ext cx="72571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C. Flanagan, K.R.M. </a:t>
            </a:r>
            <a:r>
              <a:rPr lang="en-US" sz="1400" dirty="0" err="1"/>
              <a:t>Leino</a:t>
            </a:r>
            <a:r>
              <a:rPr lang="en-US" sz="1400" dirty="0"/>
              <a:t>, M. </a:t>
            </a:r>
            <a:r>
              <a:rPr lang="en-US" sz="1400" dirty="0" err="1"/>
              <a:t>Lillibridge</a:t>
            </a:r>
            <a:r>
              <a:rPr lang="en-US" sz="1400" dirty="0"/>
              <a:t>, G. Nelson, J. B. Saxe and R. </a:t>
            </a:r>
            <a:r>
              <a:rPr lang="en-US" sz="1400" dirty="0" err="1"/>
              <a:t>Stata</a:t>
            </a:r>
            <a:r>
              <a:rPr lang="en-US" sz="1400" dirty="0"/>
              <a:t>. </a:t>
            </a:r>
            <a:r>
              <a:rPr lang="en-US" sz="1400" i="1" dirty="0"/>
              <a:t>Extended static checking for Java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253134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Annotations express design intent</a:t>
            </a:r>
          </a:p>
          <a:p>
            <a:pPr lvl="1"/>
            <a:r>
              <a:rPr lang="en-US" dirty="0"/>
              <a:t>How you intended to achieve a particular quality attribute</a:t>
            </a:r>
          </a:p>
          <a:p>
            <a:pPr lvl="2"/>
            <a:r>
              <a:rPr lang="en-US" dirty="0"/>
              <a:t>e.g. never writing more than N elements to this array</a:t>
            </a:r>
          </a:p>
          <a:p>
            <a:r>
              <a:rPr lang="en-US" dirty="0"/>
              <a:t>As you add more annotations, you find more errors</a:t>
            </a:r>
          </a:p>
          <a:p>
            <a:pPr lvl="1"/>
            <a:r>
              <a:rPr lang="en-US" dirty="0"/>
              <a:t>Some annotations already built in to Java libraries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54A8E4-4444-C244-B7A9-F1F24AE0CD92}" type="slidenum">
              <a:rPr lang="en-US" smtClean="0"/>
              <a:t>33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67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Calibri"/>
                <a:cs typeface="Calibri"/>
              </a:rPr>
              <a:t>Upshot: analysis as approximation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/>
                <a:cs typeface="Calibri"/>
              </a:rPr>
              <a:t>Analysis must approximate in practice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False positives: may report errors where there are really none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False negatives: may not report errors that really exist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All analysis tools have either false negatives or false positives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/>
                <a:cs typeface="Calibri"/>
              </a:rPr>
              <a:t>Approximation strategy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Find a pattern P for correct code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which is feasible to check (analysis terminates quickly),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covers most correct code in practice (low false positives),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which implies no errors (no false negatives)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/>
                <a:cs typeface="Calibri"/>
              </a:rPr>
              <a:t>Analysis can be pretty good in practice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Many tools have low false positive/negative rates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A sound</a:t>
            </a:r>
            <a:r>
              <a:rPr lang="en-US" sz="2400" i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tool has no false negatives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Never misses an error in a category that it checks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34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8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Calibri"/>
                <a:cs typeface="Calibri"/>
              </a:rPr>
              <a:t>Pseudo-summary: analysis is attribute-Specific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12652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/>
                <a:cs typeface="Calibri"/>
              </a:rPr>
              <a:t>Analysis is specific to: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A quality attribute (e.g., race condition, buffer overflow, use after free)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A pattern for verifying that attribute (e.g., protect each shared piece of data with a lock, </a:t>
            </a:r>
            <a:r>
              <a:rPr lang="en-US" sz="2400" dirty="0" err="1">
                <a:latin typeface="Calibri"/>
                <a:cs typeface="Calibri"/>
              </a:rPr>
              <a:t>Presburger</a:t>
            </a:r>
            <a:r>
              <a:rPr lang="en-US" sz="2400" dirty="0">
                <a:latin typeface="Calibri"/>
                <a:cs typeface="Calibri"/>
              </a:rPr>
              <a:t> arithmetic decision procedure for array indexes, only one variable points to each memory location)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>
                <a:latin typeface="Calibri"/>
                <a:cs typeface="Calibri"/>
              </a:rPr>
              <a:t>Analysis is inappropriate for some attributes.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Calibri"/>
                <a:cs typeface="Calibri"/>
              </a:rPr>
              <a:t>For every technique, think about: what’s being abstracted, what data is being lost, where the error can come from!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latin typeface="Calibri"/>
                <a:cs typeface="Calibri"/>
              </a:rPr>
              <a:t>And maybe: how we can make it better?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35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0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Static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90" y="1693964"/>
            <a:ext cx="7390823" cy="466238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58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assurance at Microsoft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Original process: manual code inspection </a:t>
            </a:r>
          </a:p>
          <a:p>
            <a:pPr lvl="1"/>
            <a:r>
              <a:rPr lang="en-US" dirty="0"/>
              <a:t>Effective when system and team are small </a:t>
            </a:r>
          </a:p>
          <a:p>
            <a:pPr lvl="1"/>
            <a:r>
              <a:rPr lang="en-US" dirty="0"/>
              <a:t>Too many paths to consider as system grew </a:t>
            </a:r>
          </a:p>
          <a:p>
            <a:r>
              <a:rPr lang="en-US" dirty="0"/>
              <a:t>Early 1990s: add massive system and unit testing </a:t>
            </a:r>
          </a:p>
          <a:p>
            <a:pPr lvl="1"/>
            <a:r>
              <a:rPr lang="en-US" dirty="0"/>
              <a:t>Tests took weeks to run </a:t>
            </a:r>
          </a:p>
          <a:p>
            <a:pPr lvl="2"/>
            <a:r>
              <a:rPr lang="en-US" dirty="0"/>
              <a:t>Diversity of platforms and configurations </a:t>
            </a:r>
          </a:p>
          <a:p>
            <a:pPr lvl="2"/>
            <a:r>
              <a:rPr lang="en-US" dirty="0"/>
              <a:t>Sheer volume of tests </a:t>
            </a:r>
          </a:p>
          <a:p>
            <a:pPr lvl="1"/>
            <a:r>
              <a:rPr lang="en-US" dirty="0"/>
              <a:t>Inefficient detection of common patterns, security holes </a:t>
            </a:r>
          </a:p>
          <a:p>
            <a:r>
              <a:rPr lang="en-US" dirty="0"/>
              <a:t>Non-local, intermittent, uncommon path bugs</a:t>
            </a:r>
            <a:br>
              <a:rPr lang="en-US" dirty="0"/>
            </a:br>
            <a:r>
              <a:rPr lang="en-US" dirty="0"/>
              <a:t>Was treading water in Windows Vista development </a:t>
            </a:r>
          </a:p>
          <a:p>
            <a:r>
              <a:rPr lang="en-US" dirty="0"/>
              <a:t>Early 2000s: add static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37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60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Impact at Microsoft</a:t>
            </a:r>
          </a:p>
        </p:txBody>
      </p:sp>
      <p:sp>
        <p:nvSpPr>
          <p:cNvPr id="1044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cs typeface="Arial" charset="0"/>
              </a:rPr>
              <a:t>Thousands of bugs caught monthly</a:t>
            </a:r>
          </a:p>
          <a:p>
            <a:pPr eaLnBrk="1" hangingPunct="1"/>
            <a:r>
              <a:rPr lang="en-US" sz="2800" dirty="0">
                <a:latin typeface="Arial" charset="0"/>
                <a:cs typeface="Arial" charset="0"/>
              </a:rPr>
              <a:t>Significant observed quality improvements</a:t>
            </a:r>
          </a:p>
          <a:p>
            <a:pPr lvl="1" eaLnBrk="1" hangingPunct="1"/>
            <a:r>
              <a:rPr lang="en-US" sz="2400" dirty="0">
                <a:latin typeface="Arial" charset="0"/>
                <a:cs typeface="Arial" charset="0"/>
              </a:rPr>
              <a:t>e.g. buffer overruns latent in codebases</a:t>
            </a:r>
          </a:p>
          <a:p>
            <a:pPr eaLnBrk="1" hangingPunct="1"/>
            <a:r>
              <a:rPr lang="en-US" sz="2800" dirty="0">
                <a:latin typeface="Arial" charset="0"/>
                <a:cs typeface="Arial" charset="0"/>
              </a:rPr>
              <a:t>Widespread developer acceptance</a:t>
            </a:r>
          </a:p>
          <a:p>
            <a:pPr lvl="1" eaLnBrk="1" hangingPunct="1"/>
            <a:r>
              <a:rPr lang="en-US" sz="2400" dirty="0">
                <a:latin typeface="Arial" charset="0"/>
                <a:cs typeface="Arial" charset="0"/>
              </a:rPr>
              <a:t>Check-in gates</a:t>
            </a:r>
          </a:p>
          <a:p>
            <a:pPr lvl="1" eaLnBrk="1" hangingPunct="1"/>
            <a:r>
              <a:rPr lang="en-US" sz="2400" dirty="0">
                <a:latin typeface="Arial" charset="0"/>
                <a:cs typeface="Arial" charset="0"/>
              </a:rPr>
              <a:t>Writing specifications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38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757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Ebay</a:t>
            </a:r>
            <a:r>
              <a:rPr lang="en-US" dirty="0"/>
              <a:t>: Prior Evaluations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Individual teams tried tools</a:t>
            </a:r>
          </a:p>
          <a:p>
            <a:pPr lvl="1"/>
            <a:r>
              <a:rPr lang="en-US" dirty="0"/>
              <a:t>On snapshots</a:t>
            </a:r>
          </a:p>
          <a:p>
            <a:pPr lvl="1"/>
            <a:r>
              <a:rPr lang="en-US" dirty="0"/>
              <a:t>No tool customization</a:t>
            </a:r>
          </a:p>
          <a:p>
            <a:pPr lvl="1"/>
            <a:r>
              <a:rPr lang="en-US" dirty="0"/>
              <a:t>Overall negative results</a:t>
            </a:r>
          </a:p>
          <a:p>
            <a:pPr lvl="1"/>
            <a:r>
              <a:rPr lang="en-US" dirty="0"/>
              <a:t>Developers were not impressed: many minor issues (2 checkers reported half the issues, all irrelevant for </a:t>
            </a:r>
            <a:r>
              <a:rPr lang="en-US" dirty="0" err="1"/>
              <a:t>Ebay</a:t>
            </a:r>
            <a:r>
              <a:rPr lang="en-US" dirty="0"/>
              <a:t>)</a:t>
            </a:r>
          </a:p>
          <a:p>
            <a:r>
              <a:rPr lang="en-US" dirty="0"/>
              <a:t>Would this change when integrated into process? i.e. incremental checking</a:t>
            </a:r>
          </a:p>
          <a:p>
            <a:r>
              <a:rPr lang="en-US" dirty="0"/>
              <a:t>Which bugs to look at?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252F0-D17C-4770-94A1-410BB905ADF8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60566" y="6033184"/>
            <a:ext cx="6993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Jaspan</a:t>
            </a:r>
            <a:r>
              <a:rPr lang="en-US" sz="1200" dirty="0"/>
              <a:t>, </a:t>
            </a:r>
            <a:r>
              <a:rPr lang="en-US" sz="1200" dirty="0" err="1"/>
              <a:t>Ciera</a:t>
            </a:r>
            <a:r>
              <a:rPr lang="en-US" sz="1200" dirty="0"/>
              <a:t>, I. Chen, and </a:t>
            </a:r>
            <a:r>
              <a:rPr lang="en-US" sz="1200" dirty="0" err="1"/>
              <a:t>Anoop</a:t>
            </a:r>
            <a:r>
              <a:rPr lang="en-US" sz="1200" dirty="0"/>
              <a:t> Sharma. "Understanding the value of program analysis tools." </a:t>
            </a:r>
            <a:r>
              <a:rPr lang="en-US" sz="1200" i="1" dirty="0"/>
              <a:t>Companion </a:t>
            </a:r>
            <a:br>
              <a:rPr lang="en-US" sz="1200" i="1" dirty="0"/>
            </a:br>
            <a:r>
              <a:rPr lang="en-US" sz="1200" i="1" dirty="0"/>
              <a:t>to the 22nd ACM SIGPLAN conference on Object-oriented programming systems and applications companion</a:t>
            </a:r>
            <a:r>
              <a:rPr lang="en-US" sz="1200" dirty="0"/>
              <a:t>. </a:t>
            </a:r>
            <a:br>
              <a:rPr lang="en-US" sz="1200" dirty="0"/>
            </a:br>
            <a:r>
              <a:rPr lang="en-US" sz="1200" dirty="0"/>
              <a:t>ACM, 2007.</a:t>
            </a:r>
          </a:p>
        </p:txBody>
      </p:sp>
    </p:spTree>
    <p:extLst>
      <p:ext uri="{BB962C8B-B14F-4D97-AF65-F5344CB8AC3E}">
        <p14:creationId xmlns:p14="http://schemas.microsoft.com/office/powerpoint/2010/main" val="2099873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Ebay: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Find defects earlier in the lifecycle</a:t>
            </a:r>
          </a:p>
          <a:p>
            <a:pPr lvl="1"/>
            <a:r>
              <a:rPr lang="en-US" dirty="0"/>
              <a:t>Allow quality engineers to focus on different issues</a:t>
            </a:r>
          </a:p>
          <a:p>
            <a:r>
              <a:rPr lang="en-US" dirty="0"/>
              <a:t>Find defects that are difficult to find through other QA techniques</a:t>
            </a:r>
          </a:p>
          <a:p>
            <a:pPr lvl="1"/>
            <a:r>
              <a:rPr lang="en-US" dirty="0"/>
              <a:t>security, performance, concurrency</a:t>
            </a:r>
          </a:p>
          <a:p>
            <a:r>
              <a:rPr lang="en-US" dirty="0"/>
              <a:t>As early as feasible: Run on developer machines and in nightly builds</a:t>
            </a:r>
          </a:p>
          <a:p>
            <a:r>
              <a:rPr lang="en-US" dirty="0"/>
              <a:t>No resources to build own tool</a:t>
            </a:r>
          </a:p>
          <a:p>
            <a:pPr lvl="1"/>
            <a:r>
              <a:rPr lang="en-US" dirty="0"/>
              <a:t>But few people for dedicated team (customization, policies, creating project-specific analyses etc) possible</a:t>
            </a:r>
          </a:p>
          <a:p>
            <a:r>
              <a:rPr lang="en-US" dirty="0"/>
              <a:t>Continuous evaluation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252F0-D17C-4770-94A1-410BB905ADF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196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Ebay</a:t>
            </a:r>
            <a:r>
              <a:rPr lang="en-US" dirty="0"/>
              <a:t>: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Customization dropped false positives from 50% to 10%</a:t>
            </a:r>
          </a:p>
          <a:p>
            <a:r>
              <a:rPr lang="en-US" dirty="0"/>
              <a:t>Separate checkers evaluated separately</a:t>
            </a:r>
          </a:p>
          <a:p>
            <a:pPr lvl="1"/>
            <a:r>
              <a:rPr lang="en-US" dirty="0"/>
              <a:t>By number of issues</a:t>
            </a:r>
          </a:p>
          <a:p>
            <a:pPr lvl="1"/>
            <a:r>
              <a:rPr lang="en-US" dirty="0"/>
              <a:t>By severity as judged by developers; iteratively with several groups</a:t>
            </a:r>
          </a:p>
          <a:p>
            <a:r>
              <a:rPr lang="en-US" dirty="0"/>
              <a:t>Some low-priority checkers (e.g., dead store to local) was assigned high priority – performance impact important for </a:t>
            </a:r>
            <a:r>
              <a:rPr lang="en-US"/>
              <a:t>Ebay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252F0-D17C-4770-94A1-410BB905ADF8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8943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Ebay</a:t>
            </a:r>
            <a:r>
              <a:rPr lang="en-US" dirty="0"/>
              <a:t>: Enforcement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High priority: All these issues must be fixed (e.g. null pointer exceptions)</a:t>
            </a:r>
          </a:p>
          <a:p>
            <a:pPr lvl="1"/>
            <a:r>
              <a:rPr lang="en-US" dirty="0"/>
              <a:t>Potentially very costly given the huge existing code base</a:t>
            </a:r>
          </a:p>
          <a:p>
            <a:r>
              <a:rPr lang="en-US" dirty="0"/>
              <a:t>Medium priority: May not be added to the code base. Old issues won't be fixed unless refactored anyway (e.g., high </a:t>
            </a:r>
            <a:r>
              <a:rPr lang="en-US" dirty="0" err="1"/>
              <a:t>cyclomatic</a:t>
            </a:r>
            <a:r>
              <a:rPr lang="en-US" dirty="0"/>
              <a:t> complexity)</a:t>
            </a:r>
          </a:p>
          <a:p>
            <a:r>
              <a:rPr lang="en-US" dirty="0"/>
              <a:t>Low priority: At most X issues may be added between releases (usually stylistic)</a:t>
            </a:r>
          </a:p>
          <a:p>
            <a:r>
              <a:rPr lang="en-US" dirty="0"/>
              <a:t>Tossed: Turned off entirely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252F0-D17C-4770-94A1-410BB905ADF8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9229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Ebay</a:t>
            </a:r>
            <a:r>
              <a:rPr lang="en-US" dirty="0"/>
              <a:t>: Cost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tool</a:t>
            </a:r>
          </a:p>
          <a:p>
            <a:r>
              <a:rPr lang="en-US" dirty="0"/>
              <a:t>2 developers full time for customization and extension</a:t>
            </a:r>
          </a:p>
          <a:p>
            <a:r>
              <a:rPr lang="en-US" dirty="0"/>
              <a:t>A typical tester at </a:t>
            </a:r>
            <a:r>
              <a:rPr lang="en-US" dirty="0" err="1"/>
              <a:t>ebay</a:t>
            </a:r>
            <a:r>
              <a:rPr lang="en-US" dirty="0"/>
              <a:t> finds 10 bugs/week, 10% high priority</a:t>
            </a:r>
          </a:p>
          <a:p>
            <a:r>
              <a:rPr lang="en-US" dirty="0"/>
              <a:t>Sample bugs found with </a:t>
            </a:r>
            <a:r>
              <a:rPr lang="en-US" dirty="0" err="1"/>
              <a:t>Findbugs</a:t>
            </a:r>
            <a:r>
              <a:rPr lang="en-US" dirty="0"/>
              <a:t> for a comparison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252F0-D17C-4770-94A1-410BB905ADF8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391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Cost/benefit analysis</a:t>
            </a:r>
          </a:p>
        </p:txBody>
      </p:sp>
      <p:sp>
        <p:nvSpPr>
          <p:cNvPr id="7987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Cost/Benefit tradeoff</a:t>
            </a:r>
          </a:p>
          <a:p>
            <a:pPr lvl="1"/>
            <a:r>
              <a:rPr lang="en-US"/>
              <a:t>Benefit: How valuable is the bug?</a:t>
            </a:r>
          </a:p>
          <a:p>
            <a:pPr lvl="2"/>
            <a:r>
              <a:rPr lang="en-US"/>
              <a:t>How much does it cost if not found?</a:t>
            </a:r>
          </a:p>
          <a:p>
            <a:pPr lvl="2"/>
            <a:r>
              <a:rPr lang="en-US"/>
              <a:t>How expensive to find using testing/inspection?</a:t>
            </a:r>
          </a:p>
          <a:p>
            <a:pPr lvl="1"/>
            <a:r>
              <a:rPr lang="en-US"/>
              <a:t>Cost: How much did the analysis cost?</a:t>
            </a:r>
          </a:p>
          <a:p>
            <a:pPr lvl="2"/>
            <a:r>
              <a:rPr lang="en-US"/>
              <a:t>Effort spent running analysis, interpreting results – includes false positives</a:t>
            </a:r>
          </a:p>
          <a:p>
            <a:pPr lvl="2"/>
            <a:r>
              <a:rPr lang="en-US"/>
              <a:t>Effort spent finding remaining bugs (for unsound analysis)</a:t>
            </a:r>
          </a:p>
          <a:p>
            <a:r>
              <a:rPr lang="en-US"/>
              <a:t>Rule of thumb</a:t>
            </a:r>
          </a:p>
          <a:p>
            <a:pPr lvl="1"/>
            <a:r>
              <a:rPr lang="en-US"/>
              <a:t>For critical bugs that testing/inspection can’</a:t>
            </a:r>
            <a:r>
              <a:rPr lang="en-US" altLang="ja-JP"/>
              <a:t>t find, a sound analysis is worth it, as long as false positive rate is acceptable.</a:t>
            </a:r>
          </a:p>
          <a:p>
            <a:pPr lvl="1"/>
            <a:r>
              <a:rPr lang="en-US"/>
              <a:t>For other bugs, maximize engineer productivity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5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Ebay</a:t>
            </a:r>
            <a:r>
              <a:rPr lang="en-US" dirty="0"/>
              <a:t>: Combining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Program analysis coverage</a:t>
            </a:r>
          </a:p>
          <a:p>
            <a:pPr lvl="1"/>
            <a:r>
              <a:rPr lang="en-US" dirty="0"/>
              <a:t>Performance – High importance</a:t>
            </a:r>
          </a:p>
          <a:p>
            <a:pPr lvl="1"/>
            <a:r>
              <a:rPr lang="en-US" dirty="0"/>
              <a:t>Security – High</a:t>
            </a:r>
          </a:p>
          <a:p>
            <a:pPr lvl="1"/>
            <a:r>
              <a:rPr lang="en-US" dirty="0"/>
              <a:t>Global quality – High</a:t>
            </a:r>
          </a:p>
          <a:p>
            <a:pPr lvl="1"/>
            <a:r>
              <a:rPr lang="en-US" dirty="0"/>
              <a:t>Local quality – medium</a:t>
            </a:r>
          </a:p>
          <a:p>
            <a:pPr lvl="1"/>
            <a:r>
              <a:rPr lang="en-US" dirty="0"/>
              <a:t>API/framework compliance – medium</a:t>
            </a:r>
          </a:p>
          <a:p>
            <a:pPr lvl="1"/>
            <a:r>
              <a:rPr lang="en-US" dirty="0"/>
              <a:t>Concurrency – low</a:t>
            </a:r>
          </a:p>
          <a:p>
            <a:pPr lvl="1"/>
            <a:r>
              <a:rPr lang="en-US" dirty="0"/>
              <a:t>Style and readability – low </a:t>
            </a:r>
          </a:p>
          <a:p>
            <a:r>
              <a:rPr lang="en-US" dirty="0"/>
              <a:t>Select appropriate tools and detectors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252F0-D17C-4770-94A1-410BB905ADF8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1679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Ebay</a:t>
            </a:r>
            <a:r>
              <a:rPr lang="en-US" dirty="0"/>
              <a:t>: Enforcement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Enforcement at dev/QA handoff:</a:t>
            </a:r>
          </a:p>
          <a:p>
            <a:r>
              <a:rPr lang="en-US" dirty="0"/>
              <a:t>Developers run FindBugs on desktop</a:t>
            </a:r>
          </a:p>
          <a:p>
            <a:r>
              <a:rPr lang="en-US" dirty="0"/>
              <a:t>QA runs FindBugs on receipt of code, posts results, require high-priority fixes.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252F0-D17C-4770-94A1-410BB905ADF8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4827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Ebay</a:t>
            </a:r>
            <a:r>
              <a:rPr lang="en-US" dirty="0"/>
              <a:t>: Continuous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Gather data on detected bugs and false positives</a:t>
            </a:r>
          </a:p>
          <a:p>
            <a:r>
              <a:rPr lang="en-US" dirty="0"/>
              <a:t>Present to developers, make case for tool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252F0-D17C-4770-94A1-410BB905ADF8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5325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Begin with early adopters in small team</a:t>
            </a:r>
          </a:p>
          <a:p>
            <a:r>
              <a:rPr lang="en-US" dirty="0"/>
              <a:t>Use these as champions in organization</a:t>
            </a:r>
          </a:p>
          <a:p>
            <a:endParaRPr lang="en-US" dirty="0"/>
          </a:p>
          <a:p>
            <a:r>
              <a:rPr lang="en-US" dirty="0"/>
              <a:t>Support team: answer questions, help with tool.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252F0-D17C-4770-94A1-410BB905ADF8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655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latin typeface="Arial" charset="0"/>
                <a:cs typeface="Arial" charset="0"/>
              </a:rPr>
              <a:t>Nortel study [</a:t>
            </a:r>
            <a:r>
              <a:rPr lang="en-US" sz="2800" dirty="0" err="1">
                <a:latin typeface="Arial" charset="0"/>
                <a:cs typeface="Arial" charset="0"/>
              </a:rPr>
              <a:t>Zheng</a:t>
            </a:r>
            <a:r>
              <a:rPr lang="en-US" sz="2800" dirty="0">
                <a:latin typeface="Arial" charset="0"/>
                <a:cs typeface="Arial" charset="0"/>
              </a:rPr>
              <a:t> et al. 2006]</a:t>
            </a: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3 C/C++ projects</a:t>
            </a: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3 million LOC total</a:t>
            </a: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Early generation static analysis tools</a:t>
            </a:r>
          </a:p>
          <a:p>
            <a:endParaRPr lang="en-US" sz="2800" dirty="0">
              <a:latin typeface="Arial" charset="0"/>
              <a:cs typeface="Arial" charset="0"/>
            </a:endParaRPr>
          </a:p>
          <a:p>
            <a:r>
              <a:rPr lang="en-US" sz="2800" dirty="0">
                <a:latin typeface="Arial" charset="0"/>
                <a:cs typeface="Arial" charset="0"/>
              </a:rPr>
              <a:t>Conclusions</a:t>
            </a: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Cost per fault of static analysis 61-72% compared to inspections</a:t>
            </a: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Effectively finds assignment, checking faults</a:t>
            </a: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Can be used to find potential security vulnerabilities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49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408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empirical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 err="1">
                <a:latin typeface="Arial" charset="0"/>
                <a:cs typeface="Arial" charset="0"/>
              </a:rPr>
              <a:t>InfoSys</a:t>
            </a:r>
            <a:r>
              <a:rPr lang="en-US" sz="2000" dirty="0">
                <a:latin typeface="Arial" charset="0"/>
                <a:cs typeface="Arial" charset="0"/>
              </a:rPr>
              <a:t> study [</a:t>
            </a:r>
            <a:r>
              <a:rPr lang="en-US" sz="2000" dirty="0" err="1">
                <a:latin typeface="Arial" charset="0"/>
                <a:cs typeface="Arial" charset="0"/>
              </a:rPr>
              <a:t>Chaturvedi</a:t>
            </a:r>
            <a:r>
              <a:rPr lang="en-US" sz="2000" dirty="0">
                <a:latin typeface="Arial" charset="0"/>
                <a:cs typeface="Arial" charset="0"/>
              </a:rPr>
              <a:t> 2005]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  <a:cs typeface="Arial" charset="0"/>
              </a:rPr>
              <a:t>5 projects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  <a:cs typeface="Arial" charset="0"/>
              </a:rPr>
              <a:t>Average 700 function points each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  <a:cs typeface="Arial" charset="0"/>
              </a:rPr>
              <a:t>Compare inspection with and without static analysis</a:t>
            </a:r>
          </a:p>
          <a:p>
            <a:pPr>
              <a:lnSpc>
                <a:spcPct val="90000"/>
              </a:lnSpc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  <a:cs typeface="Arial" charset="0"/>
              </a:rPr>
              <a:t>Conclusions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  <a:cs typeface="Arial" charset="0"/>
              </a:rPr>
              <a:t>Higher productivity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  <a:cs typeface="Arial" charset="0"/>
              </a:rPr>
              <a:t>Fewer defects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616" r="-23616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180D4-8266-3D4F-88DF-2E6B937E98FB}" type="slidenum">
              <a:rPr lang="en-US" smtClean="0"/>
              <a:t>50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105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test suite coverage computed?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time!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546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Learn about a program’s properties by executing it. </a:t>
            </a:r>
          </a:p>
          <a:p>
            <a:r>
              <a:rPr lang="en-US" dirty="0"/>
              <a:t>How can we learn about properties that are more interesting than “did this test pass”? (e.g., memory use).</a:t>
            </a:r>
          </a:p>
          <a:p>
            <a:r>
              <a:rPr lang="en-US" dirty="0"/>
              <a:t>Short answer: examine program state throughout execution by gathering additional information.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52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89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dynamic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Coverage</a:t>
            </a:r>
          </a:p>
          <a:p>
            <a:r>
              <a:rPr lang="en-US" dirty="0"/>
              <a:t>Performance</a:t>
            </a:r>
          </a:p>
          <a:p>
            <a:r>
              <a:rPr lang="en-US" dirty="0"/>
              <a:t>Memory usage</a:t>
            </a:r>
          </a:p>
          <a:p>
            <a:r>
              <a:rPr lang="en-US" dirty="0"/>
              <a:t>Security properties</a:t>
            </a:r>
          </a:p>
          <a:p>
            <a:r>
              <a:rPr lang="en-US" dirty="0"/>
              <a:t>Concurrency errors</a:t>
            </a:r>
          </a:p>
          <a:p>
            <a:r>
              <a:rPr lang="en-US" dirty="0"/>
              <a:t>Invariant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53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511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execution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Instrument at compile time</a:t>
            </a:r>
          </a:p>
          <a:p>
            <a:pPr lvl="1"/>
            <a:r>
              <a:rPr lang="en-US" dirty="0"/>
              <a:t>e.g., Aspects, logging</a:t>
            </a:r>
          </a:p>
          <a:p>
            <a:r>
              <a:rPr lang="en-US" dirty="0"/>
              <a:t>Run on a specialized VM, like </a:t>
            </a:r>
            <a:r>
              <a:rPr lang="en-US" dirty="0" err="1"/>
              <a:t>valgrind</a:t>
            </a:r>
            <a:endParaRPr lang="en-US" dirty="0"/>
          </a:p>
          <a:p>
            <a:r>
              <a:rPr lang="en-US" dirty="0"/>
              <a:t>Instrument or monitor at runtime</a:t>
            </a:r>
          </a:p>
          <a:p>
            <a:pPr lvl="1"/>
            <a:r>
              <a:rPr lang="en-US" dirty="0"/>
              <a:t>Also requires a special VM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VisualVM</a:t>
            </a:r>
            <a:r>
              <a:rPr lang="en-US" dirty="0"/>
              <a:t> (hooks into JVM using debug symbols to profile/monitor)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54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206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of those require a static pre-processing step, such as inserting logging statements!</a:t>
            </a:r>
          </a:p>
          <a:p>
            <a:r>
              <a:rPr lang="en-US" dirty="0"/>
              <a:t>It’s still a dynamic analysis, because you run the program, collect the info, and learn from that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55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460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of a dynamic analysis.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dirty="0"/>
              <a:t>Property of interest.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Information related to property of interest.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Mechanism for collecting that information from a program execution.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Test input data.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Mechanism for learning about the property of interest from the information you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56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428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is abstraction relevant to static analysis, again?</a:t>
            </a:r>
          </a:p>
          <a:p>
            <a:r>
              <a:rPr lang="en-US" b="1" dirty="0"/>
              <a:t>Dynamic analysis also requires abstraction.</a:t>
            </a:r>
          </a:p>
          <a:p>
            <a:r>
              <a:rPr lang="en-US" dirty="0"/>
              <a:t>You’re still focusing on a particular program property or type of information.</a:t>
            </a:r>
          </a:p>
          <a:p>
            <a:r>
              <a:rPr lang="en-US" b="1" dirty="0"/>
              <a:t>Abstracting parts of a trace of execution rather than the entire state space.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57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181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Challenges: Very input dependent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Good if you have </a:t>
            </a:r>
            <a:r>
              <a:rPr lang="en-US" dirty="0" err="1"/>
              <a:t>alots</a:t>
            </a:r>
            <a:r>
              <a:rPr lang="en-US" dirty="0"/>
              <a:t> of tests! (system tests are also best)</a:t>
            </a:r>
          </a:p>
          <a:p>
            <a:r>
              <a:rPr lang="en-US" dirty="0"/>
              <a:t>Are those tests indicative of common behavior? </a:t>
            </a:r>
          </a:p>
          <a:p>
            <a:pPr lvl="1"/>
            <a:r>
              <a:rPr lang="en-US" dirty="0"/>
              <a:t>Is that what you want?</a:t>
            </a:r>
          </a:p>
          <a:p>
            <a:r>
              <a:rPr lang="en-US" dirty="0"/>
              <a:t>Can also use logs from live sessions (sometimes).</a:t>
            </a:r>
          </a:p>
          <a:p>
            <a:r>
              <a:rPr lang="en-US" dirty="0"/>
              <a:t>Or specific inputs that replicate specific defect scenarios (like memory leaks).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58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59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Challenges: </a:t>
            </a:r>
            <a:r>
              <a:rPr lang="en-US" dirty="0" err="1"/>
              <a:t>Heisenbuggy</a:t>
            </a:r>
            <a:r>
              <a:rPr lang="en-US" dirty="0"/>
              <a:t>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Instrumentation and monitoring can change the behavior of a program.</a:t>
            </a:r>
          </a:p>
          <a:p>
            <a:pPr lvl="1"/>
            <a:r>
              <a:rPr lang="en-US" dirty="0"/>
              <a:t>E.g., slowdown, overhead</a:t>
            </a:r>
          </a:p>
          <a:p>
            <a:r>
              <a:rPr lang="en-US" dirty="0"/>
              <a:t>Important question 1: can/should you deploy it live?  Or just for debugging something specific?</a:t>
            </a:r>
          </a:p>
          <a:p>
            <a:r>
              <a:rPr lang="en-US" dirty="0"/>
              <a:t>Important question 2: will the monitoring meaningfully change the program behavior with respect to the property you care about?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59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652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 much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Logging events in large and/or long-running programs (even for just one property!) can result in HUGE amounts of data.</a:t>
            </a:r>
          </a:p>
          <a:p>
            <a:r>
              <a:rPr lang="en-US" dirty="0"/>
              <a:t>How do you process it?</a:t>
            </a:r>
          </a:p>
          <a:p>
            <a:pPr lvl="1"/>
            <a:r>
              <a:rPr lang="en-US" dirty="0"/>
              <a:t>Common strategy: 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60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11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over static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Precise data for a specific run.</a:t>
            </a:r>
          </a:p>
          <a:p>
            <a:r>
              <a:rPr lang="en-US" dirty="0"/>
              <a:t>No false positives or negatives on a </a:t>
            </a:r>
            <a:r>
              <a:rPr lang="en-US" b="1" dirty="0"/>
              <a:t>given </a:t>
            </a:r>
            <a:r>
              <a:rPr lang="en-US" dirty="0"/>
              <a:t>run.</a:t>
            </a:r>
          </a:p>
          <a:p>
            <a:r>
              <a:rPr lang="en-US" dirty="0"/>
              <a:t>No confusion about which path was taken; it’s clear where an error happened.</a:t>
            </a:r>
          </a:p>
          <a:p>
            <a:r>
              <a:rPr lang="en-US" dirty="0"/>
              <a:t>Can (often) use on live code.</a:t>
            </a:r>
          </a:p>
          <a:p>
            <a:pPr lvl="1"/>
            <a:r>
              <a:rPr lang="en-US" dirty="0"/>
              <a:t>Very common for security and data gathering.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61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737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analysis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Analyze code without executing it.</a:t>
            </a:r>
          </a:p>
          <a:p>
            <a:r>
              <a:rPr lang="en-US" dirty="0"/>
              <a:t>Systematically follow an abstraction.</a:t>
            </a:r>
          </a:p>
          <a:p>
            <a:r>
              <a:rPr lang="en-US" dirty="0"/>
              <a:t>Find bugs/enforce specifications/prove correctness.</a:t>
            </a:r>
          </a:p>
          <a:p>
            <a:r>
              <a:rPr lang="en-US" dirty="0"/>
              <a:t>Often correctness/security related.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Dynamic analysis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Analyze specific executions.</a:t>
            </a:r>
          </a:p>
          <a:p>
            <a:r>
              <a:rPr lang="en-US" dirty="0"/>
              <a:t>Instrument program, or use a special interpreter.</a:t>
            </a:r>
          </a:p>
          <a:p>
            <a:r>
              <a:rPr lang="en-US" dirty="0"/>
              <a:t>Abstract parts of the trace.</a:t>
            </a:r>
          </a:p>
          <a:p>
            <a:r>
              <a:rPr lang="en-US" dirty="0"/>
              <a:t>Find bugs/enforce stronger specifications/debugging/profiling.</a:t>
            </a:r>
          </a:p>
          <a:p>
            <a:r>
              <a:rPr lang="en-US" dirty="0"/>
              <a:t>Often memory/performance/concurrency/security related.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683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Really understand control- and data-flow analysis.</a:t>
            </a:r>
          </a:p>
          <a:p>
            <a:r>
              <a:rPr lang="en-US" dirty="0"/>
              <a:t>Receive a high-level introduction to more formal proving tools.</a:t>
            </a:r>
          </a:p>
          <a:p>
            <a:r>
              <a:rPr lang="en-US" dirty="0"/>
              <a:t>Develop evidence-based recommendations for how to deploy analysis tools in your project or organization.</a:t>
            </a:r>
          </a:p>
          <a:p>
            <a:r>
              <a:rPr lang="en-US" dirty="0"/>
              <a:t>Explain the parts of and how abstraction applies to dynamic analysis (lightning-fast!).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99241A-5FA5-4240-90B8-CE3893349020}" type="slidenum">
              <a:rPr lang="en-US" smtClean="0"/>
              <a:t>63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2015 (c) C. Le Goues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40426"/>
      </p:ext>
    </p:extLst>
  </p:cSld>
  <p:clrMapOvr>
    <a:masterClrMapping/>
  </p:clrMapOvr>
</p:sld>
</file>

<file path=ppt/theme/theme1.xml><?xml version="1.0" encoding="utf-8"?>
<a:theme xmlns:a="http://schemas.openxmlformats.org/drawingml/2006/main" name="claire-isr-theme">
  <a:themeElements>
    <a:clrScheme name="CMU">
      <a:dk1>
        <a:srgbClr val="424545"/>
      </a:dk1>
      <a:lt1>
        <a:sysClr val="window" lastClr="FFFFFF"/>
      </a:lt1>
      <a:dk2>
        <a:srgbClr val="990000"/>
      </a:dk2>
      <a:lt2>
        <a:srgbClr val="F3F0E9"/>
      </a:lt2>
      <a:accent1>
        <a:srgbClr val="674C56"/>
      </a:accent1>
      <a:accent2>
        <a:srgbClr val="7493A2"/>
      </a:accent2>
      <a:accent3>
        <a:srgbClr val="C1A562"/>
      </a:accent3>
      <a:accent4>
        <a:srgbClr val="936241"/>
      </a:accent4>
      <a:accent5>
        <a:srgbClr val="D17702"/>
      </a:accent5>
      <a:accent6>
        <a:srgbClr val="99993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claire-isr-theme.thmx</Template>
  <TotalTime>1741</TotalTime>
  <Words>4766</Words>
  <Application>Microsoft Macintosh PowerPoint</Application>
  <PresentationFormat>On-screen Show (4:3)</PresentationFormat>
  <Paragraphs>753</Paragraphs>
  <Slides>63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Arial</vt:lpstr>
      <vt:lpstr>Calibri</vt:lpstr>
      <vt:lpstr>Consolas</vt:lpstr>
      <vt:lpstr>Courier</vt:lpstr>
      <vt:lpstr>Courier New</vt:lpstr>
      <vt:lpstr>Times</vt:lpstr>
      <vt:lpstr>Verdana</vt:lpstr>
      <vt:lpstr>claire-isr-theme</vt:lpstr>
      <vt:lpstr>Static Analysis, part 2</vt:lpstr>
      <vt:lpstr>Learning goals</vt:lpstr>
      <vt:lpstr>Two fundamental concepts</vt:lpstr>
      <vt:lpstr>What is Static Analysis?</vt:lpstr>
      <vt:lpstr>Compare to testing, inspection</vt:lpstr>
      <vt:lpstr>Compare to testing, inspection</vt:lpstr>
      <vt:lpstr>Defects Static Analysis can Catch</vt:lpstr>
      <vt:lpstr>The Bad News: Rice's Theorem</vt:lpstr>
      <vt:lpstr>Results combined</vt:lpstr>
      <vt:lpstr>Results</vt:lpstr>
      <vt:lpstr>Continuum of formality</vt:lpstr>
      <vt:lpstr>Abstract Syntax Trees</vt:lpstr>
      <vt:lpstr>PowerPoint Presentation</vt:lpstr>
      <vt:lpstr>PowerPoint Presentation</vt:lpstr>
      <vt:lpstr>Abstraction</vt:lpstr>
      <vt:lpstr>Dataflow Analysis Example</vt:lpstr>
      <vt:lpstr>Applying Zero Analysis</vt:lpstr>
      <vt:lpstr>Applying Zero Analysis</vt:lpstr>
      <vt:lpstr>Termination</vt:lpstr>
      <vt:lpstr>Abstraction at Work</vt:lpstr>
      <vt:lpstr>Exercise time!</vt:lpstr>
      <vt:lpstr>In graph form…</vt:lpstr>
      <vt:lpstr>Null pointer analysis</vt:lpstr>
      <vt:lpstr>In graph form…</vt:lpstr>
      <vt:lpstr>Continuum of formality</vt:lpstr>
      <vt:lpstr>Model Checking</vt:lpstr>
      <vt:lpstr>Tools: SPIN Model Checker</vt:lpstr>
      <vt:lpstr>Tools: Microsoft SLAM</vt:lpstr>
      <vt:lpstr>Formal Reasoning: Hoare Logic</vt:lpstr>
      <vt:lpstr>Hoare Triples</vt:lpstr>
      <vt:lpstr>Hoare Logic</vt:lpstr>
      <vt:lpstr>Tools: ESC/Java</vt:lpstr>
      <vt:lpstr>Annotation Benefits</vt:lpstr>
      <vt:lpstr>Upshot: analysis as approximation</vt:lpstr>
      <vt:lpstr>Pseudo-summary: analysis is attribute-Specific</vt:lpstr>
      <vt:lpstr>Why do Static Analysis</vt:lpstr>
      <vt:lpstr>Quality assurance at Microsoft</vt:lpstr>
      <vt:lpstr>Impact at Microsoft</vt:lpstr>
      <vt:lpstr>Ebay: Prior Evaluations</vt:lpstr>
      <vt:lpstr>Ebay: Goals</vt:lpstr>
      <vt:lpstr>Ebay: Customization</vt:lpstr>
      <vt:lpstr>Ebay: Enforcement policy</vt:lpstr>
      <vt:lpstr>Ebay: Cost estimation</vt:lpstr>
      <vt:lpstr>Aside: Cost/benefit analysis</vt:lpstr>
      <vt:lpstr>Ebay: Combining tools</vt:lpstr>
      <vt:lpstr>Ebay: Enforcement</vt:lpstr>
      <vt:lpstr>Ebay: Continuous evaluation</vt:lpstr>
      <vt:lpstr>Incremental introduction</vt:lpstr>
      <vt:lpstr>Empirical results</vt:lpstr>
      <vt:lpstr>More empirical results</vt:lpstr>
      <vt:lpstr>How is test suite coverage computed?</vt:lpstr>
      <vt:lpstr>Dynamic analysis</vt:lpstr>
      <vt:lpstr>Common dynamic analysis</vt:lpstr>
      <vt:lpstr>Collecting execution info</vt:lpstr>
      <vt:lpstr>Quick note</vt:lpstr>
      <vt:lpstr>Parts of a dynamic analysis.</vt:lpstr>
      <vt:lpstr>Abstraction</vt:lpstr>
      <vt:lpstr>Challenges: Very input dependent</vt:lpstr>
      <vt:lpstr>Challenges: Heisenbuggy behavior</vt:lpstr>
      <vt:lpstr>Too much data</vt:lpstr>
      <vt:lpstr>Benefits over static analysis</vt:lpstr>
      <vt:lpstr>Comparison</vt:lpstr>
      <vt:lpstr>Learning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Claire Le Goues</dc:creator>
  <cp:lastModifiedBy>Duminda Wijesekera</cp:lastModifiedBy>
  <cp:revision>173</cp:revision>
  <dcterms:created xsi:type="dcterms:W3CDTF">2014-03-18T14:59:12Z</dcterms:created>
  <dcterms:modified xsi:type="dcterms:W3CDTF">2025-12-02T22:58:46Z</dcterms:modified>
</cp:coreProperties>
</file>