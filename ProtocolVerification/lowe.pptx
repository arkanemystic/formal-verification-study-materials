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3" r:id="rId3"/>
    <p:sldId id="274" r:id="rId4"/>
    <p:sldId id="275" r:id="rId5"/>
    <p:sldId id="276" r:id="rId6"/>
    <p:sldId id="277" r:id="rId7"/>
    <p:sldId id="257" r:id="rId8"/>
    <p:sldId id="258" r:id="rId9"/>
    <p:sldId id="260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81"/>
    <p:restoredTop sz="94268"/>
  </p:normalViewPr>
  <p:slideViewPr>
    <p:cSldViewPr>
      <p:cViewPr varScale="1">
        <p:scale>
          <a:sx n="70" d="100"/>
          <a:sy n="70" d="100"/>
        </p:scale>
        <p:origin x="11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0C8293-A5E5-B11C-AFE8-E83C443858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C40DE-FAA9-BE9C-5820-3E5FD067D9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5E0C09-51D0-6C4E-B87C-370E1C7C3D97}" type="datetimeFigureOut">
              <a:rPr lang="en-US" altLang="en-US"/>
              <a:pPr/>
              <a:t>12/29/25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92E14-BAB3-2089-DEF0-A2EC373345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848C9-C466-5D4A-2287-CC40E99F32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5626237-FACF-8448-98A0-99D14838E3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1CD9EED8-0787-CB13-5ECB-AFFC0CE637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9C77CF9-C03C-91F5-D3E7-00F37B4D7F5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4386CD9B-7C73-9FB1-4CD5-6543CF15E59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3B8B567A-8FCE-E686-A3C4-EF4C4C203EB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4D4EDB4D-BAF3-52B5-AC29-C19E4D5411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D0A5FB13-C000-AAD8-E846-B12DA98293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E9BF104-F667-7942-9103-521348BB1F5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2EC71F-C2F4-3932-51F3-E1B1630CFF0A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47E0417-CEDD-9E02-F1FD-EB00D1E2BDE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ED19F75-0B2C-92E5-D5DD-31B0532DA0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7033A8D-90ED-11DA-C704-7F70925129B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3B6C74-301B-7B76-FEA3-0D5485A4A9C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D85DD26E-11B0-6200-F7B4-B5EE3BF4CBF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3B6E55D3-9312-0AA2-4F0E-D023CDBEF96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85FF8042-348C-8C7B-A477-CFDD52C748D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563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63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268DEF5A-A7C3-A2BF-9103-3F66E61144B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A3A1FA81-A0C4-15AB-A7CA-7614200E99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D947AEB-E79C-C9E6-931C-12CDA1B93E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20DE27-8C96-324E-B9C2-D5455C1FA8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51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6BC8CE6-2275-B92A-C9B4-B50D01CB28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78D1013-5876-375A-3FB4-042744D234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4F05BE6-7232-7CBD-9426-5B45141972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1349AA-2862-9341-9558-520BBAE22E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1286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DEAA661-F9CD-11C6-5630-8C4F69A9F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B4C0A88-58C9-14F2-E317-735AE957B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F3D5F96-EDC0-A8EB-AF9E-9B686F115F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872D33-80D1-B146-ADE3-FE7C2231B6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69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218BFDA-1462-C2E9-CBC0-20490FFC4D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70F96F0-A22B-18E6-2FB4-E8E9961CDC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66CDEAE-72D8-5B97-56A2-D686143296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541ECC-085C-9840-B168-98B4E8FEFA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22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BE487495-14DA-25B9-E76F-2E507B04A7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7F3DC7C-1ADE-DDE4-96C1-6AE94A7672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104F7DB2-B3A7-EB5D-7FD7-678963523E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66102E-710B-EC47-82C3-EEFA415702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62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422C7766-5CB4-22EE-18E6-7EBF99ABE4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59B7929-FCB0-12A5-B7E4-EA4B5F7A7A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0C651749-48FF-4A4B-05DC-DF1D0A0328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B9465C-1DD1-7F4B-A146-2C42FD1601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855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9121A258-87C3-343F-E209-4C60653E08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E076AE97-060C-31CF-AAA0-C25EC8F749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B74D9403-6B0B-7052-5AFF-4C3B703270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D8CDD6-614C-CC4B-9ED1-2A5730CFC0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12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B4E1865-C03A-6DFA-7E58-47C4028F09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65284E3-A362-C8E4-046E-4EE5AC82E0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564ED921-3E88-575F-EBA1-65F5AE5048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F2D7B3-2311-9A44-B1B0-32F5691444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402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0C43E7E-0A32-B118-F857-DB2045153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2B1A09A-31C5-695E-99BB-32E27D4126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A5B3CF69-E22C-838F-C768-DBA63B364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8DF75F-0590-F94E-98DC-CDA85BA23C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34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C8CA41CF-FB91-EFF1-3967-31B6A01E15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D247D9C-CC9C-E6A0-0C39-06DA412DD5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835180F6-0887-132F-56DA-1E9A0CDC90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30AE06-D9C1-F940-A404-0462B8A5DE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2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D26FFEE-40E5-DB0F-F3B8-91E9AEDB50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E52360E-86A0-FA84-486D-BF663BCE35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6FDD7F93-E916-3BEE-D315-8DFE310F9D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0F6B6E-E496-F345-B77E-A7A90847E9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21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DB288804-2EED-DDA6-DEE9-AEA0ADF5659D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55299" name="Freeform 3">
              <a:extLst>
                <a:ext uri="{FF2B5EF4-FFF2-40B4-BE49-F238E27FC236}">
                  <a16:creationId xmlns:a16="http://schemas.microsoft.com/office/drawing/2014/main" id="{2C3ACA72-3EEF-2A62-7E59-FC24B59FA85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300" name="Freeform 4">
              <a:extLst>
                <a:ext uri="{FF2B5EF4-FFF2-40B4-BE49-F238E27FC236}">
                  <a16:creationId xmlns:a16="http://schemas.microsoft.com/office/drawing/2014/main" id="{3E0B166C-CD2F-6949-A1BC-9588008E26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301" name="Freeform 5">
              <a:extLst>
                <a:ext uri="{FF2B5EF4-FFF2-40B4-BE49-F238E27FC236}">
                  <a16:creationId xmlns:a16="http://schemas.microsoft.com/office/drawing/2014/main" id="{A68715F6-2953-BF43-9B31-B8196AD1040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302" name="Freeform 6">
              <a:extLst>
                <a:ext uri="{FF2B5EF4-FFF2-40B4-BE49-F238E27FC236}">
                  <a16:creationId xmlns:a16="http://schemas.microsoft.com/office/drawing/2014/main" id="{EF4971C9-2F17-6A4F-E5EB-EDF0C530AAE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36" name="Oval 7">
              <a:extLst>
                <a:ext uri="{FF2B5EF4-FFF2-40B4-BE49-F238E27FC236}">
                  <a16:creationId xmlns:a16="http://schemas.microsoft.com/office/drawing/2014/main" id="{1C93F099-5615-444C-846E-7539DC564C7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037" name="Oval 8">
              <a:extLst>
                <a:ext uri="{FF2B5EF4-FFF2-40B4-BE49-F238E27FC236}">
                  <a16:creationId xmlns:a16="http://schemas.microsoft.com/office/drawing/2014/main" id="{615F2B85-FF5C-7CF9-0D50-62AF6E0DAAD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038" name="Oval 9">
              <a:extLst>
                <a:ext uri="{FF2B5EF4-FFF2-40B4-BE49-F238E27FC236}">
                  <a16:creationId xmlns:a16="http://schemas.microsoft.com/office/drawing/2014/main" id="{D9E9DBB6-2565-99F8-710C-FE313A4DE50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55306" name="Rectangle 10">
            <a:extLst>
              <a:ext uri="{FF2B5EF4-FFF2-40B4-BE49-F238E27FC236}">
                <a16:creationId xmlns:a16="http://schemas.microsoft.com/office/drawing/2014/main" id="{810AD4BC-E404-8E85-C50F-B8A3532583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5307" name="Rectangle 11">
            <a:extLst>
              <a:ext uri="{FF2B5EF4-FFF2-40B4-BE49-F238E27FC236}">
                <a16:creationId xmlns:a16="http://schemas.microsoft.com/office/drawing/2014/main" id="{D8ED9B5C-7A2D-19B1-8DCA-3F8E3B4EB5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308" name="Rectangle 12">
            <a:extLst>
              <a:ext uri="{FF2B5EF4-FFF2-40B4-BE49-F238E27FC236}">
                <a16:creationId xmlns:a16="http://schemas.microsoft.com/office/drawing/2014/main" id="{4F2DEE9F-D5A7-2FC4-66B1-CC7200A501A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5309" name="Rectangle 13">
            <a:extLst>
              <a:ext uri="{FF2B5EF4-FFF2-40B4-BE49-F238E27FC236}">
                <a16:creationId xmlns:a16="http://schemas.microsoft.com/office/drawing/2014/main" id="{B4F6CEBA-1585-2866-C8CB-D899D6C980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5310" name="Rectangle 14">
            <a:extLst>
              <a:ext uri="{FF2B5EF4-FFF2-40B4-BE49-F238E27FC236}">
                <a16:creationId xmlns:a16="http://schemas.microsoft.com/office/drawing/2014/main" id="{FB3A895C-B883-86AC-31DB-4ECDCF80E7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D4C8EC5C-FB63-2E44-B887-6C58F74045D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1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ＭＳ Ｐゴシック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eb.comlab.ox.ac.uk/oucl/work/gavin.lowe/Publications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DE610352-AF33-4C45-DED0-774520F7200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22C3E2C-06AD-92A9-6D6F-D264FAAB64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0F75858-B55A-1890-49E6-A180DE124E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4A1D0F-3E4A-4245-9831-CB249F19A6C3}" type="slidenum">
              <a:rPr lang="en-US" altLang="en-US" sz="1000"/>
              <a:pPr/>
              <a:t>1</a:t>
            </a:fld>
            <a:endParaRPr lang="en-US" altLang="en-US" sz="100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89265542-B560-8DB3-CC45-9A93B2D172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14400"/>
            <a:ext cx="7772400" cy="1635369"/>
          </a:xfrm>
        </p:spPr>
        <p:txBody>
          <a:bodyPr/>
          <a:lstStyle/>
          <a:p>
            <a:pPr eaLnBrk="1" hangingPunct="1"/>
            <a:r>
              <a:rPr lang="en-US" sz="4400" dirty="0">
                <a:ea typeface="ＭＳ Ｐゴシック" pitchFamily="34" charset="-128"/>
              </a:rPr>
              <a:t>Part 1 of CYSE XYZ </a:t>
            </a:r>
            <a:br>
              <a:rPr lang="en-US" sz="2800" dirty="0">
                <a:ea typeface="ＭＳ Ｐゴシック" pitchFamily="34" charset="-128"/>
              </a:rPr>
            </a:br>
            <a:r>
              <a:rPr lang="en-US" altLang="en-US" sz="4400" dirty="0">
                <a:solidFill>
                  <a:srgbClr val="FFFF00"/>
                </a:solidFill>
                <a:ea typeface="ＭＳ Ｐゴシック" panose="020B0600070205080204" pitchFamily="34" charset="-128"/>
              </a:rPr>
              <a:t>Security Protocol Analysis</a:t>
            </a:r>
            <a:br>
              <a:rPr lang="en-US" altLang="en-US" sz="4400" dirty="0">
                <a:ea typeface="ＭＳ Ｐゴシック" panose="020B0600070205080204" pitchFamily="34" charset="-128"/>
              </a:rPr>
            </a:br>
            <a:endParaRPr lang="en-US" altLang="en-US" sz="4400" dirty="0">
              <a:ea typeface="ＭＳ Ｐゴシック" panose="020B0600070205080204" pitchFamily="34" charset="-12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2EE506-7B1C-E3D2-E778-6A6045334B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124200"/>
            <a:ext cx="7543800" cy="2514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>
                <a:ea typeface="ＭＳ Ｐゴシック" pitchFamily="34" charset="-128"/>
              </a:rPr>
              <a:t>Spring 2026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Duminda Wijesekera, Paulo Costa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Office Hours: Tu, R 3.00</a:t>
            </a:r>
            <a:r>
              <a:rPr lang="en-US" sz="2400" dirty="0">
                <a:ea typeface="ＭＳ Ｐゴシック" pitchFamily="34" charset="-128"/>
                <a:sym typeface="Wingdings" pitchFamily="2" charset="2"/>
              </a:rPr>
              <a:t> 4.00 and 7.30-8.00pm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  <a:sym typeface="Wingdings" pitchFamily="2" charset="2"/>
              </a:rPr>
              <a:t>Office Hour Room Vernon Smith 1305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  <a:sym typeface="Wingdings" pitchFamily="2" charset="2"/>
              </a:rPr>
              <a:t>Phone: 703-944-2961, email: dwijesek@gmu.edu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3FC0-CF86-7806-321C-5AA3E64F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9375"/>
            <a:ext cx="8229600" cy="113982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The Objective of 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CE03-F3BA-EC1F-ECB4-2F1E01A10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Detailed, formal model and analysis of protocols that use cryptographic material</a:t>
            </a:r>
          </a:p>
          <a:p>
            <a:pPr lvl="1"/>
            <a:r>
              <a:rPr lang="en-US" altLang="en-US" sz="2000" dirty="0">
                <a:solidFill>
                  <a:srgbClr val="3366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Not a class about cryptography!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 tools to specify the following: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“actors” </a:t>
            </a:r>
            <a:r>
              <a:rPr lang="en-US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Alice/Bob </a:t>
            </a:r>
            <a:r>
              <a:rPr lang="en-US" altLang="en-US" sz="2000" dirty="0">
                <a:ea typeface="ＭＳ Ｐゴシック" panose="020B0600070205080204" pitchFamily="34" charset="-128"/>
              </a:rPr>
              <a:t>(AKA clients, servers, etc.) and 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“mal-actors” </a:t>
            </a:r>
            <a:r>
              <a:rPr lang="en-US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Trudy</a:t>
            </a:r>
            <a:r>
              <a:rPr lang="en-US" altLang="en-US" sz="2000" dirty="0">
                <a:ea typeface="ＭＳ Ｐゴシック" panose="020B0600070205080204" pitchFamily="34" charset="-128"/>
              </a:rPr>
              <a:t> (AKA attackers)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“Objectives” (AKA security objectives)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tool will either 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Produce a proof that the protocol meets the security objective or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Produce a counter-example: </a:t>
            </a:r>
            <a:r>
              <a:rPr lang="en-US" altLang="en-US" sz="2000" dirty="0">
                <a:solidFill>
                  <a:srgbClr val="3366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A.k.a. find a successful attack!</a:t>
            </a:r>
          </a:p>
          <a:p>
            <a:pPr lvl="1"/>
            <a:r>
              <a:rPr lang="en-US" altLang="en-US" sz="2000" dirty="0">
                <a:solidFill>
                  <a:srgbClr val="3366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Hang due to resource limitations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EEE24-2B36-DE1E-C2FF-88460018E00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8E67-4B1D-1EE0-3C7E-42387758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67FCD-575B-8132-04A6-C81365DE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CA72CE8-6970-0E41-9747-CED745C1B253}" type="slidenum">
              <a:rPr lang="en-US" altLang="en-US" sz="1000"/>
              <a:pPr/>
              <a:t>2</a:t>
            </a:fld>
            <a:endParaRPr lang="en-US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3851-391A-78C3-7BE4-7F5D149E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Tools we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E60AE-B2EC-DD9E-5C47-6515F300D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CASPER: available from Oxford University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400">
                <a:ea typeface="ＭＳ Ｐゴシック" panose="020B0600070205080204" pitchFamily="34" charset="-128"/>
              </a:rPr>
              <a:t>http://www.cs.ox.ac.uk/gavin.lowe/Security/Casper/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FDR: available from Formal Methods Europe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ProVerif: Available from </a:t>
            </a:r>
            <a:r>
              <a:rPr lang="en-US" altLang="en-US" i="1">
                <a:ea typeface="ＭＳ Ｐゴシック" panose="020B0600070205080204" pitchFamily="34" charset="-128"/>
              </a:rPr>
              <a:t>www.</a:t>
            </a:r>
            <a:r>
              <a:rPr lang="en-US" altLang="en-US" b="1" i="1">
                <a:ea typeface="ＭＳ Ｐゴシック" panose="020B0600070205080204" pitchFamily="34" charset="-128"/>
              </a:rPr>
              <a:t>proverif</a:t>
            </a:r>
            <a:r>
              <a:rPr lang="en-US" altLang="en-US" i="1">
                <a:ea typeface="ＭＳ Ｐゴシック" panose="020B0600070205080204" pitchFamily="34" charset="-128"/>
              </a:rPr>
              <a:t>.ens.fr/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Will provide a package consisting of all the tools required for this class.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EDD0F-A13F-2FF0-3C87-F97109CC08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3A846-AC22-300B-C4D5-B49EDC51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CAA7D-C8D5-CFC2-8F9D-12CB0441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DE54AE-5F1A-8B41-9EDF-D7C3645A1458}" type="slidenum">
              <a:rPr lang="en-US" altLang="en-US" sz="1000"/>
              <a:pPr/>
              <a:t>3</a:t>
            </a:fld>
            <a:endParaRPr lang="en-US" alt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9F08-15DD-CD2A-02E9-3FC38F3A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1"/>
            <a:ext cx="8229600" cy="12652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Administration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29225-F5C3-8023-9CD6-083AFA6D5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Project for the first part: 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Every student will bring a protocol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The project will have the specification of the protocol and code for the endpoints, and either code or a description of an attack as given by ATT&amp;CK etc.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Each student will use </a:t>
            </a:r>
            <a:r>
              <a:rPr lang="en-US" altLang="en-US" dirty="0" err="1">
                <a:ea typeface="ＭＳ Ｐゴシック" panose="020B0600070205080204" pitchFamily="34" charset="-128"/>
              </a:rPr>
              <a:t>ProVerif</a:t>
            </a:r>
            <a:r>
              <a:rPr lang="en-US" altLang="en-US" dirty="0">
                <a:ea typeface="ＭＳ Ｐゴシック" panose="020B0600070205080204" pitchFamily="34" charset="-128"/>
              </a:rPr>
              <a:t> or </a:t>
            </a:r>
            <a:r>
              <a:rPr lang="en-US" altLang="en-US" dirty="0" err="1">
                <a:ea typeface="ＭＳ Ｐゴシック" panose="020B0600070205080204" pitchFamily="34" charset="-128"/>
              </a:rPr>
              <a:t>Cryptoverif</a:t>
            </a:r>
            <a:r>
              <a:rPr lang="en-US" altLang="en-US" dirty="0">
                <a:ea typeface="ＭＳ Ｐゴシック" panose="020B0600070205080204" pitchFamily="34" charset="-128"/>
              </a:rPr>
              <a:t> and (1) either prove the protocol secure or find the attack.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C0E45-EE6B-7F66-5213-0CD04FEEEA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B9BE6-4D6D-D162-E978-B60C9279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E1B6D-8964-630B-969A-3139072C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A8DA54C-517C-4E4E-A4D2-CC308899F7C4}" type="slidenum">
              <a:rPr lang="en-US" altLang="en-US" sz="1000"/>
              <a:pPr/>
              <a:t>4</a:t>
            </a:fld>
            <a:endParaRPr lang="en-US" alt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3BE5-3B6A-2EB9-616E-4F695A51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0E046-27E2-BA4A-86F8-6D49B814F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will use tools (TBD) </a:t>
            </a:r>
            <a:r>
              <a:rPr lang="en-US" dirty="0" err="1"/>
              <a:t>Roq</a:t>
            </a:r>
            <a:r>
              <a:rPr lang="en-US" dirty="0"/>
              <a:t> /Coq/ Why3 etc., to prove the the code for Alice and Bob are secure against potential attacks.</a:t>
            </a:r>
          </a:p>
          <a:p>
            <a:r>
              <a:rPr lang="en-US" dirty="0"/>
              <a:t>The class will be interactive in nature, and the instructors will explain the theory behind the tools</a:t>
            </a:r>
          </a:p>
          <a:p>
            <a:r>
              <a:rPr lang="en-US" dirty="0"/>
              <a:t>The students will use the tools to analyze their protocol.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4FE9B-18AC-7324-D3C7-5AE8774B8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5C40F-2B7A-D8A2-14C0-49771B27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58FDC-BAF2-CEA3-AD05-A492AA1B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49AA-2862-9341-9558-520BBAE22E4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10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D121-C9F2-661A-0F72-B254D423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4"/>
            <a:ext cx="8229600" cy="82391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Dolev</a:t>
            </a:r>
            <a:r>
              <a:rPr lang="en-US" dirty="0"/>
              <a:t>-Yao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31AD5-8633-D67F-BE82-BB8B46AD0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4911725"/>
          </a:xfrm>
        </p:spPr>
        <p:txBody>
          <a:bodyPr/>
          <a:lstStyle/>
          <a:p>
            <a:r>
              <a:rPr lang="en-US" altLang="en-US" sz="2400" dirty="0"/>
              <a:t>Inspired by a 1983 paper</a:t>
            </a:r>
          </a:p>
          <a:p>
            <a:pPr lvl="1"/>
            <a:r>
              <a:rPr lang="en-US" altLang="en-US" sz="2000" i="1" dirty="0"/>
              <a:t>D. </a:t>
            </a:r>
            <a:r>
              <a:rPr lang="en-US" altLang="en-US" sz="2000" i="1" dirty="0" err="1"/>
              <a:t>Dolev</a:t>
            </a:r>
            <a:r>
              <a:rPr lang="en-US" altLang="en-US" sz="2000" i="1" dirty="0"/>
              <a:t> and A. Yao. “On the security of public key protocols”. IEEE Transactions on Information Theory, 29(2):198-208.</a:t>
            </a:r>
          </a:p>
          <a:p>
            <a:r>
              <a:rPr lang="en-US" altLang="en-US" sz="2400" dirty="0"/>
              <a:t>Adversary is a nondeterministic process</a:t>
            </a:r>
          </a:p>
          <a:p>
            <a:pPr lvl="1"/>
            <a:r>
              <a:rPr lang="en-US" altLang="en-US" sz="2000" dirty="0"/>
              <a:t>Can read any message, decompose it into parts and re-assemble</a:t>
            </a:r>
          </a:p>
          <a:p>
            <a:pPr lvl="1"/>
            <a:r>
              <a:rPr lang="en-US" altLang="en-US" sz="2000" dirty="0"/>
              <a:t>Cannot gain partial knowledge, perform statistical tests, …</a:t>
            </a:r>
          </a:p>
          <a:p>
            <a:r>
              <a:rPr lang="en-US" altLang="en-US" sz="2400" dirty="0"/>
              <a:t>Black-box cryptography</a:t>
            </a:r>
          </a:p>
          <a:p>
            <a:pPr lvl="1"/>
            <a:r>
              <a:rPr lang="en-US" altLang="en-US" sz="2000" dirty="0"/>
              <a:t>Adversary can decrypt if and only if he knows the correct key</a:t>
            </a:r>
          </a:p>
          <a:p>
            <a:pPr lvl="1"/>
            <a:r>
              <a:rPr lang="en-US" altLang="en-US" sz="2000" dirty="0"/>
              <a:t>Assumes that cryptographic functions have no special properties</a:t>
            </a:r>
          </a:p>
          <a:p>
            <a:r>
              <a:rPr lang="en-US" altLang="en-US" sz="2400" dirty="0"/>
              <a:t>Most mechanized formal methods for security analysis use some version of this model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02404-7E53-AA47-6B50-19D4FB11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BB64E-E99E-F04B-1835-C1196EBE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D67DE-59B3-DF20-7CF1-99ED7368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49AA-2862-9341-9558-520BBAE22E45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7" name="Picture 1027">
            <a:extLst>
              <a:ext uri="{FF2B5EF4-FFF2-40B4-BE49-F238E27FC236}">
                <a16:creationId xmlns:a16="http://schemas.microsoft.com/office/drawing/2014/main" id="{DC79F29B-91BA-64D2-0CEB-D91558798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435" y="5183186"/>
            <a:ext cx="858837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26">
            <a:extLst>
              <a:ext uri="{FF2B5EF4-FFF2-40B4-BE49-F238E27FC236}">
                <a16:creationId xmlns:a16="http://schemas.microsoft.com/office/drawing/2014/main" id="{7A10CC0A-5C86-199A-8D7E-2170D1501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071" y="5183186"/>
            <a:ext cx="760412" cy="106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41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6A2CB-3F02-0260-6553-D771B0444A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7EE9D-A807-F7E7-8B61-CF2BDC33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CFA04-0CEA-2E50-CF50-AA9E6427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8B50F03-30D4-3141-A1C5-D7FF6BBD1AA0}" type="slidenum">
              <a:rPr lang="en-US" altLang="en-US" sz="1000"/>
              <a:pPr/>
              <a:t>7</a:t>
            </a:fld>
            <a:endParaRPr lang="en-US" altLang="en-US" sz="10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4A14E8B7-4944-3B26-6E31-6247E9768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What is Authentication?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9A1EB78F-BFD4-ED2F-CFF9-E8CE0DCD9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Publication:</a:t>
            </a:r>
            <a:r>
              <a:rPr lang="en-US" altLang="en-US" dirty="0">
                <a:ea typeface="ＭＳ Ｐゴシック" panose="020B0600070205080204" pitchFamily="34" charset="-128"/>
              </a:rPr>
              <a:t> A Hierarchy of Authentication Specifications by Gavin Lowe. Available at </a:t>
            </a:r>
            <a:r>
              <a:rPr lang="en-US" altLang="en-US" dirty="0">
                <a:ea typeface="ＭＳ Ｐゴシック" panose="020B0600070205080204" pitchFamily="34" charset="-128"/>
                <a:hlinkClick r:id="rId2"/>
              </a:rPr>
              <a:t>http://web.comlab.ox.ac.uk/oucl/work/gavin.lowe/Publications.html</a:t>
            </a:r>
            <a:r>
              <a:rPr lang="en-US" altLang="en-US" dirty="0">
                <a:ea typeface="ＭＳ Ｐゴシック" panose="020B0600070205080204" pitchFamily="34" charset="-128"/>
              </a:rPr>
              <a:t>,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Published in </a:t>
            </a:r>
            <a:r>
              <a:rPr lang="en-US" altLang="en-US" i="1" dirty="0">
                <a:ea typeface="ＭＳ Ｐゴシック" panose="020B0600070205080204" pitchFamily="34" charset="-128"/>
              </a:rPr>
              <a:t>Proceedings of 10th IEEE Computer Security Foundations Workshop</a:t>
            </a:r>
            <a:r>
              <a:rPr lang="en-US" altLang="en-US" dirty="0">
                <a:ea typeface="ＭＳ Ｐゴシック" panose="020B0600070205080204" pitchFamily="34" charset="-128"/>
              </a:rPr>
              <a:t>, 1997.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72959-5B2F-1808-E4DC-C919CE9AC3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CAB36-5B9B-9BAD-1A4D-95A15971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B43D4-8D5F-DD70-FD8B-CE795534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A19EB16-9B90-E141-97A4-40A297D60D35}" type="slidenum">
              <a:rPr lang="en-US" altLang="en-US" sz="1000"/>
              <a:pPr/>
              <a:t>8</a:t>
            </a:fld>
            <a:endParaRPr lang="en-US" altLang="en-US" sz="10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239A15CA-F20A-225B-8990-5E4F58067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Notations for Authentication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D8D993BB-7FD3-342C-3FD0-181B300C3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133600"/>
            <a:ext cx="8534400" cy="3997325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Initiator (A):</a:t>
            </a:r>
            <a:r>
              <a:rPr lang="en-US" altLang="en-US">
                <a:ea typeface="ＭＳ Ｐゴシック" panose="020B0600070205080204" pitchFamily="34" charset="-128"/>
              </a:rPr>
              <a:t> begins the protocol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Responder (B):</a:t>
            </a:r>
            <a:r>
              <a:rPr lang="en-US" altLang="en-US">
                <a:ea typeface="ＭＳ Ｐゴシック" panose="020B0600070205080204" pitchFamily="34" charset="-128"/>
              </a:rPr>
              <a:t> responds to the request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Attacker (C):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Agents:</a:t>
            </a:r>
            <a:r>
              <a:rPr lang="en-US" altLang="en-US">
                <a:ea typeface="ＭＳ Ｐゴシック" panose="020B0600070205080204" pitchFamily="34" charset="-128"/>
              </a:rPr>
              <a:t> initiator, responder, server, attacker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Role of an agent:</a:t>
            </a:r>
            <a:r>
              <a:rPr lang="en-US" altLang="en-US">
                <a:ea typeface="ＭＳ Ｐゴシック" panose="020B0600070205080204" pitchFamily="34" charset="-128"/>
              </a:rPr>
              <a:t> their function in the protocol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46BC7-7170-149E-BD64-0427D13BE7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DF22C-7449-0782-3329-6D83F556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FC253-38DE-382A-D1E4-6C00F7BD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88CD0B3-E18F-4449-AF56-3B23B55C6050}" type="slidenum">
              <a:rPr lang="en-US" altLang="en-US" sz="1000"/>
              <a:pPr/>
              <a:t>9</a:t>
            </a:fld>
            <a:endParaRPr lang="en-US" altLang="en-US" sz="10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23D7A0EF-C0AD-398F-0620-7F9F655B3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Agents and Roles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2F37CE2-8018-105C-CD25-24D1DF1E4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Char char="l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An agent may be an initiator in one protocol, a responder in another and a server or an attacker in a third.</a:t>
            </a:r>
          </a:p>
          <a:p>
            <a:pPr eaLnBrk="1" hangingPunct="1">
              <a:buFont typeface="Wingdings" charset="0"/>
              <a:buChar char="l"/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C477-3886-DA73-2279-A363F89AE6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195B8-2503-007E-AF80-E326DB5F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33B8C-D631-A29B-A996-C69656C9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AD34988-DC50-D342-845E-FD028C43DE4A}" type="slidenum">
              <a:rPr lang="en-US" altLang="en-US" sz="1000"/>
              <a:pPr/>
              <a:t>10</a:t>
            </a:fld>
            <a:endParaRPr lang="en-US" altLang="en-US" sz="10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4100A6B-542D-0DF7-733F-7E2DEF397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Many definitions of authentication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B88F684-9B3F-9205-2487-193C968EF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runs a protocol apparently with B</a:t>
            </a:r>
          </a:p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What can A deduce about B?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 has been running the same protocol?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That B thinks it is running the same protocol with A? (as opposed to some other C?)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Is there a one-to-one relationship between A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run and B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run?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Did A and B agree on some value of an attribute?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A2028-0923-0A23-8B3C-31A1B9BB73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C9A11-D202-BB25-13E9-5BCDF21F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8E3B6-D3BD-441D-1E37-505BD2E5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B43365-4998-664B-BE2C-A2AB250719E7}" type="slidenum">
              <a:rPr lang="en-US" altLang="en-US" sz="1000"/>
              <a:pPr/>
              <a:t>11</a:t>
            </a:fld>
            <a:endParaRPr lang="en-US" altLang="en-US" sz="10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3139743F-C2AA-1EE6-B85B-08A57E37DB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Aliveness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700CE1-C6F2-1955-3E2F-39666BB48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Weakest Version:</a:t>
            </a:r>
            <a:r>
              <a:rPr lang="en-US" altLang="en-US">
                <a:ea typeface="ＭＳ Ｐゴシック" panose="020B0600070205080204" pitchFamily="34" charset="-128"/>
              </a:rPr>
              <a:t> A protocol guarantees the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aliveness</a:t>
            </a:r>
            <a:r>
              <a:rPr lang="en-US" altLang="en-US">
                <a:ea typeface="ＭＳ Ｐゴシック" panose="020B0600070205080204" pitchFamily="34" charset="-128"/>
              </a:rPr>
              <a:t> of B to A, whenever A completes a run apparently with B, then B has been running a protocol previously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u="sng">
                <a:ea typeface="ＭＳ Ｐゴシック" panose="020B0600070205080204" pitchFamily="34" charset="-128"/>
              </a:rPr>
              <a:t>Notes: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B may not have believed that (s)he ran the same protocol with A.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Perhaps not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recently</a:t>
            </a:r>
            <a:r>
              <a:rPr lang="en-US" altLang="en-US">
                <a:ea typeface="ＭＳ Ｐゴシック" panose="020B0600070205080204" pitchFamily="34" charset="-128"/>
              </a:rPr>
              <a:t>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F4D74-BAC1-0EE1-5EC7-3F214A911F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6CC3-D3B0-B638-E34B-CEF66BB7F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D5000-3FC1-DDF7-A947-AACB57C20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EA08B3-C4C3-9542-B5F5-B2C02F4DD7B5}" type="slidenum">
              <a:rPr lang="en-US" altLang="en-US" sz="1000"/>
              <a:pPr/>
              <a:t>12</a:t>
            </a:fld>
            <a:endParaRPr lang="en-US" altLang="en-US" sz="1000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2A5A3F5C-83A5-38F0-1F56-4DF3BA776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Failures in achieving Aliveness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2A04702-E2A2-4FB8-075D-3C0E8038DA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intruder launches a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mirror attack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attacker runs two versions of the same protocol with A and uses data from the first to respond to the second.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Other attacks: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A completes a run, B was present but running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another/ same protocol</a:t>
            </a:r>
            <a:r>
              <a:rPr lang="en-US" altLang="en-US">
                <a:ea typeface="ＭＳ Ｐゴシック" panose="020B0600070205080204" pitchFamily="34" charset="-128"/>
              </a:rPr>
              <a:t> with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someone else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 was running a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different protocol</a:t>
            </a:r>
            <a:r>
              <a:rPr lang="en-US" altLang="en-US">
                <a:ea typeface="ＭＳ Ｐゴシック" panose="020B0600070205080204" pitchFamily="34" charset="-128"/>
              </a:rPr>
              <a:t> with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63BB1-686E-26B0-B041-C6F16D9D673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E1088-14E5-23FB-DF99-3C6785360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D308-4DF0-51C1-993C-F06C35A6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3FE42D4-3CE2-E442-AC89-D1074250B362}" type="slidenum">
              <a:rPr lang="en-US" altLang="en-US" sz="1000"/>
              <a:pPr/>
              <a:t>13</a:t>
            </a:fld>
            <a:endParaRPr lang="en-US" altLang="en-US" sz="10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FF664C47-99BE-319F-360A-E037B6B54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Weak Agreement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5680E9A-D5B4-9D71-EEA7-9AEE84FB4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45307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protocol guarantees to A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week agreement</a:t>
            </a:r>
            <a:r>
              <a:rPr lang="en-US" altLang="en-US">
                <a:ea typeface="ＭＳ Ｐゴシック" panose="020B0600070205080204" pitchFamily="34" charset="-128"/>
              </a:rPr>
              <a:t> with B whenever A completes the run apparently with B, B has previously been running the protocol apparently with A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Notes: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 may not have participated necessarily as a responder!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32A1-9AA2-F793-14F3-C587D34689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33036-10A8-B5E8-C540-D3DAEC1B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40D5-5CCA-5893-7605-28A9CBCF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3D9598-F5B4-FC42-B837-451C82C79082}" type="slidenum">
              <a:rPr lang="en-US" altLang="en-US" sz="1000"/>
              <a:pPr/>
              <a:t>14</a:t>
            </a:fld>
            <a:endParaRPr lang="en-US" altLang="en-US" sz="10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8B25383C-9736-E5DB-32C3-4894CBA9F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Liveliness but not weak agreement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6044F643-844A-ED33-3BD1-DB453CDA7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Attacker imitates B to A by using B as an oracle –adopts B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identity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believes it is running the protocol with B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But B does not believe it is running protocol with A</a:t>
            </a:r>
          </a:p>
          <a:p>
            <a:pPr eaLnBrk="1" hangingPunct="1"/>
            <a:r>
              <a:rPr lang="en-US" altLang="en-US" u="sng">
                <a:ea typeface="ＭＳ Ｐゴシック" panose="020B0600070205080204" pitchFamily="34" charset="-128"/>
              </a:rPr>
              <a:t>Example:</a:t>
            </a:r>
            <a:r>
              <a:rPr lang="en-US" altLang="en-US">
                <a:ea typeface="ＭＳ Ｐゴシック" panose="020B0600070205080204" pitchFamily="34" charset="-128"/>
              </a:rPr>
              <a:t> Low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attack on Needham-Schroder protocol.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A147-6CA0-2EAD-75D4-787BECA126B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48793-D837-B3CF-B6FC-24DA53D3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8FB4F-F6A5-826F-CD74-7F140EEA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4435618-C480-044F-8BDF-0F7E4E5931E8}" type="slidenum">
              <a:rPr lang="en-US" altLang="en-US" sz="1000"/>
              <a:pPr/>
              <a:t>15</a:t>
            </a:fld>
            <a:endParaRPr lang="en-US" altLang="en-US" sz="10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3613B7CA-49F8-848C-43B2-0A8D10EB5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Non-injective agreement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F5914262-AF06-5BBD-0E60-797652F18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 has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non-injective</a:t>
            </a:r>
            <a:r>
              <a:rPr lang="en-US" altLang="en-US">
                <a:ea typeface="ＭＳ Ｐゴシック" panose="020B0600070205080204" pitchFamily="34" charset="-128"/>
              </a:rPr>
              <a:t> agreement with B on a set of data items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>
                <a:ea typeface="ＭＳ Ｐゴシック" panose="020B0600070205080204" pitchFamily="34" charset="-128"/>
              </a:rPr>
              <a:t> (a set of free variables) iff whenever A completes a protocol run apparently with B, the B has been previously running the protocol apparently with A,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B acts as a responder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 and B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agree </a:t>
            </a:r>
            <a:r>
              <a:rPr lang="en-US" altLang="en-US">
                <a:ea typeface="ＭＳ Ｐゴシック" panose="020B0600070205080204" pitchFamily="34" charset="-128"/>
              </a:rPr>
              <a:t>to all data values corresponds to variables in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017EB-5D11-3465-E46E-45932248A7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696FB-2C1B-24AA-2D26-6D2F13E69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18422-3160-472B-2910-BA797C17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6097E04-8339-0F40-9479-1EAD39E5112A}" type="slidenum">
              <a:rPr lang="en-US" altLang="en-US" sz="1000"/>
              <a:pPr/>
              <a:t>16</a:t>
            </a:fld>
            <a:endParaRPr lang="en-US" altLang="en-US" sz="10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E70FEF84-7D8F-36DC-CF7C-32FBDB60E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(injective) Agreement 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635E3E0F-D701-6039-C7DB-FCA485D06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A protocol guarantees to A an agreement with B on a set of data items </a:t>
            </a:r>
            <a:r>
              <a:rPr lang="en-US" alt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 sz="2800">
                <a:ea typeface="ＭＳ Ｐゴシック" panose="020B0600070205080204" pitchFamily="34" charset="-128"/>
              </a:rPr>
              <a:t> iff whenever A completes a run apparently with B, then B as a responder has previously ran a protocol apparently with A and 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The two agents agreed on the data value corresponding to all variables in </a:t>
            </a:r>
            <a:r>
              <a:rPr lang="en-US" alt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Each run</a:t>
            </a:r>
            <a:r>
              <a:rPr lang="en-US" altLang="en-US" sz="2800">
                <a:ea typeface="ＭＳ Ｐゴシック" panose="020B0600070205080204" pitchFamily="34" charset="-128"/>
              </a:rPr>
              <a:t> of A corresponds to a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unique run</a:t>
            </a:r>
            <a:r>
              <a:rPr lang="en-US" altLang="en-US" sz="2800">
                <a:ea typeface="ＭＳ Ｐゴシック" panose="020B0600070205080204" pitchFamily="34" charset="-128"/>
              </a:rPr>
              <a:t> of 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AB79F-6CA0-4AED-9DD2-818F0294C2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1906B-594A-82C3-1C07-B9B6506B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32AE3-C71F-9CE6-6C18-1E9B8187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6960CD-003A-5E43-B526-484E62EFBF22}" type="slidenum">
              <a:rPr lang="en-US" altLang="en-US" sz="1000"/>
              <a:pPr/>
              <a:t>17</a:t>
            </a:fld>
            <a:endParaRPr lang="en-US" altLang="en-US" sz="100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C693CBAB-5DF7-1E94-7C0A-3370806FE7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382000" cy="1139825"/>
          </a:xfrm>
        </p:spPr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non-injective but non-full agreement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B237B234-803B-2C33-B155-E5CE0C086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Agent A is tricked into believing that B wants to establish two sessions with A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the original Kerberos protocol, the freshness was only guaranteed by a time stamp.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Did not check that all timestamps were different from previous 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2AF87-B2AC-F1ED-44A5-BE6E7C67C8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765AE-79DF-3EE0-48AB-26A32AD5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252AB-5A11-BA09-5756-D8B3F570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A00132-DB65-DC45-A275-23664F7DBBF9}" type="slidenum">
              <a:rPr lang="en-US" altLang="en-US" sz="1000"/>
              <a:pPr/>
              <a:t>18</a:t>
            </a:fld>
            <a:endParaRPr lang="en-US" altLang="en-US" sz="100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D74F5C96-3931-AEF1-9178-6D9D6FB78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Recentness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C41A375-AB87-A221-30AC-3E2E7A3618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307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What does recentness mean?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Usually, an implementation dependent timeout – orthogonal to previous definitions.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 we can have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recent aliveness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recent non-injective agreement</a:t>
            </a:r>
            <a:r>
              <a:rPr lang="en-US" altLang="en-US">
                <a:ea typeface="ＭＳ Ｐゴシック" panose="020B0600070205080204" pitchFamily="34" charset="-128"/>
              </a:rPr>
              <a:t> etc.</a:t>
            </a:r>
          </a:p>
          <a:p>
            <a:pPr eaLnBrk="1" hangingPunct="1"/>
            <a:r>
              <a:rPr lang="en-US" altLang="en-US" u="sng">
                <a:ea typeface="ＭＳ Ｐゴシック" panose="020B0600070205080204" pitchFamily="34" charset="-128"/>
              </a:rPr>
              <a:t>Example:</a:t>
            </a:r>
            <a:r>
              <a:rPr lang="en-US" altLang="en-US">
                <a:ea typeface="ＭＳ Ｐゴシック" panose="020B0600070205080204" pitchFamily="34" charset="-128"/>
              </a:rPr>
              <a:t> meeting on-injective agreement without being recent.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Message1: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 B : {A,k}</a:t>
            </a:r>
            <a:r>
              <a:rPr lang="en-US" altLang="en-US" baseline="-25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k_{AB}</a:t>
            </a:r>
            <a:endParaRPr lang="en-US" altLang="en-US" baseline="-2500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4754F-0512-7324-EBA0-BD79C0957D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C8969-048B-69E9-40C2-B85C97D6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25580-EF34-050F-59DA-9C0C2CB12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E29AD27-7543-6740-9B52-9A2DEB77A3B7}" type="slidenum">
              <a:rPr lang="en-US" altLang="en-US" sz="1000"/>
              <a:pPr/>
              <a:t>19</a:t>
            </a:fld>
            <a:endParaRPr lang="en-US" altLang="en-US" sz="10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706BBEED-8461-1C02-3E2D-2A11E32C6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Intensional Specifications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98F7279E-82CF-1F3B-9CDB-F729E9C4E1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Bill Roscoe</a:t>
            </a:r>
            <a:r>
              <a:rPr lang="ja-JP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s:</a:t>
            </a:r>
            <a:r>
              <a:rPr lang="en-US" altLang="ja-JP"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 node can believe a protocol run has completed unless a correct series of messages have occurred  up to and including the last</a:t>
            </a:r>
          </a:p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Stronger than full agreement!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A runs a protocol apparently with B, then A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version of the run must agree with that of B, including data values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Hence full agreement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C683F-417A-D257-9BEC-B41DD63DF2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4131E-7139-E99C-AB7D-74934563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8395-AE9C-18B3-76C6-AD8E7C6A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D7E74C7-CC56-A147-A6F3-F0D7CBE169D6}" type="slidenum">
              <a:rPr lang="en-US" altLang="en-US" sz="1000"/>
              <a:pPr/>
              <a:t>20</a:t>
            </a:fld>
            <a:endParaRPr lang="en-US" altLang="en-US" sz="1000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9408782A-F846-7BE6-AE04-9BC9965A0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Intensional </a:t>
            </a:r>
            <a:r>
              <a:rPr lang="en-US" altLang="en-US">
                <a:latin typeface="Wingdings" pitchFamily="2" charset="2"/>
                <a:ea typeface="ＭＳ Ｐゴシック" panose="020B0600070205080204" pitchFamily="34" charset="-128"/>
                <a:sym typeface="Wingdings" pitchFamily="2" charset="2"/>
              </a:rPr>
              <a:t></a:t>
            </a:r>
            <a:r>
              <a:rPr lang="en-US" altLang="en-US">
                <a:ea typeface="ＭＳ Ｐゴシック" panose="020B0600070205080204" pitchFamily="34" charset="-128"/>
              </a:rPr>
              <a:t> full agreement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949510B-E0D7-2D61-93BE-C621B39C4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A receives encrypted message from B, passes to D.</a:t>
            </a:r>
          </a:p>
          <a:p>
            <a:pPr eaLnBrk="1" hangingPunct="1"/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Attacker:</a:t>
            </a:r>
            <a:r>
              <a:rPr lang="en-US" altLang="en-US" sz="2800">
                <a:ea typeface="ＭＳ Ｐゴシック" panose="020B0600070205080204" pitchFamily="34" charset="-128"/>
              </a:rPr>
              <a:t> replaces one encrypted message with another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Not an attack under full agreement, but under intensional correctness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Server sends message 1 and 2 in order. Attacker swaps them.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Not an attack under full agreement, but under intensional correctness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564C-69DE-4461-1872-8FE781CA40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052FB-3BF1-063D-A387-5604E37D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7688A-81F7-D16B-8E0F-06EF9CE7C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5A1E7EE-E860-DE44-B921-FAA2003C5094}" type="slidenum">
              <a:rPr lang="en-US" altLang="en-US" sz="1000"/>
              <a:pPr/>
              <a:t>21</a:t>
            </a:fld>
            <a:endParaRPr lang="en-US" altLang="en-US" sz="100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EFEB2482-2D14-0F92-2670-2F263AA77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Intensional does not guarantee recentness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BD23C31C-402A-8BBA-2823-58042327B7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Consider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Message1: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 B : {A,k}</a:t>
            </a:r>
            <a:r>
              <a:rPr lang="en-US" altLang="en-US" baseline="-25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k_{AB}</a:t>
            </a:r>
            <a:endParaRPr lang="en-US" altLang="en-US">
              <a:ea typeface="ＭＳ Ｐゴシック" panose="020B0600070205080204" pitchFamily="34" charset="-128"/>
              <a:sym typeface="Wingdings" pitchFamily="2" charset="2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Does not guarantee recentness but is intensionally correct!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Sometimes, recentness is indirectly guaranteed by ordering.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If second msg arrived then first must have.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Indirect timeout built into intensional correctness!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077B-A97B-D3EC-7131-18550DFE04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6823C-26DC-89D5-DD11-860BE1F09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1C8D4-66FF-1494-F12F-E17143C7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3CFE273-2A69-9A4D-9C99-B1A712375E3D}" type="slidenum">
              <a:rPr lang="en-US" altLang="en-US" sz="1000"/>
              <a:pPr/>
              <a:t>22</a:t>
            </a:fld>
            <a:endParaRPr lang="en-US" altLang="en-US" sz="1000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B1101E17-E8EB-7962-3F8D-B213CA124C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What is the point?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73289134-3FE5-4F04-D8CC-A59A8321B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Need to precisely specify the security objectives of the protocol.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That is, need to specify the security objectives in a formal language.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Need to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prove</a:t>
            </a:r>
            <a:r>
              <a:rPr lang="en-US" altLang="en-US">
                <a:ea typeface="ＭＳ Ｐゴシック" panose="020B0600070205080204" pitchFamily="34" charset="-128"/>
              </a:rPr>
              <a:t> that the protocol satisfy its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security objectives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Lowe used CSP to specify authentication goals.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Switch to an introduction to CSP.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345</TotalTime>
  <Words>1421</Words>
  <Application>Microsoft Macintosh PowerPoint</Application>
  <PresentationFormat>On-screen Show (4:3)</PresentationFormat>
  <Paragraphs>187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Wingdings</vt:lpstr>
      <vt:lpstr>Orbit</vt:lpstr>
      <vt:lpstr>Part 1 of CYSE XYZ  Security Protocol Analysis </vt:lpstr>
      <vt:lpstr>The Objective of this Class</vt:lpstr>
      <vt:lpstr>Tools we Use</vt:lpstr>
      <vt:lpstr>Administration of the Class</vt:lpstr>
      <vt:lpstr>Part 2 of the Class</vt:lpstr>
      <vt:lpstr>The Dolev-Yao Model</vt:lpstr>
      <vt:lpstr>What is Authentication?</vt:lpstr>
      <vt:lpstr>Notations for Authentication</vt:lpstr>
      <vt:lpstr>Agents and Roles</vt:lpstr>
      <vt:lpstr>Many definitions of authentication</vt:lpstr>
      <vt:lpstr>Aliveness</vt:lpstr>
      <vt:lpstr>Failures in achieving Aliveness</vt:lpstr>
      <vt:lpstr>Weak Agreement</vt:lpstr>
      <vt:lpstr>Liveliness but not weak agreement</vt:lpstr>
      <vt:lpstr>Non-injective agreement</vt:lpstr>
      <vt:lpstr>(injective) Agreement </vt:lpstr>
      <vt:lpstr>non-injective but non-full agreement</vt:lpstr>
      <vt:lpstr>Recentness</vt:lpstr>
      <vt:lpstr>Intensional Specifications</vt:lpstr>
      <vt:lpstr>Intensional  full agreement</vt:lpstr>
      <vt:lpstr>Intensional does not guarantee recentness</vt:lpstr>
      <vt:lpstr>What is the point?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Duminda Wijesekera</cp:lastModifiedBy>
  <cp:revision>87</cp:revision>
  <cp:lastPrinted>1601-01-01T00:00:00Z</cp:lastPrinted>
  <dcterms:created xsi:type="dcterms:W3CDTF">1601-01-01T00:00:00Z</dcterms:created>
  <dcterms:modified xsi:type="dcterms:W3CDTF">2025-12-29T21:39:51Z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