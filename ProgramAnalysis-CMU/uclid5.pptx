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444"/>
    <p:restoredTop sz="94268"/>
  </p:normalViewPr>
  <p:slideViewPr>
    <p:cSldViewPr snapToGrid="0">
      <p:cViewPr varScale="1">
        <p:scale>
          <a:sx n="58" d="100"/>
          <a:sy n="58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886C-3DCB-ED7C-E991-36824A5B5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2DAFBE-36DE-5531-ADC5-CD729DDD03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76F50-2AE5-2B3F-C112-8E0251FA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AC558-046D-2837-40BD-311DC436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83CB-E3CB-4A60-F95A-820A76191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2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3A29C-DBB2-C6EB-41E7-839E3A79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C52E4-B9C3-1CA6-0E54-F47A2BC7D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E7D48-2A18-2121-C91D-28AE35DFE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281AD-5C44-79B2-1F4D-12D474EB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E976E-CA90-3A44-3EBA-93510F07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2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1C3-06DF-6C8C-3130-C71E68E8F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6CC37-73FB-9171-1677-33147A3C9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8DCF7-1B2E-3418-1F19-42FC128F3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5DF48-BD00-84A2-06FB-AE54DDE10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21829-A06E-EE67-553D-146CD401A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73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FB858-941C-76A9-4E16-F1505F61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5EF1F-3EBF-760A-CD0C-B313803F8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0058D-F5F4-43B4-CFF4-64E34C7A9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D9D9E-C1A1-6CD8-7D08-7E778D77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DE603-8A97-893F-EBA5-FAFA20A2E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B833E-7548-2C83-B10B-83724F8E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72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7B782-2551-2F01-8148-843D0CC5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409BB0-5649-4907-1796-9E3496F1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BDA245-F8B8-A330-1A4F-C76BA7EF4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B95A8A-5695-7FC6-6D8B-B9EA17CC62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666073-F7DB-3381-96A1-E2242F27D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AD875-8975-E0EA-82DA-E0F7D388F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47D6B0-DD4E-C065-FAEE-EDED8351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1C6A4-BD06-0C58-5BD6-8729399B2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93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AD436-D8A5-3138-C5D0-CC73A8E1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51135A-C1FD-BE2B-EA6A-114CA108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B202A-7F0B-279D-97AC-3DCF82EF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74BD4-20F3-C4E1-E922-853C45D7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57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22D456-9C68-6D7A-9226-47832D79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9C9AC-4590-015E-19B1-709B4C14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35A7B-3471-235A-7FFE-188A0F866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9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0709-A7F1-419B-57AC-F2D9B44A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2EAAA-EDEE-7EBE-5127-0508E08A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EE406-83E7-C5CC-F63E-45379C775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7B1B38-8CCA-1FAC-580C-D047D163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0F48-CE78-03B8-8260-44821A616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1453E-F089-E682-C556-5BEA2BF02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6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8DDB7-310A-E37A-3D48-5F5E77AD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E2056-1C40-DC2E-1AAF-7A9FB60AB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4DEA6-7933-8B1F-1E72-570629125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6B38C-3A62-5AE3-233A-D52075FBC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EA770-C5F7-11ED-7C6B-3C6C371B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FE819-1230-1EB6-052B-4546615F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B80B-D276-4DE0-6798-21B7C4C8C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4CCDE9-FC75-5CA9-3EA2-F7ADD7160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5195C-E158-BDEF-5488-07151326D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627FC-8BD3-A705-1E00-3C93364E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A7151-1404-93A7-5DB3-EBB81977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15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323C9-317D-1A77-2C79-D493D27F93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4F71B-71F1-1120-44CF-C130FD2AB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29FF1-6D36-71D5-91C7-39C8D60A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EBC18-6704-5239-DC1F-3E404E2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67C7-6C24-D2C4-B3F8-F0165407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1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E7A3-2152-B445-96C3-B76EFE55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1090F-ED37-B74E-BC49-4A223D34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4A4A5-4E09-4AE3-9F2A-829CF4FA0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45C1E-102E-5C43-A67E-B7B60AD8966C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2A552-A51A-AAF1-BA28-FD1605543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638D1-82D8-B46C-90E3-E5AF8C1CB3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729F7-89BC-BA48-8307-4F0B6D02F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55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hyperlink" Target="https://en.wikipedia.org/wiki/Formal_languag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Source_code" TargetMode="External"/><Relationship Id="rId5" Type="http://schemas.openxmlformats.org/officeDocument/2006/relationships/hyperlink" Target="https://en.wikipedia.org/wiki/Abstract_syntax" TargetMode="External"/><Relationship Id="rId4" Type="http://schemas.openxmlformats.org/officeDocument/2006/relationships/hyperlink" Target="https://en.wikipedia.org/wiki/Tree_(data_structure)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sygus-org.github.io/language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-cs.stanford.edu/~preiner/publications/2022/BarbosaBBKLMMMN-TACAS22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uclid-org/trusted-abstract-platform/" TargetMode="Externa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E8F9-CC7F-C80A-F095-5AF30D31A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rgbClr val="FF0000"/>
                </a:solidFill>
              </a:rPr>
              <a:t>UCLID5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AFED9-CA0D-1D8F-E501-DD7C751A5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solidFill>
                  <a:srgbClr val="7030A0"/>
                </a:solidFill>
              </a:rPr>
              <a:t>Duminda Wijesekera</a:t>
            </a:r>
          </a:p>
          <a:p>
            <a:r>
              <a:rPr lang="en-US" sz="5400" dirty="0">
                <a:solidFill>
                  <a:srgbClr val="7030A0"/>
                </a:solidFill>
              </a:rPr>
              <a:t>CYSE 750, Spring 2026</a:t>
            </a:r>
          </a:p>
        </p:txBody>
      </p:sp>
    </p:spTree>
    <p:extLst>
      <p:ext uri="{BB962C8B-B14F-4D97-AF65-F5344CB8AC3E}">
        <p14:creationId xmlns:p14="http://schemas.microsoft.com/office/powerpoint/2010/main" val="40114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3CBA-5161-CE4F-B17C-B921E412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46" y="365125"/>
            <a:ext cx="10949354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80C49-3A83-A682-6895-271871646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446" y="1441938"/>
            <a:ext cx="11359662" cy="5050937"/>
          </a:xfrm>
        </p:spPr>
        <p:txBody>
          <a:bodyPr>
            <a:normAutofit/>
          </a:bodyPr>
          <a:lstStyle/>
          <a:p>
            <a:r>
              <a:rPr lang="en-US" sz="3600" dirty="0">
                <a:effectLst/>
              </a:rPr>
              <a:t>A tool for formal modeling of multi-modal systems, their verification,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and synthesis.</a:t>
            </a:r>
          </a:p>
          <a:p>
            <a:r>
              <a:rPr lang="en-US" sz="3600" dirty="0"/>
              <a:t>V</a:t>
            </a:r>
            <a:r>
              <a:rPr lang="en-US" sz="3600" dirty="0">
                <a:effectLst/>
              </a:rPr>
              <a:t>erification problems for heterogeneous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systems: such as combinations of hardware and software</a:t>
            </a:r>
          </a:p>
          <a:p>
            <a:r>
              <a:rPr lang="en-US" sz="3600" dirty="0"/>
              <a:t>U</a:t>
            </a:r>
            <a:r>
              <a:rPr lang="en-US" sz="3600" dirty="0">
                <a:effectLst/>
              </a:rPr>
              <a:t>se of syntax-guided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and inductive synthesis to automate steps in modeling and verification.</a:t>
            </a:r>
          </a:p>
          <a:p>
            <a:r>
              <a:rPr lang="en-US" sz="3900" dirty="0">
                <a:effectLst/>
              </a:rPr>
              <a:t>Suitable for security and cyber-physical systems (CPS)</a:t>
            </a:r>
          </a:p>
          <a:p>
            <a:r>
              <a:rPr lang="en-US" sz="3600" dirty="0"/>
              <a:t>Code available at: https://</a:t>
            </a:r>
            <a:r>
              <a:rPr lang="en-US" sz="3600" dirty="0" err="1"/>
              <a:t>github.com</a:t>
            </a:r>
            <a:r>
              <a:rPr lang="en-US" sz="3600" dirty="0"/>
              <a:t>/</a:t>
            </a:r>
            <a:r>
              <a:rPr lang="en-US" sz="3600" dirty="0" err="1"/>
              <a:t>uclid</a:t>
            </a:r>
            <a:r>
              <a:rPr lang="en-US" sz="3600" dirty="0"/>
              <a:t>-org/</a:t>
            </a:r>
            <a:r>
              <a:rPr lang="en-US" sz="3600" dirty="0" err="1"/>
              <a:t>uclid</a:t>
            </a:r>
            <a:endParaRPr lang="en-US" sz="36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448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593CD-2DE6-60E8-DB4C-C1B43C9E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55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More Explanations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49999-EA27-0620-8F3F-2D7F1A8F0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83678"/>
            <a:ext cx="10855569" cy="5209197"/>
          </a:xfrm>
        </p:spPr>
        <p:txBody>
          <a:bodyPr>
            <a:normAutofit lnSpcReduction="10000"/>
          </a:bodyPr>
          <a:lstStyle/>
          <a:p>
            <a:r>
              <a:rPr lang="en-US" sz="3900" dirty="0"/>
              <a:t>Multi Modal = </a:t>
            </a:r>
            <a:r>
              <a:rPr lang="en-US" sz="3900" dirty="0">
                <a:effectLst/>
              </a:rPr>
              <a:t>permits different modes of modeling</a:t>
            </a:r>
          </a:p>
          <a:p>
            <a:pPr lvl="1"/>
            <a:r>
              <a:rPr lang="en-US" sz="2800" dirty="0">
                <a:effectLst/>
              </a:rPr>
              <a:t>axiomatic and operational semantics</a:t>
            </a:r>
          </a:p>
          <a:p>
            <a:pPr lvl="1"/>
            <a:r>
              <a:rPr lang="en-US" sz="2800" dirty="0">
                <a:effectLst/>
              </a:rPr>
              <a:t>combinations of concurrent transition systems and procedural code</a:t>
            </a:r>
          </a:p>
          <a:p>
            <a:r>
              <a:rPr lang="en-US" sz="3600" dirty="0"/>
              <a:t>O</a:t>
            </a:r>
            <a:r>
              <a:rPr lang="en-US" sz="3600" dirty="0">
                <a:effectLst/>
              </a:rPr>
              <a:t>ffers a varied suite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of specification modes</a:t>
            </a:r>
          </a:p>
          <a:p>
            <a:pPr lvl="1"/>
            <a:r>
              <a:rPr lang="en-US" sz="3000" dirty="0"/>
              <a:t>F</a:t>
            </a:r>
            <a:r>
              <a:rPr lang="en-US" sz="3000" dirty="0">
                <a:effectLst/>
              </a:rPr>
              <a:t>irst-order formulas</a:t>
            </a:r>
          </a:p>
          <a:p>
            <a:pPr lvl="1"/>
            <a:r>
              <a:rPr lang="en-US" sz="3000" dirty="0"/>
              <a:t>C</a:t>
            </a:r>
            <a:r>
              <a:rPr lang="en-US" sz="3000" dirty="0">
                <a:effectLst/>
              </a:rPr>
              <a:t>ombination of logical theories,</a:t>
            </a:r>
          </a:p>
          <a:p>
            <a:pPr lvl="1"/>
            <a:r>
              <a:rPr lang="en-US" sz="3000" dirty="0"/>
              <a:t>T</a:t>
            </a:r>
            <a:r>
              <a:rPr lang="en-US" sz="3000" dirty="0">
                <a:effectLst/>
              </a:rPr>
              <a:t>emporal logic</a:t>
            </a:r>
          </a:p>
          <a:p>
            <a:pPr lvl="1"/>
            <a:r>
              <a:rPr lang="en-US" sz="3000" dirty="0"/>
              <a:t>I</a:t>
            </a:r>
            <a:r>
              <a:rPr lang="en-US" sz="3000" dirty="0">
                <a:effectLst/>
              </a:rPr>
              <a:t>nline assertions</a:t>
            </a:r>
          </a:p>
          <a:p>
            <a:pPr lvl="1"/>
            <a:r>
              <a:rPr lang="en-US" sz="3000" dirty="0"/>
              <a:t>P</a:t>
            </a:r>
            <a:r>
              <a:rPr lang="en-US" sz="3000" dirty="0">
                <a:effectLst/>
              </a:rPr>
              <a:t>re- and post-conditions</a:t>
            </a:r>
          </a:p>
          <a:p>
            <a:pPr lvl="1"/>
            <a:r>
              <a:rPr lang="en-US" sz="3000" dirty="0"/>
              <a:t>S</a:t>
            </a:r>
            <a:r>
              <a:rPr lang="en-US" sz="3000" dirty="0">
                <a:effectLst/>
              </a:rPr>
              <a:t>ystem invariants</a:t>
            </a:r>
          </a:p>
          <a:p>
            <a:pPr lvl="1"/>
            <a:r>
              <a:rPr lang="en-US" sz="3000" dirty="0">
                <a:effectLst/>
              </a:rPr>
              <a:t>Hyper-properties</a:t>
            </a:r>
          </a:p>
          <a:p>
            <a:pPr lvl="1"/>
            <a:endParaRPr lang="en-US" sz="3200" dirty="0">
              <a:effectLst/>
            </a:endParaRPr>
          </a:p>
          <a:p>
            <a:endParaRPr lang="en-US" dirty="0">
              <a:effectLst/>
            </a:endParaRPr>
          </a:p>
          <a:p>
            <a:pPr lvl="1"/>
            <a:endParaRPr lang="en-US" sz="32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718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7352-3E61-ADE3-896C-1763F152A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Verification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0B58C-906C-410C-69ED-666375242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>
                <a:effectLst/>
              </a:rPr>
              <a:t>Floyd-Hoare style proofs, </a:t>
            </a:r>
          </a:p>
          <a:p>
            <a:r>
              <a:rPr lang="en-US" sz="3600" dirty="0">
                <a:effectLst/>
              </a:rPr>
              <a:t>k-induction </a:t>
            </a:r>
          </a:p>
          <a:p>
            <a:r>
              <a:rPr lang="en-US" sz="3600" dirty="0"/>
              <a:t>B</a:t>
            </a:r>
            <a:r>
              <a:rPr lang="en-US" sz="3600" dirty="0">
                <a:effectLst/>
              </a:rPr>
              <a:t>ounded model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checking (BMC)</a:t>
            </a:r>
          </a:p>
          <a:p>
            <a:r>
              <a:rPr lang="en-US" sz="3600" dirty="0"/>
              <a:t>S</a:t>
            </a:r>
            <a:r>
              <a:rPr lang="en-US" sz="3600" dirty="0">
                <a:effectLst/>
              </a:rPr>
              <a:t>yntax-guided and inductive synthesis</a:t>
            </a:r>
          </a:p>
          <a:p>
            <a:r>
              <a:rPr lang="en-US" sz="3600" dirty="0"/>
              <a:t>Satisfiability Modulo Theories</a:t>
            </a:r>
          </a:p>
          <a:p>
            <a:r>
              <a:rPr lang="en-US" sz="3600" dirty="0">
                <a:effectLst/>
              </a:rPr>
              <a:t>Synthesis modulo oracles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72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23F2-DE2E-93F6-1798-1DBA8F4B3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Basic Questions Addressed by UCLID5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B1D8C-686B-B80F-7E87-DB209849E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789"/>
            <a:ext cx="10515600" cy="5082086"/>
          </a:xfrm>
        </p:spPr>
        <p:txBody>
          <a:bodyPr/>
          <a:lstStyle/>
          <a:p>
            <a:r>
              <a:rPr lang="en-US" sz="3600" dirty="0"/>
              <a:t>In verification Mode: </a:t>
            </a:r>
          </a:p>
          <a:p>
            <a:pPr lvl="1"/>
            <a:r>
              <a:rPr lang="en-US" sz="3000" dirty="0"/>
              <a:t>If</a:t>
            </a:r>
            <a:r>
              <a:rPr lang="en-US" sz="3000" dirty="0">
                <a:effectLst/>
              </a:rPr>
              <a:t> a model satisfies a given</a:t>
            </a:r>
            <a:r>
              <a:rPr lang="en-US" sz="3000" dirty="0"/>
              <a:t> </a:t>
            </a:r>
            <a:r>
              <a:rPr lang="en-US" sz="3000" dirty="0">
                <a:effectLst/>
              </a:rPr>
              <a:t>specification to a set of constraints that can be solved by an off-the-shelf SMT solver</a:t>
            </a:r>
          </a:p>
          <a:p>
            <a:r>
              <a:rPr lang="en-US" sz="3000" dirty="0"/>
              <a:t>In </a:t>
            </a:r>
            <a:r>
              <a:rPr lang="en-US" sz="3000" dirty="0">
                <a:effectLst/>
              </a:rPr>
              <a:t>synthesis mode: </a:t>
            </a:r>
          </a:p>
          <a:p>
            <a:pPr lvl="1"/>
            <a:r>
              <a:rPr lang="en-US" sz="3000" dirty="0"/>
              <a:t>R</a:t>
            </a:r>
            <a:r>
              <a:rPr lang="en-US" sz="3000" dirty="0">
                <a:effectLst/>
              </a:rPr>
              <a:t>educes the problem of finding an interpretation for an</a:t>
            </a:r>
            <a:r>
              <a:rPr lang="en-US" sz="3000" dirty="0"/>
              <a:t> </a:t>
            </a:r>
            <a:r>
              <a:rPr lang="en-US" sz="3000" dirty="0">
                <a:effectLst/>
              </a:rPr>
              <a:t>uninterpreted function such that </a:t>
            </a:r>
          </a:p>
          <a:p>
            <a:pPr lvl="1"/>
            <a:r>
              <a:rPr lang="en-US" sz="3000" dirty="0"/>
              <a:t>T</a:t>
            </a:r>
            <a:r>
              <a:rPr lang="en-US" sz="3000" dirty="0">
                <a:effectLst/>
              </a:rPr>
              <a:t>he specification is satisfied into a </a:t>
            </a:r>
            <a:r>
              <a:rPr lang="en-US" sz="3000" dirty="0" err="1">
                <a:effectLst/>
              </a:rPr>
              <a:t>SyGuS</a:t>
            </a:r>
            <a:r>
              <a:rPr lang="en-US" sz="3000" dirty="0">
                <a:effectLst/>
              </a:rPr>
              <a:t> problem that</a:t>
            </a:r>
            <a:r>
              <a:rPr lang="en-US" sz="3000" dirty="0"/>
              <a:t> </a:t>
            </a:r>
            <a:r>
              <a:rPr lang="en-US" sz="3000" dirty="0">
                <a:effectLst/>
              </a:rPr>
              <a:t>can be solved by an off-the-shelf </a:t>
            </a:r>
            <a:r>
              <a:rPr lang="en-US" sz="3000" dirty="0" err="1">
                <a:effectLst/>
              </a:rPr>
              <a:t>SyGuS</a:t>
            </a:r>
            <a:r>
              <a:rPr lang="en-US" sz="3000" dirty="0">
                <a:effectLst/>
              </a:rPr>
              <a:t> solver</a:t>
            </a:r>
          </a:p>
          <a:p>
            <a:r>
              <a:rPr lang="en-US" sz="3200" dirty="0"/>
              <a:t>Where </a:t>
            </a:r>
            <a:r>
              <a:rPr lang="en-US" sz="3200" dirty="0" err="1"/>
              <a:t>SyGuS</a:t>
            </a:r>
            <a:r>
              <a:rPr lang="en-US" sz="3200" dirty="0"/>
              <a:t> = </a:t>
            </a:r>
            <a:r>
              <a:rPr lang="en-US" sz="3600" dirty="0">
                <a:effectLst/>
              </a:rPr>
              <a:t>syntax-guided synthesis</a:t>
            </a:r>
          </a:p>
          <a:p>
            <a:endParaRPr lang="en-US" sz="32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sz="32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28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125A6-0FB3-1C07-330D-44F61E2E7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81" y="365125"/>
            <a:ext cx="10951319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UCLID5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4A9AD-E247-3620-D956-DC380C2BB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58" y="1690688"/>
            <a:ext cx="11419861" cy="423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60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D44F-D6C1-7339-FE79-78AC22736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5976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Architectural Component 1: Front End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D846-0233-979E-2EB9-FAE8328A6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Command-line front end: </a:t>
            </a:r>
          </a:p>
          <a:p>
            <a:pPr lvl="1"/>
            <a:r>
              <a:rPr lang="en-US" sz="2800" dirty="0"/>
              <a:t>Written in UCLID5 Language</a:t>
            </a:r>
          </a:p>
          <a:p>
            <a:r>
              <a:rPr lang="en-US" sz="3600" dirty="0"/>
              <a:t>Specifies:</a:t>
            </a:r>
          </a:p>
          <a:p>
            <a:pPr lvl="1"/>
            <a:r>
              <a:rPr lang="en-US" sz="2800" dirty="0"/>
              <a:t>Configurations</a:t>
            </a:r>
          </a:p>
          <a:p>
            <a:pPr lvl="1"/>
            <a:r>
              <a:rPr lang="en-US" sz="2800" dirty="0">
                <a:effectLst/>
              </a:rPr>
              <a:t>External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SMT-solver</a:t>
            </a:r>
            <a:r>
              <a:rPr lang="en-US" sz="2800" dirty="0"/>
              <a:t> or </a:t>
            </a:r>
            <a:r>
              <a:rPr lang="en-US" sz="2800" dirty="0" err="1">
                <a:effectLst/>
              </a:rPr>
              <a:t>SyGuS</a:t>
            </a:r>
            <a:r>
              <a:rPr lang="en-US" sz="2800" dirty="0">
                <a:effectLst/>
              </a:rPr>
              <a:t>-solver to be used,</a:t>
            </a:r>
          </a:p>
          <a:p>
            <a:pPr lvl="1"/>
            <a:r>
              <a:rPr lang="en-US" sz="2800" dirty="0"/>
              <a:t>U</a:t>
            </a:r>
            <a:r>
              <a:rPr lang="en-US" sz="2800" dirty="0">
                <a:effectLst/>
              </a:rPr>
              <a:t>tilities such as automatically</a:t>
            </a:r>
            <a:r>
              <a:rPr lang="en-US" sz="2800" dirty="0"/>
              <a:t> </a:t>
            </a:r>
            <a:r>
              <a:rPr lang="en-US" sz="2800" dirty="0">
                <a:effectLst/>
              </a:rPr>
              <a:t>converting uninterpreted functions to arrays</a:t>
            </a:r>
          </a:p>
          <a:p>
            <a:r>
              <a:rPr lang="en-US" sz="3200" dirty="0"/>
              <a:t>Output:</a:t>
            </a:r>
          </a:p>
          <a:p>
            <a:pPr lvl="1"/>
            <a:r>
              <a:rPr lang="en-US" sz="2800" dirty="0">
                <a:effectLst/>
              </a:rPr>
              <a:t>An </a:t>
            </a:r>
            <a:r>
              <a:rPr lang="en-US" sz="2800" dirty="0"/>
              <a:t>A</a:t>
            </a:r>
            <a:r>
              <a:rPr lang="en-US" sz="2800" dirty="0">
                <a:effectLst/>
              </a:rPr>
              <a:t>bstract Syntax Tree (AST)</a:t>
            </a:r>
          </a:p>
          <a:p>
            <a:pPr lvl="1"/>
            <a:endParaRPr lang="en-US" dirty="0">
              <a:effectLst/>
            </a:endParaRPr>
          </a:p>
          <a:p>
            <a:pPr lvl="1"/>
            <a:endParaRPr lang="en-US" dirty="0"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8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88AB-BA6A-DE3B-D70D-4D33C157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 from UCLID5 Docs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EA818-32D6-1E3C-A8EF-EAA906BDDB8C}"/>
              </a:ext>
            </a:extLst>
          </p:cNvPr>
          <p:cNvSpPr txBox="1"/>
          <p:nvPr/>
        </p:nvSpPr>
        <p:spPr>
          <a:xfrm>
            <a:off x="838200" y="1690688"/>
            <a:ext cx="80449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uclid</a:t>
            </a:r>
            <a:r>
              <a:rPr lang="en-US" dirty="0"/>
              <a:t> 0.9.5</a:t>
            </a:r>
          </a:p>
          <a:p>
            <a:r>
              <a:rPr lang="en-US" dirty="0"/>
              <a:t>Usage: </a:t>
            </a:r>
            <a:r>
              <a:rPr lang="en-US" dirty="0" err="1"/>
              <a:t>uclid</a:t>
            </a:r>
            <a:r>
              <a:rPr lang="en-US" dirty="0"/>
              <a:t> [options] &lt;file&gt; ...</a:t>
            </a:r>
          </a:p>
          <a:p>
            <a:endParaRPr lang="en-US" dirty="0"/>
          </a:p>
          <a:p>
            <a:r>
              <a:rPr lang="en-US" dirty="0"/>
              <a:t>  -m, --main &lt;Module&gt;      Name of the main module.</a:t>
            </a:r>
          </a:p>
          <a:p>
            <a:r>
              <a:rPr lang="en-US" dirty="0"/>
              <a:t>  -s, --solver &lt;</a:t>
            </a:r>
            <a:r>
              <a:rPr lang="en-US" dirty="0" err="1"/>
              <a:t>Cmd</a:t>
            </a:r>
            <a:r>
              <a:rPr lang="en-US" dirty="0"/>
              <a:t>&gt;       External SMT solver binary.</a:t>
            </a:r>
          </a:p>
          <a:p>
            <a:r>
              <a:rPr lang="en-US" dirty="0"/>
              <a:t>  -y, --synthesizer &lt;</a:t>
            </a:r>
            <a:r>
              <a:rPr lang="en-US" dirty="0" err="1"/>
              <a:t>Cmd</a:t>
            </a:r>
            <a:r>
              <a:rPr lang="en-US" dirty="0"/>
              <a:t>&gt;  Command line to invoke </a:t>
            </a:r>
            <a:r>
              <a:rPr lang="en-US" dirty="0" err="1"/>
              <a:t>SyGuS</a:t>
            </a:r>
            <a:r>
              <a:rPr lang="en-US" dirty="0"/>
              <a:t> synthesizer.</a:t>
            </a:r>
          </a:p>
          <a:p>
            <a:r>
              <a:rPr lang="en-US" dirty="0"/>
              <a:t>  -g, --</a:t>
            </a:r>
            <a:r>
              <a:rPr lang="en-US" dirty="0" err="1"/>
              <a:t>smt</a:t>
            </a:r>
            <a:r>
              <a:rPr lang="en-US" dirty="0"/>
              <a:t>-file-generation &lt;value&gt;</a:t>
            </a:r>
          </a:p>
          <a:p>
            <a:r>
              <a:rPr lang="en-US" dirty="0"/>
              <a:t>                           File prefix to generate </a:t>
            </a:r>
            <a:r>
              <a:rPr lang="en-US" dirty="0" err="1"/>
              <a:t>smt</a:t>
            </a:r>
            <a:r>
              <a:rPr lang="en-US" dirty="0"/>
              <a:t> files for each assertion.</a:t>
            </a:r>
          </a:p>
          <a:p>
            <a:r>
              <a:rPr lang="en-US" dirty="0"/>
              <a:t>  -X, --exception-stack-trace</a:t>
            </a:r>
          </a:p>
          <a:p>
            <a:r>
              <a:rPr lang="en-US" dirty="0"/>
              <a:t>                           Print exception stack trace.</a:t>
            </a:r>
          </a:p>
          <a:p>
            <a:r>
              <a:rPr lang="en-US" dirty="0"/>
              <a:t>  -f, --</a:t>
            </a:r>
            <a:r>
              <a:rPr lang="en-US" dirty="0" err="1"/>
              <a:t>sygus</a:t>
            </a:r>
            <a:r>
              <a:rPr lang="en-US" dirty="0"/>
              <a:t>-format       Generate the standard </a:t>
            </a:r>
            <a:r>
              <a:rPr lang="en-US" dirty="0" err="1"/>
              <a:t>SyGuS</a:t>
            </a:r>
            <a:r>
              <a:rPr lang="en-US" dirty="0"/>
              <a:t> format.</a:t>
            </a:r>
          </a:p>
          <a:p>
            <a:r>
              <a:rPr lang="en-US" dirty="0"/>
              <a:t>  -e, --</a:t>
            </a:r>
            <a:r>
              <a:rPr lang="en-US" dirty="0" err="1"/>
              <a:t>enum</a:t>
            </a:r>
            <a:r>
              <a:rPr lang="en-US" dirty="0"/>
              <a:t>-to-numeric    Enable conversion from </a:t>
            </a:r>
            <a:r>
              <a:rPr lang="en-US" dirty="0" err="1"/>
              <a:t>EnumType</a:t>
            </a:r>
            <a:r>
              <a:rPr lang="en-US" dirty="0"/>
              <a:t> to </a:t>
            </a:r>
            <a:r>
              <a:rPr lang="en-US" dirty="0" err="1"/>
              <a:t>NumericType</a:t>
            </a:r>
            <a:r>
              <a:rPr lang="en-US" dirty="0"/>
              <a:t>.</a:t>
            </a:r>
          </a:p>
          <a:p>
            <a:r>
              <a:rPr lang="en-US" dirty="0"/>
              <a:t>  -u, --</a:t>
            </a:r>
            <a:r>
              <a:rPr lang="en-US" dirty="0" err="1"/>
              <a:t>uf</a:t>
            </a:r>
            <a:r>
              <a:rPr lang="en-US" dirty="0"/>
              <a:t>-to-array        Enable conversion from Uninterpreted Functions to Arrays.</a:t>
            </a:r>
          </a:p>
          <a:p>
            <a:r>
              <a:rPr lang="en-US" dirty="0"/>
              <a:t>  -t, --test-</a:t>
            </a:r>
            <a:r>
              <a:rPr lang="en-US" dirty="0" err="1"/>
              <a:t>fixedpoint</a:t>
            </a:r>
            <a:r>
              <a:rPr lang="en-US" dirty="0"/>
              <a:t>    Test fixed point</a:t>
            </a:r>
          </a:p>
          <a:p>
            <a:r>
              <a:rPr lang="en-US" dirty="0"/>
              <a:t>  --help                   prints this usage text</a:t>
            </a:r>
          </a:p>
          <a:p>
            <a:r>
              <a:rPr lang="en-US" dirty="0"/>
              <a:t>  &lt;file&gt; ...               List of files to analyze.</a:t>
            </a:r>
          </a:p>
        </p:txBody>
      </p:sp>
    </p:spTree>
    <p:extLst>
      <p:ext uri="{BB962C8B-B14F-4D97-AF65-F5344CB8AC3E}">
        <p14:creationId xmlns:p14="http://schemas.microsoft.com/office/powerpoint/2010/main" val="177565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FD39-EDAC-7E25-3FA5-42A6F4AA2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92" y="39141"/>
            <a:ext cx="5972908" cy="121193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Abstract Syntax Tree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ADEDE9-D83F-4056-90F3-4F26FB64F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5632" y="97449"/>
            <a:ext cx="5565843" cy="627775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5A871A-AA54-D785-85B4-0E056E7ADAD0}"/>
              </a:ext>
            </a:extLst>
          </p:cNvPr>
          <p:cNvSpPr txBox="1"/>
          <p:nvPr/>
        </p:nvSpPr>
        <p:spPr>
          <a:xfrm>
            <a:off x="3323494" y="3956537"/>
            <a:ext cx="27725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8000"/>
                </a:solidFill>
                <a:effectLst/>
              </a:rPr>
              <a:t>while</a:t>
            </a:r>
            <a:r>
              <a:rPr lang="en-US" sz="3600" dirty="0"/>
              <a:t> b </a:t>
            </a:r>
            <a:r>
              <a:rPr lang="en-US" sz="3600" dirty="0">
                <a:solidFill>
                  <a:srgbClr val="666666"/>
                </a:solidFill>
                <a:effectLst/>
              </a:rPr>
              <a:t>!=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666666"/>
                </a:solidFill>
                <a:effectLst/>
              </a:rPr>
              <a:t>0:</a:t>
            </a:r>
            <a:r>
              <a:rPr lang="en-US" sz="3600" dirty="0"/>
              <a:t> </a:t>
            </a:r>
          </a:p>
          <a:p>
            <a:r>
              <a:rPr lang="en-US" sz="3600" b="1" dirty="0">
                <a:solidFill>
                  <a:srgbClr val="008000"/>
                </a:solidFill>
                <a:effectLst/>
              </a:rPr>
              <a:t>if</a:t>
            </a:r>
            <a:r>
              <a:rPr lang="en-US" sz="3600" dirty="0"/>
              <a:t> a </a:t>
            </a:r>
            <a:r>
              <a:rPr lang="en-US" sz="3600" dirty="0">
                <a:solidFill>
                  <a:srgbClr val="666666"/>
                </a:solidFill>
                <a:effectLst/>
              </a:rPr>
              <a:t>&gt;</a:t>
            </a:r>
            <a:r>
              <a:rPr lang="en-US" sz="3600" dirty="0"/>
              <a:t> b</a:t>
            </a:r>
            <a:r>
              <a:rPr lang="en-US" sz="3600" dirty="0">
                <a:solidFill>
                  <a:srgbClr val="666666"/>
                </a:solidFill>
                <a:effectLst/>
              </a:rPr>
              <a:t>:</a:t>
            </a:r>
            <a:r>
              <a:rPr lang="en-US" sz="3600" dirty="0"/>
              <a:t> </a:t>
            </a:r>
          </a:p>
          <a:p>
            <a:r>
              <a:rPr lang="en-US" sz="3600" dirty="0"/>
              <a:t>	a </a:t>
            </a:r>
            <a:r>
              <a:rPr lang="en-US" sz="3600" dirty="0">
                <a:solidFill>
                  <a:srgbClr val="666666"/>
                </a:solidFill>
                <a:effectLst/>
              </a:rPr>
              <a:t>:=</a:t>
            </a:r>
            <a:r>
              <a:rPr lang="en-US" sz="3600" dirty="0"/>
              <a:t> a </a:t>
            </a:r>
            <a:r>
              <a:rPr lang="en-US" sz="3600" dirty="0">
                <a:solidFill>
                  <a:srgbClr val="666666"/>
                </a:solidFill>
                <a:effectLst/>
              </a:rPr>
              <a:t>-</a:t>
            </a:r>
            <a:r>
              <a:rPr lang="en-US" sz="3600" dirty="0"/>
              <a:t> b </a:t>
            </a:r>
          </a:p>
          <a:p>
            <a:r>
              <a:rPr lang="en-US" sz="3600" b="1" dirty="0">
                <a:solidFill>
                  <a:srgbClr val="008000"/>
                </a:solidFill>
                <a:effectLst/>
              </a:rPr>
              <a:t>else</a:t>
            </a:r>
            <a:r>
              <a:rPr lang="en-US" sz="3600" dirty="0">
                <a:solidFill>
                  <a:srgbClr val="666666"/>
                </a:solidFill>
                <a:effectLst/>
              </a:rPr>
              <a:t>:</a:t>
            </a:r>
            <a:r>
              <a:rPr lang="en-US" sz="3600" dirty="0"/>
              <a:t> b </a:t>
            </a:r>
            <a:r>
              <a:rPr lang="en-US" sz="3600" dirty="0">
                <a:solidFill>
                  <a:srgbClr val="666666"/>
                </a:solidFill>
                <a:effectLst/>
              </a:rPr>
              <a:t>:=</a:t>
            </a:r>
            <a:r>
              <a:rPr lang="en-US" sz="3600" dirty="0"/>
              <a:t> b </a:t>
            </a:r>
            <a:r>
              <a:rPr lang="en-US" sz="3600" dirty="0">
                <a:solidFill>
                  <a:srgbClr val="666666"/>
                </a:solidFill>
                <a:effectLst/>
              </a:rPr>
              <a:t>-</a:t>
            </a:r>
            <a:r>
              <a:rPr lang="en-US" sz="3600" dirty="0"/>
              <a:t> a </a:t>
            </a:r>
          </a:p>
          <a:p>
            <a:r>
              <a:rPr lang="en-US" sz="3600" b="1" dirty="0">
                <a:solidFill>
                  <a:srgbClr val="008000"/>
                </a:solidFill>
                <a:effectLst/>
              </a:rPr>
              <a:t>return</a:t>
            </a:r>
            <a:r>
              <a:rPr lang="en-US" sz="3600" dirty="0"/>
              <a:t>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CDA3A5-9489-05FB-F529-4AC7C4E30947}"/>
              </a:ext>
            </a:extLst>
          </p:cNvPr>
          <p:cNvSpPr txBox="1"/>
          <p:nvPr/>
        </p:nvSpPr>
        <p:spPr>
          <a:xfrm>
            <a:off x="207771" y="1251073"/>
            <a:ext cx="597290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A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data structure used to represent the structure of a program or code snippet.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It is a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Tree (data structure)"/>
              </a:rPr>
              <a:t>tree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representation of the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Abstract syntax"/>
              </a:rPr>
              <a:t>abstract syntactic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structure of text (often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Source code"/>
              </a:rPr>
              <a:t>source code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 written in a </a:t>
            </a:r>
            <a:r>
              <a:rPr lang="en-US" sz="2400" b="0" i="0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Formal language"/>
              </a:rPr>
              <a:t>formal language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Each node of the tree denotes a construct occurring in the 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181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4DEFA-A58C-9AE5-0468-06034A09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47" y="365125"/>
            <a:ext cx="4040373" cy="1325563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SyGuS</a:t>
            </a:r>
            <a:r>
              <a:rPr lang="en-US" b="1" dirty="0">
                <a:solidFill>
                  <a:srgbClr val="FF0000"/>
                </a:solidFill>
              </a:rPr>
              <a:t>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00EBC-7E09-CB71-AB3A-24111F35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47" y="1825625"/>
            <a:ext cx="4040373" cy="4351338"/>
          </a:xfrm>
        </p:spPr>
        <p:txBody>
          <a:bodyPr/>
          <a:lstStyle/>
          <a:p>
            <a:r>
              <a:rPr lang="en-US" dirty="0"/>
              <a:t>A</a:t>
            </a:r>
            <a:r>
              <a:rPr lang="en-US" b="0" i="0" dirty="0">
                <a:effectLst/>
              </a:rPr>
              <a:t> standard language for specifying syntax-guided synthesis (</a:t>
            </a:r>
            <a:r>
              <a:rPr lang="en-US" b="0" i="0" dirty="0" err="1">
                <a:effectLst/>
              </a:rPr>
              <a:t>SyGuS</a:t>
            </a:r>
            <a:r>
              <a:rPr lang="en-US" b="0" i="0" dirty="0">
                <a:effectLst/>
              </a:rPr>
              <a:t>) problems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>
                <a:hlinkClick r:id="rId2"/>
              </a:rPr>
              <a:t>https://sygus-org.github.io/language/</a:t>
            </a:r>
            <a:endParaRPr lang="en-US" dirty="0"/>
          </a:p>
          <a:p>
            <a:r>
              <a:rPr lang="en-US" dirty="0"/>
              <a:t>Based on SMT Lib 2.0</a:t>
            </a:r>
          </a:p>
          <a:p>
            <a:r>
              <a:rPr lang="en-US" dirty="0"/>
              <a:t>Provides an example syntax for specifying max2(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4D48C-4FC7-8637-9B10-52E3AC586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169" y="365124"/>
            <a:ext cx="7695998" cy="614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428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BD12E-FAB9-B1E1-0EFB-4C7BBC12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Architectural Component 2: AST Passes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1B9A5-D382-F95D-FBDB-E618E5617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03498"/>
            <a:ext cx="10878879" cy="5089377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/>
              <a:t>Checks and transforms the AST</a:t>
            </a:r>
          </a:p>
          <a:p>
            <a:pPr lvl="1"/>
            <a:r>
              <a:rPr lang="en-US" sz="3200" dirty="0"/>
              <a:t>Type checks the AST</a:t>
            </a:r>
          </a:p>
          <a:p>
            <a:pPr lvl="1"/>
            <a:r>
              <a:rPr lang="en-US" sz="3200" dirty="0" err="1"/>
              <a:t>Inlining</a:t>
            </a:r>
            <a:r>
              <a:rPr lang="en-US" sz="3200" dirty="0"/>
              <a:t> procedures</a:t>
            </a:r>
          </a:p>
          <a:p>
            <a:r>
              <a:rPr lang="en-US" sz="3600" dirty="0"/>
              <a:t>Provides an intermediate representation with</a:t>
            </a:r>
          </a:p>
          <a:p>
            <a:pPr lvl="1"/>
            <a:r>
              <a:rPr lang="en-US" sz="3200" dirty="0"/>
              <a:t>Limited control flow such as:</a:t>
            </a:r>
          </a:p>
          <a:p>
            <a:pPr lvl="2"/>
            <a:r>
              <a:rPr lang="en-US" sz="2800" dirty="0"/>
              <a:t>If statements and switch cases</a:t>
            </a:r>
          </a:p>
          <a:p>
            <a:pPr lvl="2"/>
            <a:r>
              <a:rPr lang="en-US" sz="2800" dirty="0"/>
              <a:t>Loops not permitted: Removed using</a:t>
            </a:r>
          </a:p>
          <a:p>
            <a:pPr lvl="3"/>
            <a:r>
              <a:rPr lang="en-US" sz="2600" dirty="0"/>
              <a:t>Unrolling, </a:t>
            </a:r>
          </a:p>
          <a:p>
            <a:pPr lvl="3"/>
            <a:r>
              <a:rPr lang="en-US" sz="2600" dirty="0"/>
              <a:t>replacement with user provided invariants or </a:t>
            </a:r>
          </a:p>
          <a:p>
            <a:pPr lvl="1"/>
            <a:r>
              <a:rPr lang="en-US" sz="3200" dirty="0"/>
              <a:t>Unbounded control flow represented by a transition system</a:t>
            </a:r>
          </a:p>
          <a:p>
            <a:r>
              <a:rPr lang="en-US" sz="3600" dirty="0"/>
              <a:t>Every module has its own </a:t>
            </a:r>
          </a:p>
          <a:p>
            <a:pPr lvl="1"/>
            <a:r>
              <a:rPr lang="en-US" sz="3200" dirty="0"/>
              <a:t>AST</a:t>
            </a:r>
          </a:p>
          <a:p>
            <a:pPr lvl="1"/>
            <a:r>
              <a:rPr lang="en-US" sz="3200" dirty="0"/>
              <a:t>Transition system</a:t>
            </a:r>
          </a:p>
          <a:p>
            <a:pPr lvl="1"/>
            <a:endParaRPr lang="en-US" sz="3200" dirty="0"/>
          </a:p>
          <a:p>
            <a:endParaRPr lang="en-US" sz="3600" dirty="0"/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90287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2AEDA-72D5-FC0A-C0FA-59467556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447" y="365125"/>
            <a:ext cx="11355572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Architectural Component 3: Symbolic Simulator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16E2-B4E5-7D8E-38F4-22BC544C1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953" y="1825625"/>
            <a:ext cx="10994065" cy="4667250"/>
          </a:xfrm>
        </p:spPr>
        <p:txBody>
          <a:bodyPr>
            <a:normAutofit/>
          </a:bodyPr>
          <a:lstStyle/>
          <a:p>
            <a:r>
              <a:rPr lang="en-US" sz="3600" dirty="0"/>
              <a:t>S</a:t>
            </a:r>
            <a:r>
              <a:rPr lang="en-US" sz="3600" dirty="0">
                <a:effectLst/>
              </a:rPr>
              <a:t>imulation of the transition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system in the model, according to the verification command provided, </a:t>
            </a:r>
          </a:p>
          <a:p>
            <a:r>
              <a:rPr lang="en-US" sz="3600" dirty="0"/>
              <a:t>A</a:t>
            </a:r>
            <a:r>
              <a:rPr lang="en-US" sz="3600" dirty="0">
                <a:effectLst/>
              </a:rPr>
              <a:t>nd produces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a set of assertions.</a:t>
            </a:r>
          </a:p>
          <a:p>
            <a:r>
              <a:rPr lang="en-US" sz="3600" u="sng" dirty="0"/>
              <a:t>Example:</a:t>
            </a:r>
          </a:p>
          <a:p>
            <a:r>
              <a:rPr lang="en-US" sz="3600" dirty="0"/>
              <a:t>I</a:t>
            </a:r>
            <a:r>
              <a:rPr lang="en-US" sz="3600" dirty="0">
                <a:effectLst/>
              </a:rPr>
              <a:t>f bounded model checking is used,</a:t>
            </a:r>
          </a:p>
          <a:p>
            <a:pPr lvl="1"/>
            <a:r>
              <a:rPr lang="en-US" sz="3200" dirty="0"/>
              <a:t>Will run the main module bounded # of time</a:t>
            </a:r>
          </a:p>
          <a:p>
            <a:pPr lvl="1"/>
            <a:r>
              <a:rPr lang="en-US" sz="3200" dirty="0">
                <a:effectLst/>
              </a:rPr>
              <a:t>Record each violation independent verific</a:t>
            </a:r>
            <a:r>
              <a:rPr lang="en-US" sz="3200" dirty="0"/>
              <a:t>ation condition as an AST</a:t>
            </a:r>
            <a:endParaRPr lang="en-US" sz="3200" dirty="0">
              <a:effectLst/>
            </a:endParaRPr>
          </a:p>
          <a:p>
            <a:endParaRPr lang="en-US" sz="36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00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9543F-B82D-FA92-21AA-47211FD0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242" y="365125"/>
            <a:ext cx="11589487" cy="1325563"/>
          </a:xfrm>
        </p:spPr>
        <p:txBody>
          <a:bodyPr>
            <a:normAutofit fontScale="90000"/>
          </a:bodyPr>
          <a:lstStyle/>
          <a:p>
            <a:r>
              <a:rPr lang="en-US" sz="4900" b="1" dirty="0">
                <a:solidFill>
                  <a:srgbClr val="FF0000"/>
                </a:solidFill>
              </a:rPr>
              <a:t>Architectural Component 4: </a:t>
            </a:r>
            <a:r>
              <a:rPr lang="en-US" sz="4900" b="1" dirty="0">
                <a:solidFill>
                  <a:srgbClr val="FF0000"/>
                </a:solidFill>
                <a:effectLst/>
              </a:rPr>
              <a:t>Synth-Lib Interface</a:t>
            </a:r>
            <a:br>
              <a:rPr lang="en-US" dirty="0">
                <a:effectLst/>
                <a:latin typeface="Helvetica" pitchFamily="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E1926-271E-5421-CA04-6678BAE74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42" y="1233377"/>
            <a:ext cx="11398102" cy="544387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C</a:t>
            </a:r>
            <a:r>
              <a:rPr lang="en-US" sz="3600" dirty="0">
                <a:effectLst/>
              </a:rPr>
              <a:t>onstructs either </a:t>
            </a:r>
          </a:p>
          <a:p>
            <a:pPr lvl="1"/>
            <a:r>
              <a:rPr lang="en-US" sz="3200" dirty="0">
                <a:effectLst/>
              </a:rPr>
              <a:t>a verification or </a:t>
            </a:r>
          </a:p>
          <a:p>
            <a:pPr lvl="1"/>
            <a:r>
              <a:rPr lang="en-US" sz="3200" dirty="0">
                <a:effectLst/>
              </a:rPr>
              <a:t>a synthesis problem </a:t>
            </a:r>
          </a:p>
          <a:p>
            <a:r>
              <a:rPr lang="en-US" sz="3600" dirty="0"/>
              <a:t>F</a:t>
            </a:r>
            <a:r>
              <a:rPr lang="en-US" sz="3600" dirty="0">
                <a:effectLst/>
              </a:rPr>
              <a:t>rom the assertions generated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by the symbolic simulator</a:t>
            </a:r>
          </a:p>
          <a:p>
            <a:r>
              <a:rPr lang="en-US" sz="3600" dirty="0">
                <a:effectLst/>
              </a:rPr>
              <a:t>The verification problems are passed to the SMT-LIB</a:t>
            </a:r>
            <a:r>
              <a:rPr lang="en-US" sz="3600" dirty="0"/>
              <a:t> </a:t>
            </a:r>
            <a:r>
              <a:rPr lang="en-US" sz="3600" dirty="0">
                <a:effectLst/>
              </a:rPr>
              <a:t>interface</a:t>
            </a:r>
          </a:p>
          <a:p>
            <a:pPr lvl="1"/>
            <a:r>
              <a:rPr lang="en-US" sz="3200" dirty="0">
                <a:effectLst/>
              </a:rPr>
              <a:t>converts each assertion in UCLID5’s intermediate representation to an</a:t>
            </a:r>
            <a:r>
              <a:rPr lang="en-US" sz="3200" dirty="0"/>
              <a:t> </a:t>
            </a:r>
            <a:r>
              <a:rPr lang="en-US" sz="3200" dirty="0">
                <a:effectLst/>
              </a:rPr>
              <a:t>assertion in SMT-LIB</a:t>
            </a:r>
            <a:r>
              <a:rPr lang="en-US" sz="3200" i="1" dirty="0">
                <a:effectLst/>
                <a:latin typeface="Helvetica" pitchFamily="2" charset="0"/>
              </a:rPr>
              <a:t>.</a:t>
            </a:r>
          </a:p>
          <a:p>
            <a:r>
              <a:rPr lang="en-US" sz="3600" dirty="0"/>
              <a:t>S</a:t>
            </a:r>
            <a:r>
              <a:rPr lang="en-US" sz="3600" dirty="0">
                <a:effectLst/>
              </a:rPr>
              <a:t>ynthesis problems are passed to the </a:t>
            </a:r>
            <a:r>
              <a:rPr lang="en-US" sz="3600" dirty="0" err="1">
                <a:effectLst/>
              </a:rPr>
              <a:t>SyGuS</a:t>
            </a:r>
            <a:r>
              <a:rPr lang="en-US" sz="3600" dirty="0">
                <a:effectLst/>
              </a:rPr>
              <a:t>-IF interface,</a:t>
            </a:r>
          </a:p>
          <a:p>
            <a:pPr lvl="1"/>
            <a:r>
              <a:rPr lang="en-US" sz="3200" dirty="0">
                <a:effectLst/>
              </a:rPr>
              <a:t>converts each assertion to an assertion in </a:t>
            </a:r>
            <a:r>
              <a:rPr lang="en-US" sz="3200" dirty="0" err="1">
                <a:effectLst/>
              </a:rPr>
              <a:t>SyGuS</a:t>
            </a:r>
            <a:r>
              <a:rPr lang="en-US" sz="3200" dirty="0">
                <a:effectLst/>
              </a:rPr>
              <a:t>-IF</a:t>
            </a:r>
          </a:p>
          <a:p>
            <a:r>
              <a:rPr lang="en-US" sz="3900" dirty="0">
                <a:effectLst/>
              </a:rPr>
              <a:t>problems are then passed to the appropriate provided external solver and he result is reported back to the user.</a:t>
            </a:r>
            <a:endParaRPr lang="en-US" sz="3200" dirty="0">
              <a:effectLst/>
            </a:endParaRPr>
          </a:p>
          <a:p>
            <a:endParaRPr lang="en-US" sz="3600" dirty="0">
              <a:effectLst/>
              <a:latin typeface="Helvetica" pitchFamily="2" charset="0"/>
            </a:endParaRPr>
          </a:p>
          <a:p>
            <a:endParaRPr lang="en-US" sz="36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092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EF57-1B62-6912-C72F-6F2C5F78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10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Multimodal Verification and Synthesis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487F-E209-4963-F720-60E5760A1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5" y="1346200"/>
            <a:ext cx="11495315" cy="5146675"/>
          </a:xfrm>
        </p:spPr>
        <p:txBody>
          <a:bodyPr>
            <a:normAutofit/>
          </a:bodyPr>
          <a:lstStyle/>
          <a:p>
            <a:r>
              <a:rPr lang="en-US" sz="3600" dirty="0"/>
              <a:t>Common specification methods </a:t>
            </a:r>
          </a:p>
          <a:p>
            <a:pPr lvl="1"/>
            <a:r>
              <a:rPr lang="en-US" sz="3200" dirty="0"/>
              <a:t>Inline assertions, assumptions in sequential code </a:t>
            </a:r>
          </a:p>
          <a:p>
            <a:pPr lvl="1"/>
            <a:r>
              <a:rPr lang="en-US" sz="3200" dirty="0"/>
              <a:t>Pre-conditions and post conditions for procedure calls</a:t>
            </a:r>
          </a:p>
          <a:p>
            <a:pPr lvl="1"/>
            <a:r>
              <a:rPr lang="en-US" sz="3200" dirty="0"/>
              <a:t>Global axioms and temporal invariants in LTL</a:t>
            </a:r>
          </a:p>
          <a:p>
            <a:r>
              <a:rPr lang="en-US" sz="3600" dirty="0"/>
              <a:t>Hyper Properties (i.e. those valid over multiple invocations)</a:t>
            </a:r>
          </a:p>
          <a:p>
            <a:pPr lvl="1"/>
            <a:r>
              <a:rPr lang="en-US" sz="3200" dirty="0"/>
              <a:t>Language features: </a:t>
            </a:r>
          </a:p>
          <a:p>
            <a:pPr lvl="2"/>
            <a:r>
              <a:rPr lang="en-US" sz="2800" dirty="0" err="1"/>
              <a:t>Hyperaxiom</a:t>
            </a:r>
            <a:r>
              <a:rPr lang="en-US" sz="2800" dirty="0"/>
              <a:t>: Assumptions over multiple invocations of a module</a:t>
            </a:r>
          </a:p>
          <a:p>
            <a:pPr lvl="2"/>
            <a:r>
              <a:rPr lang="en-US" sz="2800" dirty="0"/>
              <a:t>Hyperinvariant: Invariant over multiple invocations of a module</a:t>
            </a:r>
          </a:p>
          <a:p>
            <a:r>
              <a:rPr lang="en-US" sz="3600" dirty="0"/>
              <a:t>Used mostly for k-safety</a:t>
            </a:r>
          </a:p>
          <a:p>
            <a:pPr lvl="1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78674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BF9E-1CF7-EA7C-8D77-FFE307FC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 Hyper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72C29-1840-21E6-0716-6A65B76CB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8800" cy="4351338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A variable from the </a:t>
            </a:r>
            <a:r>
              <a:rPr lang="en-US" sz="3600" dirty="0" err="1"/>
              <a:t>m</a:t>
            </a:r>
            <a:r>
              <a:rPr lang="en-US" sz="3600" baseline="30000" dirty="0" err="1"/>
              <a:t>th</a:t>
            </a:r>
            <a:r>
              <a:rPr lang="en-US" sz="3600" dirty="0"/>
              <a:t> invocation of the module = </a:t>
            </a:r>
            <a:r>
              <a:rPr lang="en-US" sz="3600" dirty="0" err="1"/>
              <a:t>x.m</a:t>
            </a:r>
            <a:endParaRPr lang="en-US" sz="3600" dirty="0"/>
          </a:p>
          <a:p>
            <a:r>
              <a:rPr lang="en-US" sz="3600" dirty="0"/>
              <a:t>The module can be invoked a maximum of n times</a:t>
            </a:r>
          </a:p>
          <a:p>
            <a:r>
              <a:rPr lang="en-US" sz="3600" dirty="0"/>
              <a:t>Hyperinvariant[2]: </a:t>
            </a:r>
            <a:r>
              <a:rPr lang="en-US" sz="3600" dirty="0" err="1">
                <a:effectLst/>
              </a:rPr>
              <a:t>det_y</a:t>
            </a:r>
            <a:r>
              <a:rPr lang="en-US" sz="3600" dirty="0"/>
              <a:t> is </a:t>
            </a:r>
            <a:r>
              <a:rPr lang="en-US" sz="3600" dirty="0">
                <a:effectLst/>
              </a:rPr>
              <a:t> y.1 == y.2</a:t>
            </a:r>
          </a:p>
          <a:p>
            <a:r>
              <a:rPr lang="en-US" sz="3600" dirty="0"/>
              <a:t>Available verification techniques:</a:t>
            </a:r>
          </a:p>
          <a:p>
            <a:pPr lvl="1"/>
            <a:r>
              <a:rPr lang="en-US" sz="3200" dirty="0">
                <a:effectLst/>
              </a:rPr>
              <a:t>Bounded Model Checking</a:t>
            </a:r>
          </a:p>
          <a:p>
            <a:pPr lvl="1"/>
            <a:r>
              <a:rPr lang="en-US" sz="3200" dirty="0"/>
              <a:t>Induction and k-induction</a:t>
            </a:r>
          </a:p>
          <a:p>
            <a:pPr lvl="1"/>
            <a:r>
              <a:rPr lang="en-US" sz="3200" dirty="0">
                <a:effectLst/>
              </a:rPr>
              <a:t>Pre-post conditions</a:t>
            </a:r>
          </a:p>
          <a:p>
            <a:r>
              <a:rPr lang="en-US" sz="3600" dirty="0"/>
              <a:t>Synthesis of hyper properties: next page</a:t>
            </a:r>
            <a:endParaRPr lang="en-US" sz="3600" dirty="0">
              <a:effectLst/>
            </a:endParaRP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464773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F19D-19BD-9E56-9B95-D95ABC13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42" y="365126"/>
            <a:ext cx="5418858" cy="78750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 UCLID5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351C52-97E0-5254-9F5E-2B3EEDA21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800" y="0"/>
            <a:ext cx="6028458" cy="683884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04FDE-7A9D-61BC-249E-28EC7ECF9A36}"/>
              </a:ext>
            </a:extLst>
          </p:cNvPr>
          <p:cNvSpPr txBox="1">
            <a:spLocks/>
          </p:cNvSpPr>
          <p:nvPr/>
        </p:nvSpPr>
        <p:spPr>
          <a:xfrm>
            <a:off x="473942" y="1152634"/>
            <a:ext cx="5418858" cy="534024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Objective: </a:t>
            </a:r>
            <a:r>
              <a:rPr lang="en-US" dirty="0"/>
              <a:t>(line 13)  prove </a:t>
            </a:r>
            <a:r>
              <a:rPr lang="en-US" dirty="0" err="1"/>
              <a:t>a_le_b</a:t>
            </a:r>
            <a:endParaRPr lang="en-US" dirty="0"/>
          </a:p>
          <a:p>
            <a:r>
              <a:rPr lang="en-US" dirty="0"/>
              <a:t>A non-inductive statement.</a:t>
            </a:r>
          </a:p>
          <a:p>
            <a:r>
              <a:rPr lang="en-US" b="1" dirty="0"/>
              <a:t>Normal Option: </a:t>
            </a:r>
            <a:r>
              <a:rPr lang="en-US" dirty="0"/>
              <a:t>a user can strengthen to an inductive claim</a:t>
            </a:r>
          </a:p>
          <a:p>
            <a:r>
              <a:rPr lang="en-US" u="sng" dirty="0"/>
              <a:t>UCLID5 can do this automatically!</a:t>
            </a:r>
          </a:p>
          <a:p>
            <a:r>
              <a:rPr lang="en-US" dirty="0"/>
              <a:t>Defined function </a:t>
            </a:r>
            <a:r>
              <a:rPr lang="en-US" b="1" dirty="0"/>
              <a:t>h </a:t>
            </a:r>
            <a:r>
              <a:rPr lang="en-US" dirty="0"/>
              <a:t>on lines 16-18</a:t>
            </a:r>
          </a:p>
          <a:p>
            <a:r>
              <a:rPr lang="en-US" dirty="0"/>
              <a:t>UCLID5 uses CVC (open SRC SMT) to generate an inductive assertion </a:t>
            </a:r>
          </a:p>
          <a:p>
            <a:pPr lvl="1"/>
            <a:r>
              <a:rPr lang="en-US" dirty="0"/>
              <a:t>(https://cvc5.github.io/)</a:t>
            </a:r>
          </a:p>
          <a:p>
            <a:pPr lvl="1"/>
            <a:r>
              <a:rPr lang="en-US" dirty="0"/>
              <a:t>CVC is an open source SMT solver</a:t>
            </a:r>
          </a:p>
          <a:p>
            <a:r>
              <a:rPr lang="en-US" sz="1800" dirty="0">
                <a:hlinkClick r:id="rId3"/>
              </a:rPr>
              <a:t>https://www-cs.stanford.edu/~preiner/publications/2022/BarbosaBBKLMMMN-TACAS22.pdf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69767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45D72-EB9F-ACC8-3BFC-205A5AC99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Multi-Modal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D3E4-2893-F307-C165-B05FB4DB3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766" y="1825625"/>
            <a:ext cx="10779034" cy="4667250"/>
          </a:xfrm>
        </p:spPr>
        <p:txBody>
          <a:bodyPr>
            <a:normAutofit/>
          </a:bodyPr>
          <a:lstStyle/>
          <a:p>
            <a:r>
              <a:rPr lang="en-US" sz="3600" dirty="0"/>
              <a:t>Allows modeling concurrent executions as transition systems that are triggered within code from a main module.</a:t>
            </a:r>
          </a:p>
          <a:p>
            <a:r>
              <a:rPr lang="en-US" sz="3600" dirty="0"/>
              <a:t>The example we use is an abstracted version of the execution of trusted programming module</a:t>
            </a:r>
          </a:p>
          <a:p>
            <a:r>
              <a:rPr lang="en-US" sz="3600" dirty="0"/>
              <a:t>Requires execution and memory isolation at the hardware levels</a:t>
            </a:r>
          </a:p>
          <a:p>
            <a:r>
              <a:rPr lang="en-US" sz="3600" dirty="0"/>
              <a:t>Hardware updates systems concurrently</a:t>
            </a:r>
          </a:p>
        </p:txBody>
      </p:sp>
    </p:spTree>
    <p:extLst>
      <p:ext uri="{BB962C8B-B14F-4D97-AF65-F5344CB8AC3E}">
        <p14:creationId xmlns:p14="http://schemas.microsoft.com/office/powerpoint/2010/main" val="600641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96EA9-35B9-F6DB-3572-144458A8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28" y="235132"/>
            <a:ext cx="3932237" cy="752294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TPM in UCLID5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D07C7-1B3C-2DBC-705A-AD9372155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4028" y="1201783"/>
            <a:ext cx="5074920" cy="5421085"/>
          </a:xfrm>
        </p:spPr>
        <p:txBody>
          <a:bodyPr>
            <a:normAutofit fontScale="3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Launch (line 8) is a procedure call.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The next block (L 13-23) automatically executes: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7400" dirty="0"/>
              <a:t>Untrusted adv op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7400" dirty="0"/>
              <a:t>Trusted enclave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Proving the integrity hyper-property: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Integrity specified across both modules (L 31-32)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Proof initialized L 35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7400" dirty="0"/>
              <a:t>Uses inductive model checking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000" dirty="0">
                <a:hlinkClick r:id="rId2"/>
              </a:rPr>
              <a:t>https://github.com/uclid-org/trusted-abstract-platform/</a:t>
            </a:r>
            <a:endParaRPr lang="en-US" sz="6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000" dirty="0"/>
              <a:t>Papers: listed on the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6000" dirty="0"/>
              <a:t>https://</a:t>
            </a:r>
            <a:r>
              <a:rPr lang="en-US" sz="6000" dirty="0" err="1"/>
              <a:t>github.com</a:t>
            </a:r>
            <a:r>
              <a:rPr lang="en-US" sz="6000" dirty="0"/>
              <a:t>/0tcb/TAP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r>
              <a:rPr lang="en-US" sz="32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EA89A-12BB-1575-AEA7-C4AD0F854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948" y="-1"/>
            <a:ext cx="6643052" cy="682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72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AC39-C8C1-B5A7-CB16-9DE480F88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Reasoning with External Oracles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A3776-A68D-C7B9-736E-09D228AEC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0789"/>
            <a:ext cx="10515600" cy="4766174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/>
              <a:t>Oracle function is a black box function provided without an implementation, but an externally  callable binary that can be quired by the solver</a:t>
            </a:r>
          </a:p>
          <a:p>
            <a:r>
              <a:rPr lang="en-US" sz="3600" dirty="0"/>
              <a:t>Why this? </a:t>
            </a:r>
          </a:p>
          <a:p>
            <a:pPr lvl="1"/>
            <a:r>
              <a:rPr lang="en-US" sz="2600" dirty="0"/>
              <a:t>Using non-linear arithmetic - so SMT is hard, or </a:t>
            </a:r>
          </a:p>
          <a:p>
            <a:pPr lvl="1"/>
            <a:r>
              <a:rPr lang="en-US" sz="2600" dirty="0"/>
              <a:t>Difficult to model an implementation</a:t>
            </a:r>
          </a:p>
          <a:p>
            <a:r>
              <a:rPr lang="en-US" sz="3600" dirty="0"/>
              <a:t>Oracle functions are declared like normal functions</a:t>
            </a:r>
          </a:p>
          <a:p>
            <a:pPr lvl="1"/>
            <a:r>
              <a:rPr lang="en-US" sz="2600" dirty="0">
                <a:effectLst/>
              </a:rPr>
              <a:t>Function [</a:t>
            </a:r>
            <a:r>
              <a:rPr lang="en-US" sz="2600" dirty="0" err="1">
                <a:effectLst/>
              </a:rPr>
              <a:t>isprime</a:t>
            </a:r>
            <a:r>
              <a:rPr lang="en-US" sz="2600" dirty="0">
                <a:effectLst/>
              </a:rPr>
              <a:t>] Prime (x: integer) : </a:t>
            </a:r>
            <a:r>
              <a:rPr lang="en-US" sz="2600" dirty="0" err="1">
                <a:effectLst/>
              </a:rPr>
              <a:t>boolean</a:t>
            </a:r>
            <a:endParaRPr lang="en-US" sz="2600" dirty="0">
              <a:effectLst/>
            </a:endParaRPr>
          </a:p>
          <a:p>
            <a:r>
              <a:rPr lang="en-US" sz="3600" dirty="0"/>
              <a:t>Translated into </a:t>
            </a:r>
          </a:p>
          <a:p>
            <a:pPr lvl="1"/>
            <a:r>
              <a:rPr lang="en-US" sz="2600" dirty="0">
                <a:effectLst/>
              </a:rPr>
              <a:t>Satisfiability Modulo Theories and Oracles (SMTO) or </a:t>
            </a:r>
          </a:p>
          <a:p>
            <a:pPr lvl="1"/>
            <a:r>
              <a:rPr lang="en-US" sz="2600" dirty="0">
                <a:effectLst/>
              </a:rPr>
              <a:t>Synthesis Modulo Oracles (</a:t>
            </a:r>
            <a:r>
              <a:rPr lang="en-US" sz="2600" dirty="0" err="1">
                <a:effectLst/>
              </a:rPr>
              <a:t>SyMO</a:t>
            </a:r>
            <a:r>
              <a:rPr lang="en-US" sz="2600" dirty="0">
                <a:effectLst/>
              </a:rPr>
              <a:t>)</a:t>
            </a:r>
          </a:p>
          <a:p>
            <a:pPr marL="457200" lvl="1" indent="0">
              <a:buNone/>
            </a:pPr>
            <a:endParaRPr lang="en-US" sz="2000" dirty="0">
              <a:effectLst/>
            </a:endParaRPr>
          </a:p>
          <a:p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742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C0F36-4E43-F4DF-76D6-C8C76DEEF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1" y="365125"/>
            <a:ext cx="11286308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Combining Operational and Axiomatic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18806-D65B-8A64-93A5-52223DB78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 axiomatic models, the system is specified as a set of properties over traces. Example – protocols</a:t>
            </a:r>
          </a:p>
          <a:p>
            <a:r>
              <a:rPr lang="en-US" sz="3600" dirty="0"/>
              <a:t>UCLID5 allows combining operational and axiomatic models.</a:t>
            </a:r>
          </a:p>
          <a:p>
            <a:r>
              <a:rPr lang="en-US" sz="2400" i="1" dirty="0">
                <a:effectLst/>
                <a:latin typeface="Helvetica" pitchFamily="2" charset="0"/>
              </a:rPr>
              <a:t> </a:t>
            </a:r>
            <a:r>
              <a:rPr lang="en-US" sz="3600" dirty="0" err="1">
                <a:effectLst/>
                <a:latin typeface="Symbol" pitchFamily="2" charset="2"/>
              </a:rPr>
              <a:t>m</a:t>
            </a:r>
            <a:r>
              <a:rPr lang="en-US" sz="3600" dirty="0" err="1"/>
              <a:t>S</a:t>
            </a:r>
            <a:r>
              <a:rPr lang="en-US" sz="3600" dirty="0" err="1">
                <a:effectLst/>
              </a:rPr>
              <a:t>pec</a:t>
            </a:r>
            <a:r>
              <a:rPr lang="en-US" sz="3600" dirty="0">
                <a:effectLst/>
              </a:rPr>
              <a:t> on next page specifies a microarchitectural execution</a:t>
            </a:r>
          </a:p>
          <a:p>
            <a:r>
              <a:rPr lang="en-US" sz="3600" dirty="0">
                <a:effectLst/>
              </a:rPr>
              <a:t>Uses operational and axiomatic models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42272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C956-6E3E-6A24-DE91-B2F6DF8CA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8" y="0"/>
            <a:ext cx="4510768" cy="1031966"/>
          </a:xfrm>
        </p:spPr>
        <p:txBody>
          <a:bodyPr>
            <a:normAutofit/>
          </a:bodyPr>
          <a:lstStyle/>
          <a:p>
            <a:r>
              <a:rPr lang="en-US" sz="4400" b="1" dirty="0" err="1">
                <a:solidFill>
                  <a:srgbClr val="FF0000"/>
                </a:solidFill>
                <a:effectLst/>
                <a:latin typeface="Symbol" pitchFamily="2" charset="2"/>
              </a:rPr>
              <a:t>m</a:t>
            </a:r>
            <a:r>
              <a:rPr lang="en-US" sz="4400" b="1" dirty="0" err="1">
                <a:solidFill>
                  <a:srgbClr val="FF0000"/>
                </a:solidFill>
              </a:rPr>
              <a:t>S</a:t>
            </a:r>
            <a:r>
              <a:rPr lang="en-US" sz="4400" b="1" dirty="0" err="1">
                <a:solidFill>
                  <a:srgbClr val="FF0000"/>
                </a:solidFill>
                <a:effectLst/>
              </a:rPr>
              <a:t>pec</a:t>
            </a:r>
            <a:r>
              <a:rPr lang="en-US" sz="4400" b="1" dirty="0">
                <a:solidFill>
                  <a:srgbClr val="FF0000"/>
                </a:solidFill>
                <a:effectLst/>
              </a:rPr>
              <a:t> 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CF88D-D346-E680-0789-E2F8D9F40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1257" y="1358537"/>
            <a:ext cx="5481497" cy="517289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Init</a:t>
            </a:r>
            <a:r>
              <a:rPr lang="en-US" sz="3200" dirty="0"/>
              <a:t> (line 11) and </a:t>
            </a:r>
            <a:r>
              <a:rPr lang="en-US" sz="3200" b="1" dirty="0"/>
              <a:t>next block </a:t>
            </a:r>
            <a:r>
              <a:rPr lang="en-US" sz="3200" dirty="0"/>
              <a:t>(line 36) are operational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curTime</a:t>
            </a:r>
            <a:r>
              <a:rPr lang="en-US" sz="3200" dirty="0"/>
              <a:t> (line 9) is the time at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Multiple instructions can step any time, execute at one timestep, but can take one step per time step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</a:rPr>
              <a:t>The </a:t>
            </a:r>
            <a:r>
              <a:rPr lang="en-US" sz="3600" b="1" dirty="0" err="1">
                <a:effectLst/>
              </a:rPr>
              <a:t>fifoFetch</a:t>
            </a:r>
            <a:r>
              <a:rPr lang="en-US" sz="3600" dirty="0">
                <a:effectLst/>
              </a:rPr>
              <a:t> axiom specifically enforces that instructions in program order on the same core must be fetched in program order.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BC222-12FB-F472-C243-207E070D4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755" y="0"/>
            <a:ext cx="64492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18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1CEDF-03DF-C27B-BC57-17DBAAE03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More on 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Symbol" pitchFamily="2" charset="2"/>
              </a:rPr>
              <a:t>m</a:t>
            </a:r>
            <a:r>
              <a:rPr lang="en-US" sz="4400" b="1" dirty="0" err="1">
                <a:solidFill>
                  <a:srgbClr val="FF0000"/>
                </a:solidFill>
              </a:rPr>
              <a:t>S</a:t>
            </a:r>
            <a:r>
              <a:rPr lang="en-US" sz="4400" b="1" dirty="0" err="1">
                <a:solidFill>
                  <a:srgbClr val="FF0000"/>
                </a:solidFill>
                <a:effectLst/>
              </a:rPr>
              <a:t>pec</a:t>
            </a:r>
            <a:r>
              <a:rPr lang="en-US" sz="4400" b="1" dirty="0">
                <a:solidFill>
                  <a:srgbClr val="FF0000"/>
                </a:solidFill>
                <a:effectLst/>
              </a:rPr>
              <a:t> </a:t>
            </a:r>
            <a:r>
              <a:rPr lang="en-US" dirty="0"/>
              <a:t>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80BE2-16C3-1585-3593-8FFD49610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To fully specify </a:t>
            </a:r>
            <a:r>
              <a:rPr lang="en-US" sz="3600" dirty="0" err="1">
                <a:effectLst/>
                <a:latin typeface="Symbol" pitchFamily="2" charset="2"/>
              </a:rPr>
              <a:t>m</a:t>
            </a:r>
            <a:r>
              <a:rPr lang="en-US" sz="3600" dirty="0" err="1"/>
              <a:t>S</a:t>
            </a:r>
            <a:r>
              <a:rPr lang="en-US" sz="3600" dirty="0" err="1">
                <a:effectLst/>
              </a:rPr>
              <a:t>pec</a:t>
            </a:r>
            <a:r>
              <a:rPr lang="en-US" sz="3600" dirty="0"/>
              <a:t>, UCLID5 introduces </a:t>
            </a:r>
            <a:r>
              <a:rPr lang="en-US" sz="3600" dirty="0" err="1"/>
              <a:t>twonew</a:t>
            </a:r>
            <a:r>
              <a:rPr lang="en-US" sz="3600" dirty="0"/>
              <a:t> constructs</a:t>
            </a:r>
          </a:p>
          <a:p>
            <a:r>
              <a:rPr lang="en-US" sz="3600" b="1" dirty="0"/>
              <a:t>Groups: </a:t>
            </a:r>
            <a:r>
              <a:rPr lang="en-US" sz="3600" dirty="0"/>
              <a:t>can have finitely many elements, but immutable after creation</a:t>
            </a:r>
          </a:p>
          <a:p>
            <a:r>
              <a:rPr lang="en-US" sz="3600" u="sng" dirty="0"/>
              <a:t>Example: </a:t>
            </a:r>
            <a:r>
              <a:rPr lang="en-US" sz="3600" dirty="0" err="1"/>
              <a:t>testInstrs</a:t>
            </a:r>
            <a:r>
              <a:rPr lang="en-US" sz="3600" dirty="0"/>
              <a:t> (line 5)</a:t>
            </a:r>
          </a:p>
          <a:p>
            <a:r>
              <a:rPr lang="en-US" sz="3600" b="1" dirty="0"/>
              <a:t>Finite quantifiers: </a:t>
            </a:r>
            <a:r>
              <a:rPr lang="en-US" sz="3600" dirty="0"/>
              <a:t>quantifies over group elements</a:t>
            </a:r>
          </a:p>
          <a:p>
            <a:r>
              <a:rPr lang="en-US" sz="3600" dirty="0"/>
              <a:t>Example: </a:t>
            </a:r>
            <a:r>
              <a:rPr lang="en-US" sz="3600" dirty="0" err="1"/>
              <a:t>finite_forall</a:t>
            </a:r>
            <a:r>
              <a:rPr lang="en-US" sz="3600" dirty="0"/>
              <a:t> </a:t>
            </a:r>
            <a:r>
              <a:rPr lang="en-US" sz="3600"/>
              <a:t>(line 17,18)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0565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1315</Words>
  <Application>Microsoft Macintosh PowerPoint</Application>
  <PresentationFormat>Widescreen</PresentationFormat>
  <Paragraphs>191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Helvetica</vt:lpstr>
      <vt:lpstr>Symbol</vt:lpstr>
      <vt:lpstr>Office Theme</vt:lpstr>
      <vt:lpstr>UCLID5</vt:lpstr>
      <vt:lpstr>Purpose</vt:lpstr>
      <vt:lpstr>More Explanations</vt:lpstr>
      <vt:lpstr>Verification Techniques</vt:lpstr>
      <vt:lpstr>Basic Questions Addressed by UCLID5</vt:lpstr>
      <vt:lpstr>UCLID5 Architecture</vt:lpstr>
      <vt:lpstr>Architectural Component 1: Front End Parser</vt:lpstr>
      <vt:lpstr>Example from UCLID5 Docs</vt:lpstr>
      <vt:lpstr>Abstract Syntax Tree</vt:lpstr>
      <vt:lpstr>SyGuS Language</vt:lpstr>
      <vt:lpstr>Architectural Component 2: AST Passes</vt:lpstr>
      <vt:lpstr>Architectural Component 3: Symbolic Simulator</vt:lpstr>
      <vt:lpstr>Architectural Component 4: Synth-Lib Interface </vt:lpstr>
      <vt:lpstr>Multimodal Verification and Synthesis</vt:lpstr>
      <vt:lpstr>Example Hyper Properties</vt:lpstr>
      <vt:lpstr>Example UCLID5 Code</vt:lpstr>
      <vt:lpstr>Multi-Modal Modeling</vt:lpstr>
      <vt:lpstr>TPM in UCLID5 </vt:lpstr>
      <vt:lpstr>Reasoning with External Oracles</vt:lpstr>
      <vt:lpstr>Combining Operational and Axiomatic Models</vt:lpstr>
      <vt:lpstr>mSpec </vt:lpstr>
      <vt:lpstr>More on mSpec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UCLID5</dc:title>
  <dc:creator>Duminda Wijesekera</dc:creator>
  <cp:lastModifiedBy>Duminda Wijesekera</cp:lastModifiedBy>
  <cp:revision>45</cp:revision>
  <dcterms:created xsi:type="dcterms:W3CDTF">2026-03-01T03:03:38Z</dcterms:created>
  <dcterms:modified xsi:type="dcterms:W3CDTF">2026-03-06T00:09:33Z</dcterms:modified>
</cp:coreProperties>
</file>