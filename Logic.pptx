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300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4" r:id="rId20"/>
    <p:sldId id="299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5" r:id="rId29"/>
    <p:sldId id="281" r:id="rId30"/>
    <p:sldId id="282" r:id="rId31"/>
    <p:sldId id="283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93"/>
    <p:restoredTop sz="90947"/>
  </p:normalViewPr>
  <p:slideViewPr>
    <p:cSldViewPr>
      <p:cViewPr varScale="1">
        <p:scale>
          <a:sx n="70" d="100"/>
          <a:sy n="70" d="100"/>
        </p:scale>
        <p:origin x="96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A6A3-7055-B9F7-01D2-65DC644FF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AF0DC-D92F-A665-C092-F018D350F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6DE9-04D9-DF71-1489-F9F07600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D7A3-67AD-CDDA-9870-397C9383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8BD20-D700-CA47-21E4-9F0E5CC5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5FEC4C-8CF7-864F-9716-71CCFA5918E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760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B0D6-D7B4-0C48-04FC-A6FD8B31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359C0-902B-D98A-54A8-90BDAAB5F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CDCEB-A5C9-2079-4C9E-E098E5E2E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A2098-BBDE-6AD3-A67B-BA8FDE2F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0F4A0-00B5-95F2-21B1-5EA7B39E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EE0FA-CC11-1249-9E81-04E278A463E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94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D168-2109-479B-752B-65498DF0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9314F-3800-1E58-4D0C-92BDDEEAA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9B51E-A5CD-B547-292C-25BC5B92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DDE7-9B76-F057-A9F1-5601B301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E5B97-81C4-8C19-8A5C-753E6A29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CD53B4-3361-0840-BB6E-0833566A61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176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51876-8D3F-D6E0-75AD-67CFD6CC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2737A-94BE-A3CB-689D-F6E3E4AE5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25C2F-150A-3FAD-5BC1-E875138B9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4925B-309F-674F-7434-C2E5C95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120DD-AF83-30FD-BE0D-4140A8C3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B593E-60E0-3C7F-301E-ACD71BFB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571A9B-F34E-0B49-92C1-EC3ACE5D5E9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7270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EC83-6368-3E6B-9A98-F0ECB5E66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5AD37-C97B-4D9C-3D2E-01525B246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37873-298C-CEEA-62D3-7E7AAB9C7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CA9CC-2DBD-4732-BC9B-B8A93BD25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42C22-7468-DF39-C1E3-EB562CD18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E6DAB-244D-A0C1-2049-256FED9C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D2C81-6224-6FFC-ADB9-A1485D99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4262E-96D2-489D-E3C9-3EC9734F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F667C-3516-E442-AE9C-4A984940C66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7811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54BC-4C98-DFCA-2F91-6F82F767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043E5-5F12-4909-89BC-3C6180EA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C8657-6358-4619-B5DB-D9F86089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C5733-B367-756F-2EEB-264BDAE9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45966A-2A40-7E41-8A98-FFFDC3D9945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430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40AB63-4A01-AB7A-F422-A58B70C3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EFA3F-27BB-B1DC-4A36-80690E861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0CE87-DF5F-889C-BC88-BFFC6E1C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3C116-8EFD-E94E-B73D-4993BC6CC8C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498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B732-F93E-215A-74A5-F06C457E2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2EBAB-D3EB-6CFB-2F4A-6E81B2E7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2D808-BBDD-C1A2-D06E-A88C278B3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7B298-311B-D7AB-FF72-120CF567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E909A-D4FD-1E19-15CE-8F5EF41C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CA601-A4E7-C1DE-C1EC-7D59FC90C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5C7FBA-1838-1B42-B50B-DAB0A221BB2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5456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8083-3F8E-EDA4-6BE5-D39A779E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EB093-DE11-16F3-220D-905572DDB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8CC4C-7643-02D4-6ABA-056B805A1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FEE57-A094-C0FF-CDC9-B32E129F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5DC97-7102-35E3-2B36-005981C7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F5EC7-76B4-4024-2318-C9804810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FAFA0-806E-5840-B24C-F98ECFB2097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958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BE39-9E72-F5B3-BDB6-6117FF88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4492D-F2AA-BD81-C59B-A013C3C11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2F97C-1C22-7FBE-DA57-B1D12FF9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291E-7E26-ADCC-6A62-9934AB0A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C4FCC-2BF1-2462-0E8C-0361D302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C1C744-8303-6246-AC13-DC22FF06911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704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244F0-05D2-DD5C-590B-E3950943C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3FA21-B516-1A02-3497-2CB5511B8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30894-9C66-AE69-0DC7-0D526A6F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F02B-ECA4-44C5-5324-7EE48889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B2D09-D260-1EC6-2A67-2B6E4B0E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870A3-7532-034D-8CCF-570CAC168A7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401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FA9E963-BD7D-A937-AA08-7EC0DF953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5D177F-1BB0-4F22-415F-7295650BE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C75B72-9222-7E61-2C83-171F9D5A0AA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046D62-C165-51EF-3908-94E5ED8F69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D2ABAD-FBF6-3EA5-9BCC-C7AF2E3E2B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75967F-25EB-D249-A3ED-E3249452373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34" charset="-127"/>
          <a:ea typeface="굴림" panose="020B0600000101010101" pitchFamily="34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71CF792-82E5-875C-0DAB-D7738F0891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ko-KR" sz="4400"/>
              <a:t>Brief Introduction to Logic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2DB4351-0F0F-ED5E-4AEA-3A1F3E1EBD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BFDBAFA-1009-0D9B-D4DD-1EAAAF0B4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Outline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2829D84-A2E9-F89A-6486-7B7BE6503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Historical View</a:t>
            </a:r>
          </a:p>
          <a:p>
            <a:r>
              <a:rPr lang="en-US" altLang="ko-KR"/>
              <a:t>Propositional Logic : Syntax </a:t>
            </a:r>
          </a:p>
          <a:p>
            <a:r>
              <a:rPr lang="en-US" altLang="ko-KR"/>
              <a:t>Propositional Logic : Semantics</a:t>
            </a:r>
          </a:p>
          <a:p>
            <a:r>
              <a:rPr lang="en-US" altLang="ko-KR"/>
              <a:t>Satisfiability </a:t>
            </a:r>
          </a:p>
          <a:p>
            <a:r>
              <a:rPr lang="en-US" altLang="ko-KR"/>
              <a:t>Natural Deduction : Proofs.</a:t>
            </a:r>
          </a:p>
          <a:p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771D512-D020-2B87-EFEE-C1CE2BF93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Historical view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EA38412-16F9-113F-BD4E-81CB62F0E6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Philosophical Logic </a:t>
            </a:r>
          </a:p>
          <a:p>
            <a:pPr lvl="1"/>
            <a:r>
              <a:rPr lang="en-US" altLang="ko-KR"/>
              <a:t>500 BC to 19th Century</a:t>
            </a:r>
          </a:p>
          <a:p>
            <a:r>
              <a:rPr lang="en-US" altLang="ko-KR"/>
              <a:t>Symbolic Logic</a:t>
            </a:r>
          </a:p>
          <a:p>
            <a:pPr lvl="1"/>
            <a:r>
              <a:rPr lang="en-US" altLang="ko-KR"/>
              <a:t>Mid to late 19th Century</a:t>
            </a:r>
          </a:p>
          <a:p>
            <a:r>
              <a:rPr lang="en-US" altLang="ko-KR"/>
              <a:t>Mathematical Logic</a:t>
            </a:r>
          </a:p>
          <a:p>
            <a:pPr lvl="1"/>
            <a:r>
              <a:rPr lang="en-US" altLang="ko-KR"/>
              <a:t>Late 19</a:t>
            </a:r>
            <a:r>
              <a:rPr lang="en-US" altLang="ko-KR" baseline="30000"/>
              <a:t>th</a:t>
            </a:r>
            <a:r>
              <a:rPr lang="en-US" altLang="ko-KR"/>
              <a:t> to mid 20</a:t>
            </a:r>
            <a:r>
              <a:rPr lang="en-US" altLang="ko-KR" baseline="30000"/>
              <a:t>th</a:t>
            </a:r>
            <a:r>
              <a:rPr lang="en-US" altLang="ko-KR"/>
              <a:t> Century</a:t>
            </a:r>
          </a:p>
          <a:p>
            <a:r>
              <a:rPr lang="en-US" altLang="ko-KR"/>
              <a:t>Logic in Computer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794CC1E-6D54-9FF3-ED29-EA5249CA7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Philosophical Logic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AAC9B09-6319-BF05-B1C1-1DDB098CE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500 B.C </a:t>
            </a:r>
            <a:r>
              <a:rPr lang="en-US" altLang="ko-KR">
                <a:latin typeface="Times New Roman" panose="02020603050405020304" pitchFamily="18" charset="0"/>
              </a:rPr>
              <a:t>–</a:t>
            </a:r>
            <a:r>
              <a:rPr lang="en-US" altLang="ko-KR"/>
              <a:t> 19th Century</a:t>
            </a:r>
          </a:p>
          <a:p>
            <a:r>
              <a:rPr lang="en-US" altLang="ko-KR"/>
              <a:t>Logic dealt with arguments in the natural language used by humans.</a:t>
            </a:r>
          </a:p>
          <a:p>
            <a:r>
              <a:rPr lang="en-US" altLang="ko-KR"/>
              <a:t>Example</a:t>
            </a:r>
          </a:p>
          <a:p>
            <a:pPr lvl="1"/>
            <a:r>
              <a:rPr lang="en-US" altLang="ko-KR"/>
              <a:t>All men are motal.</a:t>
            </a:r>
          </a:p>
          <a:p>
            <a:pPr lvl="1"/>
            <a:r>
              <a:rPr lang="en-US" altLang="ko-KR"/>
              <a:t>Socrates is a man</a:t>
            </a:r>
          </a:p>
          <a:p>
            <a:pPr lvl="1"/>
            <a:r>
              <a:rPr lang="en-US" altLang="ko-KR"/>
              <a:t>Therefore, Socrates is mortal.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0FEA62E-DE22-6A03-90F9-74FC7EFE1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Philosophical Logic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D00FE2E-3CE2-CD38-A4DF-7D005AB09F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2800"/>
          </a:p>
          <a:p>
            <a:r>
              <a:rPr lang="en-US" altLang="ko-KR" sz="2800"/>
              <a:t>Natural language is very ambiguous.</a:t>
            </a:r>
          </a:p>
          <a:p>
            <a:pPr lvl="1"/>
            <a:r>
              <a:rPr lang="en-US" altLang="ko-KR" sz="2400"/>
              <a:t>Eric does not believe that Mary can pass any test.</a:t>
            </a:r>
          </a:p>
          <a:p>
            <a:pPr lvl="1"/>
            <a:r>
              <a:rPr lang="en-US" altLang="ko-KR" sz="2400"/>
              <a:t>I only borrowed your car.</a:t>
            </a:r>
          </a:p>
          <a:p>
            <a:pPr lvl="1"/>
            <a:r>
              <a:rPr lang="en-US" altLang="ko-KR" sz="2400"/>
              <a:t>Tom hates Jim and he likes Mary.</a:t>
            </a:r>
          </a:p>
          <a:p>
            <a:r>
              <a:rPr lang="en-US" altLang="ko-KR" sz="2800"/>
              <a:t>It led to many paradoxes.</a:t>
            </a:r>
          </a:p>
          <a:p>
            <a:pPr lvl="1"/>
            <a:r>
              <a:rPr lang="en-US" altLang="ko-KR" sz="2400">
                <a:latin typeface="Times New Roman" panose="02020603050405020304" pitchFamily="18" charset="0"/>
              </a:rPr>
              <a:t>“</a:t>
            </a:r>
            <a:r>
              <a:rPr lang="en-US" altLang="ko-KR" sz="2400"/>
              <a:t>This sentence is a lie.</a:t>
            </a:r>
            <a:r>
              <a:rPr lang="en-US" altLang="ko-KR" sz="2400">
                <a:latin typeface="Times New Roman" panose="02020603050405020304" pitchFamily="18" charset="0"/>
              </a:rPr>
              <a:t>”</a:t>
            </a:r>
            <a:r>
              <a:rPr lang="en-US" altLang="ko-KR" sz="2400"/>
              <a:t> (The Liar</a:t>
            </a:r>
            <a:r>
              <a:rPr lang="en-US" altLang="ko-KR" sz="2400">
                <a:latin typeface="Times New Roman" panose="02020603050405020304" pitchFamily="18" charset="0"/>
              </a:rPr>
              <a:t>’</a:t>
            </a:r>
            <a:r>
              <a:rPr lang="en-US" altLang="ko-KR" sz="2400"/>
              <a:t>s Paradox)</a:t>
            </a:r>
          </a:p>
          <a:p>
            <a:pPr>
              <a:buFontTx/>
              <a:buNone/>
            </a:pPr>
            <a:endParaRPr lang="en-US" altLang="ko-KR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3A2C3F3-A3DC-5156-84C0-3B75F5128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The Sophist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s Paradox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425C9CE-05BD-7229-8F2E-3879638E1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A Sophist is sued for his tuition by the school that educated him. He argued that he must win, since, if he loses, the school didn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t educated him well enough, and doesn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t deserve the money. The school argue that he must loss, since, if he win, he was educated well enough therefore should pay for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D9C17F2-F11D-7AD0-2CB4-94EC0B7B0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Symbolic Logic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1A63A39-DCCB-9A8F-A537-FA8159F1D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Mid to late 19th Century.</a:t>
            </a:r>
          </a:p>
          <a:p>
            <a:r>
              <a:rPr lang="en-US" altLang="ko-KR"/>
              <a:t>Attempted to formulate logic in terms of a mathematical language</a:t>
            </a:r>
          </a:p>
          <a:p>
            <a:r>
              <a:rPr lang="en-US" altLang="ko-KR"/>
              <a:t>Rules of inference were modeled after various laws for manipulating algebraic expressions.</a:t>
            </a:r>
          </a:p>
          <a:p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5AAD039-CF90-406A-FC6B-7BD7ECD06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Mathematical Logic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CB73A71-551B-03D4-F558-0771A911C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800"/>
              <a:t>Late 19</a:t>
            </a:r>
            <a:r>
              <a:rPr lang="en-US" altLang="ko-KR" sz="2800" baseline="30000"/>
              <a:t>th</a:t>
            </a:r>
            <a:r>
              <a:rPr lang="en-US" altLang="ko-KR" sz="2800"/>
              <a:t> to mid 20</a:t>
            </a:r>
            <a:r>
              <a:rPr lang="en-US" altLang="ko-KR" sz="2800" baseline="30000"/>
              <a:t>th</a:t>
            </a:r>
            <a:r>
              <a:rPr lang="en-US" altLang="ko-KR" sz="2800"/>
              <a:t> Century</a:t>
            </a:r>
          </a:p>
          <a:p>
            <a:pPr>
              <a:lnSpc>
                <a:spcPct val="90000"/>
              </a:lnSpc>
            </a:pPr>
            <a:r>
              <a:rPr lang="en-US" altLang="ko-KR" sz="2800"/>
              <a:t>Frege proposed logic as a language for mathematics in 1879.</a:t>
            </a:r>
          </a:p>
          <a:p>
            <a:pPr>
              <a:lnSpc>
                <a:spcPct val="90000"/>
              </a:lnSpc>
            </a:pPr>
            <a:r>
              <a:rPr lang="en-US" altLang="ko-KR" sz="2800"/>
              <a:t>With the rigor of this new foundation, Cantor was able to analyze the notion of infinity in ways that were previously impossible. (2</a:t>
            </a:r>
            <a:r>
              <a:rPr lang="en-US" altLang="ko-KR" sz="2800" baseline="30000"/>
              <a:t>N</a:t>
            </a:r>
            <a:r>
              <a:rPr lang="en-US" altLang="ko-KR" sz="2800"/>
              <a:t> is strictly larger than N)</a:t>
            </a:r>
          </a:p>
          <a:p>
            <a:pPr>
              <a:lnSpc>
                <a:spcPct val="90000"/>
              </a:lnSpc>
            </a:pPr>
            <a:r>
              <a:rPr lang="en-US" altLang="ko-KR" sz="2800"/>
              <a:t>Russell</a:t>
            </a:r>
            <a:r>
              <a:rPr lang="en-US" altLang="ko-KR" sz="2800">
                <a:latin typeface="Times New Roman" panose="02020603050405020304" pitchFamily="18" charset="0"/>
              </a:rPr>
              <a:t>’</a:t>
            </a:r>
            <a:r>
              <a:rPr lang="en-US" altLang="ko-KR" sz="2800"/>
              <a:t>s Paradox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800"/>
              <a:t>T = { S | S ∉ 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137C218-78A5-F3E9-4B09-6D8D75BF1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Logic in Computer Science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341C9C3-F6A0-3A3D-D4B1-A8A24077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 computer science, we design and study systems through the use of formal languages that can themselves be interpreted by a formal system.</a:t>
            </a:r>
          </a:p>
          <a:p>
            <a:pPr lvl="1"/>
            <a:r>
              <a:rPr lang="en-US" altLang="ko-KR"/>
              <a:t>Boolean circuits</a:t>
            </a:r>
          </a:p>
          <a:p>
            <a:pPr lvl="1"/>
            <a:r>
              <a:rPr lang="en-US" altLang="ko-KR"/>
              <a:t>Programming languages</a:t>
            </a:r>
          </a:p>
          <a:p>
            <a:pPr lvl="1"/>
            <a:r>
              <a:rPr lang="en-US" altLang="ko-KR"/>
              <a:t>Design Validation and verification</a:t>
            </a:r>
          </a:p>
          <a:p>
            <a:pPr lvl="1"/>
            <a:r>
              <a:rPr lang="en-US" altLang="ko-KR"/>
              <a:t>AI, Security.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2EC2C8-D814-107D-7689-7B23645BF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Logics in Computer Science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EDCB0A3-E9F6-0D84-29E9-376F15D96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Propositional Logic</a:t>
            </a:r>
          </a:p>
          <a:p>
            <a:r>
              <a:rPr lang="en-US" altLang="ko-KR"/>
              <a:t>First Order Logic</a:t>
            </a:r>
          </a:p>
          <a:p>
            <a:r>
              <a:rPr lang="en-US" altLang="ko-KR"/>
              <a:t>Higher Order Logic</a:t>
            </a:r>
          </a:p>
          <a:p>
            <a:r>
              <a:rPr lang="en-US" altLang="ko-KR"/>
              <a:t>Theory of Construction</a:t>
            </a:r>
          </a:p>
          <a:p>
            <a:r>
              <a:rPr lang="en-US" altLang="ko-KR"/>
              <a:t>Real-time Logic, Temporal Logic</a:t>
            </a:r>
          </a:p>
          <a:p>
            <a:r>
              <a:rPr lang="en-US" altLang="ko-KR"/>
              <a:t>Process Algebras </a:t>
            </a:r>
          </a:p>
          <a:p>
            <a:r>
              <a:rPr lang="en-US" altLang="ko-KR"/>
              <a:t>Linear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20A10D1-987E-AC2C-4144-EF750762D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Syntax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D71BB0E-3169-E3F4-05B3-E159EF8E3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/>
              <a:t>The symbol of the language.</a:t>
            </a:r>
          </a:p>
          <a:p>
            <a:pPr algn="just"/>
            <a:r>
              <a:rPr lang="en-US" altLang="ko-KR"/>
              <a:t>Propositional symbols: A, B, C,</a:t>
            </a:r>
            <a:r>
              <a:rPr lang="en-US" altLang="ko-KR">
                <a:latin typeface="Times New Roman" panose="02020603050405020304" pitchFamily="18" charset="0"/>
              </a:rPr>
              <a:t>…</a:t>
            </a:r>
            <a:endParaRPr lang="en-US" altLang="ko-KR"/>
          </a:p>
          <a:p>
            <a:pPr algn="just"/>
            <a:r>
              <a:rPr lang="en-US" altLang="ko-KR" b="1"/>
              <a:t>Prop: </a:t>
            </a:r>
            <a:r>
              <a:rPr lang="en-US" altLang="ko-KR"/>
              <a:t>set of propositional symbols </a:t>
            </a:r>
          </a:p>
          <a:p>
            <a:pPr algn="just"/>
            <a:r>
              <a:rPr lang="en-US" altLang="ko-KR"/>
              <a:t>Connectives: </a:t>
            </a:r>
            <a:r>
              <a:rPr lang="en-US" altLang="ko-KR">
                <a:sym typeface="Symbol" pitchFamily="2" charset="2"/>
              </a:rPr>
              <a:t> (and),  (or),  (not),  (implies),  (is equivalent to),  (false).</a:t>
            </a:r>
          </a:p>
          <a:p>
            <a:pPr algn="just"/>
            <a:r>
              <a:rPr lang="en-US" altLang="ko-KR">
                <a:sym typeface="Symbol" pitchFamily="2" charset="2"/>
              </a:rPr>
              <a:t>Parenthesis: (, ). </a:t>
            </a:r>
          </a:p>
          <a:p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0676E89-BD45-D7B2-D8F1-445FC3557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Formulas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643225D-FAE6-DC00-1DFE-8399EA49D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Backus-Naur Form</a:t>
            </a:r>
          </a:p>
          <a:p>
            <a:pPr lvl="1"/>
            <a:r>
              <a:rPr lang="en-US" altLang="ko-KR"/>
              <a:t>Form := Prop | (</a:t>
            </a:r>
            <a:r>
              <a:rPr lang="en-US" altLang="ko-KR">
                <a:sym typeface="Symbol" pitchFamily="2" charset="2"/>
              </a:rPr>
              <a:t></a:t>
            </a:r>
            <a:r>
              <a:rPr lang="en-US" altLang="ko-KR"/>
              <a:t>Form) | (Form o Form).</a:t>
            </a:r>
          </a:p>
          <a:p>
            <a:r>
              <a:rPr lang="en-US" altLang="ko-KR"/>
              <a:t>Context-Free Grammar</a:t>
            </a:r>
          </a:p>
          <a:p>
            <a:pPr lvl="1"/>
            <a:r>
              <a:rPr lang="en-US" altLang="ko-KR"/>
              <a:t>Form </a:t>
            </a:r>
            <a:r>
              <a:rPr lang="en-US" altLang="ko-KR">
                <a:sym typeface="Symbol" pitchFamily="2" charset="2"/>
              </a:rPr>
              <a:t> Prop,</a:t>
            </a:r>
          </a:p>
          <a:p>
            <a:pPr lvl="1"/>
            <a:r>
              <a:rPr lang="en-US" altLang="ko-KR">
                <a:sym typeface="Symbol" pitchFamily="2" charset="2"/>
              </a:rPr>
              <a:t>Form  ( Form),</a:t>
            </a:r>
          </a:p>
          <a:p>
            <a:pPr lvl="1"/>
            <a:r>
              <a:rPr lang="en-US" altLang="ko-KR">
                <a:sym typeface="Symbol" pitchFamily="2" charset="2"/>
              </a:rPr>
              <a:t>Form  (Form o Form)</a:t>
            </a:r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E0CBB63-0BBA-26CF-22C1-3ED0927F9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Formulas (2)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3F0F1EF-2EE4-C8A6-AB7C-ABCA7C95B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>
                <a:sym typeface="Symbol" pitchFamily="2" charset="2"/>
              </a:rPr>
              <a:t>The set of formulas, Form, is defined as the smallest set of expressions such that:</a:t>
            </a:r>
          </a:p>
          <a:p>
            <a:pPr algn="just">
              <a:buFontTx/>
              <a:buAutoNum type="arabicPeriod"/>
            </a:pPr>
            <a:r>
              <a:rPr lang="en-US" altLang="ko-KR">
                <a:sym typeface="Symbol" pitchFamily="2" charset="2"/>
              </a:rPr>
              <a:t>Prop  Form</a:t>
            </a:r>
          </a:p>
          <a:p>
            <a:pPr algn="just">
              <a:buFontTx/>
              <a:buAutoNum type="arabicPeriod"/>
            </a:pPr>
            <a:r>
              <a:rPr lang="en-US" altLang="ko-KR">
                <a:sym typeface="Symbol" pitchFamily="2" charset="2"/>
              </a:rPr>
              <a:t>pForm	 (p)Form</a:t>
            </a:r>
          </a:p>
          <a:p>
            <a:pPr algn="just">
              <a:buFontTx/>
              <a:buAutoNum type="arabicPeriod"/>
            </a:pPr>
            <a:r>
              <a:rPr lang="en-US" altLang="ko-KR">
                <a:sym typeface="Symbol" pitchFamily="2" charset="2"/>
              </a:rPr>
              <a:t>p,q Form	 (p o q)  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24038D7-E92E-B093-59A8-CBA18B6AB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Formulas (3)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198FDB3-B523-E802-ED7D-310DA2E60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>
                <a:sym typeface="Symbol" pitchFamily="2" charset="2"/>
              </a:rPr>
              <a:t>Examples: </a:t>
            </a:r>
          </a:p>
          <a:p>
            <a:pPr lvl="1" algn="just"/>
            <a:r>
              <a:rPr lang="en-US" altLang="ko-KR">
                <a:sym typeface="Symbol" pitchFamily="2" charset="2"/>
              </a:rPr>
              <a:t>(</a:t>
            </a:r>
            <a:r>
              <a:rPr lang="en-US" altLang="ko-KR"/>
              <a:t>A</a:t>
            </a:r>
            <a:r>
              <a:rPr lang="en-US" altLang="ko-KR">
                <a:sym typeface="Symbol" pitchFamily="2" charset="2"/>
              </a:rPr>
              <a:t>)</a:t>
            </a:r>
          </a:p>
          <a:p>
            <a:pPr lvl="1" algn="just"/>
            <a:r>
              <a:rPr lang="en-US" altLang="ko-KR">
                <a:sym typeface="Symbol" pitchFamily="2" charset="2"/>
              </a:rPr>
              <a:t>((</a:t>
            </a:r>
            <a:r>
              <a:rPr lang="en-US" altLang="ko-KR"/>
              <a:t>A</a:t>
            </a:r>
            <a:r>
              <a:rPr lang="en-US" altLang="ko-KR">
                <a:sym typeface="Symbol" pitchFamily="2" charset="2"/>
              </a:rPr>
              <a:t>))  </a:t>
            </a:r>
          </a:p>
          <a:p>
            <a:pPr lvl="1" algn="just"/>
            <a:r>
              <a:rPr lang="en-US" altLang="ko-KR"/>
              <a:t>(A</a:t>
            </a:r>
            <a:r>
              <a:rPr lang="en-US" altLang="ko-KR">
                <a:sym typeface="Symbol" pitchFamily="2" charset="2"/>
              </a:rPr>
              <a:t>  (</a:t>
            </a:r>
            <a:r>
              <a:rPr lang="en-US" altLang="ko-KR"/>
              <a:t>B</a:t>
            </a:r>
            <a:r>
              <a:rPr lang="en-US" altLang="ko-KR">
                <a:sym typeface="Symbol" pitchFamily="2" charset="2"/>
              </a:rPr>
              <a:t>  </a:t>
            </a:r>
            <a:r>
              <a:rPr lang="en-US" altLang="ko-KR"/>
              <a:t>C</a:t>
            </a:r>
            <a:r>
              <a:rPr lang="en-US" altLang="ko-KR">
                <a:sym typeface="Symbol" pitchFamily="2" charset="2"/>
              </a:rPr>
              <a:t>))</a:t>
            </a:r>
          </a:p>
          <a:p>
            <a:pPr lvl="1" algn="just"/>
            <a:r>
              <a:rPr lang="en-US" altLang="ko-KR">
                <a:sym typeface="Symbol" pitchFamily="2" charset="2"/>
              </a:rPr>
              <a:t>(</a:t>
            </a:r>
            <a:r>
              <a:rPr lang="en-US" altLang="ko-KR"/>
              <a:t>A</a:t>
            </a:r>
            <a:r>
              <a:rPr lang="en-US" altLang="ko-KR">
                <a:sym typeface="Symbol" pitchFamily="2" charset="2"/>
              </a:rPr>
              <a:t> (</a:t>
            </a:r>
            <a:r>
              <a:rPr lang="en-US" altLang="ko-KR"/>
              <a:t>B</a:t>
            </a:r>
            <a:r>
              <a:rPr lang="en-US" altLang="ko-KR">
                <a:sym typeface="Symbol" pitchFamily="2" charset="2"/>
              </a:rPr>
              <a:t> </a:t>
            </a:r>
            <a:r>
              <a:rPr lang="en-US" altLang="ko-KR"/>
              <a:t>C</a:t>
            </a:r>
            <a:r>
              <a:rPr lang="en-US" altLang="ko-KR">
                <a:sym typeface="Symbol" pitchFamily="2" charset="2"/>
              </a:rPr>
              <a:t>))</a:t>
            </a:r>
          </a:p>
          <a:p>
            <a:pPr lvl="1" algn="just"/>
            <a:r>
              <a:rPr lang="en-US" altLang="ko-KR">
                <a:sym typeface="Symbol" pitchFamily="2" charset="2"/>
              </a:rPr>
              <a:t>Correct expressions of Propositional Logic are full of unnecessary parenthesis.</a:t>
            </a:r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D7F6C14-7907-3FA8-7092-7A8D3F721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Formulas (4)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4E9D8E-7359-E556-EE5E-1B499B5FA0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900" b="1">
                <a:sym typeface="Symbol" pitchFamily="2" charset="2"/>
              </a:rPr>
              <a:t>Abbreviations</a:t>
            </a:r>
            <a:r>
              <a:rPr lang="en-US" altLang="ko-KR" sz="2900" b="1" i="1">
                <a:sym typeface="Symbol" pitchFamily="2" charset="2"/>
              </a:rPr>
              <a:t>.</a:t>
            </a:r>
            <a:r>
              <a:rPr lang="en-US" altLang="ko-KR" sz="2900">
                <a:sym typeface="Symbol" pitchFamily="2" charset="2"/>
              </a:rPr>
              <a:t> Let o=, , . We write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/>
              <a:t>A</a:t>
            </a:r>
            <a:r>
              <a:rPr lang="en-US" altLang="ko-KR" sz="2900">
                <a:sym typeface="Symbol" pitchFamily="2" charset="2"/>
              </a:rPr>
              <a:t> o </a:t>
            </a:r>
            <a:r>
              <a:rPr lang="en-US" altLang="ko-KR" sz="2900"/>
              <a:t>B</a:t>
            </a:r>
            <a:r>
              <a:rPr lang="en-US" altLang="ko-KR" sz="2900">
                <a:sym typeface="Symbol" pitchFamily="2" charset="2"/>
              </a:rPr>
              <a:t> o </a:t>
            </a:r>
            <a:r>
              <a:rPr lang="en-US" altLang="ko-KR" sz="2900"/>
              <a:t>C</a:t>
            </a:r>
            <a:r>
              <a:rPr lang="en-US" altLang="ko-KR" sz="2900">
                <a:sym typeface="Symbol" pitchFamily="2" charset="2"/>
              </a:rPr>
              <a:t> o </a:t>
            </a:r>
            <a:r>
              <a:rPr lang="en-US" altLang="ko-KR" sz="29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ko-KR" sz="2900">
                <a:sym typeface="Symbol" pitchFamily="2" charset="2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US" altLang="ko-KR" sz="2900">
                <a:sym typeface="Symbol" pitchFamily="2" charset="2"/>
              </a:rPr>
              <a:t>in the place of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>
                <a:sym typeface="Symbol" pitchFamily="2" charset="2"/>
              </a:rPr>
              <a:t>(</a:t>
            </a:r>
            <a:r>
              <a:rPr lang="en-US" altLang="ko-KR" sz="2900"/>
              <a:t>A</a:t>
            </a:r>
            <a:r>
              <a:rPr lang="en-US" altLang="ko-KR" sz="2900">
                <a:sym typeface="Symbol" pitchFamily="2" charset="2"/>
              </a:rPr>
              <a:t> o (</a:t>
            </a:r>
            <a:r>
              <a:rPr lang="en-US" altLang="ko-KR" sz="2900"/>
              <a:t>B</a:t>
            </a:r>
            <a:r>
              <a:rPr lang="en-US" altLang="ko-KR" sz="2900">
                <a:sym typeface="Symbol" pitchFamily="2" charset="2"/>
              </a:rPr>
              <a:t> o (</a:t>
            </a:r>
            <a:r>
              <a:rPr lang="en-US" altLang="ko-KR" sz="2900"/>
              <a:t>C</a:t>
            </a:r>
            <a:r>
              <a:rPr lang="en-US" altLang="ko-KR" sz="2900">
                <a:sym typeface="Symbol" pitchFamily="2" charset="2"/>
              </a:rPr>
              <a:t> o  </a:t>
            </a:r>
            <a:r>
              <a:rPr lang="en-US" altLang="ko-KR" sz="29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ko-KR" sz="2900">
                <a:sym typeface="Symbol" pitchFamily="2" charset="2"/>
              </a:rPr>
              <a:t>)))</a:t>
            </a:r>
          </a:p>
          <a:p>
            <a:pPr algn="just">
              <a:lnSpc>
                <a:spcPct val="90000"/>
              </a:lnSpc>
            </a:pPr>
            <a:r>
              <a:rPr lang="en-US" altLang="ko-KR" sz="2900">
                <a:sym typeface="Symbol" pitchFamily="2" charset="2"/>
              </a:rPr>
              <a:t>Thus, we write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/>
              <a:t>A</a:t>
            </a:r>
            <a:r>
              <a:rPr lang="en-US" altLang="ko-KR" sz="2900">
                <a:sym typeface="Symbol" pitchFamily="2" charset="2"/>
              </a:rPr>
              <a:t>  </a:t>
            </a:r>
            <a:r>
              <a:rPr lang="en-US" altLang="ko-KR" sz="2900"/>
              <a:t>B</a:t>
            </a:r>
            <a:r>
              <a:rPr lang="en-US" altLang="ko-KR" sz="2900">
                <a:sym typeface="Symbol" pitchFamily="2" charset="2"/>
              </a:rPr>
              <a:t>  </a:t>
            </a:r>
            <a:r>
              <a:rPr lang="en-US" altLang="ko-KR" sz="2900"/>
              <a:t>C</a:t>
            </a:r>
            <a:r>
              <a:rPr lang="en-US" altLang="ko-KR" sz="2900">
                <a:sym typeface="Symbol" pitchFamily="2" charset="2"/>
              </a:rPr>
              <a:t>,      </a:t>
            </a:r>
            <a:r>
              <a:rPr lang="en-US" altLang="ko-KR" sz="2900"/>
              <a:t>A</a:t>
            </a:r>
            <a:r>
              <a:rPr lang="en-US" altLang="ko-KR" sz="2900">
                <a:sym typeface="Symbol" pitchFamily="2" charset="2"/>
              </a:rPr>
              <a:t></a:t>
            </a:r>
            <a:r>
              <a:rPr lang="en-US" altLang="ko-KR" sz="2900"/>
              <a:t>B</a:t>
            </a:r>
            <a:r>
              <a:rPr lang="en-US" altLang="ko-KR" sz="2900">
                <a:sym typeface="Symbol" pitchFamily="2" charset="2"/>
              </a:rPr>
              <a:t>C, </a:t>
            </a:r>
            <a:r>
              <a:rPr lang="en-US" altLang="ko-KR" sz="2900">
                <a:latin typeface="Times New Roman" panose="02020603050405020304" pitchFamily="18" charset="0"/>
                <a:sym typeface="Symbol" pitchFamily="2" charset="2"/>
              </a:rPr>
              <a:t>…</a:t>
            </a:r>
            <a:endParaRPr lang="en-US" altLang="ko-KR" sz="2900">
              <a:sym typeface="Symbol" pitchFamily="2" charset="2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900">
                <a:sym typeface="Symbol" pitchFamily="2" charset="2"/>
              </a:rPr>
              <a:t>in the place of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/>
              <a:t>(A</a:t>
            </a:r>
            <a:r>
              <a:rPr lang="en-US" altLang="ko-KR" sz="2900">
                <a:sym typeface="Symbol" pitchFamily="2" charset="2"/>
              </a:rPr>
              <a:t>  (</a:t>
            </a:r>
            <a:r>
              <a:rPr lang="en-US" altLang="ko-KR" sz="2900"/>
              <a:t>B</a:t>
            </a:r>
            <a:r>
              <a:rPr lang="en-US" altLang="ko-KR" sz="2900">
                <a:sym typeface="Symbol" pitchFamily="2" charset="2"/>
              </a:rPr>
              <a:t>  </a:t>
            </a:r>
            <a:r>
              <a:rPr lang="en-US" altLang="ko-KR" sz="2900"/>
              <a:t>C</a:t>
            </a:r>
            <a:r>
              <a:rPr lang="en-US" altLang="ko-KR" sz="2900">
                <a:sym typeface="Symbol" pitchFamily="2" charset="2"/>
              </a:rPr>
              <a:t>)),      (</a:t>
            </a:r>
            <a:r>
              <a:rPr lang="en-US" altLang="ko-KR" sz="2900"/>
              <a:t>A</a:t>
            </a:r>
            <a:r>
              <a:rPr lang="en-US" altLang="ko-KR" sz="2900">
                <a:sym typeface="Symbol" pitchFamily="2" charset="2"/>
              </a:rPr>
              <a:t> (</a:t>
            </a:r>
            <a:r>
              <a:rPr lang="en-US" altLang="ko-KR" sz="2900"/>
              <a:t>B</a:t>
            </a:r>
            <a:r>
              <a:rPr lang="en-US" altLang="ko-KR" sz="2900">
                <a:sym typeface="Symbol" pitchFamily="2" charset="2"/>
              </a:rPr>
              <a:t> </a:t>
            </a:r>
            <a:r>
              <a:rPr lang="en-US" altLang="ko-KR" sz="2900"/>
              <a:t>C</a:t>
            </a:r>
            <a:r>
              <a:rPr lang="en-US" altLang="ko-KR" sz="2900">
                <a:sym typeface="Symbol" pitchFamily="2" charset="2"/>
              </a:rPr>
              <a:t>))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245625E-15C7-FDF9-1077-313FF7DBC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Formulas (5)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27AF360-D7FA-B2E3-6807-239096259A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sz="2800">
                <a:sym typeface="Symbol" pitchFamily="2" charset="2"/>
              </a:rPr>
              <a:t>We omit parenthesis whenever we may restore them through operator precedence:</a:t>
            </a:r>
          </a:p>
          <a:p>
            <a:pPr algn="just"/>
            <a:r>
              <a:rPr lang="en-US" altLang="ko-KR" sz="2800">
                <a:sym typeface="Symbol" pitchFamily="2" charset="2"/>
              </a:rPr>
              <a:t> binds more strictly than , , and ,  bind more strictly than , .</a:t>
            </a:r>
          </a:p>
          <a:p>
            <a:pPr algn="just"/>
            <a:r>
              <a:rPr lang="en-US" altLang="ko-KR" sz="2800">
                <a:sym typeface="Symbol" pitchFamily="2" charset="2"/>
              </a:rPr>
              <a:t>Thus, we write:</a:t>
            </a:r>
          </a:p>
          <a:p>
            <a:pPr lvl="1" algn="just">
              <a:buFontTx/>
              <a:buNone/>
            </a:pPr>
            <a:r>
              <a:rPr lang="en-US" altLang="ko-KR" sz="2400" b="1">
                <a:sym typeface="Symbol" pitchFamily="2" charset="2"/>
              </a:rPr>
              <a:t></a:t>
            </a:r>
            <a:r>
              <a:rPr lang="en-US" altLang="ko-KR" sz="2400" b="1"/>
              <a:t>A</a:t>
            </a:r>
            <a:r>
              <a:rPr lang="en-US" altLang="ko-KR" sz="2400" b="1">
                <a:sym typeface="Symbol" pitchFamily="2" charset="2"/>
              </a:rPr>
              <a:t>		for 	((</a:t>
            </a:r>
            <a:r>
              <a:rPr lang="en-US" altLang="ko-KR" sz="2400" b="1"/>
              <a:t>A</a:t>
            </a:r>
            <a:r>
              <a:rPr lang="en-US" altLang="ko-KR" sz="2400" b="1">
                <a:sym typeface="Symbol" pitchFamily="2" charset="2"/>
              </a:rPr>
              <a:t>)), </a:t>
            </a:r>
          </a:p>
          <a:p>
            <a:pPr lvl="1" algn="just">
              <a:buFontTx/>
              <a:buNone/>
            </a:pPr>
            <a:r>
              <a:rPr lang="en-US" altLang="ko-KR" sz="2400" b="1">
                <a:sym typeface="Symbol" pitchFamily="2" charset="2"/>
              </a:rPr>
              <a:t></a:t>
            </a:r>
            <a:r>
              <a:rPr lang="en-US" altLang="ko-KR" sz="2400" b="1"/>
              <a:t>A</a:t>
            </a:r>
            <a:r>
              <a:rPr lang="en-US" altLang="ko-KR" sz="2400" b="1" baseline="-25000"/>
              <a:t> </a:t>
            </a:r>
            <a:r>
              <a:rPr lang="en-US" altLang="ko-KR" sz="2400" b="1">
                <a:sym typeface="Symbol" pitchFamily="2" charset="2"/>
              </a:rPr>
              <a:t></a:t>
            </a:r>
            <a:r>
              <a:rPr lang="en-US" altLang="ko-KR" sz="2400" b="1"/>
              <a:t>B</a:t>
            </a:r>
            <a:r>
              <a:rPr lang="en-US" altLang="ko-KR" sz="2400" b="1" baseline="-25000"/>
              <a:t> 		</a:t>
            </a:r>
            <a:r>
              <a:rPr lang="en-US" altLang="ko-KR" sz="2400" b="1">
                <a:sym typeface="Symbol" pitchFamily="2" charset="2"/>
              </a:rPr>
              <a:t>for 	((</a:t>
            </a:r>
            <a:r>
              <a:rPr lang="en-US" altLang="ko-KR" sz="2400" b="1"/>
              <a:t>A</a:t>
            </a:r>
            <a:r>
              <a:rPr lang="en-US" altLang="ko-KR" sz="2400" b="1" baseline="-25000"/>
              <a:t> </a:t>
            </a:r>
            <a:r>
              <a:rPr lang="en-US" altLang="ko-KR" sz="2400" b="1">
                <a:sym typeface="Symbol" pitchFamily="2" charset="2"/>
              </a:rPr>
              <a:t>)</a:t>
            </a:r>
            <a:r>
              <a:rPr lang="en-US" altLang="ko-KR" sz="2400" b="1" baseline="-25000"/>
              <a:t> </a:t>
            </a:r>
            <a:r>
              <a:rPr lang="en-US" altLang="ko-KR" sz="2400" b="1">
                <a:sym typeface="Symbol" pitchFamily="2" charset="2"/>
              </a:rPr>
              <a:t></a:t>
            </a:r>
            <a:r>
              <a:rPr lang="en-US" altLang="ko-KR" sz="2400" b="1"/>
              <a:t>B</a:t>
            </a:r>
            <a:r>
              <a:rPr lang="en-US" altLang="ko-KR" sz="2400" b="1">
                <a:sym typeface="Symbol" pitchFamily="2" charset="2"/>
              </a:rPr>
              <a:t>) </a:t>
            </a:r>
          </a:p>
          <a:p>
            <a:pPr lvl="1" algn="just">
              <a:buFontTx/>
              <a:buNone/>
            </a:pPr>
            <a:r>
              <a:rPr lang="en-US" altLang="ko-KR" sz="2400" b="1"/>
              <a:t>A</a:t>
            </a:r>
            <a:r>
              <a:rPr lang="en-US" altLang="ko-KR" sz="2400" b="1" baseline="-25000"/>
              <a:t> </a:t>
            </a:r>
            <a:r>
              <a:rPr lang="en-US" altLang="ko-KR" sz="2400" b="1">
                <a:sym typeface="Symbol" pitchFamily="2" charset="2"/>
              </a:rPr>
              <a:t></a:t>
            </a:r>
            <a:r>
              <a:rPr lang="en-US" altLang="ko-KR" sz="2400" b="1"/>
              <a:t>B</a:t>
            </a:r>
            <a:r>
              <a:rPr lang="en-US" altLang="ko-KR" sz="2400" b="1">
                <a:sym typeface="Symbol" pitchFamily="2" charset="2"/>
              </a:rPr>
              <a:t> </a:t>
            </a:r>
            <a:r>
              <a:rPr lang="en-US" altLang="ko-KR" sz="2400" b="1"/>
              <a:t>C</a:t>
            </a:r>
            <a:r>
              <a:rPr lang="en-US" altLang="ko-KR" sz="2400" b="1" baseline="-25000"/>
              <a:t> 	</a:t>
            </a:r>
            <a:r>
              <a:rPr lang="en-US" altLang="ko-KR" sz="2400" b="1">
                <a:sym typeface="Symbol" pitchFamily="2" charset="2"/>
              </a:rPr>
              <a:t>for 	((</a:t>
            </a:r>
            <a:r>
              <a:rPr lang="en-US" altLang="ko-KR" sz="2400" b="1"/>
              <a:t>A</a:t>
            </a:r>
            <a:r>
              <a:rPr lang="en-US" altLang="ko-KR" sz="2400" b="1">
                <a:sym typeface="Symbol" pitchFamily="2" charset="2"/>
              </a:rPr>
              <a:t></a:t>
            </a:r>
            <a:r>
              <a:rPr lang="en-US" altLang="ko-KR" sz="2400" b="1"/>
              <a:t>B</a:t>
            </a:r>
            <a:r>
              <a:rPr lang="en-US" altLang="ko-KR" sz="2400" b="1">
                <a:sym typeface="Symbol" pitchFamily="2" charset="2"/>
              </a:rPr>
              <a:t>)  </a:t>
            </a:r>
            <a:r>
              <a:rPr lang="en-US" altLang="ko-KR" sz="2400" b="1"/>
              <a:t>C</a:t>
            </a:r>
            <a:r>
              <a:rPr lang="en-US" altLang="ko-KR" sz="2400" b="1">
                <a:sym typeface="Symbol" pitchFamily="2" charset="2"/>
              </a:rPr>
              <a:t>), </a:t>
            </a:r>
            <a:r>
              <a:rPr lang="en-US" altLang="ko-KR" sz="2400" b="1">
                <a:latin typeface="Times New Roman" panose="02020603050405020304" pitchFamily="18" charset="0"/>
                <a:sym typeface="Symbol" pitchFamily="2" charset="2"/>
              </a:rPr>
              <a:t>…</a:t>
            </a:r>
            <a:endParaRPr lang="en-US" altLang="ko-KR" sz="2400" b="1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1EA001-9AC8-DA3E-4139-4647AC5DA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Semantics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9CC7D45-BA95-76D7-A7B5-45C8AFBC7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Def) A truth assignment, </a:t>
            </a:r>
            <a:r>
              <a:rPr lang="en-US" altLang="ko-KR">
                <a:sym typeface="Symbol" pitchFamily="2" charset="2"/>
              </a:rPr>
              <a:t>, is an elements of 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(I.e.,   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).</a:t>
            </a:r>
          </a:p>
          <a:p>
            <a:r>
              <a:rPr lang="en-US" altLang="ko-KR">
                <a:sym typeface="Symbol" pitchFamily="2" charset="2"/>
              </a:rPr>
              <a:t>Two ways to think of truth assignment</a:t>
            </a:r>
          </a:p>
          <a:p>
            <a:pPr lvl="1"/>
            <a:r>
              <a:rPr lang="en-US" altLang="ko-KR">
                <a:sym typeface="Symbol" pitchFamily="2" charset="2"/>
              </a:rPr>
              <a:t>1) X ⊆ Prop</a:t>
            </a:r>
          </a:p>
          <a:p>
            <a:pPr lvl="1"/>
            <a:r>
              <a:rPr lang="en-US" altLang="ko-KR"/>
              <a:t>2) </a:t>
            </a:r>
            <a:r>
              <a:rPr lang="en-US" altLang="ko-KR">
                <a:sym typeface="Symbol" pitchFamily="2" charset="2"/>
              </a:rPr>
              <a:t> : Prop ↦ {0,1}</a:t>
            </a:r>
          </a:p>
          <a:p>
            <a:r>
              <a:rPr lang="en-US" altLang="ko-KR">
                <a:sym typeface="Symbol" pitchFamily="2" charset="2"/>
              </a:rPr>
              <a:t>Note : These notions are equivalence.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F2F9B1F-CA9A-1520-7011-A16720215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Philosopher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s view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015F599-0ACA-6792-F802-D4C9A037B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r>
              <a:rPr lang="en-US" altLang="ko-KR">
                <a:sym typeface="Symbol" pitchFamily="2" charset="2"/>
              </a:rPr>
              <a:t> </a:t>
            </a:r>
            <a:r>
              <a:rPr lang="en-US" altLang="ko-KR" sz="2900">
                <a:sym typeface="Symbol" pitchFamily="2" charset="2"/>
              </a:rPr>
              <a:t>|= p means</a:t>
            </a:r>
          </a:p>
          <a:p>
            <a:pPr lvl="1"/>
            <a:r>
              <a:rPr lang="en-US" altLang="ko-KR">
                <a:sym typeface="Symbol" pitchFamily="2" charset="2"/>
              </a:rPr>
              <a:t> </a:t>
            </a:r>
            <a:r>
              <a:rPr lang="en-US" altLang="ko-KR" sz="2500" b="1">
                <a:sym typeface="Symbol" pitchFamily="2" charset="2"/>
              </a:rPr>
              <a:t>satisfies p or</a:t>
            </a:r>
          </a:p>
          <a:p>
            <a:pPr lvl="1"/>
            <a:r>
              <a:rPr lang="en-US" altLang="ko-KR" b="1">
                <a:sym typeface="Symbol" pitchFamily="2" charset="2"/>
              </a:rPr>
              <a:t> </a:t>
            </a:r>
            <a:r>
              <a:rPr lang="en-US" altLang="ko-KR" sz="2500" b="1">
                <a:sym typeface="Symbol" pitchFamily="2" charset="2"/>
              </a:rPr>
              <a:t>is true of p or</a:t>
            </a:r>
          </a:p>
          <a:p>
            <a:pPr lvl="1"/>
            <a:r>
              <a:rPr lang="en-US" altLang="ko-KR" sz="2500" b="1">
                <a:sym typeface="Symbol" pitchFamily="2" charset="2"/>
              </a:rPr>
              <a:t>p holds at </a:t>
            </a:r>
            <a:r>
              <a:rPr lang="en-US" altLang="ko-KR" b="1">
                <a:sym typeface="Symbol" pitchFamily="2" charset="2"/>
              </a:rPr>
              <a:t> </a:t>
            </a:r>
            <a:r>
              <a:rPr lang="en-US" altLang="ko-KR" sz="2500" b="1">
                <a:sym typeface="Symbol" pitchFamily="2" charset="2"/>
              </a:rPr>
              <a:t>or</a:t>
            </a:r>
          </a:p>
          <a:p>
            <a:pPr lvl="1"/>
            <a:r>
              <a:rPr lang="en-US" altLang="ko-KR" b="1">
                <a:sym typeface="Symbol" pitchFamily="2" charset="2"/>
              </a:rPr>
              <a:t> </a:t>
            </a:r>
            <a:r>
              <a:rPr lang="en-US" altLang="ko-KR" sz="2500" b="1">
                <a:sym typeface="Symbol" pitchFamily="2" charset="2"/>
              </a:rPr>
              <a:t>is a model of 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48757CC-1AAC-12C5-F74C-20362EC72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Satisfaction Relation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13E54D5-0577-99DE-0682-E9F216C08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Def 1) |= ⊆ (2</a:t>
            </a:r>
            <a:r>
              <a:rPr lang="en-US" altLang="ko-KR" baseline="30000"/>
              <a:t>Prop</a:t>
            </a:r>
            <a:r>
              <a:rPr lang="en-US" altLang="ko-KR"/>
              <a:t> x Form)</a:t>
            </a:r>
          </a:p>
          <a:p>
            <a:pPr lvl="1"/>
            <a:r>
              <a:rPr lang="en-US" altLang="ko-KR">
                <a:sym typeface="Symbol" pitchFamily="2" charset="2"/>
              </a:rPr>
              <a:t> |= A if  (A) =1 (or, A  )</a:t>
            </a:r>
          </a:p>
          <a:p>
            <a:pPr lvl="1"/>
            <a:r>
              <a:rPr lang="en-US" altLang="ko-KR">
                <a:sym typeface="Symbol" pitchFamily="2" charset="2"/>
              </a:rPr>
              <a:t> |= p if it is not the case  |= p.</a:t>
            </a:r>
          </a:p>
          <a:p>
            <a:pPr lvl="1"/>
            <a:r>
              <a:rPr lang="en-US" altLang="ko-KR">
                <a:sym typeface="Symbol" pitchFamily="2" charset="2"/>
              </a:rPr>
              <a:t> |= p</a:t>
            </a:r>
            <a:r>
              <a:rPr lang="en-US" altLang="ko-KR" b="1">
                <a:sym typeface="Symbol" pitchFamily="2" charset="2"/>
              </a:rPr>
              <a:t></a:t>
            </a:r>
            <a:r>
              <a:rPr lang="en-US" altLang="ko-KR">
                <a:sym typeface="Symbol" pitchFamily="2" charset="2"/>
              </a:rPr>
              <a:t>q if  |= p and  |= q </a:t>
            </a:r>
          </a:p>
          <a:p>
            <a:pPr lvl="1"/>
            <a:r>
              <a:rPr lang="en-US" altLang="ko-KR">
                <a:sym typeface="Symbol" pitchFamily="2" charset="2"/>
              </a:rPr>
              <a:t> |= p </a:t>
            </a:r>
            <a:r>
              <a:rPr lang="en-US" altLang="ko-KR" b="1">
                <a:sym typeface="Symbol" pitchFamily="2" charset="2"/>
              </a:rPr>
              <a:t></a:t>
            </a:r>
            <a:r>
              <a:rPr lang="en-US" altLang="ko-KR">
                <a:sym typeface="Symbol" pitchFamily="2" charset="2"/>
              </a:rPr>
              <a:t> q if  |= p or  |= q </a:t>
            </a:r>
          </a:p>
          <a:p>
            <a:pPr lvl="1"/>
            <a:r>
              <a:rPr lang="en-US" altLang="ko-KR">
                <a:sym typeface="Symbol" pitchFamily="2" charset="2"/>
              </a:rPr>
              <a:t> |= p  q if  |= p implies  |= q</a:t>
            </a:r>
          </a:p>
          <a:p>
            <a:pPr lvl="1"/>
            <a:r>
              <a:rPr lang="en-US" altLang="ko-KR">
                <a:sym typeface="Symbol" pitchFamily="2" charset="2"/>
              </a:rPr>
              <a:t> |= p  q if  |= p iff  |= q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1C28937-54F2-B5D0-113C-E52627834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Satisfaction Relation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122430E-38CD-29BF-65D5-4E2ADE457D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{A,B} |= </a:t>
            </a:r>
            <a:r>
              <a:rPr lang="en-US" altLang="ko-KR">
                <a:sym typeface="Symbol" pitchFamily="2" charset="2"/>
              </a:rPr>
              <a:t>A </a:t>
            </a:r>
            <a:r>
              <a:rPr lang="en-US" altLang="ko-KR" b="1">
                <a:sym typeface="Symbol" pitchFamily="2" charset="2"/>
              </a:rPr>
              <a:t></a:t>
            </a:r>
            <a:r>
              <a:rPr lang="en-US" altLang="ko-KR">
                <a:sym typeface="Symbol" pitchFamily="2" charset="2"/>
              </a:rPr>
              <a:t> B</a:t>
            </a:r>
          </a:p>
          <a:p>
            <a:pPr lvl="1"/>
            <a:r>
              <a:rPr lang="en-US" altLang="ko-KR">
                <a:sym typeface="Symbol" pitchFamily="2" charset="2"/>
              </a:rPr>
              <a:t>Iff {A,B} |= A  and {A,B} |= B</a:t>
            </a:r>
          </a:p>
          <a:p>
            <a:pPr lvl="1"/>
            <a:r>
              <a:rPr lang="en-US" altLang="ko-KR">
                <a:sym typeface="Symbol" pitchFamily="2" charset="2"/>
              </a:rPr>
              <a:t>Iff A  {A,B} and B  {A,B}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983258E-4BF2-E26A-CC7F-C4459B064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Electrical Engineer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s view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8F98FB9-3C6C-26CA-BDF9-9835AD492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ym typeface="Symbol" pitchFamily="2" charset="2"/>
              </a:rPr>
              <a:t>A mapping of voltages on a wire  : Prop  {0,1} </a:t>
            </a:r>
          </a:p>
          <a:p>
            <a:pPr lvl="1"/>
            <a:r>
              <a:rPr lang="en-US" altLang="ko-KR">
                <a:sym typeface="Symbol" pitchFamily="2" charset="2"/>
              </a:rPr>
              <a:t>: {0,1}  {0,1}</a:t>
            </a:r>
          </a:p>
          <a:p>
            <a:pPr lvl="2"/>
            <a:r>
              <a:rPr lang="en-US" altLang="ko-KR" b="1">
                <a:sym typeface="Symbol" pitchFamily="2" charset="2"/>
              </a:rPr>
              <a:t>(0) = 1 and (1) = 0</a:t>
            </a:r>
          </a:p>
          <a:p>
            <a:pPr lvl="1"/>
            <a:r>
              <a:rPr lang="en-US" altLang="ko-KR">
                <a:sym typeface="Symbol" pitchFamily="2" charset="2"/>
              </a:rPr>
              <a:t>: {0,1}</a:t>
            </a:r>
            <a:r>
              <a:rPr lang="en-US" altLang="ko-KR" baseline="30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  {0,1}</a:t>
            </a:r>
          </a:p>
          <a:p>
            <a:pPr lvl="2"/>
            <a:r>
              <a:rPr lang="en-US" altLang="ko-KR" b="1">
                <a:sym typeface="Symbol" pitchFamily="2" charset="2"/>
              </a:rPr>
              <a:t>(0,0)= (0,1)= (1,0)=0 and (1,1)=1</a:t>
            </a:r>
          </a:p>
          <a:p>
            <a:pPr lvl="1"/>
            <a:r>
              <a:rPr lang="en-US" altLang="ko-KR" b="1">
                <a:sym typeface="Symbol" pitchFamily="2" charset="2"/>
              </a:rPr>
              <a:t> : </a:t>
            </a:r>
            <a:r>
              <a:rPr lang="en-US" altLang="ko-KR">
                <a:sym typeface="Symbol" pitchFamily="2" charset="2"/>
              </a:rPr>
              <a:t>{0,1}</a:t>
            </a:r>
            <a:r>
              <a:rPr lang="en-US" altLang="ko-KR" baseline="30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  {0,1}</a:t>
            </a:r>
          </a:p>
          <a:p>
            <a:pPr lvl="2"/>
            <a:r>
              <a:rPr lang="en-US" altLang="ko-KR" b="1">
                <a:sym typeface="Symbol" pitchFamily="2" charset="2"/>
              </a:rPr>
              <a:t>(1,1)= (0,1)= (1,0)=1 and (0,0)=0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BF79EAD-78C0-2A27-8185-5FF4B91E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Semantics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B8BF131-ECAB-DF55-40F2-6971D05BC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Def 2)</a:t>
            </a:r>
          </a:p>
          <a:p>
            <a:pPr lvl="1"/>
            <a:r>
              <a:rPr lang="en-US" altLang="ko-KR"/>
              <a:t>A(</a:t>
            </a:r>
            <a:r>
              <a:rPr lang="en-US" altLang="ko-KR">
                <a:sym typeface="Symbol" pitchFamily="2" charset="2"/>
              </a:rPr>
              <a:t>) = (A)</a:t>
            </a:r>
          </a:p>
          <a:p>
            <a:pPr lvl="1"/>
            <a:r>
              <a:rPr lang="en-US" altLang="ko-KR">
                <a:sym typeface="Symbol" pitchFamily="2" charset="2"/>
              </a:rPr>
              <a:t>(p)() = (p())</a:t>
            </a:r>
          </a:p>
          <a:p>
            <a:pPr lvl="1"/>
            <a:r>
              <a:rPr lang="en-US" altLang="ko-KR">
                <a:sym typeface="Symbol" pitchFamily="2" charset="2"/>
              </a:rPr>
              <a:t>(p o q)() = o(p(), q())</a:t>
            </a:r>
          </a:p>
          <a:p>
            <a:pPr lvl="1">
              <a:buFontTx/>
              <a:buNone/>
            </a:pPr>
            <a:endParaRPr lang="en-US" altLang="ko-KR">
              <a:sym typeface="Symbol" pitchFamily="2" charset="2"/>
            </a:endParaRPr>
          </a:p>
          <a:p>
            <a:r>
              <a:rPr lang="en-US" altLang="ko-KR">
                <a:sym typeface="Symbol" pitchFamily="2" charset="2"/>
              </a:rPr>
              <a:t>Lemma) Let p  Form and   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, then  |= p iff p() = 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E655FB8-3451-7393-2817-71E8A3004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Software Engineer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s view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103DBCC-DDF5-59BF-8510-4C4E72687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800"/>
              <a:t>Intuition : a formula specifies a set of truth assignments.</a:t>
            </a:r>
          </a:p>
          <a:p>
            <a:r>
              <a:rPr lang="en-US" altLang="ko-KR" sz="2800"/>
              <a:t>Def 3) Function Models : From </a:t>
            </a:r>
            <a:r>
              <a:rPr lang="en-US" altLang="ko-KR" sz="2800">
                <a:sym typeface="Symbol" pitchFamily="2" charset="2"/>
              </a:rPr>
              <a:t> 2</a:t>
            </a:r>
            <a:r>
              <a:rPr lang="en-US" altLang="ko-KR" sz="2800" b="1" baseline="30000">
                <a:sym typeface="Symbol" pitchFamily="2" charset="2"/>
              </a:rPr>
              <a:t>2</a:t>
            </a:r>
            <a:r>
              <a:rPr lang="en-US" altLang="ko-KR" sz="2800" b="1" baseline="50000">
                <a:sym typeface="Symbol" pitchFamily="2" charset="2"/>
              </a:rPr>
              <a:t>Prop</a:t>
            </a:r>
          </a:p>
          <a:p>
            <a:pPr lvl="1"/>
            <a:r>
              <a:rPr lang="en-US" altLang="ko-KR" sz="2400" b="1">
                <a:sym typeface="Symbol" pitchFamily="2" charset="2"/>
              </a:rPr>
              <a:t>models(A) = { |(A) = 1}, A  Prop</a:t>
            </a:r>
          </a:p>
          <a:p>
            <a:pPr lvl="1"/>
            <a:r>
              <a:rPr lang="en-US" altLang="ko-KR" sz="2400" b="1">
                <a:sym typeface="Symbol" pitchFamily="2" charset="2"/>
              </a:rPr>
              <a:t>models(p) = 2</a:t>
            </a:r>
            <a:r>
              <a:rPr lang="en-US" altLang="ko-KR" sz="2400" b="1" baseline="30000">
                <a:sym typeface="Symbol" pitchFamily="2" charset="2"/>
              </a:rPr>
              <a:t>Prop</a:t>
            </a:r>
            <a:r>
              <a:rPr lang="en-US" altLang="ko-KR" sz="2400" b="1">
                <a:sym typeface="Symbol" pitchFamily="2" charset="2"/>
              </a:rPr>
              <a:t> </a:t>
            </a:r>
            <a:r>
              <a:rPr lang="en-US" altLang="ko-KR" sz="2400" b="1">
                <a:latin typeface="Times New Roman" panose="02020603050405020304" pitchFamily="18" charset="0"/>
                <a:sym typeface="Symbol" pitchFamily="2" charset="2"/>
              </a:rPr>
              <a:t>–</a:t>
            </a:r>
            <a:r>
              <a:rPr lang="en-US" altLang="ko-KR" sz="2400" b="1">
                <a:sym typeface="Symbol" pitchFamily="2" charset="2"/>
              </a:rPr>
              <a:t> models(p)</a:t>
            </a:r>
          </a:p>
          <a:p>
            <a:pPr lvl="1"/>
            <a:r>
              <a:rPr lang="en-US" altLang="ko-KR" sz="2400" b="1">
                <a:sym typeface="Symbol" pitchFamily="2" charset="2"/>
              </a:rPr>
              <a:t>models(pq) = models(p)  models(q)</a:t>
            </a:r>
          </a:p>
          <a:p>
            <a:pPr lvl="1"/>
            <a:r>
              <a:rPr lang="en-US" altLang="ko-KR" sz="2400" b="1">
                <a:sym typeface="Symbol" pitchFamily="2" charset="2"/>
              </a:rPr>
              <a:t>models(pq) = models(p)  models(q)</a:t>
            </a:r>
          </a:p>
          <a:p>
            <a:pPr lvl="1"/>
            <a:r>
              <a:rPr lang="en-US" altLang="ko-KR" sz="2400" b="1">
                <a:sym typeface="Symbol" pitchFamily="2" charset="2"/>
              </a:rPr>
              <a:t>models(pq) = (2</a:t>
            </a:r>
            <a:r>
              <a:rPr lang="en-US" altLang="ko-KR" sz="2400" b="1" baseline="30000">
                <a:sym typeface="Symbol" pitchFamily="2" charset="2"/>
              </a:rPr>
              <a:t>Prop</a:t>
            </a:r>
            <a:r>
              <a:rPr lang="en-US" altLang="ko-KR" sz="2400" b="1">
                <a:sym typeface="Symbol" pitchFamily="2" charset="2"/>
              </a:rPr>
              <a:t> </a:t>
            </a:r>
            <a:r>
              <a:rPr lang="en-US" altLang="ko-KR" sz="2400" b="1">
                <a:latin typeface="Times New Roman" panose="02020603050405020304" pitchFamily="18" charset="0"/>
                <a:sym typeface="Symbol" pitchFamily="2" charset="2"/>
              </a:rPr>
              <a:t>–</a:t>
            </a:r>
            <a:r>
              <a:rPr lang="en-US" altLang="ko-KR" sz="2400" b="1">
                <a:sym typeface="Symbol" pitchFamily="2" charset="2"/>
              </a:rPr>
              <a:t> models(p))  models(q)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02C4991-65C1-B8A6-C745-733A62EA0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Theorem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F27A64F-EF9F-665A-F6D4-93F7648DF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Let </a:t>
            </a:r>
            <a:r>
              <a:rPr lang="en-US" altLang="ko-KR">
                <a:sym typeface="Symbol" pitchFamily="2" charset="2"/>
              </a:rPr>
              <a:t>p  Form and   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, then the following statements are all true:</a:t>
            </a:r>
          </a:p>
          <a:p>
            <a:pPr lvl="1"/>
            <a:r>
              <a:rPr lang="en-US" altLang="ko-KR">
                <a:sym typeface="Symbol" pitchFamily="2" charset="2"/>
              </a:rPr>
              <a:t>1.  |= p</a:t>
            </a:r>
          </a:p>
          <a:p>
            <a:pPr lvl="1"/>
            <a:r>
              <a:rPr lang="en-US" altLang="ko-KR">
                <a:sym typeface="Symbol" pitchFamily="2" charset="2"/>
              </a:rPr>
              <a:t>2. p() = 1</a:t>
            </a:r>
          </a:p>
          <a:p>
            <a:pPr lvl="1"/>
            <a:r>
              <a:rPr lang="en-US" altLang="ko-KR">
                <a:sym typeface="Symbol" pitchFamily="2" charset="2"/>
              </a:rPr>
              <a:t>3.   models(p)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2D44345-9FD5-9A0F-2662-8AF1501E3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Relevance Lemma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C95EADB-3733-8CCC-5F37-B94D91BD7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Let</a:t>
            </a:r>
            <a:r>
              <a:rPr lang="en-US" altLang="ko-KR">
                <a:latin typeface="Times New Roman" panose="02020603050405020304" pitchFamily="18" charset="0"/>
              </a:rPr>
              <a:t>’</a:t>
            </a:r>
            <a:r>
              <a:rPr lang="en-US" altLang="ko-KR"/>
              <a:t>s use AP(p) to denote the set of all propositional symbols occurred in p. Let </a:t>
            </a:r>
            <a:r>
              <a:rPr lang="en-US" altLang="ko-KR">
                <a:sym typeface="Symbol" pitchFamily="2" charset="2"/>
              </a:rPr>
              <a:t>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, 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  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, pForm.</a:t>
            </a:r>
          </a:p>
          <a:p>
            <a:r>
              <a:rPr lang="en-US" altLang="ko-KR">
                <a:sym typeface="Symbol" pitchFamily="2" charset="2"/>
              </a:rPr>
              <a:t>Lemma)  if 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|</a:t>
            </a:r>
            <a:r>
              <a:rPr lang="en-US" altLang="ko-KR" baseline="-25000">
                <a:sym typeface="Symbol" pitchFamily="2" charset="2"/>
              </a:rPr>
              <a:t>AP(p) </a:t>
            </a:r>
            <a:r>
              <a:rPr lang="en-US" altLang="ko-KR">
                <a:sym typeface="Symbol" pitchFamily="2" charset="2"/>
              </a:rPr>
              <a:t>= 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|</a:t>
            </a:r>
            <a:r>
              <a:rPr lang="en-US" altLang="ko-KR" baseline="-25000">
                <a:sym typeface="Symbol" pitchFamily="2" charset="2"/>
              </a:rPr>
              <a:t>AP(p) </a:t>
            </a:r>
            <a:r>
              <a:rPr lang="en-US" altLang="ko-KR">
                <a:sym typeface="Symbol" pitchFamily="2" charset="2"/>
              </a:rPr>
              <a:t>, then</a:t>
            </a:r>
            <a:r>
              <a:rPr lang="en-US" altLang="ko-KR" baseline="-25000">
                <a:sym typeface="Symbol" pitchFamily="2" charset="2"/>
              </a:rPr>
              <a:t> </a:t>
            </a:r>
          </a:p>
          <a:p>
            <a:pPr>
              <a:buFontTx/>
              <a:buNone/>
            </a:pPr>
            <a:r>
              <a:rPr lang="en-US" altLang="ko-KR" baseline="-25000">
                <a:sym typeface="Symbol" pitchFamily="2" charset="2"/>
              </a:rPr>
              <a:t>                            </a:t>
            </a:r>
            <a:r>
              <a:rPr lang="en-US" altLang="ko-KR">
                <a:sym typeface="Symbol" pitchFamily="2" charset="2"/>
              </a:rPr>
              <a:t>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|= p iff</a:t>
            </a:r>
            <a:r>
              <a:rPr lang="en-US" altLang="ko-KR" baseline="-25000"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 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 |= p</a:t>
            </a:r>
          </a:p>
          <a:p>
            <a:pPr>
              <a:buFontTx/>
              <a:buNone/>
            </a:pPr>
            <a:endParaRPr lang="en-US" altLang="ko-KR">
              <a:sym typeface="Symbol" pitchFamily="2" charset="2"/>
            </a:endParaRPr>
          </a:p>
          <a:p>
            <a:pPr>
              <a:buFontTx/>
              <a:buNone/>
            </a:pPr>
            <a:r>
              <a:rPr lang="en-US" altLang="ko-KR">
                <a:sym typeface="Symbol" pitchFamily="2" charset="2"/>
              </a:rPr>
              <a:t>   Corollary) |</a:t>
            </a:r>
            <a:r>
              <a:rPr lang="en-US" altLang="ko-KR" baseline="-25000"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= p iff |</a:t>
            </a:r>
            <a:r>
              <a:rPr lang="en-US" altLang="ko-KR" baseline="-25000">
                <a:sym typeface="Symbol" pitchFamily="2" charset="2"/>
              </a:rPr>
              <a:t>AP(p) </a:t>
            </a:r>
            <a:r>
              <a:rPr lang="en-US" altLang="ko-KR">
                <a:sym typeface="Symbol" pitchFamily="2" charset="2"/>
              </a:rPr>
              <a:t>|= 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D12B4BC-D5F6-9FF4-8C80-D5D2FC125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Algorithmic Perspective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5F77C01-60D4-18A0-2713-91D53B560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Truth Evaluation Problem</a:t>
            </a:r>
          </a:p>
          <a:p>
            <a:pPr lvl="1">
              <a:lnSpc>
                <a:spcPct val="90000"/>
              </a:lnSpc>
            </a:pPr>
            <a:r>
              <a:rPr lang="en-US" altLang="ko-KR"/>
              <a:t>Given p</a:t>
            </a:r>
            <a:r>
              <a:rPr lang="en-US" altLang="ko-KR">
                <a:sym typeface="Symbol" pitchFamily="2" charset="2"/>
              </a:rPr>
              <a:t>Form and </a:t>
            </a:r>
            <a:r>
              <a:rPr lang="en-US" altLang="ko-KR" baseline="30000"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</a:t>
            </a:r>
            <a:r>
              <a:rPr lang="en-US" altLang="ko-KR" baseline="30000"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 2</a:t>
            </a:r>
            <a:r>
              <a:rPr lang="en-US" altLang="ko-KR" baseline="30000">
                <a:sym typeface="Symbol" pitchFamily="2" charset="2"/>
              </a:rPr>
              <a:t>AP(p)</a:t>
            </a:r>
            <a:r>
              <a:rPr lang="en-US" altLang="ko-KR">
                <a:sym typeface="Symbol" pitchFamily="2" charset="2"/>
              </a:rPr>
              <a:t>,</a:t>
            </a:r>
            <a:r>
              <a:rPr lang="en-US" altLang="ko-KR" baseline="30000">
                <a:sym typeface="Symbol" pitchFamily="2" charset="2"/>
              </a:rPr>
              <a:t>                </a:t>
            </a:r>
            <a:r>
              <a:rPr lang="en-US" altLang="ko-KR">
                <a:sym typeface="Symbol" pitchFamily="2" charset="2"/>
              </a:rPr>
              <a:t>does  |= p ? Does p() = 1 ?</a:t>
            </a:r>
          </a:p>
          <a:p>
            <a:pPr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Eval(p, ):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If p  A, return (A).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If p  (q), return (Eval(q, ))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If p  (q o r), return o(Eval(p), Eval(q))</a:t>
            </a:r>
          </a:p>
          <a:p>
            <a:pPr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Eval uses polynomial time and space.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A8615EA-BC16-BC54-AA38-86988FB1A5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Extension of |=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223E931-900C-6629-B4C7-910076FB0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Let T </a:t>
            </a:r>
            <a:r>
              <a:rPr lang="en-US" altLang="ko-KR">
                <a:sym typeface="Symbol" pitchFamily="2" charset="2"/>
              </a:rPr>
              <a:t> 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, </a:t>
            </a:r>
            <a:r>
              <a:rPr lang="en-US" altLang="ko-KR" baseline="30000"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 Form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ko-KR" baseline="30000">
              <a:sym typeface="Symbol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Def) T |= p if T  models(p)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i.e., |=  2</a:t>
            </a:r>
            <a:r>
              <a:rPr lang="en-US" altLang="ko-KR" baseline="30000">
                <a:sym typeface="Symbol" pitchFamily="2" charset="2"/>
              </a:rPr>
              <a:t>2</a:t>
            </a:r>
            <a:r>
              <a:rPr lang="en-US" altLang="ko-KR" baseline="50000">
                <a:sym typeface="Symbol" pitchFamily="2" charset="2"/>
              </a:rPr>
              <a:t>Prop </a:t>
            </a:r>
            <a:r>
              <a:rPr lang="en-US" altLang="ko-KR">
                <a:sym typeface="Symbol" pitchFamily="2" charset="2"/>
              </a:rPr>
              <a:t>X Form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ko-KR">
              <a:sym typeface="Symbol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Def) T |=  if T  models()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models() = </a:t>
            </a:r>
            <a:r>
              <a:rPr lang="en-US" altLang="ko-KR" baseline="-10000">
                <a:sym typeface="Symbol" pitchFamily="2" charset="2"/>
              </a:rPr>
              <a:t>p </a:t>
            </a:r>
            <a:r>
              <a:rPr lang="en-US" altLang="ko-KR">
                <a:sym typeface="Symbol" pitchFamily="2" charset="2"/>
              </a:rPr>
              <a:t>models(p)</a:t>
            </a:r>
          </a:p>
          <a:p>
            <a:pPr lvl="1">
              <a:lnSpc>
                <a:spcPct val="90000"/>
              </a:lnSpc>
            </a:pPr>
            <a:r>
              <a:rPr lang="en-US" altLang="ko-KR">
                <a:sym typeface="Symbol" pitchFamily="2" charset="2"/>
              </a:rPr>
              <a:t>I.e., |=  2</a:t>
            </a:r>
            <a:r>
              <a:rPr lang="en-US" altLang="ko-KR" baseline="30000">
                <a:sym typeface="Symbol" pitchFamily="2" charset="2"/>
              </a:rPr>
              <a:t>2</a:t>
            </a:r>
            <a:r>
              <a:rPr lang="en-US" altLang="ko-KR" baseline="50000">
                <a:sym typeface="Symbol" pitchFamily="2" charset="2"/>
              </a:rPr>
              <a:t>Prop </a:t>
            </a:r>
            <a:r>
              <a:rPr lang="en-US" altLang="ko-KR">
                <a:sym typeface="Symbol" pitchFamily="2" charset="2"/>
              </a:rPr>
              <a:t>X 2</a:t>
            </a:r>
            <a:r>
              <a:rPr lang="en-US" altLang="ko-KR" baseline="30000">
                <a:sym typeface="Symbol" pitchFamily="2" charset="2"/>
              </a:rPr>
              <a:t>Form</a:t>
            </a:r>
            <a:endParaRPr lang="en-US" altLang="ko-KR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186541E-4DD8-207D-EA57-2488721B4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Extension of |=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5EA501-0C3A-D1FE-DB96-6E621D738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ym typeface="Symbol" pitchFamily="2" charset="2"/>
              </a:rPr>
              <a:t>|=   2</a:t>
            </a:r>
            <a:r>
              <a:rPr lang="en-US" altLang="ko-KR" baseline="30000">
                <a:sym typeface="Symbol" pitchFamily="2" charset="2"/>
              </a:rPr>
              <a:t>Form</a:t>
            </a:r>
            <a:r>
              <a:rPr lang="en-US" altLang="ko-KR">
                <a:sym typeface="Symbol" pitchFamily="2" charset="2"/>
              </a:rPr>
              <a:t> x 2</a:t>
            </a:r>
            <a:r>
              <a:rPr lang="en-US" altLang="ko-KR" baseline="30000">
                <a:sym typeface="Symbol" pitchFamily="2" charset="2"/>
              </a:rPr>
              <a:t>Form</a:t>
            </a:r>
            <a:endParaRPr lang="en-US" altLang="ko-KR">
              <a:sym typeface="Symbol" pitchFamily="2" charset="2"/>
            </a:endParaRPr>
          </a:p>
          <a:p>
            <a:r>
              <a:rPr lang="en-US" altLang="ko-KR">
                <a:sym typeface="Symbol" pitchFamily="2" charset="2"/>
              </a:rPr>
              <a:t>Def) 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 |= 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 </a:t>
            </a:r>
          </a:p>
          <a:p>
            <a:pPr>
              <a:buFontTx/>
              <a:buNone/>
            </a:pPr>
            <a:r>
              <a:rPr lang="en-US" altLang="ko-KR">
                <a:sym typeface="Symbol" pitchFamily="2" charset="2"/>
              </a:rPr>
              <a:t>          iff models(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)  models(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) </a:t>
            </a:r>
          </a:p>
          <a:p>
            <a:pPr>
              <a:buFontTx/>
              <a:buNone/>
            </a:pPr>
            <a:r>
              <a:rPr lang="en-US" altLang="ko-KR">
                <a:sym typeface="Symbol" pitchFamily="2" charset="2"/>
              </a:rPr>
              <a:t>          Iff for all   2</a:t>
            </a:r>
            <a:r>
              <a:rPr lang="en-US" altLang="ko-KR" baseline="30000">
                <a:sym typeface="Symbol" pitchFamily="2" charset="2"/>
              </a:rPr>
              <a:t>Prop</a:t>
            </a:r>
          </a:p>
          <a:p>
            <a:pPr>
              <a:buFontTx/>
              <a:buNone/>
            </a:pPr>
            <a:r>
              <a:rPr lang="en-US" altLang="ko-KR" baseline="30000">
                <a:sym typeface="Symbol" pitchFamily="2" charset="2"/>
              </a:rPr>
              <a:t>                            </a:t>
            </a:r>
            <a:r>
              <a:rPr lang="en-US" altLang="ko-KR">
                <a:sym typeface="Symbol" pitchFamily="2" charset="2"/>
              </a:rPr>
              <a:t> if  |= 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 then  |= 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88EFC50-49C3-0FE6-19A0-654EB7023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Semantic Classification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FDA8F3A-CF07-0AAC-ACCA-948EC7D9B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 formula p is called </a:t>
            </a:r>
            <a:r>
              <a:rPr lang="en-US" altLang="ko-KR">
                <a:solidFill>
                  <a:srgbClr val="FF0000"/>
                </a:solidFill>
              </a:rPr>
              <a:t>valid</a:t>
            </a:r>
            <a:r>
              <a:rPr lang="en-US" altLang="ko-KR"/>
              <a:t> if models(p) = </a:t>
            </a:r>
            <a:r>
              <a:rPr lang="en-US" altLang="ko-KR">
                <a:sym typeface="Symbol" pitchFamily="2" charset="2"/>
              </a:rPr>
              <a:t>2</a:t>
            </a:r>
            <a:r>
              <a:rPr lang="en-US" altLang="ko-KR" baseline="30000">
                <a:sym typeface="Symbol" pitchFamily="2" charset="2"/>
              </a:rPr>
              <a:t>Prop</a:t>
            </a:r>
            <a:r>
              <a:rPr lang="en-US" altLang="ko-KR">
                <a:sym typeface="Symbol" pitchFamily="2" charset="2"/>
              </a:rPr>
              <a:t>. We denote validity of the formula p by |=p</a:t>
            </a:r>
          </a:p>
          <a:p>
            <a:r>
              <a:rPr lang="en-US" altLang="ko-KR">
                <a:sym typeface="Symbol" pitchFamily="2" charset="2"/>
              </a:rPr>
              <a:t>A formula p is called 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satisfiable</a:t>
            </a:r>
            <a:r>
              <a:rPr lang="en-US" altLang="ko-KR">
                <a:sym typeface="Symbol" pitchFamily="2" charset="2"/>
              </a:rPr>
              <a:t> if models(p) ≠ . </a:t>
            </a:r>
          </a:p>
          <a:p>
            <a:r>
              <a:rPr lang="en-US" altLang="ko-KR">
                <a:sym typeface="Symbol" pitchFamily="2" charset="2"/>
              </a:rPr>
              <a:t>A formula is not satisfiable is called 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unsatisfiable</a:t>
            </a:r>
            <a:r>
              <a:rPr lang="en-US" altLang="ko-KR">
                <a:sym typeface="Symbol" pitchFamily="2" charset="2"/>
              </a:rPr>
              <a:t> or 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contradiction</a:t>
            </a:r>
            <a:r>
              <a:rPr lang="en-US" altLang="ko-KR">
                <a:sym typeface="Symbol" pitchFamily="2" charset="2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802C105-B4CD-EC1E-ED6C-284859B79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Semantic Classification(II)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C6E823F-8CDE-3001-42C6-215F9CFAF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Lemma</a:t>
            </a:r>
          </a:p>
          <a:p>
            <a:pPr lvl="1"/>
            <a:r>
              <a:rPr lang="en-US" altLang="ko-KR"/>
              <a:t>A formula p is valid iff </a:t>
            </a:r>
            <a:r>
              <a:rPr lang="en-US" altLang="ko-KR">
                <a:sym typeface="Symbol" pitchFamily="2" charset="2"/>
              </a:rPr>
              <a:t>p is unsatifiable</a:t>
            </a:r>
          </a:p>
          <a:p>
            <a:pPr lvl="1"/>
            <a:r>
              <a:rPr lang="en-US" altLang="ko-KR">
                <a:sym typeface="Symbol" pitchFamily="2" charset="2"/>
              </a:rPr>
              <a:t>p is satisfiable iff p is not valid</a:t>
            </a:r>
          </a:p>
          <a:p>
            <a:pPr lvl="1">
              <a:buFontTx/>
              <a:buNone/>
            </a:pPr>
            <a:endParaRPr lang="en-US" altLang="ko-KR">
              <a:sym typeface="Symbol" pitchFamily="2" charset="2"/>
            </a:endParaRPr>
          </a:p>
          <a:p>
            <a:r>
              <a:rPr lang="en-US" altLang="ko-KR">
                <a:sym typeface="Symbol" pitchFamily="2" charset="2"/>
              </a:rPr>
              <a:t>Lemma</a:t>
            </a:r>
          </a:p>
          <a:p>
            <a:pPr lvl="1"/>
            <a:r>
              <a:rPr lang="en-US" altLang="ko-KR">
                <a:sym typeface="Symbol" pitchFamily="2" charset="2"/>
              </a:rPr>
              <a:t>p |= q iff |= (p  q)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95F073A-C41B-873C-945E-A5FDDB44B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Satisfiability Problem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00524EE-8461-1FF4-D426-0459143706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Given a p, is p satisfiable?</a:t>
            </a:r>
          </a:p>
          <a:p>
            <a:pPr>
              <a:lnSpc>
                <a:spcPct val="90000"/>
              </a:lnSpc>
            </a:pPr>
            <a:r>
              <a:rPr lang="en-US" altLang="ko-KR"/>
              <a:t>SAT(p)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ko-KR"/>
              <a:t>B:=0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ko-KR"/>
              <a:t>for all </a:t>
            </a:r>
            <a:r>
              <a:rPr lang="en-US" altLang="ko-KR">
                <a:sym typeface="Symbol" pitchFamily="2" charset="2"/>
              </a:rPr>
              <a:t>  </a:t>
            </a:r>
            <a:r>
              <a:rPr lang="en-US" altLang="ko-KR" b="1">
                <a:sym typeface="Symbol" pitchFamily="2" charset="2"/>
              </a:rPr>
              <a:t>2</a:t>
            </a:r>
            <a:r>
              <a:rPr lang="en-US" altLang="ko-KR" b="1" baseline="30000">
                <a:sym typeface="Symbol" pitchFamily="2" charset="2"/>
              </a:rPr>
              <a:t>AP(p)</a:t>
            </a:r>
            <a:r>
              <a:rPr lang="en-US" altLang="ko-KR" b="1">
                <a:sym typeface="Symbol" pitchFamily="2" charset="2"/>
              </a:rPr>
              <a:t> </a:t>
            </a:r>
            <a:endParaRPr lang="en-US" altLang="ko-KR" b="1"/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ko-KR" b="1"/>
              <a:t>B = B </a:t>
            </a:r>
            <a:r>
              <a:rPr lang="en-US" altLang="ko-KR" b="1">
                <a:sym typeface="Symbol" pitchFamily="2" charset="2"/>
              </a:rPr>
              <a:t> </a:t>
            </a:r>
            <a:r>
              <a:rPr lang="en-US" altLang="ko-KR" b="1"/>
              <a:t>Eval(p,</a:t>
            </a:r>
            <a:r>
              <a:rPr lang="en-US" altLang="ko-KR" b="1">
                <a:sym typeface="Symbol" pitchFamily="2" charset="2"/>
              </a:rPr>
              <a:t>)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ko-KR"/>
              <a:t>end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ko-KR"/>
              <a:t>return B</a:t>
            </a:r>
          </a:p>
          <a:p>
            <a:pPr>
              <a:lnSpc>
                <a:spcPct val="90000"/>
              </a:lnSpc>
            </a:pPr>
            <a:r>
              <a:rPr lang="en-US" altLang="ko-KR"/>
              <a:t>NP-Complete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94AFA2F-7336-E484-83D2-10E9E5C82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E7DA406-A249-FEED-D8C8-FF02BE711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>
                <a:sym typeface="Symbol" pitchFamily="2" charset="2"/>
              </a:rPr>
              <a:t>Formal Proofs. We introduce a notion of formal proof of a formula p: Natural Deduction.</a:t>
            </a:r>
          </a:p>
          <a:p>
            <a:pPr algn="just"/>
            <a:r>
              <a:rPr lang="en-US" altLang="ko-KR">
                <a:sym typeface="Symbol" pitchFamily="2" charset="2"/>
              </a:rPr>
              <a:t>A  formal proof of p is a tree whose root is labeled p and whose children are assumptions p</a:t>
            </a:r>
            <a:r>
              <a:rPr lang="en-US" altLang="ko-KR" baseline="-25000">
                <a:sym typeface="Symbol" pitchFamily="2" charset="2"/>
              </a:rPr>
              <a:t>1</a:t>
            </a:r>
            <a:r>
              <a:rPr lang="en-US" altLang="ko-KR">
                <a:sym typeface="Symbol" pitchFamily="2" charset="2"/>
              </a:rPr>
              <a:t>, p</a:t>
            </a:r>
            <a:r>
              <a:rPr lang="en-US" altLang="ko-KR" baseline="-25000">
                <a:sym typeface="Symbol" pitchFamily="2" charset="2"/>
              </a:rPr>
              <a:t>2</a:t>
            </a:r>
            <a:r>
              <a:rPr lang="en-US" altLang="ko-KR">
                <a:sym typeface="Symbol" pitchFamily="2" charset="2"/>
              </a:rPr>
              <a:t>, p</a:t>
            </a:r>
            <a:r>
              <a:rPr lang="en-US" altLang="ko-KR" baseline="-25000">
                <a:sym typeface="Symbol" pitchFamily="2" charset="2"/>
              </a:rPr>
              <a:t>3</a:t>
            </a:r>
            <a:r>
              <a:rPr lang="en-US" altLang="ko-KR">
                <a:sym typeface="Symbol" pitchFamily="2" charset="2"/>
              </a:rPr>
              <a:t>, </a:t>
            </a:r>
            <a:r>
              <a:rPr lang="en-US" altLang="ko-KR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ko-KR">
                <a:sym typeface="Symbol" pitchFamily="2" charset="2"/>
              </a:rPr>
              <a:t> of the rule r we used to conclude 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039D7DD-7A88-80F0-90DD-CFFA67927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2836954-D69D-FB8C-0DD2-7F014C849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900" b="1" i="1">
                <a:sym typeface="Symbol" pitchFamily="2" charset="2"/>
              </a:rPr>
              <a:t>Natural Deduction: Rules</a:t>
            </a:r>
            <a:r>
              <a:rPr lang="en-US" altLang="ko-KR" sz="2900">
                <a:sym typeface="Symbol" pitchFamily="2" charset="2"/>
              </a:rPr>
              <a:t>. For each logical symbol </a:t>
            </a:r>
            <a:r>
              <a:rPr lang="en-US" altLang="ko-KR" sz="2900">
                <a:solidFill>
                  <a:srgbClr val="FF0000"/>
                </a:solidFill>
                <a:sym typeface="Symbol" pitchFamily="2" charset="2"/>
              </a:rPr>
              <a:t>o=, , , </a:t>
            </a:r>
            <a:r>
              <a:rPr lang="en-US" altLang="ko-KR" sz="2900">
                <a:sym typeface="Symbol" pitchFamily="2" charset="2"/>
              </a:rPr>
              <a:t>, and each formula p</a:t>
            </a:r>
            <a:r>
              <a:rPr lang="en-US" altLang="ko-KR" sz="2900">
                <a:solidFill>
                  <a:srgbClr val="0000FF"/>
                </a:solidFill>
                <a:sym typeface="Symbol" pitchFamily="2" charset="2"/>
              </a:rPr>
              <a:t> </a:t>
            </a:r>
            <a:r>
              <a:rPr lang="en-US" altLang="ko-KR" sz="2900">
                <a:sym typeface="Symbol" pitchFamily="2" charset="2"/>
              </a:rPr>
              <a:t>with outermost connective o, we give:</a:t>
            </a:r>
          </a:p>
          <a:p>
            <a:pPr algn="just">
              <a:lnSpc>
                <a:spcPct val="90000"/>
              </a:lnSpc>
            </a:pPr>
            <a:r>
              <a:rPr lang="en-US" altLang="ko-KR" sz="2900">
                <a:sym typeface="Symbol" pitchFamily="2" charset="2"/>
              </a:rPr>
              <a:t>A set of Introduction rules for o, describing under which conditions p is true;</a:t>
            </a:r>
          </a:p>
          <a:p>
            <a:pPr algn="just">
              <a:lnSpc>
                <a:spcPct val="90000"/>
              </a:lnSpc>
            </a:pPr>
            <a:r>
              <a:rPr lang="en-US" altLang="ko-KR" sz="2900">
                <a:sym typeface="Symbol" pitchFamily="2" charset="2"/>
              </a:rPr>
              <a:t>A set of Elimination rules for o, describing what we may infer from the truth of p.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5A80F07-8843-A139-235A-1841C41C4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28212A2-B400-73E4-AD72-17B6EA026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500" b="1" i="1">
                <a:sym typeface="Symbol" pitchFamily="2" charset="2"/>
              </a:rPr>
              <a:t>Natural Deduction: notations for proofs.</a:t>
            </a:r>
          </a:p>
          <a:p>
            <a:pPr algn="just">
              <a:lnSpc>
                <a:spcPct val="90000"/>
              </a:lnSpc>
            </a:pPr>
            <a:r>
              <a:rPr lang="en-US" altLang="ko-KR" sz="2500">
                <a:sym typeface="Symbol" pitchFamily="2" charset="2"/>
              </a:rPr>
              <a:t>Let p be any formula, and  be a set of formulas. We use the notation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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latin typeface="Times New Roman" panose="02020603050405020304" pitchFamily="18" charset="0"/>
                <a:sym typeface="Symbol" pitchFamily="2" charset="2"/>
              </a:rPr>
              <a:t>…</a:t>
            </a:r>
            <a:endParaRPr lang="en-US" altLang="ko-KR" sz="2500">
              <a:sym typeface="Symbol" pitchFamily="2" charset="2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p</a:t>
            </a:r>
          </a:p>
          <a:p>
            <a:pPr algn="just">
              <a:lnSpc>
                <a:spcPct val="90000"/>
              </a:lnSpc>
            </a:pPr>
            <a:r>
              <a:rPr lang="en-US" altLang="ko-KR" sz="2500">
                <a:sym typeface="Symbol" pitchFamily="2" charset="2"/>
              </a:rPr>
              <a:t>abbreviated by </a:t>
            </a:r>
            <a:r>
              <a:rPr lang="en-US" altLang="ko-KR" sz="2500" b="1">
                <a:sym typeface="Symbol" pitchFamily="2" charset="2"/>
              </a:rPr>
              <a:t>|- p</a:t>
            </a:r>
            <a:r>
              <a:rPr lang="en-US" altLang="ko-KR" sz="2500">
                <a:sym typeface="Symbol" pitchFamily="2" charset="2"/>
              </a:rPr>
              <a:t>, for: </a:t>
            </a:r>
          </a:p>
          <a:p>
            <a:pPr algn="just">
              <a:lnSpc>
                <a:spcPct val="90000"/>
              </a:lnSpc>
            </a:pPr>
            <a:r>
              <a:rPr lang="en-US" altLang="ko-KR" sz="2500">
                <a:latin typeface="Times New Roman" panose="02020603050405020304" pitchFamily="18" charset="0"/>
                <a:sym typeface="Symbol" pitchFamily="2" charset="2"/>
              </a:rPr>
              <a:t>“</a:t>
            </a:r>
            <a:r>
              <a:rPr lang="en-US" altLang="ko-KR" sz="2500">
                <a:sym typeface="Symbol" pitchFamily="2" charset="2"/>
              </a:rPr>
              <a:t>there is a proof of p whose assumptions are included  in </a:t>
            </a:r>
            <a:r>
              <a:rPr lang="en-US" altLang="ko-KR" sz="2500">
                <a:latin typeface="Times New Roman" panose="02020603050405020304" pitchFamily="18" charset="0"/>
                <a:sym typeface="Symbol" pitchFamily="2" charset="2"/>
              </a:rPr>
              <a:t>”</a:t>
            </a:r>
            <a:r>
              <a:rPr lang="en-US" altLang="ko-KR" sz="2500">
                <a:sym typeface="Symbol" pitchFamily="2" charset="2"/>
              </a:rPr>
              <a:t>.</a:t>
            </a:r>
            <a:endParaRPr lang="en-US" altLang="ko-K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8F8878A-1874-C007-4DB0-9F34B43CD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5B4D27D-BB0E-4A86-128D-EF4E6635E8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sz="2800">
                <a:sym typeface="Symbol" pitchFamily="2" charset="2"/>
              </a:rPr>
              <a:t>Natural Deduction: assumptions of a proof</a:t>
            </a:r>
          </a:p>
          <a:p>
            <a:pPr algn="ctr">
              <a:buFontTx/>
              <a:buNone/>
            </a:pPr>
            <a:r>
              <a:rPr lang="en-US" altLang="ko-KR" sz="2800">
                <a:sym typeface="Symbol" pitchFamily="2" charset="2"/>
              </a:rPr>
              <a:t>p</a:t>
            </a:r>
            <a:r>
              <a:rPr lang="en-US" altLang="ko-KR" sz="2800" baseline="-25000">
                <a:sym typeface="Symbol" pitchFamily="2" charset="2"/>
              </a:rPr>
              <a:t>1</a:t>
            </a:r>
            <a:r>
              <a:rPr lang="en-US" altLang="ko-KR" sz="2800">
                <a:sym typeface="Symbol" pitchFamily="2" charset="2"/>
              </a:rPr>
              <a:t>       p</a:t>
            </a:r>
            <a:r>
              <a:rPr lang="en-US" altLang="ko-KR" sz="2800" baseline="-25000">
                <a:sym typeface="Symbol" pitchFamily="2" charset="2"/>
              </a:rPr>
              <a:t>2</a:t>
            </a:r>
            <a:r>
              <a:rPr lang="en-US" altLang="ko-KR" sz="2800">
                <a:sym typeface="Symbol" pitchFamily="2" charset="2"/>
              </a:rPr>
              <a:t>       p</a:t>
            </a:r>
            <a:r>
              <a:rPr lang="en-US" altLang="ko-KR" sz="2800" baseline="-25000">
                <a:sym typeface="Symbol" pitchFamily="2" charset="2"/>
              </a:rPr>
              <a:t>3</a:t>
            </a:r>
            <a:r>
              <a:rPr lang="en-US" altLang="ko-KR" sz="2800">
                <a:sym typeface="Symbol" pitchFamily="2" charset="2"/>
              </a:rPr>
              <a:t>       </a:t>
            </a:r>
            <a:r>
              <a:rPr lang="en-US" altLang="ko-KR" sz="2800">
                <a:latin typeface="Times New Roman" panose="02020603050405020304" pitchFamily="18" charset="0"/>
                <a:sym typeface="Symbol" pitchFamily="2" charset="2"/>
              </a:rPr>
              <a:t>…</a:t>
            </a:r>
            <a:endParaRPr lang="en-US" altLang="ko-KR" sz="2800">
              <a:sym typeface="Symbol" pitchFamily="2" charset="2"/>
            </a:endParaRPr>
          </a:p>
          <a:p>
            <a:pPr algn="ctr">
              <a:buFontTx/>
              <a:buNone/>
            </a:pPr>
            <a:r>
              <a:rPr lang="en-US" altLang="ko-KR" sz="2800">
                <a:sym typeface="Symbol" pitchFamily="2" charset="2"/>
              </a:rPr>
              <a:t>r --------------------------------</a:t>
            </a:r>
          </a:p>
          <a:p>
            <a:pPr algn="ctr">
              <a:buFontTx/>
              <a:buNone/>
            </a:pPr>
            <a:r>
              <a:rPr lang="en-US" altLang="ko-KR" sz="2800">
                <a:sym typeface="Symbol" pitchFamily="2" charset="2"/>
              </a:rPr>
              <a:t>p</a:t>
            </a:r>
          </a:p>
          <a:p>
            <a:pPr algn="just"/>
            <a:r>
              <a:rPr lang="en-US" altLang="ko-KR" sz="2800">
                <a:sym typeface="Symbol" pitchFamily="2" charset="2"/>
              </a:rPr>
              <a:t>are inductively defined as: </a:t>
            </a:r>
          </a:p>
          <a:p>
            <a:pPr algn="just"/>
            <a:r>
              <a:rPr lang="en-US" altLang="ko-KR" sz="2800">
                <a:sym typeface="Symbol" pitchFamily="2" charset="2"/>
              </a:rPr>
              <a:t>all assumptions of proofs of p</a:t>
            </a:r>
            <a:r>
              <a:rPr lang="en-US" altLang="ko-KR" sz="2800" baseline="-25000">
                <a:sym typeface="Symbol" pitchFamily="2" charset="2"/>
              </a:rPr>
              <a:t>1</a:t>
            </a:r>
            <a:r>
              <a:rPr lang="en-US" altLang="ko-KR" sz="2800">
                <a:sym typeface="Symbol" pitchFamily="2" charset="2"/>
              </a:rPr>
              <a:t>, p</a:t>
            </a:r>
            <a:r>
              <a:rPr lang="en-US" altLang="ko-KR" sz="2800" baseline="-25000">
                <a:sym typeface="Symbol" pitchFamily="2" charset="2"/>
              </a:rPr>
              <a:t>2</a:t>
            </a:r>
            <a:r>
              <a:rPr lang="en-US" altLang="ko-KR" sz="2800">
                <a:sym typeface="Symbol" pitchFamily="2" charset="2"/>
              </a:rPr>
              <a:t>, p</a:t>
            </a:r>
            <a:r>
              <a:rPr lang="en-US" altLang="ko-KR" sz="2800" baseline="-25000">
                <a:sym typeface="Symbol" pitchFamily="2" charset="2"/>
              </a:rPr>
              <a:t>3</a:t>
            </a:r>
            <a:r>
              <a:rPr lang="en-US" altLang="ko-KR" sz="2800">
                <a:sym typeface="Symbol" pitchFamily="2" charset="2"/>
              </a:rPr>
              <a:t>, </a:t>
            </a:r>
            <a:r>
              <a:rPr lang="en-US" altLang="ko-KR" sz="28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ko-KR" sz="2800">
                <a:sym typeface="Symbol" pitchFamily="2" charset="2"/>
              </a:rPr>
              <a:t>, minus all assumptions we </a:t>
            </a:r>
            <a:r>
              <a:rPr lang="en-US" altLang="ko-KR" sz="2800">
                <a:latin typeface="Times New Roman" panose="02020603050405020304" pitchFamily="18" charset="0"/>
                <a:sym typeface="Symbol" pitchFamily="2" charset="2"/>
              </a:rPr>
              <a:t>“</a:t>
            </a:r>
            <a:r>
              <a:rPr lang="en-US" altLang="ko-KR" sz="2800">
                <a:sym typeface="Symbol" pitchFamily="2" charset="2"/>
              </a:rPr>
              <a:t>crossed</a:t>
            </a:r>
            <a:r>
              <a:rPr lang="en-US" altLang="ko-KR" sz="2800">
                <a:latin typeface="Times New Roman" panose="02020603050405020304" pitchFamily="18" charset="0"/>
                <a:sym typeface="Symbol" pitchFamily="2" charset="2"/>
              </a:rPr>
              <a:t>”</a:t>
            </a:r>
            <a:r>
              <a:rPr lang="en-US" altLang="ko-KR" sz="2800">
                <a:sym typeface="Symbol" pitchFamily="2" charset="2"/>
              </a:rPr>
              <a:t>.</a:t>
            </a:r>
          </a:p>
          <a:p>
            <a:endParaRPr lang="en-US" altLang="ko-KR" sz="2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14C41D0-EFD1-65F2-9828-A4D3B5D0BA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3F4B112-8D5B-0E11-F7E8-66C503914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800">
                <a:sym typeface="Symbol" pitchFamily="2" charset="2"/>
              </a:rPr>
              <a:t>Identity Principle: The simplest proof is: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800">
                <a:sym typeface="Symbol" pitchFamily="2" charset="2"/>
              </a:rPr>
              <a:t>p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800">
                <a:sym typeface="Symbol" pitchFamily="2" charset="2"/>
              </a:rPr>
              <a:t>-----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800">
                <a:sym typeface="Symbol" pitchFamily="2" charset="2"/>
              </a:rPr>
              <a:t>p</a:t>
            </a:r>
          </a:p>
          <a:p>
            <a:pPr algn="just">
              <a:lnSpc>
                <a:spcPct val="90000"/>
              </a:lnSpc>
            </a:pPr>
            <a:r>
              <a:rPr lang="en-US" altLang="ko-KR" sz="2800">
                <a:sym typeface="Symbol" pitchFamily="2" charset="2"/>
              </a:rPr>
              <a:t>having 1 assumption, p, and conclusion the same p. </a:t>
            </a:r>
          </a:p>
          <a:p>
            <a:pPr algn="just">
              <a:lnSpc>
                <a:spcPct val="90000"/>
              </a:lnSpc>
            </a:pPr>
            <a:r>
              <a:rPr lang="en-US" altLang="ko-KR" sz="2800">
                <a:sym typeface="Symbol" pitchFamily="2" charset="2"/>
              </a:rPr>
              <a:t>We  may express it by: |-p, for all p</a:t>
            </a:r>
          </a:p>
          <a:p>
            <a:pPr algn="just">
              <a:lnSpc>
                <a:spcPct val="90000"/>
              </a:lnSpc>
            </a:pPr>
            <a:r>
              <a:rPr lang="en-US" altLang="ko-KR" sz="2800">
                <a:sym typeface="Symbol" pitchFamily="2" charset="2"/>
              </a:rPr>
              <a:t>We call this proof </a:t>
            </a:r>
            <a:r>
              <a:rPr lang="en-US" altLang="ko-KR" sz="2800">
                <a:latin typeface="Times New Roman" panose="02020603050405020304" pitchFamily="18" charset="0"/>
                <a:sym typeface="Symbol" pitchFamily="2" charset="2"/>
              </a:rPr>
              <a:t>“</a:t>
            </a:r>
            <a:r>
              <a:rPr lang="en-US" altLang="ko-KR" sz="2800">
                <a:sym typeface="Symbol" pitchFamily="2" charset="2"/>
              </a:rPr>
              <a:t>The Identity Principle</a:t>
            </a:r>
            <a:r>
              <a:rPr lang="en-US" altLang="ko-KR" sz="2800">
                <a:latin typeface="Times New Roman" panose="02020603050405020304" pitchFamily="18" charset="0"/>
                <a:sym typeface="Symbol" pitchFamily="2" charset="2"/>
              </a:rPr>
              <a:t>”</a:t>
            </a:r>
            <a:r>
              <a:rPr lang="en-US" altLang="ko-KR" sz="2800">
                <a:sym typeface="Symbol" pitchFamily="2" charset="2"/>
              </a:rPr>
              <a:t> (from p we derive p).</a:t>
            </a:r>
          </a:p>
          <a:p>
            <a:pPr>
              <a:lnSpc>
                <a:spcPct val="90000"/>
              </a:lnSpc>
            </a:pPr>
            <a:endParaRPr lang="en-US" altLang="ko-KR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55E7B74-E872-DF13-FEB8-A820B9A09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A7CB176-E9AE-FD94-BBA8-F9AC20003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900" b="1">
                <a:sym typeface="Symbol" pitchFamily="2" charset="2"/>
              </a:rPr>
              <a:t>Rules for </a:t>
            </a:r>
            <a:r>
              <a:rPr lang="en-US" altLang="ko-KR" sz="2900" b="1">
                <a:solidFill>
                  <a:srgbClr val="FF0000"/>
                </a:solidFill>
                <a:sym typeface="Symbol" pitchFamily="2" charset="2"/>
              </a:rPr>
              <a:t></a:t>
            </a:r>
            <a:endParaRPr lang="en-US" altLang="ko-KR" sz="2900" b="1">
              <a:sym typeface="Symbol" pitchFamily="2" charset="2"/>
            </a:endParaRPr>
          </a:p>
          <a:p>
            <a:pPr algn="just">
              <a:lnSpc>
                <a:spcPct val="90000"/>
              </a:lnSpc>
            </a:pPr>
            <a:r>
              <a:rPr lang="en-US" altLang="ko-KR" sz="2900" b="1">
                <a:sym typeface="Symbol" pitchFamily="2" charset="2"/>
              </a:rPr>
              <a:t>Introduction rules: </a:t>
            </a:r>
            <a:r>
              <a:rPr lang="en-US" altLang="ko-KR" sz="2900">
                <a:sym typeface="Symbol" pitchFamily="2" charset="2"/>
              </a:rPr>
              <a:t>none ( is always false).</a:t>
            </a:r>
          </a:p>
          <a:p>
            <a:pPr algn="just">
              <a:lnSpc>
                <a:spcPct val="90000"/>
              </a:lnSpc>
            </a:pPr>
            <a:r>
              <a:rPr lang="en-US" altLang="ko-KR" sz="2900" b="1">
                <a:sym typeface="Symbol" pitchFamily="2" charset="2"/>
              </a:rPr>
              <a:t>Elimination rules:</a:t>
            </a:r>
            <a:r>
              <a:rPr lang="en-US" altLang="ko-KR" sz="2900">
                <a:sym typeface="Symbol" pitchFamily="2" charset="2"/>
              </a:rPr>
              <a:t> from the truth of  (a contradiction) we derive everything: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 b="1">
                <a:solidFill>
                  <a:srgbClr val="FF0000"/>
                </a:solidFill>
                <a:sym typeface="Symbol" pitchFamily="2" charset="2"/>
              </a:rPr>
              <a:t></a:t>
            </a:r>
            <a:endParaRPr lang="en-US" altLang="ko-KR" sz="2900" b="1">
              <a:sym typeface="Symbol" pitchFamily="2" charset="2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>
                <a:sym typeface="Symbol" pitchFamily="2" charset="2"/>
              </a:rPr>
              <a:t>----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>
                <a:sym typeface="Symbol" pitchFamily="2" charset="2"/>
              </a:rPr>
              <a:t>p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900" b="1">
                <a:sym typeface="Symbol" pitchFamily="2" charset="2"/>
              </a:rPr>
              <a:t>If |- </a:t>
            </a:r>
            <a:r>
              <a:rPr lang="en-US" altLang="ko-KR" sz="2900" b="1">
                <a:solidFill>
                  <a:srgbClr val="FF0000"/>
                </a:solidFill>
                <a:sym typeface="Symbol" pitchFamily="2" charset="2"/>
              </a:rPr>
              <a:t></a:t>
            </a:r>
            <a:r>
              <a:rPr lang="en-US" altLang="ko-KR" sz="2900" b="1">
                <a:sym typeface="Symbol" pitchFamily="2" charset="2"/>
              </a:rPr>
              <a:t>, then |-p, for all p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en-US" altLang="ko-KR"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C80F599-9B52-1570-6C23-05D84D41E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142528D-45C2-A623-68A4-0039C5D0D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b="1">
                <a:sym typeface="Symbol" pitchFamily="2" charset="2"/>
              </a:rPr>
              <a:t>Rules for </a:t>
            </a:r>
            <a:r>
              <a:rPr lang="en-US" altLang="ko-KR" b="1">
                <a:solidFill>
                  <a:srgbClr val="FF0000"/>
                </a:solidFill>
                <a:sym typeface="Symbol" pitchFamily="2" charset="2"/>
              </a:rPr>
              <a:t></a:t>
            </a:r>
            <a:endParaRPr lang="en-US" altLang="ko-KR" b="1">
              <a:sym typeface="Symbol" pitchFamily="2" charset="2"/>
            </a:endParaRPr>
          </a:p>
          <a:p>
            <a:pPr algn="just"/>
            <a:r>
              <a:rPr lang="en-US" altLang="ko-KR" b="1">
                <a:sym typeface="Symbol" pitchFamily="2" charset="2"/>
              </a:rPr>
              <a:t>Introduction rules:</a:t>
            </a:r>
            <a:r>
              <a:rPr lang="en-US" altLang="ko-KR" b="1" i="1">
                <a:sym typeface="Symbol" pitchFamily="2" charset="2"/>
              </a:rPr>
              <a:t> </a:t>
            </a:r>
          </a:p>
          <a:p>
            <a:pPr algn="ctr">
              <a:buFontTx/>
              <a:buNone/>
            </a:pPr>
            <a:r>
              <a:rPr lang="en-US" altLang="ko-KR">
                <a:sym typeface="Symbol" pitchFamily="2" charset="2"/>
              </a:rPr>
              <a:t>p 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    </a:t>
            </a:r>
            <a:r>
              <a:rPr lang="en-US" altLang="ko-KR">
                <a:sym typeface="Symbol" pitchFamily="2" charset="2"/>
              </a:rPr>
              <a:t>q</a:t>
            </a:r>
          </a:p>
          <a:p>
            <a:pPr algn="ctr">
              <a:buFontTx/>
              <a:buNone/>
            </a:pPr>
            <a:r>
              <a:rPr lang="en-US" altLang="ko-KR">
                <a:sym typeface="Symbol" pitchFamily="2" charset="2"/>
              </a:rPr>
              <a:t>--------</a:t>
            </a:r>
          </a:p>
          <a:p>
            <a:pPr algn="ctr">
              <a:buFontTx/>
              <a:buNone/>
            </a:pPr>
            <a:r>
              <a:rPr lang="en-US" altLang="ko-KR">
                <a:sym typeface="Symbol" pitchFamily="2" charset="2"/>
              </a:rPr>
              <a:t>p 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 </a:t>
            </a:r>
            <a:r>
              <a:rPr lang="en-US" altLang="ko-KR">
                <a:sym typeface="Symbol" pitchFamily="2" charset="2"/>
              </a:rPr>
              <a:t>q</a:t>
            </a:r>
          </a:p>
          <a:p>
            <a:pPr algn="ctr">
              <a:buFontTx/>
              <a:buNone/>
            </a:pPr>
            <a:endParaRPr lang="en-US" altLang="ko-KR" b="1" i="1">
              <a:sym typeface="Symbol" pitchFamily="2" charset="2"/>
            </a:endParaRPr>
          </a:p>
          <a:p>
            <a:pPr algn="just"/>
            <a:r>
              <a:rPr lang="en-US" altLang="ko-KR" b="1">
                <a:sym typeface="Symbol" pitchFamily="2" charset="2"/>
              </a:rPr>
              <a:t>If |- p and |- q then |- p </a:t>
            </a:r>
            <a:r>
              <a:rPr lang="en-US" altLang="ko-KR" b="1">
                <a:solidFill>
                  <a:srgbClr val="FF0000"/>
                </a:solidFill>
                <a:sym typeface="Symbol" pitchFamily="2" charset="2"/>
              </a:rPr>
              <a:t> </a:t>
            </a:r>
            <a:r>
              <a:rPr lang="en-US" altLang="ko-KR" b="1">
                <a:sym typeface="Symbol" pitchFamily="2" charset="2"/>
              </a:rPr>
              <a:t>q</a:t>
            </a:r>
            <a:endParaRPr lang="en-US" altLang="ko-K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2E3232C-35C8-F108-B3D2-F7EBB8C13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D626F40-888C-8550-A100-CD408D833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b="1">
                <a:sym typeface="Symbol" pitchFamily="2" charset="2"/>
              </a:rPr>
              <a:t>Elimination rules:</a:t>
            </a:r>
          </a:p>
          <a:p>
            <a:pPr algn="ctr">
              <a:buFont typeface="Symbol" pitchFamily="2" charset="2"/>
              <a:buNone/>
            </a:pPr>
            <a:r>
              <a:rPr lang="en-US" altLang="ko-KR">
                <a:sym typeface="Symbol" pitchFamily="2" charset="2"/>
              </a:rPr>
              <a:t>p </a:t>
            </a:r>
            <a:r>
              <a:rPr lang="en-US" altLang="ko-KR" b="1">
                <a:solidFill>
                  <a:srgbClr val="FF0000"/>
                </a:solidFill>
                <a:sym typeface="Symbol" pitchFamily="2" charset="2"/>
              </a:rPr>
              <a:t>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q 	        	 p </a:t>
            </a:r>
            <a:r>
              <a:rPr lang="en-US" altLang="ko-KR" b="1">
                <a:solidFill>
                  <a:srgbClr val="FF0000"/>
                </a:solidFill>
                <a:sym typeface="Symbol" pitchFamily="2" charset="2"/>
              </a:rPr>
              <a:t>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 </a:t>
            </a:r>
            <a:r>
              <a:rPr lang="en-US" altLang="ko-KR">
                <a:sym typeface="Symbol" pitchFamily="2" charset="2"/>
              </a:rPr>
              <a:t>q</a:t>
            </a:r>
          </a:p>
          <a:p>
            <a:pPr algn="ctr">
              <a:buFont typeface="Symbol" pitchFamily="2" charset="2"/>
              <a:buNone/>
            </a:pPr>
            <a:r>
              <a:rPr lang="en-US" altLang="ko-KR">
                <a:sym typeface="Symbol" pitchFamily="2" charset="2"/>
              </a:rPr>
              <a:t>--------                    ------- </a:t>
            </a:r>
          </a:p>
          <a:p>
            <a:pPr algn="ctr">
              <a:buFont typeface="Symbol" pitchFamily="2" charset="2"/>
              <a:buNone/>
            </a:pPr>
            <a:r>
              <a:rPr lang="en-US" altLang="ko-KR">
                <a:sym typeface="Symbol" pitchFamily="2" charset="2"/>
              </a:rPr>
              <a:t>p                       q</a:t>
            </a:r>
          </a:p>
          <a:p>
            <a:pPr algn="ctr">
              <a:buFont typeface="Symbol" pitchFamily="2" charset="2"/>
              <a:buNone/>
            </a:pPr>
            <a:endParaRPr lang="en-US" altLang="ko-KR">
              <a:sym typeface="Symbol" pitchFamily="2" charset="2"/>
            </a:endParaRPr>
          </a:p>
          <a:p>
            <a:pPr algn="just"/>
            <a:r>
              <a:rPr lang="en-US" altLang="ko-KR" b="1">
                <a:sym typeface="Symbol" pitchFamily="2" charset="2"/>
              </a:rPr>
              <a:t>If |- p </a:t>
            </a:r>
            <a:r>
              <a:rPr lang="en-US" altLang="ko-KR" b="1">
                <a:solidFill>
                  <a:srgbClr val="FF0000"/>
                </a:solidFill>
                <a:sym typeface="Symbol" pitchFamily="2" charset="2"/>
              </a:rPr>
              <a:t> </a:t>
            </a:r>
            <a:r>
              <a:rPr lang="en-US" altLang="ko-KR" b="1">
                <a:sym typeface="Symbol" pitchFamily="2" charset="2"/>
              </a:rPr>
              <a:t>q,  then |- p and |- q</a:t>
            </a:r>
          </a:p>
          <a:p>
            <a:endParaRPr lang="en-US" altLang="ko-K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E7A5432-D0C9-4577-31BD-0CBF0EB53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C38AAE8-3448-F839-A07F-C8DBD1024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500" b="1">
                <a:sym typeface="Symbol" pitchFamily="2" charset="2"/>
              </a:rPr>
              <a:t>Rules for </a:t>
            </a:r>
            <a:r>
              <a:rPr lang="en-US" altLang="ko-KR" sz="2500" b="1">
                <a:solidFill>
                  <a:srgbClr val="FF0000"/>
                </a:solidFill>
                <a:sym typeface="Symbol" pitchFamily="2" charset="2"/>
              </a:rPr>
              <a:t>	</a:t>
            </a:r>
            <a:r>
              <a:rPr lang="en-US" altLang="ko-KR" sz="2500" b="1">
                <a:sym typeface="Symbol" pitchFamily="2" charset="2"/>
              </a:rPr>
              <a:t>Introduction rule:</a:t>
            </a:r>
            <a:r>
              <a:rPr lang="en-US" altLang="ko-KR" sz="2500" b="1" i="1">
                <a:sym typeface="Symbol" pitchFamily="2" charset="2"/>
              </a:rPr>
              <a:t>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[p]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latin typeface="Times New Roman" panose="02020603050405020304" pitchFamily="18" charset="0"/>
                <a:sym typeface="Symbol" pitchFamily="2" charset="2"/>
              </a:rPr>
              <a:t>…</a:t>
            </a:r>
            <a:endParaRPr lang="en-US" altLang="ko-KR" sz="2500">
              <a:sym typeface="Symbol" pitchFamily="2" charset="2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q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--------</a:t>
            </a:r>
          </a:p>
          <a:p>
            <a:pPr algn="ctr">
              <a:lnSpc>
                <a:spcPct val="90000"/>
              </a:lnSpc>
              <a:buFont typeface="Symbol" pitchFamily="2" charset="2"/>
              <a:buNone/>
            </a:pPr>
            <a:r>
              <a:rPr lang="en-US" altLang="ko-KR" sz="2500">
                <a:sym typeface="Symbol" pitchFamily="2" charset="2"/>
              </a:rPr>
              <a:t>p</a:t>
            </a:r>
            <a:r>
              <a:rPr lang="en-US" altLang="ko-KR" sz="2500">
                <a:solidFill>
                  <a:srgbClr val="FF0000"/>
                </a:solidFill>
                <a:sym typeface="Symbol" pitchFamily="2" charset="2"/>
              </a:rPr>
              <a:t></a:t>
            </a:r>
            <a:r>
              <a:rPr lang="en-US" altLang="ko-KR" sz="2500">
                <a:sym typeface="Symbol" pitchFamily="2" charset="2"/>
              </a:rPr>
              <a:t>q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</a:pPr>
            <a:endParaRPr lang="en-US" altLang="ko-KR" sz="2500" b="1" i="1">
              <a:sym typeface="Symbol" pitchFamily="2" charset="2"/>
            </a:endParaRPr>
          </a:p>
          <a:p>
            <a:pPr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ko-KR" sz="2500" b="1">
                <a:sym typeface="Symbol" pitchFamily="2" charset="2"/>
              </a:rPr>
              <a:t>If ,p |- q, then |-p</a:t>
            </a:r>
            <a:r>
              <a:rPr lang="en-US" altLang="ko-KR" sz="2500" b="1">
                <a:solidFill>
                  <a:srgbClr val="FF0000"/>
                </a:solidFill>
                <a:sym typeface="Symbol" pitchFamily="2" charset="2"/>
              </a:rPr>
              <a:t></a:t>
            </a:r>
            <a:r>
              <a:rPr lang="en-US" altLang="ko-KR" sz="2500" b="1">
                <a:sym typeface="Symbol" pitchFamily="2" charset="2"/>
              </a:rPr>
              <a:t>q 	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ko-KR" sz="2500">
                <a:sym typeface="Symbol" pitchFamily="2" charset="2"/>
              </a:rPr>
              <a:t>We may drop any number of assumptions equal to p from the proof of q.</a:t>
            </a:r>
          </a:p>
          <a:p>
            <a:pPr>
              <a:lnSpc>
                <a:spcPct val="90000"/>
              </a:lnSpc>
            </a:pPr>
            <a:endParaRPr lang="en-US" altLang="ko-K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7CBCD2A-511D-5AF7-8B03-F6CA6192A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BBD534B-2D7B-6116-B1CA-4DFECBF97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ko-KR" b="1" i="1">
                <a:sym typeface="Symbol" pitchFamily="2" charset="2"/>
              </a:rPr>
              <a:t>Elimination rule: </a:t>
            </a:r>
            <a:endParaRPr lang="en-US" altLang="ko-KR">
              <a:sym typeface="Symbol" pitchFamily="2" charset="2"/>
            </a:endParaRPr>
          </a:p>
          <a:p>
            <a:pPr algn="ctr">
              <a:buFontTx/>
              <a:buNone/>
            </a:pPr>
            <a:r>
              <a:rPr lang="en-US" altLang="ko-KR">
                <a:sym typeface="Symbol" pitchFamily="2" charset="2"/>
              </a:rPr>
              <a:t>p</a:t>
            </a:r>
            <a:r>
              <a:rPr lang="en-US" altLang="ko-KR">
                <a:solidFill>
                  <a:srgbClr val="FF0000"/>
                </a:solidFill>
                <a:sym typeface="Symbol" pitchFamily="2" charset="2"/>
              </a:rPr>
              <a:t></a:t>
            </a:r>
            <a:r>
              <a:rPr lang="en-US" altLang="ko-KR">
                <a:sym typeface="Symbol" pitchFamily="2" charset="2"/>
              </a:rPr>
              <a:t>q 	p</a:t>
            </a:r>
          </a:p>
          <a:p>
            <a:pPr algn="ctr">
              <a:buFontTx/>
              <a:buNone/>
            </a:pPr>
            <a:r>
              <a:rPr lang="en-US" altLang="ko-KR">
                <a:sym typeface="Symbol" pitchFamily="2" charset="2"/>
              </a:rPr>
              <a:t>----------------                       </a:t>
            </a:r>
          </a:p>
          <a:p>
            <a:pPr algn="ctr">
              <a:buFontTx/>
              <a:buNone/>
            </a:pPr>
            <a:r>
              <a:rPr lang="en-US" altLang="ko-KR">
                <a:sym typeface="Symbol" pitchFamily="2" charset="2"/>
              </a:rPr>
              <a:t>q</a:t>
            </a:r>
          </a:p>
          <a:p>
            <a:pPr algn="just"/>
            <a:r>
              <a:rPr lang="en-US" altLang="ko-KR" b="1">
                <a:sym typeface="Symbol" pitchFamily="2" charset="2"/>
              </a:rPr>
              <a:t>If |-p</a:t>
            </a:r>
            <a:r>
              <a:rPr lang="en-US" altLang="ko-KR" b="1">
                <a:solidFill>
                  <a:srgbClr val="FF0000"/>
                </a:solidFill>
                <a:sym typeface="Symbol" pitchFamily="2" charset="2"/>
              </a:rPr>
              <a:t></a:t>
            </a:r>
            <a:r>
              <a:rPr lang="en-US" altLang="ko-KR" b="1">
                <a:sym typeface="Symbol" pitchFamily="2" charset="2"/>
              </a:rPr>
              <a:t>q and |-p, then  |- q.</a:t>
            </a:r>
          </a:p>
          <a:p>
            <a:endParaRPr lang="en-US" altLang="ko-K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AFD1291-8494-55DE-5F43-2FB9F17CD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Proofs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D5899E3-92DF-E87D-229D-F81FF30BF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ko-KR" sz="2500" b="1" i="1">
                <a:sym typeface="Symbol" pitchFamily="2" charset="2"/>
              </a:rPr>
              <a:t>The only axiom not associated to a connective, nor justified by some Introduction rule, is Double Negation: </a:t>
            </a:r>
            <a:endParaRPr lang="en-US" altLang="ko-KR" sz="2500">
              <a:sym typeface="Symbol" pitchFamily="2" charset="2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[p]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latin typeface="Times New Roman" panose="02020603050405020304" pitchFamily="18" charset="0"/>
                <a:sym typeface="Symbol" pitchFamily="2" charset="2"/>
              </a:rPr>
              <a:t>…</a:t>
            </a:r>
            <a:r>
              <a:rPr lang="en-US" altLang="ko-KR" sz="2500">
                <a:sym typeface="Symbol" pitchFamily="2" charset="2"/>
              </a:rPr>
              <a:t>.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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---                      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ko-KR" sz="2500">
                <a:sym typeface="Symbol" pitchFamily="2" charset="2"/>
              </a:rPr>
              <a:t>p</a:t>
            </a:r>
          </a:p>
          <a:p>
            <a:pPr algn="just">
              <a:lnSpc>
                <a:spcPct val="90000"/>
              </a:lnSpc>
            </a:pPr>
            <a:r>
              <a:rPr lang="en-US" altLang="ko-KR" sz="2500" b="1">
                <a:sym typeface="Symbol" pitchFamily="2" charset="2"/>
              </a:rPr>
              <a:t>If , p|- ,  then |-p</a:t>
            </a:r>
          </a:p>
          <a:p>
            <a:pPr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ko-KR" sz="2500">
                <a:sym typeface="Symbol" pitchFamily="2" charset="2"/>
              </a:rPr>
              <a:t>We may drop any number of assumptions equal to p from the proof of q.</a:t>
            </a:r>
          </a:p>
          <a:p>
            <a:pPr>
              <a:lnSpc>
                <a:spcPct val="90000"/>
              </a:lnSpc>
            </a:pPr>
            <a:endParaRPr lang="en-US" altLang="ko-KR" sz="2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2DDD996-C1F1-8397-8120-B89E142E2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Soundness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6DE941A-3780-0610-CD74-3342CD619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2900">
              <a:sym typeface="Symbol" pitchFamily="2" charset="2"/>
            </a:endParaRPr>
          </a:p>
          <a:p>
            <a:pPr>
              <a:buFontTx/>
              <a:buNone/>
            </a:pPr>
            <a:r>
              <a:rPr lang="en-US" altLang="ko-KR" sz="2900">
                <a:sym typeface="Symbol" pitchFamily="2" charset="2"/>
              </a:rPr>
              <a:t>                    |- p then   |= 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942ECC3-B682-03AD-FDB5-9A8D31A43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Completeness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C7AE64E-0DCD-38F3-459A-70ED2FF8B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ko-KR" sz="2900">
              <a:sym typeface="Symbol" pitchFamily="2" charset="2"/>
            </a:endParaRPr>
          </a:p>
          <a:p>
            <a:pPr>
              <a:buFontTx/>
              <a:buNone/>
            </a:pPr>
            <a:endParaRPr lang="en-US" altLang="ko-KR" sz="2900">
              <a:sym typeface="Symbol" pitchFamily="2" charset="2"/>
            </a:endParaRPr>
          </a:p>
          <a:p>
            <a:pPr>
              <a:buFontTx/>
              <a:buNone/>
            </a:pPr>
            <a:r>
              <a:rPr lang="en-US" altLang="ko-KR" sz="2900">
                <a:sym typeface="Symbol" pitchFamily="2" charset="2"/>
              </a:rPr>
              <a:t>			    |= p then |- p</a:t>
            </a:r>
          </a:p>
          <a:p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34" charset="-127"/>
            <a:ea typeface="굴림" panose="020B0600000101010101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34" charset="-127"/>
            <a:ea typeface="굴림" panose="020B0600000101010101" pitchFamily="34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2153</Words>
  <Application>Microsoft Macintosh PowerPoint</Application>
  <PresentationFormat>On-screen Show (4:3)</PresentationFormat>
  <Paragraphs>283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굴림</vt:lpstr>
      <vt:lpstr>Times New Roman</vt:lpstr>
      <vt:lpstr>Symbol</vt:lpstr>
      <vt:lpstr>기본 디자인</vt:lpstr>
      <vt:lpstr>Brief Introduction to Logic</vt:lpstr>
      <vt:lpstr>Outline</vt:lpstr>
      <vt:lpstr>Historical view</vt:lpstr>
      <vt:lpstr>Philosophical Logic</vt:lpstr>
      <vt:lpstr>Philosophical Logic</vt:lpstr>
      <vt:lpstr>The Sophist’s Paradox</vt:lpstr>
      <vt:lpstr>Symbolic Logic</vt:lpstr>
      <vt:lpstr>Mathematical Logic</vt:lpstr>
      <vt:lpstr>Logic in Computer Science</vt:lpstr>
      <vt:lpstr>Logics in Computer Science</vt:lpstr>
      <vt:lpstr>Syntax</vt:lpstr>
      <vt:lpstr>Formulas</vt:lpstr>
      <vt:lpstr>Formulas (2)</vt:lpstr>
      <vt:lpstr>Formulas (3)</vt:lpstr>
      <vt:lpstr>Formulas (4)</vt:lpstr>
      <vt:lpstr>Formulas (5)</vt:lpstr>
      <vt:lpstr>Semantics</vt:lpstr>
      <vt:lpstr>Philosopher’s view</vt:lpstr>
      <vt:lpstr>Satisfaction Relation</vt:lpstr>
      <vt:lpstr>Satisfaction Relation</vt:lpstr>
      <vt:lpstr>Electrical Engineer’s view</vt:lpstr>
      <vt:lpstr>Semantics</vt:lpstr>
      <vt:lpstr>Software Engineer’s view</vt:lpstr>
      <vt:lpstr>Theorem</vt:lpstr>
      <vt:lpstr>Relevance Lemma</vt:lpstr>
      <vt:lpstr>Algorithmic Perspective</vt:lpstr>
      <vt:lpstr>Extension of |=</vt:lpstr>
      <vt:lpstr>Extension of |=</vt:lpstr>
      <vt:lpstr>Semantic Classification</vt:lpstr>
      <vt:lpstr>Semantic Classification(II)</vt:lpstr>
      <vt:lpstr>Satisfiability Problem</vt:lpstr>
      <vt:lpstr>Proofs</vt:lpstr>
      <vt:lpstr>Proofs</vt:lpstr>
      <vt:lpstr>Proofs</vt:lpstr>
      <vt:lpstr>Proofs</vt:lpstr>
      <vt:lpstr>Proofs</vt:lpstr>
      <vt:lpstr>Proofs</vt:lpstr>
      <vt:lpstr>Proofs</vt:lpstr>
      <vt:lpstr>Proofs</vt:lpstr>
      <vt:lpstr>Proofs</vt:lpstr>
      <vt:lpstr>Proofs</vt:lpstr>
      <vt:lpstr>Proofs</vt:lpstr>
      <vt:lpstr>Soundness</vt:lpstr>
      <vt:lpstr>Completeness</vt:lpstr>
    </vt:vector>
  </TitlesOfParts>
  <Company>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</dc:title>
  <dc:creator>정형기법연구실</dc:creator>
  <cp:lastModifiedBy>Duminda Wijesekera</cp:lastModifiedBy>
  <cp:revision>26</cp:revision>
  <dcterms:created xsi:type="dcterms:W3CDTF">2002-10-07T16:55:49Z</dcterms:created>
  <dcterms:modified xsi:type="dcterms:W3CDTF">2026-02-06T16:35:52Z</dcterms:modified>
</cp:coreProperties>
</file>